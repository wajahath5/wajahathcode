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8" r:id="rId1"/>
    <p:sldMasterId id="2147483679" r:id="rId2"/>
  </p:sldMasterIdLst>
  <p:notesMasterIdLst>
    <p:notesMasterId r:id="rId6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Lst>
  <p:sldSz cx="9144000" cy="5143500" type="screen16x9"/>
  <p:notesSz cx="9144000" cy="6858000"/>
  <p:embeddedFontLst>
    <p:embeddedFont>
      <p:font typeface="Verizon NHG DS" panose="020B0604020202020204" pitchFamily="34" charset="0"/>
      <p:regular r:id="rId66"/>
      <p:bold r:id="rId67"/>
      <p:italic r:id="rId68"/>
      <p:boldItalic r:id="rId69"/>
    </p:embeddedFont>
    <p:embeddedFont>
      <p:font typeface="Verizon NHG TX" panose="020B0604020202020204" pitchFamily="34" charset="0"/>
      <p:regular r:id="rId70"/>
      <p:bold r:id="rId71"/>
      <p:italic r:id="rId72"/>
      <p:boldItalic r:id="rId73"/>
    </p:embeddedFont>
    <p:embeddedFont>
      <p:font typeface="Calibri" panose="020F0502020204030204" pitchFamily="34" charset="0"/>
      <p:regular r:id="rId74"/>
      <p:bold r:id="rId75"/>
      <p:italic r:id="rId76"/>
      <p:boldItalic r:id="rId7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pos="3048">
          <p15:clr>
            <a:srgbClr val="A4A3A4"/>
          </p15:clr>
        </p15:guide>
        <p15:guide id="2" pos="2016">
          <p15:clr>
            <a:srgbClr val="A4A3A4"/>
          </p15:clr>
        </p15:guide>
        <p15:guide id="3" orient="horz" pos="1596">
          <p15:clr>
            <a:srgbClr val="A4A3A4"/>
          </p15:clr>
        </p15:guide>
      </p15:sldGuideLst>
    </p:ext>
    <p:ext uri="{2D200454-40CA-4A62-9FC3-DE9A4176ACB9}">
      <p15:notes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05248E05-9CBA-4BF7-BEAF-C900DD286D1C}">
  <a:tblStyle styleId="{05248E05-9CBA-4BF7-BEAF-C900DD286D1C}"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B160F1D3-B883-4AC0-8E5A-4BE9966CEF15}"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7" d="100"/>
          <a:sy n="147" d="100"/>
        </p:scale>
        <p:origin x="-594" y="-102"/>
      </p:cViewPr>
      <p:guideLst>
        <p:guide orient="horz" pos="1596"/>
        <p:guide pos="3048"/>
        <p:guide pos="2016"/>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3.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font" Target="fonts/font9.fntdata"/><Relationship Id="rId79" Type="http://schemas.openxmlformats.org/officeDocument/2006/relationships/viewProps" Target="view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4.fntdata"/><Relationship Id="rId77" Type="http://schemas.openxmlformats.org/officeDocument/2006/relationships/font" Target="fonts/font12.fntdata"/><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7.fntdata"/><Relationship Id="rId80"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2.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5.fntdata"/><Relationship Id="rId75"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73" Type="http://schemas.openxmlformats.org/officeDocument/2006/relationships/font" Target="fonts/font8.fntdata"/><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font" Target="fonts/font11.fntdata"/><Relationship Id="rId7" Type="http://schemas.openxmlformats.org/officeDocument/2006/relationships/slide" Target="slides/slide5.xml"/><Relationship Id="rId71" Type="http://schemas.openxmlformats.org/officeDocument/2006/relationships/font" Target="fonts/font6.fntdata"/><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3429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Neue Haas Grotesk Text Std"/>
                <a:ea typeface="Neue Haas Grotesk Text Std"/>
                <a:cs typeface="Neue Haas Grotesk Text Std"/>
                <a:sym typeface="Neue Haas Grotesk Text St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79484" y="0"/>
            <a:ext cx="3962400" cy="3429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Neue Haas Grotesk Text Std"/>
                <a:ea typeface="Neue Haas Grotesk Text Std"/>
                <a:cs typeface="Neue Haas Grotesk Text Std"/>
                <a:sym typeface="Neue Haas Grotesk Text St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2286000" y="514350"/>
            <a:ext cx="4572000" cy="25717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508000" y="3257550"/>
            <a:ext cx="8128000" cy="30861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Neue Haas Grotesk Text Std"/>
                <a:ea typeface="Neue Haas Grotesk Text Std"/>
                <a:cs typeface="Neue Haas Grotesk Text Std"/>
                <a:sym typeface="Neue Haas Grotesk Text Std"/>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Neue Haas Grotesk Text Std"/>
                <a:ea typeface="Neue Haas Grotesk Text Std"/>
                <a:cs typeface="Neue Haas Grotesk Text Std"/>
                <a:sym typeface="Neue Haas Grotesk Text Std"/>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Neue Haas Grotesk Text Std"/>
                <a:ea typeface="Neue Haas Grotesk Text Std"/>
                <a:cs typeface="Neue Haas Grotesk Text Std"/>
                <a:sym typeface="Neue Haas Grotesk Text Std"/>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Neue Haas Grotesk Text Std"/>
                <a:ea typeface="Neue Haas Grotesk Text Std"/>
                <a:cs typeface="Neue Haas Grotesk Text Std"/>
                <a:sym typeface="Neue Haas Grotesk Text Std"/>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Neue Haas Grotesk Text Std"/>
                <a:ea typeface="Neue Haas Grotesk Text Std"/>
                <a:cs typeface="Neue Haas Grotesk Text Std"/>
                <a:sym typeface="Neue Haas Grotesk Text Std"/>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6513910"/>
            <a:ext cx="3962400" cy="3429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Neue Haas Grotesk Text Std"/>
                <a:ea typeface="Neue Haas Grotesk Text Std"/>
                <a:cs typeface="Neue Haas Grotesk Text Std"/>
                <a:sym typeface="Neue Haas Grotesk Text St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Neue Haas Grotesk Text Std"/>
                <a:ea typeface="Neue Haas Grotesk Text Std"/>
                <a:cs typeface="Neue Haas Grotesk Text Std"/>
                <a:sym typeface="Neue Haas Grotesk Text Std"/>
              </a:rPr>
              <a:t>‹#›</a:t>
            </a:fld>
            <a:endParaRPr sz="1200" b="0" i="0" u="none" strike="noStrike" cap="none">
              <a:solidFill>
                <a:schemeClr val="dk1"/>
              </a:solidFill>
              <a:latin typeface="Neue Haas Grotesk Text Std"/>
              <a:ea typeface="Neue Haas Grotesk Text Std"/>
              <a:cs typeface="Neue Haas Grotesk Text Std"/>
              <a:sym typeface="Neue Haas Grotesk Text Std"/>
            </a:endParaRPr>
          </a:p>
        </p:txBody>
      </p:sp>
    </p:spTree>
    <p:extLst>
      <p:ext uri="{BB962C8B-B14F-4D97-AF65-F5344CB8AC3E}">
        <p14:creationId xmlns:p14="http://schemas.microsoft.com/office/powerpoint/2010/main" val="41104306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7d449a4dbe_1_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g7d449a4dbe_1_0:notes"/>
          <p:cNvSpPr>
            <a:spLocks noGrp="1" noRot="1" noChangeAspect="1"/>
          </p:cNvSpPr>
          <p:nvPr>
            <p:ph type="sldImg" idx="2"/>
          </p:nvPr>
        </p:nvSpPr>
        <p:spPr>
          <a:xfrm>
            <a:off x="1285875" y="514350"/>
            <a:ext cx="25719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6ead6186f9_3_175: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g6ead6186f9_3_175: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g6ead6186f9_3_175: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7d5546e56d_1_173: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g7d5546e56d_1_173:notes"/>
          <p:cNvSpPr>
            <a:spLocks noGrp="1" noRot="1" noChangeAspect="1"/>
          </p:cNvSpPr>
          <p:nvPr>
            <p:ph type="sldImg" idx="2"/>
          </p:nvPr>
        </p:nvSpPr>
        <p:spPr>
          <a:xfrm>
            <a:off x="508000" y="514350"/>
            <a:ext cx="81279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7d5546e56d_1_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g7d5546e56d_1_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6" name="Google Shape;226;g7d5546e56d_1_0: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6dc63bfffd_0_7: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6dc63bfffd_0_7: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0" name="Google Shape;260;g6dc63bfffd_0_7:notes"/>
          <p:cNvSpPr txBox="1">
            <a:spLocks noGrp="1"/>
          </p:cNvSpPr>
          <p:nvPr>
            <p:ph type="sldNum" idx="12"/>
          </p:nvPr>
        </p:nvSpPr>
        <p:spPr>
          <a:xfrm>
            <a:off x="5179484" y="6513910"/>
            <a:ext cx="3962400" cy="3429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7d4f5fe148_0_100:notes"/>
          <p:cNvSpPr txBox="1">
            <a:spLocks noGrp="1"/>
          </p:cNvSpPr>
          <p:nvPr>
            <p:ph type="body" idx="1"/>
          </p:nvPr>
        </p:nvSpPr>
        <p:spPr>
          <a:xfrm>
            <a:off x="914400" y="3257550"/>
            <a:ext cx="73152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0" name="Google Shape;280;g7d4f5fe148_0_100:notes"/>
          <p:cNvSpPr>
            <a:spLocks noGrp="1" noRot="1" noChangeAspect="1"/>
          </p:cNvSpPr>
          <p:nvPr>
            <p:ph type="sldImg" idx="2"/>
          </p:nvPr>
        </p:nvSpPr>
        <p:spPr>
          <a:xfrm>
            <a:off x="1524300" y="514350"/>
            <a:ext cx="6096300" cy="25719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7d983af5de_0_8: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2" name="Google Shape;382;g7d983af5de_0_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6ead6186f9_3_744: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6ead6186f9_3_744: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9" name="Google Shape;389;g6ead6186f9_3_744: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6ead6186f9_3_69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6ead6186f9_3_698: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g6ead6186f9_3_698: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8"/>
        <p:cNvGrpSpPr/>
        <p:nvPr/>
      </p:nvGrpSpPr>
      <p:grpSpPr>
        <a:xfrm>
          <a:off x="0" y="0"/>
          <a:ext cx="0" cy="0"/>
          <a:chOff x="0" y="0"/>
          <a:chExt cx="0" cy="0"/>
        </a:xfrm>
      </p:grpSpPr>
      <p:sp>
        <p:nvSpPr>
          <p:cNvPr id="409" name="Google Shape;409;g6ead6186f9_3_735: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0" name="Google Shape;410;g6ead6186f9_3_735: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1" name="Google Shape;411;g6ead6186f9_3_735: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g6ead6186f9_3_753: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2" name="Google Shape;422;g6ead6186f9_3_753: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3" name="Google Shape;423;g6ead6186f9_3_753: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6ead6186f9_3_76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6ead6186f9_3_762: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4" name="Google Shape;434;g6ead6186f9_3_762: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6ead6186f9_3_72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6ead6186f9_3_726: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5" name="Google Shape;445;g6ead6186f9_3_726: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6ead6186f9_3_771: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6ead6186f9_3_771: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6" name="Google Shape;456;g6ead6186f9_3_771: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g6ecf551d24_0_1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6" name="Google Shape;466;g6ecf551d24_0_10: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g6ecf551d24_0_10: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6ead6186f9_2_1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6ead6186f9_2_18: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9" name="Google Shape;479;g6ead6186f9_2_18: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6ecf551d24_0_27: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6ecf551d24_0_27: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7" name="Google Shape;487;g6ecf551d24_0_27: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6ecf551d24_0_37: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6ecf551d24_0_37: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8" name="Google Shape;498;g6ecf551d24_0_37: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7d983af5de_0_13: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8" name="Google Shape;508;g7d983af5de_0_13: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6ead6186f9_0_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6ead6186f9_0_2: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5" name="Google Shape;515;g6ead6186f9_0_2: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6ed8575d2f_0_0:notes"/>
          <p:cNvSpPr>
            <a:spLocks noGrp="1" noRot="1" noChangeAspect="1"/>
          </p:cNvSpPr>
          <p:nvPr>
            <p:ph type="sldImg" idx="2"/>
          </p:nvPr>
        </p:nvSpPr>
        <p:spPr>
          <a:xfrm>
            <a:off x="1285875" y="514350"/>
            <a:ext cx="25719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3" name="Google Shape;523;g6ed8575d2f_0_0: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g6ed8575d2f_0_0: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g7d4f5fe148_0_27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2" name="Google Shape;532;g7d4f5fe148_0_27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6"/>
        <p:cNvGrpSpPr/>
        <p:nvPr/>
      </p:nvGrpSpPr>
      <p:grpSpPr>
        <a:xfrm>
          <a:off x="0" y="0"/>
          <a:ext cx="0" cy="0"/>
          <a:chOff x="0" y="0"/>
          <a:chExt cx="0" cy="0"/>
        </a:xfrm>
      </p:grpSpPr>
      <p:sp>
        <p:nvSpPr>
          <p:cNvPr id="537" name="Google Shape;537;g7da9e52490_0_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8" name="Google Shape;538;g7da9e52490_0_6:notes"/>
          <p:cNvSpPr txBox="1">
            <a:spLocks noGrp="1"/>
          </p:cNvSpPr>
          <p:nvPr>
            <p:ph type="body" idx="1"/>
          </p:nvPr>
        </p:nvSpPr>
        <p:spPr>
          <a:xfrm>
            <a:off x="508000" y="3257550"/>
            <a:ext cx="8127900" cy="3086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9" name="Google Shape;539;g7da9e52490_0_6:notes"/>
          <p:cNvSpPr txBox="1">
            <a:spLocks noGrp="1"/>
          </p:cNvSpPr>
          <p:nvPr>
            <p:ph type="sldNum" idx="12"/>
          </p:nvPr>
        </p:nvSpPr>
        <p:spPr>
          <a:xfrm>
            <a:off x="5179484" y="6513910"/>
            <a:ext cx="3962400" cy="3429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6ead6186f9_3_352: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6" name="Google Shape;546;g6ead6186f9_3_35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3"/>
        <p:cNvGrpSpPr/>
        <p:nvPr/>
      </p:nvGrpSpPr>
      <p:grpSpPr>
        <a:xfrm>
          <a:off x="0" y="0"/>
          <a:ext cx="0" cy="0"/>
          <a:chOff x="0" y="0"/>
          <a:chExt cx="0" cy="0"/>
        </a:xfrm>
      </p:grpSpPr>
      <p:sp>
        <p:nvSpPr>
          <p:cNvPr id="554" name="Google Shape;554;g6ead6186f9_3_409: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5" name="Google Shape;555;g6ead6186f9_3_409: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2"/>
        <p:cNvGrpSpPr/>
        <p:nvPr/>
      </p:nvGrpSpPr>
      <p:grpSpPr>
        <a:xfrm>
          <a:off x="0" y="0"/>
          <a:ext cx="0" cy="0"/>
          <a:chOff x="0" y="0"/>
          <a:chExt cx="0" cy="0"/>
        </a:xfrm>
      </p:grpSpPr>
      <p:sp>
        <p:nvSpPr>
          <p:cNvPr id="563" name="Google Shape;563;g6ead6186f9_3_46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4" name="Google Shape;564;g6ead6186f9_3_46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g6ead6186f9_3_79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3" name="Google Shape;573;g6ead6186f9_3_79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g6ead6186f9_3_523: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2" name="Google Shape;582;g6ead6186f9_3_523: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g6ead6186f9_3_58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1" name="Google Shape;591;g6ead6186f9_3_58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6ead6186f9_3_637: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0" name="Google Shape;600;g6ead6186f9_3_637: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g7d983af5de_0_18: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9" name="Google Shape;609;g7d983af5de_0_1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7d983af5de_0_2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8" name="Google Shape;618;g7d983af5de_0_2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5"/>
        <p:cNvGrpSpPr/>
        <p:nvPr/>
      </p:nvGrpSpPr>
      <p:grpSpPr>
        <a:xfrm>
          <a:off x="0" y="0"/>
          <a:ext cx="0" cy="0"/>
          <a:chOff x="0" y="0"/>
          <a:chExt cx="0" cy="0"/>
        </a:xfrm>
      </p:grpSpPr>
      <p:sp>
        <p:nvSpPr>
          <p:cNvPr id="626" name="Google Shape;626;g7d983af5de_0_34: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7" name="Google Shape;627;g7d983af5de_0_34: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7d983af5de_0_42: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6" name="Google Shape;636;g7d983af5de_0_4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g7d983af5de_0_5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5" name="Google Shape;645;g7d983af5de_0_5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7d983af5de_0_234: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4" name="Google Shape;654;g7d983af5de_0_234: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g7d983af5de_0_242: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3" name="Google Shape;663;g7d983af5de_0_24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7d983af5de_0_25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2" name="Google Shape;672;g7d983af5de_0_25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7d983af5de_0_258: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1" name="Google Shape;681;g7d983af5de_0_25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7d983af5de_0_26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0" name="Google Shape;690;g7d983af5de_0_26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7d983af5de_0_58: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9" name="Google Shape;699;g7d983af5de_0_5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7d983af5de_0_6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8" name="Google Shape;708;g7d983af5de_0_6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g7d983af5de_0_74: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7" name="Google Shape;717;g7d983af5de_0_74: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7d983af5de_0_82: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6" name="Google Shape;726;g7d983af5de_0_8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g7d983af5de_0_9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g7d983af5de_0_9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7d983af5de_0_98: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7d983af5de_0_9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7d983af5de_0_10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7d983af5de_0_10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0"/>
        <p:cNvGrpSpPr/>
        <p:nvPr/>
      </p:nvGrpSpPr>
      <p:grpSpPr>
        <a:xfrm>
          <a:off x="0" y="0"/>
          <a:ext cx="0" cy="0"/>
          <a:chOff x="0" y="0"/>
          <a:chExt cx="0" cy="0"/>
        </a:xfrm>
      </p:grpSpPr>
      <p:sp>
        <p:nvSpPr>
          <p:cNvPr id="761" name="Google Shape;761;g7d983af5de_0_114: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2" name="Google Shape;762;g7d983af5de_0_114: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7d983af5de_0_122: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1" name="Google Shape;771;g7d983af5de_0_12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g7d983af5de_0_13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7d983af5de_0_13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g7d983af5de_0_138: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9" name="Google Shape;789;g7d983af5de_0_13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g7d983af5de_0_14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8" name="Google Shape;798;g7d983af5de_0_14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7d983af5de_0_154: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7" name="Google Shape;807;g7d983af5de_0_154: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7d983af5de_0_162: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6" name="Google Shape;816;g7d983af5de_0_16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g7d983af5de_0_17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g7d983af5de_0_17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g7d983af5de_0_178: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7d983af5de_0_17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7d983af5de_0_18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3" name="Google Shape;843;g7d983af5de_0_18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g7d983af5de_0_194: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g7d983af5de_0_194: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g7d983af5de_0_202: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7d983af5de_0_202: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7d983af5de_0_210: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0" name="Google Shape;870;g7d983af5de_0_210: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g7d983af5de_0_218: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g7d983af5de_0_218: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7d983af5de_0_226:notes"/>
          <p:cNvSpPr txBox="1">
            <a:spLocks noGrp="1"/>
          </p:cNvSpPr>
          <p:nvPr>
            <p:ph type="body" idx="1"/>
          </p:nvPr>
        </p:nvSpPr>
        <p:spPr>
          <a:xfrm>
            <a:off x="508000" y="3257550"/>
            <a:ext cx="8127900" cy="30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8" name="Google Shape;888;g7d983af5de_0_226:notes"/>
          <p:cNvSpPr>
            <a:spLocks noGrp="1" noRot="1" noChangeAspect="1"/>
          </p:cNvSpPr>
          <p:nvPr>
            <p:ph type="sldImg" idx="2"/>
          </p:nvPr>
        </p:nvSpPr>
        <p:spPr>
          <a:xfrm>
            <a:off x="2286000" y="514350"/>
            <a:ext cx="4572000" cy="25716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457200" y="463073"/>
            <a:ext cx="6271846" cy="173736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6000"/>
              <a:buFont typeface="Verizon NHG DS"/>
              <a:buNone/>
              <a:defRPr sz="6000" b="1" i="0">
                <a:latin typeface="Verizon NHG DS"/>
                <a:ea typeface="Verizon NHG DS"/>
                <a:cs typeface="Verizon NHG DS"/>
                <a:sym typeface="Verizon NHG D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457200" y="2291873"/>
            <a:ext cx="4114800" cy="1371600"/>
          </a:xfrm>
          <a:prstGeom prst="rect">
            <a:avLst/>
          </a:prstGeom>
          <a:noFill/>
          <a:ln>
            <a:noFill/>
          </a:ln>
        </p:spPr>
        <p:txBody>
          <a:bodyPr spcFirstLastPara="1" wrap="square" lIns="0" tIns="0" rIns="0" bIns="0" anchor="t" anchorCtr="0">
            <a:noAutofit/>
          </a:bodyPr>
          <a:lstStyle>
            <a:lvl1pPr lvl="0" algn="l">
              <a:lnSpc>
                <a:spcPct val="80000"/>
              </a:lnSpc>
              <a:spcBef>
                <a:spcPts val="900"/>
              </a:spcBef>
              <a:spcAft>
                <a:spcPts val="0"/>
              </a:spcAft>
              <a:buClr>
                <a:schemeClr val="dk1"/>
              </a:buClr>
              <a:buSzPts val="2000"/>
              <a:buFont typeface="Verizon NHG TX"/>
              <a:buNone/>
              <a:defRPr sz="2000" b="0" i="0">
                <a:solidFill>
                  <a:schemeClr val="dk1"/>
                </a:solidFill>
                <a:latin typeface="Verizon NHG TX"/>
                <a:ea typeface="Verizon NHG TX"/>
                <a:cs typeface="Verizon NHG TX"/>
                <a:sym typeface="Verizon NHG TX"/>
              </a:defRPr>
            </a:lvl1pPr>
            <a:lvl2pPr lvl="1" algn="l">
              <a:lnSpc>
                <a:spcPct val="80000"/>
              </a:lnSpc>
              <a:spcBef>
                <a:spcPts val="900"/>
              </a:spcBef>
              <a:spcAft>
                <a:spcPts val="0"/>
              </a:spcAft>
              <a:buClr>
                <a:schemeClr val="dk1"/>
              </a:buClr>
              <a:buSzPts val="2000"/>
              <a:buFont typeface="Verizon NHG TX"/>
              <a:buNone/>
              <a:defRPr sz="2000" b="1">
                <a:solidFill>
                  <a:schemeClr val="dk1"/>
                </a:solidFill>
              </a:defRPr>
            </a:lvl2pPr>
            <a:lvl3pPr lvl="2" algn="l">
              <a:lnSpc>
                <a:spcPct val="80000"/>
              </a:lnSpc>
              <a:spcBef>
                <a:spcPts val="900"/>
              </a:spcBef>
              <a:spcAft>
                <a:spcPts val="0"/>
              </a:spcAft>
              <a:buClr>
                <a:schemeClr val="dk1"/>
              </a:buClr>
              <a:buSzPts val="2000"/>
              <a:buNone/>
              <a:defRPr sz="2000" b="1">
                <a:solidFill>
                  <a:schemeClr val="dk1"/>
                </a:solidFill>
              </a:defRPr>
            </a:lvl3pPr>
            <a:lvl4pPr lvl="3" algn="l">
              <a:lnSpc>
                <a:spcPct val="80000"/>
              </a:lnSpc>
              <a:spcBef>
                <a:spcPts val="900"/>
              </a:spcBef>
              <a:spcAft>
                <a:spcPts val="0"/>
              </a:spcAft>
              <a:buClr>
                <a:schemeClr val="dk1"/>
              </a:buClr>
              <a:buSzPts val="2000"/>
              <a:buNone/>
              <a:defRPr sz="2000" b="1">
                <a:solidFill>
                  <a:schemeClr val="dk1"/>
                </a:solidFill>
              </a:defRPr>
            </a:lvl4pPr>
            <a:lvl5pPr lvl="4" algn="l">
              <a:lnSpc>
                <a:spcPct val="80000"/>
              </a:lnSpc>
              <a:spcBef>
                <a:spcPts val="900"/>
              </a:spcBef>
              <a:spcAft>
                <a:spcPts val="0"/>
              </a:spcAft>
              <a:buClr>
                <a:schemeClr val="dk1"/>
              </a:buClr>
              <a:buSzPts val="2000"/>
              <a:buNone/>
              <a:defRPr sz="2000" b="1">
                <a:solidFill>
                  <a:schemeClr val="dk1"/>
                </a:solidFill>
              </a:defRPr>
            </a:lvl5pPr>
            <a:lvl6pPr lvl="5" algn="l">
              <a:lnSpc>
                <a:spcPct val="80000"/>
              </a:lnSpc>
              <a:spcBef>
                <a:spcPts val="900"/>
              </a:spcBef>
              <a:spcAft>
                <a:spcPts val="0"/>
              </a:spcAft>
              <a:buClr>
                <a:schemeClr val="dk1"/>
              </a:buClr>
              <a:buSzPts val="2000"/>
              <a:buNone/>
              <a:defRPr sz="2000" b="1">
                <a:solidFill>
                  <a:schemeClr val="dk1"/>
                </a:solidFill>
              </a:defRPr>
            </a:lvl6pPr>
            <a:lvl7pPr lvl="6" algn="l">
              <a:lnSpc>
                <a:spcPct val="80000"/>
              </a:lnSpc>
              <a:spcBef>
                <a:spcPts val="900"/>
              </a:spcBef>
              <a:spcAft>
                <a:spcPts val="0"/>
              </a:spcAft>
              <a:buClr>
                <a:schemeClr val="dk1"/>
              </a:buClr>
              <a:buSzPts val="2000"/>
              <a:buNone/>
              <a:defRPr sz="2000" b="1">
                <a:solidFill>
                  <a:schemeClr val="dk1"/>
                </a:solidFill>
              </a:defRPr>
            </a:lvl7pPr>
            <a:lvl8pPr lvl="7" algn="l">
              <a:lnSpc>
                <a:spcPct val="80000"/>
              </a:lnSpc>
              <a:spcBef>
                <a:spcPts val="900"/>
              </a:spcBef>
              <a:spcAft>
                <a:spcPts val="0"/>
              </a:spcAft>
              <a:buClr>
                <a:schemeClr val="dk1"/>
              </a:buClr>
              <a:buSzPts val="2000"/>
              <a:buNone/>
              <a:defRPr sz="2000" b="1">
                <a:solidFill>
                  <a:schemeClr val="dk1"/>
                </a:solidFill>
              </a:defRPr>
            </a:lvl8pPr>
            <a:lvl9pPr lvl="8" algn="l">
              <a:lnSpc>
                <a:spcPct val="80000"/>
              </a:lnSpc>
              <a:spcBef>
                <a:spcPts val="900"/>
              </a:spcBef>
              <a:spcAft>
                <a:spcPts val="0"/>
              </a:spcAft>
              <a:buClr>
                <a:schemeClr val="dk1"/>
              </a:buClr>
              <a:buSzPts val="2000"/>
              <a:buNone/>
              <a:defRPr sz="2000" b="1">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2400"/>
              <a:buFont typeface="Verizon NHG DS"/>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3"/>
          <p:cNvSpPr txBox="1">
            <a:spLocks noGrp="1"/>
          </p:cNvSpPr>
          <p:nvPr>
            <p:ph type="body" idx="1"/>
          </p:nvPr>
        </p:nvSpPr>
        <p:spPr>
          <a:xfrm>
            <a:off x="457200" y="1459580"/>
            <a:ext cx="7086600" cy="2979070"/>
          </a:xfrm>
          <a:prstGeom prst="rect">
            <a:avLst/>
          </a:prstGeom>
          <a:noFill/>
          <a:ln>
            <a:noFill/>
          </a:ln>
        </p:spPr>
        <p:txBody>
          <a:bodyPr spcFirstLastPara="1" wrap="square" lIns="0" tIns="0" rIns="0" bIns="0" anchor="t" anchorCtr="0">
            <a:noAutofit/>
          </a:bodyPr>
          <a:lstStyle>
            <a:lvl1pPr marL="457200" lvl="0" indent="-330200" algn="l">
              <a:lnSpc>
                <a:spcPct val="100000"/>
              </a:lnSpc>
              <a:spcBef>
                <a:spcPts val="900"/>
              </a:spcBef>
              <a:spcAft>
                <a:spcPts val="0"/>
              </a:spcAft>
              <a:buClr>
                <a:schemeClr val="dk1"/>
              </a:buClr>
              <a:buSzPts val="1600"/>
              <a:buFont typeface="Verizon NHG DS"/>
              <a:buAutoNum type="arabicPeriod"/>
              <a:defRPr sz="1600"/>
            </a:lvl1pPr>
            <a:lvl2pPr marL="914400" lvl="1" indent="-228600" algn="l">
              <a:lnSpc>
                <a:spcPct val="100000"/>
              </a:lnSpc>
              <a:spcBef>
                <a:spcPts val="9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04800" algn="l">
              <a:lnSpc>
                <a:spcPct val="100000"/>
              </a:lnSpc>
              <a:spcBef>
                <a:spcPts val="600"/>
              </a:spcBef>
              <a:spcAft>
                <a:spcPts val="0"/>
              </a:spcAft>
              <a:buClr>
                <a:schemeClr val="dk1"/>
              </a:buClr>
              <a:buSzPts val="1200"/>
              <a:buChar char="–"/>
              <a:defRPr/>
            </a:lvl9pPr>
          </a:lstStyle>
          <a:p>
            <a:endParaRPr/>
          </a:p>
        </p:txBody>
      </p:sp>
      <p:sp>
        <p:nvSpPr>
          <p:cNvPr id="21" name="Google Shape;21;p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cxnSp>
        <p:nvCxnSpPr>
          <p:cNvPr id="22" name="Google Shape;22;p3"/>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erse Statement">
  <p:cSld name="Reverse Statement">
    <p:bg>
      <p:bgPr>
        <a:solidFill>
          <a:schemeClr val="dk1"/>
        </a:solidFill>
        <a:effectLst/>
      </p:bgPr>
    </p:bg>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4000"/>
              <a:buFont typeface="Verizon NHG DS"/>
              <a:buNone/>
              <a:defRPr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1pPr>
            <a:lvl2pPr marL="0" marR="0" lvl="1"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2pPr>
            <a:lvl3pPr marL="0" marR="0" lvl="2"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3pPr>
            <a:lvl4pPr marL="0" marR="0" lvl="3"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4pPr>
            <a:lvl5pPr marL="0" marR="0" lvl="4"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5pPr>
            <a:lvl6pPr marL="0" marR="0" lvl="5"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6pPr>
            <a:lvl7pPr marL="0" marR="0" lvl="6"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7pPr>
            <a:lvl8pPr marL="0" marR="0" lvl="7"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8pPr>
            <a:lvl9pPr marL="0" marR="0" lvl="8" indent="0" algn="r">
              <a:lnSpc>
                <a:spcPct val="100000"/>
              </a:lnSpc>
              <a:spcBef>
                <a:spcPts val="0"/>
              </a:spcBef>
              <a:spcAft>
                <a:spcPts val="0"/>
              </a:spcAft>
              <a:buClr>
                <a:srgbClr val="000000"/>
              </a:buClr>
              <a:buSzPts val="700"/>
              <a:buFont typeface="Arial"/>
              <a:buNone/>
              <a:defRPr sz="700" b="1" i="0" u="none" strike="noStrike" cap="none">
                <a:solidFill>
                  <a:schemeClr val="lt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4"/>
          <p:cNvSpPr/>
          <p:nvPr/>
        </p:nvSpPr>
        <p:spPr>
          <a:xfrm>
            <a:off x="108488" y="4531602"/>
            <a:ext cx="2588217" cy="570742"/>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Verizon NHG TX"/>
              <a:ea typeface="Verizon NHG TX"/>
              <a:cs typeface="Verizon NHG TX"/>
              <a:sym typeface="Verizon NHG TX"/>
            </a:endParaRPr>
          </a:p>
        </p:txBody>
      </p:sp>
      <p:pic>
        <p:nvPicPr>
          <p:cNvPr id="27" name="Google Shape;27;p4"/>
          <p:cNvPicPr preferRelativeResize="0"/>
          <p:nvPr/>
        </p:nvPicPr>
        <p:blipFill rotWithShape="1">
          <a:blip r:embed="rId2">
            <a:alphaModFix/>
          </a:blip>
          <a:srcRect/>
          <a:stretch/>
        </p:blipFill>
        <p:spPr>
          <a:xfrm>
            <a:off x="357160" y="4615079"/>
            <a:ext cx="1069848" cy="384837"/>
          </a:xfrm>
          <a:prstGeom prst="rect">
            <a:avLst/>
          </a:prstGeom>
          <a:noFill/>
          <a:ln>
            <a:noFill/>
          </a:ln>
        </p:spPr>
      </p:pic>
      <p:sp>
        <p:nvSpPr>
          <p:cNvPr id="28" name="Google Shape;28;p4"/>
          <p:cNvSpPr txBox="1"/>
          <p:nvPr/>
        </p:nvSpPr>
        <p:spPr>
          <a:xfrm>
            <a:off x="1333500" y="4700016"/>
            <a:ext cx="7124700" cy="213361"/>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650"/>
              <a:buFont typeface="Arial"/>
              <a:buNone/>
            </a:pPr>
            <a:r>
              <a:rPr lang="en-US" sz="650" b="0" i="0" u="none" strike="noStrike" cap="none">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29"/>
        <p:cNvGrpSpPr/>
        <p:nvPr/>
      </p:nvGrpSpPr>
      <p:grpSpPr>
        <a:xfrm>
          <a:off x="0" y="0"/>
          <a:ext cx="0" cy="0"/>
          <a:chOff x="0" y="0"/>
          <a:chExt cx="0" cy="0"/>
        </a:xfrm>
      </p:grpSpPr>
      <p:sp>
        <p:nvSpPr>
          <p:cNvPr id="30" name="Google Shape;30;p5"/>
          <p:cNvSpPr txBox="1">
            <a:spLocks noGrp="1"/>
          </p:cNvSpPr>
          <p:nvPr>
            <p:ph type="body" idx="1"/>
          </p:nvPr>
        </p:nvSpPr>
        <p:spPr>
          <a:xfrm>
            <a:off x="457200" y="1459580"/>
            <a:ext cx="7086600" cy="297907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800"/>
              <a:buNone/>
              <a:defRPr/>
            </a:lvl1pPr>
            <a:lvl2pPr marL="914400" lvl="1" indent="-228600" algn="l">
              <a:lnSpc>
                <a:spcPct val="100000"/>
              </a:lnSpc>
              <a:spcBef>
                <a:spcPts val="9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sp>
        <p:nvSpPr>
          <p:cNvPr id="31" name="Google Shape;31;p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cxnSp>
        <p:nvCxnSpPr>
          <p:cNvPr id="32" name="Google Shape;32;p5"/>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33" name="Google Shape;33;p5"/>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Statement and Chart">
  <p:cSld name="One Statement and Chart">
    <p:spTree>
      <p:nvGrpSpPr>
        <p:cNvPr id="1" name="Shape 34"/>
        <p:cNvGrpSpPr/>
        <p:nvPr/>
      </p:nvGrpSpPr>
      <p:grpSpPr>
        <a:xfrm>
          <a:off x="0" y="0"/>
          <a:ext cx="0" cy="0"/>
          <a:chOff x="0" y="0"/>
          <a:chExt cx="0" cy="0"/>
        </a:xfrm>
      </p:grpSpPr>
      <p:sp>
        <p:nvSpPr>
          <p:cNvPr id="35" name="Google Shape;35;p6"/>
          <p:cNvSpPr>
            <a:spLocks noGrp="1"/>
          </p:cNvSpPr>
          <p:nvPr>
            <p:ph type="chart" idx="2"/>
          </p:nvPr>
        </p:nvSpPr>
        <p:spPr>
          <a:xfrm>
            <a:off x="4572000" y="594360"/>
            <a:ext cx="4114800" cy="384429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36" name="Google Shape;36;p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37" name="Google Shape;37;p6"/>
          <p:cNvSpPr txBox="1">
            <a:spLocks noGrp="1"/>
          </p:cNvSpPr>
          <p:nvPr>
            <p:ph type="body" idx="1"/>
          </p:nvPr>
        </p:nvSpPr>
        <p:spPr>
          <a:xfrm>
            <a:off x="457200" y="1459580"/>
            <a:ext cx="3933131" cy="297907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800"/>
              <a:buNone/>
              <a:defRPr/>
            </a:lvl1pPr>
            <a:lvl2pPr marL="914400" lvl="1" indent="-228600" algn="l">
              <a:lnSpc>
                <a:spcPct val="100000"/>
              </a:lnSpc>
              <a:spcBef>
                <a:spcPts val="9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38" name="Google Shape;38;p6"/>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39" name="Google Shape;39;p6"/>
          <p:cNvSpPr txBox="1">
            <a:spLocks noGrp="1"/>
          </p:cNvSpPr>
          <p:nvPr>
            <p:ph type="title"/>
          </p:nvPr>
        </p:nvSpPr>
        <p:spPr>
          <a:xfrm>
            <a:off x="457200" y="590550"/>
            <a:ext cx="3936569" cy="6858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Statement and Long Chart">
  <p:cSld name="One Statement and Long Chart">
    <p:spTree>
      <p:nvGrpSpPr>
        <p:cNvPr id="1" name="Shape 40"/>
        <p:cNvGrpSpPr/>
        <p:nvPr/>
      </p:nvGrpSpPr>
      <p:grpSpPr>
        <a:xfrm>
          <a:off x="0" y="0"/>
          <a:ext cx="0" cy="0"/>
          <a:chOff x="0" y="0"/>
          <a:chExt cx="0" cy="0"/>
        </a:xfrm>
      </p:grpSpPr>
      <p:sp>
        <p:nvSpPr>
          <p:cNvPr id="41" name="Google Shape;41;p7"/>
          <p:cNvSpPr>
            <a:spLocks noGrp="1"/>
          </p:cNvSpPr>
          <p:nvPr>
            <p:ph type="chart" idx="2"/>
          </p:nvPr>
        </p:nvSpPr>
        <p:spPr>
          <a:xfrm>
            <a:off x="457198" y="2095248"/>
            <a:ext cx="8229602" cy="2343402"/>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42" name="Google Shape;42;p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43" name="Google Shape;43;p7"/>
          <p:cNvSpPr txBox="1">
            <a:spLocks noGrp="1"/>
          </p:cNvSpPr>
          <p:nvPr>
            <p:ph type="body" idx="1"/>
          </p:nvPr>
        </p:nvSpPr>
        <p:spPr>
          <a:xfrm>
            <a:off x="457200" y="1459580"/>
            <a:ext cx="8229600" cy="563000"/>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900"/>
              </a:spcBef>
              <a:spcAft>
                <a:spcPts val="0"/>
              </a:spcAft>
              <a:buClr>
                <a:schemeClr val="dk1"/>
              </a:buClr>
              <a:buSzPts val="1200"/>
              <a:buFont typeface="Verizon NHG TX"/>
              <a:buNone/>
              <a:defRPr b="0"/>
            </a:lvl1pPr>
            <a:lvl2pPr marL="914400" lvl="1" indent="-228600" algn="l">
              <a:lnSpc>
                <a:spcPct val="100000"/>
              </a:lnSpc>
              <a:spcBef>
                <a:spcPts val="9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42900" algn="l">
              <a:lnSpc>
                <a:spcPct val="100000"/>
              </a:lnSpc>
              <a:spcBef>
                <a:spcPts val="600"/>
              </a:spcBef>
              <a:spcAft>
                <a:spcPts val="0"/>
              </a:spcAft>
              <a:buClr>
                <a:schemeClr val="dk1"/>
              </a:buClr>
              <a:buSzPts val="18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600"/>
              </a:spcBef>
              <a:spcAft>
                <a:spcPts val="0"/>
              </a:spcAft>
              <a:buClr>
                <a:schemeClr val="dk1"/>
              </a:buClr>
              <a:buSzPts val="1800"/>
              <a:buChar char="–"/>
              <a:defRPr/>
            </a:lvl7pPr>
            <a:lvl8pPr marL="3657600" lvl="7" indent="-342900" algn="l">
              <a:lnSpc>
                <a:spcPct val="100000"/>
              </a:lnSpc>
              <a:spcBef>
                <a:spcPts val="600"/>
              </a:spcBef>
              <a:spcAft>
                <a:spcPts val="0"/>
              </a:spcAft>
              <a:buClr>
                <a:schemeClr val="dk1"/>
              </a:buClr>
              <a:buSzPts val="1800"/>
              <a:buChar char="–"/>
              <a:defRPr/>
            </a:lvl8pPr>
            <a:lvl9pPr marL="4114800" lvl="8" indent="-342900" algn="l">
              <a:lnSpc>
                <a:spcPct val="100000"/>
              </a:lnSpc>
              <a:spcBef>
                <a:spcPts val="600"/>
              </a:spcBef>
              <a:spcAft>
                <a:spcPts val="0"/>
              </a:spcAft>
              <a:buClr>
                <a:schemeClr val="dk1"/>
              </a:buClr>
              <a:buSzPts val="1800"/>
              <a:buChar char="–"/>
              <a:defRPr/>
            </a:lvl9pPr>
          </a:lstStyle>
          <a:p>
            <a:endParaRPr/>
          </a:p>
        </p:txBody>
      </p:sp>
      <p:cxnSp>
        <p:nvCxnSpPr>
          <p:cNvPr id="44" name="Google Shape;44;p7"/>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45" name="Google Shape;45;p7"/>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hank You">
  <p:cSld name="1_Thank You">
    <p:spTree>
      <p:nvGrpSpPr>
        <p:cNvPr id="1" name="Shape 46"/>
        <p:cNvGrpSpPr/>
        <p:nvPr/>
      </p:nvGrpSpPr>
      <p:grpSpPr>
        <a:xfrm>
          <a:off x="0" y="0"/>
          <a:ext cx="0" cy="0"/>
          <a:chOff x="0" y="0"/>
          <a:chExt cx="0" cy="0"/>
        </a:xfrm>
      </p:grpSpPr>
      <p:pic>
        <p:nvPicPr>
          <p:cNvPr id="47" name="Google Shape;47;p8"/>
          <p:cNvPicPr preferRelativeResize="0"/>
          <p:nvPr/>
        </p:nvPicPr>
        <p:blipFill rotWithShape="1">
          <a:blip r:embed="rId2">
            <a:alphaModFix/>
          </a:blip>
          <a:srcRect/>
          <a:stretch/>
        </p:blipFill>
        <p:spPr>
          <a:xfrm>
            <a:off x="0" y="0"/>
            <a:ext cx="9144000" cy="5143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1" name="Google Shape;51;p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100"/>
              <a:buNone/>
              <a:defRPr sz="1100"/>
            </a:lvl1pPr>
            <a:lvl2pPr lvl="1" algn="l" rtl="0">
              <a:spcBef>
                <a:spcPts val="0"/>
              </a:spcBef>
              <a:spcAft>
                <a:spcPts val="0"/>
              </a:spcAft>
              <a:buSzPts val="1100"/>
              <a:buNone/>
              <a:defRPr sz="1100"/>
            </a:lvl2pPr>
            <a:lvl3pPr lvl="2" algn="l" rtl="0">
              <a:spcBef>
                <a:spcPts val="0"/>
              </a:spcBef>
              <a:spcAft>
                <a:spcPts val="0"/>
              </a:spcAft>
              <a:buSzPts val="1100"/>
              <a:buNone/>
              <a:defRPr sz="1100"/>
            </a:lvl3pPr>
            <a:lvl4pPr lvl="3" algn="l" rtl="0">
              <a:spcBef>
                <a:spcPts val="0"/>
              </a:spcBef>
              <a:spcAft>
                <a:spcPts val="0"/>
              </a:spcAft>
              <a:buSzPts val="1100"/>
              <a:buNone/>
              <a:defRPr sz="1100"/>
            </a:lvl4pPr>
            <a:lvl5pPr lvl="4" algn="l" rtl="0">
              <a:spcBef>
                <a:spcPts val="0"/>
              </a:spcBef>
              <a:spcAft>
                <a:spcPts val="0"/>
              </a:spcAft>
              <a:buSzPts val="1100"/>
              <a:buNone/>
              <a:defRPr sz="1100"/>
            </a:lvl5pPr>
            <a:lvl6pPr lvl="5" algn="l" rtl="0">
              <a:spcBef>
                <a:spcPts val="0"/>
              </a:spcBef>
              <a:spcAft>
                <a:spcPts val="0"/>
              </a:spcAft>
              <a:buSzPts val="1100"/>
              <a:buNone/>
              <a:defRPr sz="1100"/>
            </a:lvl6pPr>
            <a:lvl7pPr lvl="6" algn="l" rtl="0">
              <a:spcBef>
                <a:spcPts val="0"/>
              </a:spcBef>
              <a:spcAft>
                <a:spcPts val="0"/>
              </a:spcAft>
              <a:buSzPts val="1100"/>
              <a:buNone/>
              <a:defRPr sz="1100"/>
            </a:lvl7pPr>
            <a:lvl8pPr lvl="7" algn="l" rtl="0">
              <a:spcBef>
                <a:spcPts val="0"/>
              </a:spcBef>
              <a:spcAft>
                <a:spcPts val="0"/>
              </a:spcAft>
              <a:buSzPts val="1100"/>
              <a:buNone/>
              <a:defRPr sz="1100"/>
            </a:lvl8pPr>
            <a:lvl9pPr lvl="8" algn="l" rtl="0">
              <a:spcBef>
                <a:spcPts val="0"/>
              </a:spcBef>
              <a:spcAft>
                <a:spcPts val="0"/>
              </a:spcAft>
              <a:buSzPts val="1100"/>
              <a:buNone/>
              <a:defRPr sz="1100"/>
            </a:lvl9pPr>
          </a:lstStyle>
          <a:p>
            <a:endParaRPr/>
          </a:p>
        </p:txBody>
      </p:sp>
      <p:sp>
        <p:nvSpPr>
          <p:cNvPr id="52" name="Google Shape;52;p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60"/>
        <p:cNvGrpSpPr/>
        <p:nvPr/>
      </p:nvGrpSpPr>
      <p:grpSpPr>
        <a:xfrm>
          <a:off x="0" y="0"/>
          <a:ext cx="0" cy="0"/>
          <a:chOff x="0" y="0"/>
          <a:chExt cx="0" cy="0"/>
        </a:xfrm>
      </p:grpSpPr>
      <p:sp>
        <p:nvSpPr>
          <p:cNvPr id="61" name="Google Shape;61;p11"/>
          <p:cNvSpPr txBox="1">
            <a:spLocks noGrp="1"/>
          </p:cNvSpPr>
          <p:nvPr>
            <p:ph type="ctrTitle"/>
          </p:nvPr>
        </p:nvSpPr>
        <p:spPr>
          <a:xfrm>
            <a:off x="457200" y="463073"/>
            <a:ext cx="6271800" cy="17373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6000"/>
              <a:buFont typeface="Verizon NHG DS"/>
              <a:buNone/>
              <a:defRPr sz="6000" b="1" i="0">
                <a:latin typeface="Verizon NHG DS"/>
                <a:ea typeface="Verizon NHG DS"/>
                <a:cs typeface="Verizon NHG DS"/>
                <a:sym typeface="Verizon NHG D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11"/>
          <p:cNvSpPr txBox="1">
            <a:spLocks noGrp="1"/>
          </p:cNvSpPr>
          <p:nvPr>
            <p:ph type="subTitle" idx="1"/>
          </p:nvPr>
        </p:nvSpPr>
        <p:spPr>
          <a:xfrm>
            <a:off x="457200" y="2291873"/>
            <a:ext cx="4114800" cy="1371600"/>
          </a:xfrm>
          <a:prstGeom prst="rect">
            <a:avLst/>
          </a:prstGeom>
          <a:noFill/>
          <a:ln>
            <a:noFill/>
          </a:ln>
        </p:spPr>
        <p:txBody>
          <a:bodyPr spcFirstLastPara="1" wrap="square" lIns="0" tIns="0" rIns="0" bIns="0" anchor="t" anchorCtr="0">
            <a:noAutofit/>
          </a:bodyPr>
          <a:lstStyle>
            <a:lvl1pPr lvl="0" algn="l" rtl="0">
              <a:lnSpc>
                <a:spcPct val="80000"/>
              </a:lnSpc>
              <a:spcBef>
                <a:spcPts val="900"/>
              </a:spcBef>
              <a:spcAft>
                <a:spcPts val="0"/>
              </a:spcAft>
              <a:buClr>
                <a:schemeClr val="dk1"/>
              </a:buClr>
              <a:buSzPts val="2000"/>
              <a:buFont typeface="Verizon NHG TX"/>
              <a:buNone/>
              <a:defRPr sz="2000" b="0" i="0">
                <a:solidFill>
                  <a:schemeClr val="dk1"/>
                </a:solidFill>
                <a:latin typeface="Verizon NHG TX"/>
                <a:ea typeface="Verizon NHG TX"/>
                <a:cs typeface="Verizon NHG TX"/>
                <a:sym typeface="Verizon NHG TX"/>
              </a:defRPr>
            </a:lvl1pPr>
            <a:lvl2pPr lvl="1" algn="l" rtl="0">
              <a:lnSpc>
                <a:spcPct val="80000"/>
              </a:lnSpc>
              <a:spcBef>
                <a:spcPts val="900"/>
              </a:spcBef>
              <a:spcAft>
                <a:spcPts val="0"/>
              </a:spcAft>
              <a:buClr>
                <a:schemeClr val="dk1"/>
              </a:buClr>
              <a:buSzPts val="2000"/>
              <a:buFont typeface="Verizon NHG TX"/>
              <a:buNone/>
              <a:defRPr sz="2000" b="1">
                <a:solidFill>
                  <a:schemeClr val="dk1"/>
                </a:solidFill>
              </a:defRPr>
            </a:lvl2pPr>
            <a:lvl3pPr lvl="2" algn="l" rtl="0">
              <a:lnSpc>
                <a:spcPct val="80000"/>
              </a:lnSpc>
              <a:spcBef>
                <a:spcPts val="900"/>
              </a:spcBef>
              <a:spcAft>
                <a:spcPts val="0"/>
              </a:spcAft>
              <a:buClr>
                <a:schemeClr val="dk1"/>
              </a:buClr>
              <a:buSzPts val="2000"/>
              <a:buNone/>
              <a:defRPr sz="2000" b="1">
                <a:solidFill>
                  <a:schemeClr val="dk1"/>
                </a:solidFill>
              </a:defRPr>
            </a:lvl3pPr>
            <a:lvl4pPr lvl="3" algn="l" rtl="0">
              <a:lnSpc>
                <a:spcPct val="80000"/>
              </a:lnSpc>
              <a:spcBef>
                <a:spcPts val="900"/>
              </a:spcBef>
              <a:spcAft>
                <a:spcPts val="0"/>
              </a:spcAft>
              <a:buClr>
                <a:schemeClr val="dk1"/>
              </a:buClr>
              <a:buSzPts val="2000"/>
              <a:buNone/>
              <a:defRPr sz="2000" b="1">
                <a:solidFill>
                  <a:schemeClr val="dk1"/>
                </a:solidFill>
              </a:defRPr>
            </a:lvl4pPr>
            <a:lvl5pPr lvl="4" algn="l" rtl="0">
              <a:lnSpc>
                <a:spcPct val="80000"/>
              </a:lnSpc>
              <a:spcBef>
                <a:spcPts val="900"/>
              </a:spcBef>
              <a:spcAft>
                <a:spcPts val="0"/>
              </a:spcAft>
              <a:buClr>
                <a:schemeClr val="dk1"/>
              </a:buClr>
              <a:buSzPts val="2000"/>
              <a:buNone/>
              <a:defRPr sz="2000" b="1">
                <a:solidFill>
                  <a:schemeClr val="dk1"/>
                </a:solidFill>
              </a:defRPr>
            </a:lvl5pPr>
            <a:lvl6pPr lvl="5" algn="l" rtl="0">
              <a:lnSpc>
                <a:spcPct val="80000"/>
              </a:lnSpc>
              <a:spcBef>
                <a:spcPts val="900"/>
              </a:spcBef>
              <a:spcAft>
                <a:spcPts val="0"/>
              </a:spcAft>
              <a:buClr>
                <a:schemeClr val="dk1"/>
              </a:buClr>
              <a:buSzPts val="2000"/>
              <a:buNone/>
              <a:defRPr sz="2000" b="1">
                <a:solidFill>
                  <a:schemeClr val="dk1"/>
                </a:solidFill>
              </a:defRPr>
            </a:lvl6pPr>
            <a:lvl7pPr lvl="6" algn="l" rtl="0">
              <a:lnSpc>
                <a:spcPct val="80000"/>
              </a:lnSpc>
              <a:spcBef>
                <a:spcPts val="900"/>
              </a:spcBef>
              <a:spcAft>
                <a:spcPts val="0"/>
              </a:spcAft>
              <a:buClr>
                <a:schemeClr val="dk1"/>
              </a:buClr>
              <a:buSzPts val="2000"/>
              <a:buNone/>
              <a:defRPr sz="2000" b="1">
                <a:solidFill>
                  <a:schemeClr val="dk1"/>
                </a:solidFill>
              </a:defRPr>
            </a:lvl7pPr>
            <a:lvl8pPr lvl="7" algn="l" rtl="0">
              <a:lnSpc>
                <a:spcPct val="80000"/>
              </a:lnSpc>
              <a:spcBef>
                <a:spcPts val="900"/>
              </a:spcBef>
              <a:spcAft>
                <a:spcPts val="0"/>
              </a:spcAft>
              <a:buClr>
                <a:schemeClr val="dk1"/>
              </a:buClr>
              <a:buSzPts val="2000"/>
              <a:buNone/>
              <a:defRPr sz="2000" b="1">
                <a:solidFill>
                  <a:schemeClr val="dk1"/>
                </a:solidFill>
              </a:defRPr>
            </a:lvl8pPr>
            <a:lvl9pPr lvl="8" algn="l" rtl="0">
              <a:lnSpc>
                <a:spcPct val="80000"/>
              </a:lnSpc>
              <a:spcBef>
                <a:spcPts val="900"/>
              </a:spcBef>
              <a:spcAft>
                <a:spcPts val="0"/>
              </a:spcAft>
              <a:buClr>
                <a:schemeClr val="dk1"/>
              </a:buClr>
              <a:buSzPts val="2000"/>
              <a:buNone/>
              <a:defRPr sz="2000" b="1">
                <a:solidFill>
                  <a:schemeClr val="dk1"/>
                </a:solidFil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ext and One Picture">
  <p:cSld name="Text and One Picture">
    <p:spTree>
      <p:nvGrpSpPr>
        <p:cNvPr id="1" name="Shape 63"/>
        <p:cNvGrpSpPr/>
        <p:nvPr/>
      </p:nvGrpSpPr>
      <p:grpSpPr>
        <a:xfrm>
          <a:off x="0" y="0"/>
          <a:ext cx="0" cy="0"/>
          <a:chOff x="0" y="0"/>
          <a:chExt cx="0" cy="0"/>
        </a:xfrm>
      </p:grpSpPr>
      <p:sp>
        <p:nvSpPr>
          <p:cNvPr id="64" name="Google Shape;64;p1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65" name="Google Shape;65;p12"/>
          <p:cNvSpPr>
            <a:spLocks noGrp="1"/>
          </p:cNvSpPr>
          <p:nvPr>
            <p:ph type="pic" idx="2"/>
          </p:nvPr>
        </p:nvSpPr>
        <p:spPr>
          <a:xfrm>
            <a:off x="4572000" y="1457325"/>
            <a:ext cx="4114800" cy="26574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66" name="Google Shape;66;p12"/>
          <p:cNvSpPr txBox="1">
            <a:spLocks noGrp="1"/>
          </p:cNvSpPr>
          <p:nvPr>
            <p:ph type="body" idx="1"/>
          </p:nvPr>
        </p:nvSpPr>
        <p:spPr>
          <a:xfrm>
            <a:off x="4572000" y="4154833"/>
            <a:ext cx="4114800" cy="283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Clr>
                <a:schemeClr val="dk1"/>
              </a:buClr>
              <a:buSzPts val="700"/>
              <a:buFont typeface="Verizon NHG TX"/>
              <a:buNone/>
              <a:defRPr sz="700" b="0">
                <a:solidFill>
                  <a:schemeClr val="dk1"/>
                </a:solidFill>
              </a:defRPr>
            </a:lvl1pPr>
            <a:lvl2pPr marL="914400" lvl="1" indent="-228600" algn="l" rtl="0">
              <a:lnSpc>
                <a:spcPct val="100000"/>
              </a:lnSpc>
              <a:spcBef>
                <a:spcPts val="0"/>
              </a:spcBef>
              <a:spcAft>
                <a:spcPts val="0"/>
              </a:spcAft>
              <a:buClr>
                <a:schemeClr val="dk1"/>
              </a:buClr>
              <a:buSzPts val="700"/>
              <a:buFont typeface="Verizon NHG TX"/>
              <a:buNone/>
              <a:defRPr sz="700"/>
            </a:lvl2pPr>
            <a:lvl3pPr marL="1371600" lvl="2" indent="-228600" algn="l" rtl="0">
              <a:lnSpc>
                <a:spcPct val="100000"/>
              </a:lnSpc>
              <a:spcBef>
                <a:spcPts val="0"/>
              </a:spcBef>
              <a:spcAft>
                <a:spcPts val="0"/>
              </a:spcAft>
              <a:buClr>
                <a:schemeClr val="dk1"/>
              </a:buClr>
              <a:buSzPts val="700"/>
              <a:buFont typeface="Verizon NHG TX"/>
              <a:buNone/>
              <a:defRPr sz="700"/>
            </a:lvl3pPr>
            <a:lvl4pPr marL="1828800" lvl="3" indent="-228600" algn="l" rtl="0">
              <a:lnSpc>
                <a:spcPct val="100000"/>
              </a:lnSpc>
              <a:spcBef>
                <a:spcPts val="0"/>
              </a:spcBef>
              <a:spcAft>
                <a:spcPts val="0"/>
              </a:spcAft>
              <a:buClr>
                <a:schemeClr val="dk1"/>
              </a:buClr>
              <a:buSzPts val="700"/>
              <a:buFont typeface="Verizon NHG TX"/>
              <a:buNone/>
              <a:defRPr sz="700"/>
            </a:lvl4pPr>
            <a:lvl5pPr marL="2286000" lvl="4" indent="-228600" algn="l" rtl="0">
              <a:lnSpc>
                <a:spcPct val="100000"/>
              </a:lnSpc>
              <a:spcBef>
                <a:spcPts val="0"/>
              </a:spcBef>
              <a:spcAft>
                <a:spcPts val="0"/>
              </a:spcAft>
              <a:buClr>
                <a:schemeClr val="dk1"/>
              </a:buClr>
              <a:buSzPts val="700"/>
              <a:buFont typeface="Verizon NHG TX"/>
              <a:buNone/>
              <a:defRPr sz="700"/>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67" name="Google Shape;67;p12"/>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68" name="Google Shape;68;p12"/>
          <p:cNvSpPr txBox="1">
            <a:spLocks noGrp="1"/>
          </p:cNvSpPr>
          <p:nvPr>
            <p:ph type="body" idx="3"/>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69" name="Google Shape;69;p12"/>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70"/>
        <p:cNvGrpSpPr/>
        <p:nvPr/>
      </p:nvGrpSpPr>
      <p:grpSpPr>
        <a:xfrm>
          <a:off x="0" y="0"/>
          <a:ext cx="0" cy="0"/>
          <a:chOff x="0" y="0"/>
          <a:chExt cx="0" cy="0"/>
        </a:xfrm>
      </p:grpSpPr>
      <p:sp>
        <p:nvSpPr>
          <p:cNvPr id="71" name="Google Shape;71;p13"/>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72" name="Google Shape;72;p1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cxnSp>
        <p:nvCxnSpPr>
          <p:cNvPr id="73" name="Google Shape;73;p13"/>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74" name="Google Shape;74;p13"/>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Reverse Section Header">
  <p:cSld name="Reverse Section Header">
    <p:bg>
      <p:bgPr>
        <a:solidFill>
          <a:schemeClr val="dk1"/>
        </a:solidFill>
        <a:effectLst/>
      </p:bgPr>
    </p:bg>
    <p:spTree>
      <p:nvGrpSpPr>
        <p:cNvPr id="1" name="Shape 75"/>
        <p:cNvGrpSpPr/>
        <p:nvPr/>
      </p:nvGrpSpPr>
      <p:grpSpPr>
        <a:xfrm>
          <a:off x="0" y="0"/>
          <a:ext cx="0" cy="0"/>
          <a:chOff x="0" y="0"/>
          <a:chExt cx="0" cy="0"/>
        </a:xfrm>
      </p:grpSpPr>
      <p:sp>
        <p:nvSpPr>
          <p:cNvPr id="76" name="Google Shape;76;p14"/>
          <p:cNvSpPr/>
          <p:nvPr/>
        </p:nvSpPr>
        <p:spPr>
          <a:xfrm>
            <a:off x="7718626" y="55975"/>
            <a:ext cx="1380000" cy="3477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Neue Haas Grotesk Text Std"/>
              <a:ea typeface="Neue Haas Grotesk Text Std"/>
              <a:cs typeface="Neue Haas Grotesk Text Std"/>
              <a:sym typeface="Neue Haas Grotesk Text Std"/>
            </a:endParaRPr>
          </a:p>
        </p:txBody>
      </p:sp>
      <p:sp>
        <p:nvSpPr>
          <p:cNvPr id="77" name="Google Shape;77;p14"/>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2"/>
              </a:buClr>
              <a:buSzPts val="4000"/>
              <a:buFont typeface="Verizon NHG DS"/>
              <a:buNone/>
              <a:defRPr sz="4000" b="1" cap="none">
                <a:solidFill>
                  <a:schemeClr val="lt2"/>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 name="Google Shape;78;p14"/>
          <p:cNvSpPr txBox="1">
            <a:spLocks noGrp="1"/>
          </p:cNvSpPr>
          <p:nvPr>
            <p:ph type="body" idx="1"/>
          </p:nvPr>
        </p:nvSpPr>
        <p:spPr>
          <a:xfrm>
            <a:off x="457200" y="2057400"/>
            <a:ext cx="7086600" cy="2381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lt2"/>
              </a:buClr>
              <a:buSzPts val="1800"/>
              <a:buFont typeface="Verizon NHG TX"/>
              <a:buNone/>
              <a:defRPr sz="1800" b="0" i="0">
                <a:solidFill>
                  <a:schemeClr val="lt2"/>
                </a:solidFill>
                <a:latin typeface="Verizon NHG TX"/>
                <a:ea typeface="Verizon NHG TX"/>
                <a:cs typeface="Verizon NHG TX"/>
                <a:sym typeface="Verizon NHG TX"/>
              </a:defRPr>
            </a:lvl1pPr>
            <a:lvl2pPr marL="914400" lvl="1" indent="-228600" algn="l" rtl="0">
              <a:lnSpc>
                <a:spcPct val="100000"/>
              </a:lnSpc>
              <a:spcBef>
                <a:spcPts val="900"/>
              </a:spcBef>
              <a:spcAft>
                <a:spcPts val="0"/>
              </a:spcAft>
              <a:buClr>
                <a:schemeClr val="lt2"/>
              </a:buClr>
              <a:buSzPts val="1800"/>
              <a:buFont typeface="Verizon NHG TX"/>
              <a:buNone/>
              <a:defRPr sz="1800" b="0" i="0">
                <a:solidFill>
                  <a:schemeClr val="lt2"/>
                </a:solidFill>
                <a:latin typeface="Verizon NHG TX"/>
                <a:ea typeface="Verizon NHG TX"/>
                <a:cs typeface="Verizon NHG TX"/>
                <a:sym typeface="Verizon NHG TX"/>
              </a:defRPr>
            </a:lvl2pPr>
            <a:lvl3pPr marL="1371600" lvl="2"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3pPr>
            <a:lvl4pPr marL="1828800" lvl="3"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4pPr>
            <a:lvl5pPr marL="2286000" lvl="4" indent="-342900" algn="l" rtl="0">
              <a:lnSpc>
                <a:spcPct val="100000"/>
              </a:lnSpc>
              <a:spcBef>
                <a:spcPts val="600"/>
              </a:spcBef>
              <a:spcAft>
                <a:spcPts val="0"/>
              </a:spcAft>
              <a:buClr>
                <a:schemeClr val="lt2"/>
              </a:buClr>
              <a:buSzPts val="1800"/>
              <a:buChar char="–"/>
              <a:defRPr sz="1800" b="0" i="0">
                <a:solidFill>
                  <a:schemeClr val="lt2"/>
                </a:solidFill>
                <a:latin typeface="Verizon NHG TX"/>
                <a:ea typeface="Verizon NHG TX"/>
                <a:cs typeface="Verizon NHG TX"/>
                <a:sym typeface="Verizon NHG TX"/>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79" name="Google Shape;79;p14"/>
          <p:cNvCxnSpPr/>
          <p:nvPr/>
        </p:nvCxnSpPr>
        <p:spPr>
          <a:xfrm>
            <a:off x="457200" y="457200"/>
            <a:ext cx="8229600" cy="0"/>
          </a:xfrm>
          <a:prstGeom prst="straightConnector1">
            <a:avLst/>
          </a:prstGeom>
          <a:noFill/>
          <a:ln w="47625" cap="flat" cmpd="sng">
            <a:solidFill>
              <a:schemeClr val="lt2"/>
            </a:solidFill>
            <a:prstDash val="solid"/>
            <a:round/>
            <a:headEnd type="none" w="sm" len="sm"/>
            <a:tailEnd type="none" w="sm" len="sm"/>
          </a:ln>
        </p:spPr>
      </p:cxnSp>
      <p:sp>
        <p:nvSpPr>
          <p:cNvPr id="80" name="Google Shape;80;p1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2"/>
                </a:solidFill>
                <a:latin typeface="Verizon NHG DS"/>
                <a:ea typeface="Verizon NHG DS"/>
                <a:cs typeface="Verizon NHG DS"/>
                <a:sym typeface="Verizon NHG DS"/>
              </a:defRPr>
            </a:lvl1pPr>
            <a:lvl2pPr marL="0" lvl="1" indent="0" algn="r" rtl="0">
              <a:spcBef>
                <a:spcPts val="0"/>
              </a:spcBef>
              <a:buNone/>
              <a:defRPr sz="700" b="1">
                <a:solidFill>
                  <a:schemeClr val="lt2"/>
                </a:solidFill>
                <a:latin typeface="Verizon NHG DS"/>
                <a:ea typeface="Verizon NHG DS"/>
                <a:cs typeface="Verizon NHG DS"/>
                <a:sym typeface="Verizon NHG DS"/>
              </a:defRPr>
            </a:lvl2pPr>
            <a:lvl3pPr marL="0" lvl="2" indent="0" algn="r" rtl="0">
              <a:spcBef>
                <a:spcPts val="0"/>
              </a:spcBef>
              <a:buNone/>
              <a:defRPr sz="700" b="1">
                <a:solidFill>
                  <a:schemeClr val="lt2"/>
                </a:solidFill>
                <a:latin typeface="Verizon NHG DS"/>
                <a:ea typeface="Verizon NHG DS"/>
                <a:cs typeface="Verizon NHG DS"/>
                <a:sym typeface="Verizon NHG DS"/>
              </a:defRPr>
            </a:lvl3pPr>
            <a:lvl4pPr marL="0" lvl="3" indent="0" algn="r" rtl="0">
              <a:spcBef>
                <a:spcPts val="0"/>
              </a:spcBef>
              <a:buNone/>
              <a:defRPr sz="700" b="1">
                <a:solidFill>
                  <a:schemeClr val="lt2"/>
                </a:solidFill>
                <a:latin typeface="Verizon NHG DS"/>
                <a:ea typeface="Verizon NHG DS"/>
                <a:cs typeface="Verizon NHG DS"/>
                <a:sym typeface="Verizon NHG DS"/>
              </a:defRPr>
            </a:lvl4pPr>
            <a:lvl5pPr marL="0" lvl="4" indent="0" algn="r" rtl="0">
              <a:spcBef>
                <a:spcPts val="0"/>
              </a:spcBef>
              <a:buNone/>
              <a:defRPr sz="700" b="1">
                <a:solidFill>
                  <a:schemeClr val="lt2"/>
                </a:solidFill>
                <a:latin typeface="Verizon NHG DS"/>
                <a:ea typeface="Verizon NHG DS"/>
                <a:cs typeface="Verizon NHG DS"/>
                <a:sym typeface="Verizon NHG DS"/>
              </a:defRPr>
            </a:lvl5pPr>
            <a:lvl6pPr marL="0" lvl="5" indent="0" algn="r" rtl="0">
              <a:spcBef>
                <a:spcPts val="0"/>
              </a:spcBef>
              <a:buNone/>
              <a:defRPr sz="700" b="1">
                <a:solidFill>
                  <a:schemeClr val="lt2"/>
                </a:solidFill>
                <a:latin typeface="Verizon NHG DS"/>
                <a:ea typeface="Verizon NHG DS"/>
                <a:cs typeface="Verizon NHG DS"/>
                <a:sym typeface="Verizon NHG DS"/>
              </a:defRPr>
            </a:lvl6pPr>
            <a:lvl7pPr marL="0" lvl="6" indent="0" algn="r" rtl="0">
              <a:spcBef>
                <a:spcPts val="0"/>
              </a:spcBef>
              <a:buNone/>
              <a:defRPr sz="700" b="1">
                <a:solidFill>
                  <a:schemeClr val="lt2"/>
                </a:solidFill>
                <a:latin typeface="Verizon NHG DS"/>
                <a:ea typeface="Verizon NHG DS"/>
                <a:cs typeface="Verizon NHG DS"/>
                <a:sym typeface="Verizon NHG DS"/>
              </a:defRPr>
            </a:lvl7pPr>
            <a:lvl8pPr marL="0" lvl="7" indent="0" algn="r" rtl="0">
              <a:spcBef>
                <a:spcPts val="0"/>
              </a:spcBef>
              <a:buNone/>
              <a:defRPr sz="700" b="1">
                <a:solidFill>
                  <a:schemeClr val="lt2"/>
                </a:solidFill>
                <a:latin typeface="Verizon NHG DS"/>
                <a:ea typeface="Verizon NHG DS"/>
                <a:cs typeface="Verizon NHG DS"/>
                <a:sym typeface="Verizon NHG DS"/>
              </a:defRPr>
            </a:lvl8pPr>
            <a:lvl9pPr marL="0" lvl="8" indent="0" algn="r" rtl="0">
              <a:spcBef>
                <a:spcPts val="0"/>
              </a:spcBef>
              <a:buNone/>
              <a:defRPr sz="700" b="1">
                <a:solidFill>
                  <a:schemeClr val="lt2"/>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81" name="Google Shape;81;p14"/>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82" name="Google Shape;82;p14"/>
          <p:cNvPicPr preferRelativeResize="0"/>
          <p:nvPr/>
        </p:nvPicPr>
        <p:blipFill rotWithShape="1">
          <a:blip r:embed="rId2">
            <a:alphaModFix/>
          </a:blip>
          <a:srcRect/>
          <a:stretch/>
        </p:blipFill>
        <p:spPr>
          <a:xfrm>
            <a:off x="352422" y="4615079"/>
            <a:ext cx="1069848" cy="384837"/>
          </a:xfrm>
          <a:prstGeom prst="rect">
            <a:avLst/>
          </a:prstGeom>
          <a:noFill/>
          <a:ln>
            <a:noFill/>
          </a:ln>
        </p:spPr>
      </p:pic>
      <p:sp>
        <p:nvSpPr>
          <p:cNvPr id="83" name="Google Shape;83;p14"/>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US"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pic>
        <p:nvPicPr>
          <p:cNvPr id="84" name="Google Shape;84;p14"/>
          <p:cNvPicPr preferRelativeResize="0"/>
          <p:nvPr/>
        </p:nvPicPr>
        <p:blipFill rotWithShape="1">
          <a:blip r:embed="rId3">
            <a:alphaModFix/>
          </a:blip>
          <a:srcRect/>
          <a:stretch/>
        </p:blipFill>
        <p:spPr>
          <a:xfrm>
            <a:off x="7874949" y="32178"/>
            <a:ext cx="811856" cy="3848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5"/>
        <p:cNvGrpSpPr/>
        <p:nvPr/>
      </p:nvGrpSpPr>
      <p:grpSpPr>
        <a:xfrm>
          <a:off x="0" y="0"/>
          <a:ext cx="0" cy="0"/>
          <a:chOff x="0" y="0"/>
          <a:chExt cx="0" cy="0"/>
        </a:xfrm>
      </p:grpSpPr>
      <p:sp>
        <p:nvSpPr>
          <p:cNvPr id="86" name="Google Shape;86;p15"/>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Verizon NHG DS"/>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 name="Google Shape;87;p15"/>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dk1"/>
              </a:buClr>
              <a:buSzPts val="1600"/>
              <a:buFont typeface="Verizon NHG DS"/>
              <a:buAutoNum type="arabicPeriod"/>
              <a:defRPr sz="160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sp>
        <p:nvSpPr>
          <p:cNvPr id="88" name="Google Shape;88;p1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cxnSp>
        <p:nvCxnSpPr>
          <p:cNvPr id="89" name="Google Shape;89;p15"/>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 Text and Photos">
  <p:cSld name="Four Column Text and Photos">
    <p:spTree>
      <p:nvGrpSpPr>
        <p:cNvPr id="1" name="Shape 90"/>
        <p:cNvGrpSpPr/>
        <p:nvPr/>
      </p:nvGrpSpPr>
      <p:grpSpPr>
        <a:xfrm>
          <a:off x="0" y="0"/>
          <a:ext cx="0" cy="0"/>
          <a:chOff x="0" y="0"/>
          <a:chExt cx="0" cy="0"/>
        </a:xfrm>
      </p:grpSpPr>
      <p:sp>
        <p:nvSpPr>
          <p:cNvPr id="91" name="Google Shape;91;p1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cxnSp>
        <p:nvCxnSpPr>
          <p:cNvPr id="92" name="Google Shape;92;p16"/>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93" name="Google Shape;93;p16"/>
          <p:cNvSpPr txBox="1">
            <a:spLocks noGrp="1"/>
          </p:cNvSpPr>
          <p:nvPr>
            <p:ph type="body" idx="1"/>
          </p:nvPr>
        </p:nvSpPr>
        <p:spPr>
          <a:xfrm>
            <a:off x="4701228"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94" name="Google Shape;94;p16"/>
          <p:cNvSpPr txBox="1">
            <a:spLocks noGrp="1"/>
          </p:cNvSpPr>
          <p:nvPr>
            <p:ph type="body" idx="2"/>
          </p:nvPr>
        </p:nvSpPr>
        <p:spPr>
          <a:xfrm>
            <a:off x="2572863"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95" name="Google Shape;95;p16"/>
          <p:cNvSpPr txBox="1">
            <a:spLocks noGrp="1"/>
          </p:cNvSpPr>
          <p:nvPr>
            <p:ph type="body" idx="3"/>
          </p:nvPr>
        </p:nvSpPr>
        <p:spPr>
          <a:xfrm>
            <a:off x="457200"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96" name="Google Shape;96;p16"/>
          <p:cNvSpPr>
            <a:spLocks noGrp="1"/>
          </p:cNvSpPr>
          <p:nvPr>
            <p:ph type="pic" idx="4"/>
          </p:nvPr>
        </p:nvSpPr>
        <p:spPr>
          <a:xfrm>
            <a:off x="457200"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97" name="Google Shape;97;p16"/>
          <p:cNvSpPr>
            <a:spLocks noGrp="1"/>
          </p:cNvSpPr>
          <p:nvPr>
            <p:ph type="pic" idx="5"/>
          </p:nvPr>
        </p:nvSpPr>
        <p:spPr>
          <a:xfrm>
            <a:off x="2572862"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98" name="Google Shape;98;p16"/>
          <p:cNvSpPr>
            <a:spLocks noGrp="1"/>
          </p:cNvSpPr>
          <p:nvPr>
            <p:ph type="pic" idx="6"/>
          </p:nvPr>
        </p:nvSpPr>
        <p:spPr>
          <a:xfrm>
            <a:off x="4701228"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99" name="Google Shape;99;p16"/>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0" name="Google Shape;100;p16"/>
          <p:cNvSpPr txBox="1">
            <a:spLocks noGrp="1"/>
          </p:cNvSpPr>
          <p:nvPr>
            <p:ph type="body" idx="7"/>
          </p:nvPr>
        </p:nvSpPr>
        <p:spPr>
          <a:xfrm>
            <a:off x="6816891" y="3137136"/>
            <a:ext cx="18699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01" name="Google Shape;101;p16"/>
          <p:cNvSpPr>
            <a:spLocks noGrp="1"/>
          </p:cNvSpPr>
          <p:nvPr>
            <p:ph type="pic" idx="8"/>
          </p:nvPr>
        </p:nvSpPr>
        <p:spPr>
          <a:xfrm>
            <a:off x="6816891" y="1457326"/>
            <a:ext cx="18699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Statement and Chart">
  <p:cSld name="One Statement and Chart">
    <p:spTree>
      <p:nvGrpSpPr>
        <p:cNvPr id="1" name="Shape 102"/>
        <p:cNvGrpSpPr/>
        <p:nvPr/>
      </p:nvGrpSpPr>
      <p:grpSpPr>
        <a:xfrm>
          <a:off x="0" y="0"/>
          <a:ext cx="0" cy="0"/>
          <a:chOff x="0" y="0"/>
          <a:chExt cx="0" cy="0"/>
        </a:xfrm>
      </p:grpSpPr>
      <p:sp>
        <p:nvSpPr>
          <p:cNvPr id="103" name="Google Shape;103;p17"/>
          <p:cNvSpPr>
            <a:spLocks noGrp="1"/>
          </p:cNvSpPr>
          <p:nvPr>
            <p:ph type="chart" idx="2"/>
          </p:nvPr>
        </p:nvSpPr>
        <p:spPr>
          <a:xfrm>
            <a:off x="4572000" y="594360"/>
            <a:ext cx="4114800" cy="38442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04" name="Google Shape;104;p1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
          <p:cNvSpPr txBox="1">
            <a:spLocks noGrp="1"/>
          </p:cNvSpPr>
          <p:nvPr>
            <p:ph type="body" idx="1"/>
          </p:nvPr>
        </p:nvSpPr>
        <p:spPr>
          <a:xfrm>
            <a:off x="457200" y="1459580"/>
            <a:ext cx="3933000" cy="2979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106" name="Google Shape;106;p17"/>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07" name="Google Shape;107;p17"/>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genda Black">
  <p:cSld name="Agenda Black">
    <p:bg>
      <p:bgPr>
        <a:solidFill>
          <a:schemeClr val="dk1"/>
        </a:solidFill>
        <a:effectLst/>
      </p:bgPr>
    </p:bg>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457200" y="59436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2400"/>
              <a:buFont typeface="Verizon NHG DS"/>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0" name="Google Shape;110;p18"/>
          <p:cNvSpPr txBox="1">
            <a:spLocks noGrp="1"/>
          </p:cNvSpPr>
          <p:nvPr>
            <p:ph type="body" idx="1"/>
          </p:nvPr>
        </p:nvSpPr>
        <p:spPr>
          <a:xfrm>
            <a:off x="457200" y="1459580"/>
            <a:ext cx="7086600" cy="29790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900"/>
              </a:spcBef>
              <a:spcAft>
                <a:spcPts val="0"/>
              </a:spcAft>
              <a:buClr>
                <a:schemeClr val="lt1"/>
              </a:buClr>
              <a:buSzPts val="1600"/>
              <a:buFont typeface="Verizon NHG DS"/>
              <a:buAutoNum type="arabicPeriod"/>
              <a:defRPr sz="1600">
                <a:solidFill>
                  <a:schemeClr val="lt1"/>
                </a:solidFill>
              </a:defRPr>
            </a:lvl1pPr>
            <a:lvl2pPr marL="914400" lvl="1" indent="-228600" algn="l" rtl="0">
              <a:lnSpc>
                <a:spcPct val="100000"/>
              </a:lnSpc>
              <a:spcBef>
                <a:spcPts val="900"/>
              </a:spcBef>
              <a:spcAft>
                <a:spcPts val="0"/>
              </a:spcAft>
              <a:buClr>
                <a:schemeClr val="lt1"/>
              </a:buClr>
              <a:buSzPts val="1200"/>
              <a:buFont typeface="Verizon NHG TX"/>
              <a:buNone/>
              <a:defRPr>
                <a:solidFill>
                  <a:schemeClr val="lt1"/>
                </a:solidFill>
              </a:defRPr>
            </a:lvl2pPr>
            <a:lvl3pPr marL="1371600" lvl="2" indent="-304800" algn="l" rtl="0">
              <a:lnSpc>
                <a:spcPct val="100000"/>
              </a:lnSpc>
              <a:spcBef>
                <a:spcPts val="600"/>
              </a:spcBef>
              <a:spcAft>
                <a:spcPts val="0"/>
              </a:spcAft>
              <a:buClr>
                <a:schemeClr val="lt1"/>
              </a:buClr>
              <a:buSzPts val="1200"/>
              <a:buChar char="•"/>
              <a:defRPr>
                <a:solidFill>
                  <a:schemeClr val="lt1"/>
                </a:solidFill>
              </a:defRPr>
            </a:lvl3pPr>
            <a:lvl4pPr marL="1828800" lvl="3" indent="-304800" algn="l" rtl="0">
              <a:lnSpc>
                <a:spcPct val="100000"/>
              </a:lnSpc>
              <a:spcBef>
                <a:spcPts val="600"/>
              </a:spcBef>
              <a:spcAft>
                <a:spcPts val="0"/>
              </a:spcAft>
              <a:buClr>
                <a:schemeClr val="lt1"/>
              </a:buClr>
              <a:buSzPts val="1200"/>
              <a:buChar char="–"/>
              <a:defRPr>
                <a:solidFill>
                  <a:schemeClr val="lt1"/>
                </a:solidFill>
              </a:defRPr>
            </a:lvl4pPr>
            <a:lvl5pPr marL="2286000" lvl="4" indent="-304800" algn="l" rtl="0">
              <a:lnSpc>
                <a:spcPct val="100000"/>
              </a:lnSpc>
              <a:spcBef>
                <a:spcPts val="600"/>
              </a:spcBef>
              <a:spcAft>
                <a:spcPts val="0"/>
              </a:spcAft>
              <a:buClr>
                <a:schemeClr val="lt1"/>
              </a:buClr>
              <a:buSzPts val="1200"/>
              <a:buChar char="–"/>
              <a:defRPr>
                <a:solidFill>
                  <a:schemeClr val="lt1"/>
                </a:solidFill>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04800" algn="l" rtl="0">
              <a:lnSpc>
                <a:spcPct val="100000"/>
              </a:lnSpc>
              <a:spcBef>
                <a:spcPts val="600"/>
              </a:spcBef>
              <a:spcAft>
                <a:spcPts val="0"/>
              </a:spcAft>
              <a:buClr>
                <a:schemeClr val="dk1"/>
              </a:buClr>
              <a:buSzPts val="1200"/>
              <a:buChar char="–"/>
              <a:defRPr/>
            </a:lvl9pPr>
          </a:lstStyle>
          <a:p>
            <a:endParaRPr/>
          </a:p>
        </p:txBody>
      </p:sp>
      <p:cxnSp>
        <p:nvCxnSpPr>
          <p:cNvPr id="111" name="Google Shape;111;p18"/>
          <p:cNvCxnSpPr/>
          <p:nvPr/>
        </p:nvCxnSpPr>
        <p:spPr>
          <a:xfrm>
            <a:off x="457200" y="457200"/>
            <a:ext cx="8229600" cy="0"/>
          </a:xfrm>
          <a:prstGeom prst="straightConnector1">
            <a:avLst/>
          </a:prstGeom>
          <a:noFill/>
          <a:ln w="47625" cap="flat" cmpd="sng">
            <a:solidFill>
              <a:schemeClr val="lt1"/>
            </a:solidFill>
            <a:prstDash val="solid"/>
            <a:round/>
            <a:headEnd type="none" w="sm" len="sm"/>
            <a:tailEnd type="none" w="sm" len="sm"/>
          </a:ln>
        </p:spPr>
      </p:cxnSp>
      <p:sp>
        <p:nvSpPr>
          <p:cNvPr id="112" name="Google Shape;112;p1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2"/>
                </a:solidFill>
                <a:latin typeface="Verizon NHG DS"/>
                <a:ea typeface="Verizon NHG DS"/>
                <a:cs typeface="Verizon NHG DS"/>
                <a:sym typeface="Verizon NHG DS"/>
              </a:defRPr>
            </a:lvl1pPr>
            <a:lvl2pPr marL="0" lvl="1" indent="0" algn="r" rtl="0">
              <a:spcBef>
                <a:spcPts val="0"/>
              </a:spcBef>
              <a:buNone/>
              <a:defRPr sz="700" b="1">
                <a:solidFill>
                  <a:schemeClr val="lt2"/>
                </a:solidFill>
                <a:latin typeface="Verizon NHG DS"/>
                <a:ea typeface="Verizon NHG DS"/>
                <a:cs typeface="Verizon NHG DS"/>
                <a:sym typeface="Verizon NHG DS"/>
              </a:defRPr>
            </a:lvl2pPr>
            <a:lvl3pPr marL="0" lvl="2" indent="0" algn="r" rtl="0">
              <a:spcBef>
                <a:spcPts val="0"/>
              </a:spcBef>
              <a:buNone/>
              <a:defRPr sz="700" b="1">
                <a:solidFill>
                  <a:schemeClr val="lt2"/>
                </a:solidFill>
                <a:latin typeface="Verizon NHG DS"/>
                <a:ea typeface="Verizon NHG DS"/>
                <a:cs typeface="Verizon NHG DS"/>
                <a:sym typeface="Verizon NHG DS"/>
              </a:defRPr>
            </a:lvl3pPr>
            <a:lvl4pPr marL="0" lvl="3" indent="0" algn="r" rtl="0">
              <a:spcBef>
                <a:spcPts val="0"/>
              </a:spcBef>
              <a:buNone/>
              <a:defRPr sz="700" b="1">
                <a:solidFill>
                  <a:schemeClr val="lt2"/>
                </a:solidFill>
                <a:latin typeface="Verizon NHG DS"/>
                <a:ea typeface="Verizon NHG DS"/>
                <a:cs typeface="Verizon NHG DS"/>
                <a:sym typeface="Verizon NHG DS"/>
              </a:defRPr>
            </a:lvl4pPr>
            <a:lvl5pPr marL="0" lvl="4" indent="0" algn="r" rtl="0">
              <a:spcBef>
                <a:spcPts val="0"/>
              </a:spcBef>
              <a:buNone/>
              <a:defRPr sz="700" b="1">
                <a:solidFill>
                  <a:schemeClr val="lt2"/>
                </a:solidFill>
                <a:latin typeface="Verizon NHG DS"/>
                <a:ea typeface="Verizon NHG DS"/>
                <a:cs typeface="Verizon NHG DS"/>
                <a:sym typeface="Verizon NHG DS"/>
              </a:defRPr>
            </a:lvl5pPr>
            <a:lvl6pPr marL="0" lvl="5" indent="0" algn="r" rtl="0">
              <a:spcBef>
                <a:spcPts val="0"/>
              </a:spcBef>
              <a:buNone/>
              <a:defRPr sz="700" b="1">
                <a:solidFill>
                  <a:schemeClr val="lt2"/>
                </a:solidFill>
                <a:latin typeface="Verizon NHG DS"/>
                <a:ea typeface="Verizon NHG DS"/>
                <a:cs typeface="Verizon NHG DS"/>
                <a:sym typeface="Verizon NHG DS"/>
              </a:defRPr>
            </a:lvl6pPr>
            <a:lvl7pPr marL="0" lvl="6" indent="0" algn="r" rtl="0">
              <a:spcBef>
                <a:spcPts val="0"/>
              </a:spcBef>
              <a:buNone/>
              <a:defRPr sz="700" b="1">
                <a:solidFill>
                  <a:schemeClr val="lt2"/>
                </a:solidFill>
                <a:latin typeface="Verizon NHG DS"/>
                <a:ea typeface="Verizon NHG DS"/>
                <a:cs typeface="Verizon NHG DS"/>
                <a:sym typeface="Verizon NHG DS"/>
              </a:defRPr>
            </a:lvl7pPr>
            <a:lvl8pPr marL="0" lvl="7" indent="0" algn="r" rtl="0">
              <a:spcBef>
                <a:spcPts val="0"/>
              </a:spcBef>
              <a:buNone/>
              <a:defRPr sz="700" b="1">
                <a:solidFill>
                  <a:schemeClr val="lt2"/>
                </a:solidFill>
                <a:latin typeface="Verizon NHG DS"/>
                <a:ea typeface="Verizon NHG DS"/>
                <a:cs typeface="Verizon NHG DS"/>
                <a:sym typeface="Verizon NHG DS"/>
              </a:defRPr>
            </a:lvl8pPr>
            <a:lvl9pPr marL="0" lvl="8" indent="0" algn="r" rtl="0">
              <a:spcBef>
                <a:spcPts val="0"/>
              </a:spcBef>
              <a:buNone/>
              <a:defRPr sz="700" b="1">
                <a:solidFill>
                  <a:schemeClr val="lt2"/>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113" name="Google Shape;113;p18"/>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US"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
        <p:nvSpPr>
          <p:cNvPr id="114" name="Google Shape;114;p18"/>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115" name="Google Shape;115;p18"/>
          <p:cNvPicPr preferRelativeResize="0"/>
          <p:nvPr/>
        </p:nvPicPr>
        <p:blipFill rotWithShape="1">
          <a:blip r:embed="rId2">
            <a:alphaModFix/>
          </a:blip>
          <a:srcRect/>
          <a:stretch/>
        </p:blipFill>
        <p:spPr>
          <a:xfrm>
            <a:off x="352422" y="4615079"/>
            <a:ext cx="1069848" cy="384837"/>
          </a:xfrm>
          <a:prstGeom prst="rect">
            <a:avLst/>
          </a:prstGeom>
          <a:noFill/>
          <a:ln>
            <a:noFill/>
          </a:ln>
        </p:spPr>
      </p:pic>
      <p:sp>
        <p:nvSpPr>
          <p:cNvPr id="116" name="Google Shape;116;p18"/>
          <p:cNvSpPr/>
          <p:nvPr/>
        </p:nvSpPr>
        <p:spPr>
          <a:xfrm>
            <a:off x="7718626" y="55975"/>
            <a:ext cx="1380000" cy="3477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Neue Haas Grotesk Text Std"/>
              <a:ea typeface="Neue Haas Grotesk Text Std"/>
              <a:cs typeface="Neue Haas Grotesk Text Std"/>
              <a:sym typeface="Neue Haas Grotesk Text Std"/>
            </a:endParaRPr>
          </a:p>
        </p:txBody>
      </p:sp>
      <p:pic>
        <p:nvPicPr>
          <p:cNvPr id="117" name="Google Shape;117;p18"/>
          <p:cNvPicPr preferRelativeResize="0"/>
          <p:nvPr/>
        </p:nvPicPr>
        <p:blipFill rotWithShape="1">
          <a:blip r:embed="rId3">
            <a:alphaModFix/>
          </a:blip>
          <a:srcRect/>
          <a:stretch/>
        </p:blipFill>
        <p:spPr>
          <a:xfrm>
            <a:off x="7874949" y="32178"/>
            <a:ext cx="811856" cy="38485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Reverse Statement">
  <p:cSld name="Reverse Statement">
    <p:bg>
      <p:bgPr>
        <a:solidFill>
          <a:schemeClr val="dk1"/>
        </a:solidFill>
        <a:effectLst/>
      </p:bgPr>
    </p:bg>
    <p:spTree>
      <p:nvGrpSpPr>
        <p:cNvPr id="1" name="Shape 118"/>
        <p:cNvGrpSpPr/>
        <p:nvPr/>
      </p:nvGrpSpPr>
      <p:grpSpPr>
        <a:xfrm>
          <a:off x="0" y="0"/>
          <a:ext cx="0" cy="0"/>
          <a:chOff x="0" y="0"/>
          <a:chExt cx="0" cy="0"/>
        </a:xfrm>
      </p:grpSpPr>
      <p:sp>
        <p:nvSpPr>
          <p:cNvPr id="119" name="Google Shape;119;p19"/>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Verizon NHG DS"/>
              <a:buNone/>
              <a:defRPr sz="40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0" name="Google Shape;120;p1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1"/>
                </a:solidFill>
                <a:latin typeface="Verizon NHG DS"/>
                <a:ea typeface="Verizon NHG DS"/>
                <a:cs typeface="Verizon NHG DS"/>
                <a:sym typeface="Verizon NHG DS"/>
              </a:defRPr>
            </a:lvl1pPr>
            <a:lvl2pPr marL="0" lvl="1" indent="0" algn="r" rtl="0">
              <a:spcBef>
                <a:spcPts val="0"/>
              </a:spcBef>
              <a:buNone/>
              <a:defRPr sz="700" b="1">
                <a:solidFill>
                  <a:schemeClr val="lt1"/>
                </a:solidFill>
                <a:latin typeface="Verizon NHG DS"/>
                <a:ea typeface="Verizon NHG DS"/>
                <a:cs typeface="Verizon NHG DS"/>
                <a:sym typeface="Verizon NHG DS"/>
              </a:defRPr>
            </a:lvl2pPr>
            <a:lvl3pPr marL="0" lvl="2" indent="0" algn="r" rtl="0">
              <a:spcBef>
                <a:spcPts val="0"/>
              </a:spcBef>
              <a:buNone/>
              <a:defRPr sz="700" b="1">
                <a:solidFill>
                  <a:schemeClr val="lt1"/>
                </a:solidFill>
                <a:latin typeface="Verizon NHG DS"/>
                <a:ea typeface="Verizon NHG DS"/>
                <a:cs typeface="Verizon NHG DS"/>
                <a:sym typeface="Verizon NHG DS"/>
              </a:defRPr>
            </a:lvl3pPr>
            <a:lvl4pPr marL="0" lvl="3" indent="0" algn="r" rtl="0">
              <a:spcBef>
                <a:spcPts val="0"/>
              </a:spcBef>
              <a:buNone/>
              <a:defRPr sz="700" b="1">
                <a:solidFill>
                  <a:schemeClr val="lt1"/>
                </a:solidFill>
                <a:latin typeface="Verizon NHG DS"/>
                <a:ea typeface="Verizon NHG DS"/>
                <a:cs typeface="Verizon NHG DS"/>
                <a:sym typeface="Verizon NHG DS"/>
              </a:defRPr>
            </a:lvl4pPr>
            <a:lvl5pPr marL="0" lvl="4" indent="0" algn="r" rtl="0">
              <a:spcBef>
                <a:spcPts val="0"/>
              </a:spcBef>
              <a:buNone/>
              <a:defRPr sz="700" b="1">
                <a:solidFill>
                  <a:schemeClr val="lt1"/>
                </a:solidFill>
                <a:latin typeface="Verizon NHG DS"/>
                <a:ea typeface="Verizon NHG DS"/>
                <a:cs typeface="Verizon NHG DS"/>
                <a:sym typeface="Verizon NHG DS"/>
              </a:defRPr>
            </a:lvl5pPr>
            <a:lvl6pPr marL="0" lvl="5" indent="0" algn="r" rtl="0">
              <a:spcBef>
                <a:spcPts val="0"/>
              </a:spcBef>
              <a:buNone/>
              <a:defRPr sz="700" b="1">
                <a:solidFill>
                  <a:schemeClr val="lt1"/>
                </a:solidFill>
                <a:latin typeface="Verizon NHG DS"/>
                <a:ea typeface="Verizon NHG DS"/>
                <a:cs typeface="Verizon NHG DS"/>
                <a:sym typeface="Verizon NHG DS"/>
              </a:defRPr>
            </a:lvl6pPr>
            <a:lvl7pPr marL="0" lvl="6" indent="0" algn="r" rtl="0">
              <a:spcBef>
                <a:spcPts val="0"/>
              </a:spcBef>
              <a:buNone/>
              <a:defRPr sz="700" b="1">
                <a:solidFill>
                  <a:schemeClr val="lt1"/>
                </a:solidFill>
                <a:latin typeface="Verizon NHG DS"/>
                <a:ea typeface="Verizon NHG DS"/>
                <a:cs typeface="Verizon NHG DS"/>
                <a:sym typeface="Verizon NHG DS"/>
              </a:defRPr>
            </a:lvl7pPr>
            <a:lvl8pPr marL="0" lvl="7" indent="0" algn="r" rtl="0">
              <a:spcBef>
                <a:spcPts val="0"/>
              </a:spcBef>
              <a:buNone/>
              <a:defRPr sz="700" b="1">
                <a:solidFill>
                  <a:schemeClr val="lt1"/>
                </a:solidFill>
                <a:latin typeface="Verizon NHG DS"/>
                <a:ea typeface="Verizon NHG DS"/>
                <a:cs typeface="Verizon NHG DS"/>
                <a:sym typeface="Verizon NHG DS"/>
              </a:defRPr>
            </a:lvl8pPr>
            <a:lvl9pPr marL="0" lvl="8" indent="0" algn="r" rtl="0">
              <a:spcBef>
                <a:spcPts val="0"/>
              </a:spcBef>
              <a:buNone/>
              <a:defRPr sz="700" b="1">
                <a:solidFill>
                  <a:schemeClr val="lt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121" name="Google Shape;121;p19"/>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pic>
        <p:nvPicPr>
          <p:cNvPr id="122" name="Google Shape;122;p19"/>
          <p:cNvPicPr preferRelativeResize="0"/>
          <p:nvPr/>
        </p:nvPicPr>
        <p:blipFill rotWithShape="1">
          <a:blip r:embed="rId2">
            <a:alphaModFix/>
          </a:blip>
          <a:srcRect/>
          <a:stretch/>
        </p:blipFill>
        <p:spPr>
          <a:xfrm>
            <a:off x="357160" y="4615079"/>
            <a:ext cx="1069848" cy="384837"/>
          </a:xfrm>
          <a:prstGeom prst="rect">
            <a:avLst/>
          </a:prstGeom>
          <a:noFill/>
          <a:ln>
            <a:noFill/>
          </a:ln>
        </p:spPr>
      </p:pic>
      <p:sp>
        <p:nvSpPr>
          <p:cNvPr id="123" name="Google Shape;123;p19"/>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US"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
        <p:nvSpPr>
          <p:cNvPr id="124" name="Google Shape;124;p19"/>
          <p:cNvSpPr/>
          <p:nvPr/>
        </p:nvSpPr>
        <p:spPr>
          <a:xfrm>
            <a:off x="7718626" y="55975"/>
            <a:ext cx="1380000" cy="3477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Neue Haas Grotesk Text Std"/>
              <a:ea typeface="Neue Haas Grotesk Text Std"/>
              <a:cs typeface="Neue Haas Grotesk Text Std"/>
              <a:sym typeface="Neue Haas Grotesk Text Std"/>
            </a:endParaRPr>
          </a:p>
        </p:txBody>
      </p:sp>
      <p:pic>
        <p:nvPicPr>
          <p:cNvPr id="125" name="Google Shape;125;p19"/>
          <p:cNvPicPr preferRelativeResize="0"/>
          <p:nvPr/>
        </p:nvPicPr>
        <p:blipFill rotWithShape="1">
          <a:blip r:embed="rId3">
            <a:alphaModFix/>
          </a:blip>
          <a:srcRect/>
          <a:stretch/>
        </p:blipFill>
        <p:spPr>
          <a:xfrm>
            <a:off x="7874949" y="32178"/>
            <a:ext cx="811856" cy="38485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126"/>
        <p:cNvGrpSpPr/>
        <p:nvPr/>
      </p:nvGrpSpPr>
      <p:grpSpPr>
        <a:xfrm>
          <a:off x="0" y="0"/>
          <a:ext cx="0" cy="0"/>
          <a:chOff x="0" y="0"/>
          <a:chExt cx="0" cy="0"/>
        </a:xfrm>
      </p:grpSpPr>
      <p:sp>
        <p:nvSpPr>
          <p:cNvPr id="127" name="Google Shape;127;p20"/>
          <p:cNvSpPr txBox="1">
            <a:spLocks noGrp="1"/>
          </p:cNvSpPr>
          <p:nvPr>
            <p:ph type="title"/>
          </p:nvPr>
        </p:nvSpPr>
        <p:spPr>
          <a:xfrm>
            <a:off x="457200" y="594359"/>
            <a:ext cx="7086600" cy="1413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b="1" cap="none">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8" name="Google Shape;128;p20"/>
          <p:cNvSpPr txBox="1">
            <a:spLocks noGrp="1"/>
          </p:cNvSpPr>
          <p:nvPr>
            <p:ph type="body" idx="1"/>
          </p:nvPr>
        </p:nvSpPr>
        <p:spPr>
          <a:xfrm>
            <a:off x="457200" y="2057400"/>
            <a:ext cx="7086600" cy="24195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Font typeface="Verizon NHG TX"/>
              <a:buNone/>
              <a:defRPr sz="1800" b="0" i="0">
                <a:solidFill>
                  <a:schemeClr val="dk1"/>
                </a:solidFill>
                <a:latin typeface="Verizon NHG TX"/>
                <a:ea typeface="Verizon NHG TX"/>
                <a:cs typeface="Verizon NHG TX"/>
                <a:sym typeface="Verizon NHG TX"/>
              </a:defRPr>
            </a:lvl1pPr>
            <a:lvl2pPr marL="914400" lvl="1" indent="-228600" algn="l" rtl="0">
              <a:lnSpc>
                <a:spcPct val="100000"/>
              </a:lnSpc>
              <a:spcBef>
                <a:spcPts val="900"/>
              </a:spcBef>
              <a:spcAft>
                <a:spcPts val="0"/>
              </a:spcAft>
              <a:buClr>
                <a:schemeClr val="dk1"/>
              </a:buClr>
              <a:buSzPts val="1800"/>
              <a:buFont typeface="Verizon NHG TX"/>
              <a:buNone/>
              <a:defRPr sz="1800" b="0" i="0">
                <a:solidFill>
                  <a:schemeClr val="dk1"/>
                </a:solidFill>
                <a:latin typeface="Verizon NHG TX"/>
                <a:ea typeface="Verizon NHG TX"/>
                <a:cs typeface="Verizon NHG TX"/>
                <a:sym typeface="Verizon NHG TX"/>
              </a:defRPr>
            </a:lvl2pPr>
            <a:lvl3pPr marL="1371600" lvl="2"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3pPr>
            <a:lvl4pPr marL="1828800" lvl="3"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4pPr>
            <a:lvl5pPr marL="2286000" lvl="4" indent="-342900" algn="l" rtl="0">
              <a:lnSpc>
                <a:spcPct val="100000"/>
              </a:lnSpc>
              <a:spcBef>
                <a:spcPts val="600"/>
              </a:spcBef>
              <a:spcAft>
                <a:spcPts val="0"/>
              </a:spcAft>
              <a:buClr>
                <a:schemeClr val="dk1"/>
              </a:buClr>
              <a:buSzPts val="1800"/>
              <a:buChar char="–"/>
              <a:defRPr sz="1800" b="0" i="0">
                <a:solidFill>
                  <a:schemeClr val="dk1"/>
                </a:solidFill>
                <a:latin typeface="Verizon NHG TX"/>
                <a:ea typeface="Verizon NHG TX"/>
                <a:cs typeface="Verizon NHG TX"/>
                <a:sym typeface="Verizon NHG TX"/>
              </a:defRPr>
            </a:lvl5pPr>
            <a:lvl6pPr marL="2743200" lvl="5" indent="-342900" algn="l" rtl="0">
              <a:lnSpc>
                <a:spcPct val="100000"/>
              </a:lnSpc>
              <a:spcBef>
                <a:spcPts val="600"/>
              </a:spcBef>
              <a:spcAft>
                <a:spcPts val="0"/>
              </a:spcAft>
              <a:buClr>
                <a:schemeClr val="dk1"/>
              </a:buClr>
              <a:buSzPts val="1800"/>
              <a:buChar char="–"/>
              <a:defRPr sz="1800"/>
            </a:lvl6pPr>
            <a:lvl7pPr marL="3200400" lvl="6" indent="-342900" algn="l" rtl="0">
              <a:lnSpc>
                <a:spcPct val="100000"/>
              </a:lnSpc>
              <a:spcBef>
                <a:spcPts val="600"/>
              </a:spcBef>
              <a:spcAft>
                <a:spcPts val="0"/>
              </a:spcAft>
              <a:buClr>
                <a:schemeClr val="dk1"/>
              </a:buClr>
              <a:buSzPts val="1800"/>
              <a:buChar char="–"/>
              <a:defRPr sz="1800"/>
            </a:lvl7pPr>
            <a:lvl8pPr marL="3657600" lvl="7" indent="-342900" algn="l" rtl="0">
              <a:lnSpc>
                <a:spcPct val="100000"/>
              </a:lnSpc>
              <a:spcBef>
                <a:spcPts val="600"/>
              </a:spcBef>
              <a:spcAft>
                <a:spcPts val="0"/>
              </a:spcAft>
              <a:buClr>
                <a:schemeClr val="dk1"/>
              </a:buClr>
              <a:buSzPts val="1800"/>
              <a:buChar char="–"/>
              <a:defRPr sz="1800"/>
            </a:lvl8pPr>
            <a:lvl9pPr marL="4114800" lvl="8" indent="-342900" algn="l" rtl="0">
              <a:lnSpc>
                <a:spcPct val="100000"/>
              </a:lnSpc>
              <a:spcBef>
                <a:spcPts val="600"/>
              </a:spcBef>
              <a:spcAft>
                <a:spcPts val="0"/>
              </a:spcAft>
              <a:buClr>
                <a:schemeClr val="dk1"/>
              </a:buClr>
              <a:buSzPts val="1800"/>
              <a:buChar char="–"/>
              <a:defRPr sz="1800"/>
            </a:lvl9pPr>
          </a:lstStyle>
          <a:p>
            <a:endParaRPr/>
          </a:p>
        </p:txBody>
      </p:sp>
      <p:cxnSp>
        <p:nvCxnSpPr>
          <p:cNvPr id="129" name="Google Shape;129;p20"/>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30" name="Google Shape;130;p20"/>
          <p:cNvSpPr txBox="1">
            <a:spLocks noGrp="1"/>
          </p:cNvSpPr>
          <p:nvPr>
            <p:ph type="sldNum" idx="12"/>
          </p:nvPr>
        </p:nvSpPr>
        <p:spPr>
          <a:xfrm>
            <a:off x="8458200" y="4693734"/>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131"/>
        <p:cNvGrpSpPr/>
        <p:nvPr/>
      </p:nvGrpSpPr>
      <p:grpSpPr>
        <a:xfrm>
          <a:off x="0" y="0"/>
          <a:ext cx="0" cy="0"/>
          <a:chOff x="0" y="0"/>
          <a:chExt cx="0" cy="0"/>
        </a:xfrm>
      </p:grpSpPr>
      <p:sp>
        <p:nvSpPr>
          <p:cNvPr id="132" name="Google Shape;132;p21"/>
          <p:cNvSpPr txBox="1">
            <a:spLocks noGrp="1"/>
          </p:cNvSpPr>
          <p:nvPr>
            <p:ph type="title"/>
          </p:nvPr>
        </p:nvSpPr>
        <p:spPr>
          <a:xfrm>
            <a:off x="457199"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3" name="Google Shape;133;p2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tatement White Text Photo">
  <p:cSld name="Statement White Text Photo">
    <p:bg>
      <p:bgPr>
        <a:solidFill>
          <a:schemeClr val="dk1"/>
        </a:solidFill>
        <a:effectLst/>
      </p:bgPr>
    </p:bg>
    <p:spTree>
      <p:nvGrpSpPr>
        <p:cNvPr id="1" name="Shape 134"/>
        <p:cNvGrpSpPr/>
        <p:nvPr/>
      </p:nvGrpSpPr>
      <p:grpSpPr>
        <a:xfrm>
          <a:off x="0" y="0"/>
          <a:ext cx="0" cy="0"/>
          <a:chOff x="0" y="0"/>
          <a:chExt cx="0" cy="0"/>
        </a:xfrm>
      </p:grpSpPr>
      <p:sp>
        <p:nvSpPr>
          <p:cNvPr id="135" name="Google Shape;135;p22"/>
          <p:cNvSpPr>
            <a:spLocks noGrp="1"/>
          </p:cNvSpPr>
          <p:nvPr>
            <p:ph type="pic"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lt1"/>
              </a:buClr>
              <a:buSzPts val="1200"/>
              <a:buFont typeface="Verizon NHG TX"/>
              <a:buNone/>
              <a:defRPr sz="1200" b="1" i="0" u="none" strike="noStrike" cap="none">
                <a:solidFill>
                  <a:schemeClr val="lt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36" name="Google Shape;136;p22"/>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4000"/>
              <a:buFont typeface="Verizon NHG DS"/>
              <a:buNone/>
              <a:defRPr sz="400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37" name="Google Shape;137;p2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lt1"/>
                </a:solidFill>
                <a:latin typeface="Verizon NHG DS"/>
                <a:ea typeface="Verizon NHG DS"/>
                <a:cs typeface="Verizon NHG DS"/>
                <a:sym typeface="Verizon NHG DS"/>
              </a:defRPr>
            </a:lvl1pPr>
            <a:lvl2pPr marL="0" lvl="1" indent="0" algn="r" rtl="0">
              <a:spcBef>
                <a:spcPts val="0"/>
              </a:spcBef>
              <a:buNone/>
              <a:defRPr sz="700" b="1">
                <a:solidFill>
                  <a:schemeClr val="lt1"/>
                </a:solidFill>
                <a:latin typeface="Verizon NHG DS"/>
                <a:ea typeface="Verizon NHG DS"/>
                <a:cs typeface="Verizon NHG DS"/>
                <a:sym typeface="Verizon NHG DS"/>
              </a:defRPr>
            </a:lvl2pPr>
            <a:lvl3pPr marL="0" lvl="2" indent="0" algn="r" rtl="0">
              <a:spcBef>
                <a:spcPts val="0"/>
              </a:spcBef>
              <a:buNone/>
              <a:defRPr sz="700" b="1">
                <a:solidFill>
                  <a:schemeClr val="lt1"/>
                </a:solidFill>
                <a:latin typeface="Verizon NHG DS"/>
                <a:ea typeface="Verizon NHG DS"/>
                <a:cs typeface="Verizon NHG DS"/>
                <a:sym typeface="Verizon NHG DS"/>
              </a:defRPr>
            </a:lvl3pPr>
            <a:lvl4pPr marL="0" lvl="3" indent="0" algn="r" rtl="0">
              <a:spcBef>
                <a:spcPts val="0"/>
              </a:spcBef>
              <a:buNone/>
              <a:defRPr sz="700" b="1">
                <a:solidFill>
                  <a:schemeClr val="lt1"/>
                </a:solidFill>
                <a:latin typeface="Verizon NHG DS"/>
                <a:ea typeface="Verizon NHG DS"/>
                <a:cs typeface="Verizon NHG DS"/>
                <a:sym typeface="Verizon NHG DS"/>
              </a:defRPr>
            </a:lvl4pPr>
            <a:lvl5pPr marL="0" lvl="4" indent="0" algn="r" rtl="0">
              <a:spcBef>
                <a:spcPts val="0"/>
              </a:spcBef>
              <a:buNone/>
              <a:defRPr sz="700" b="1">
                <a:solidFill>
                  <a:schemeClr val="lt1"/>
                </a:solidFill>
                <a:latin typeface="Verizon NHG DS"/>
                <a:ea typeface="Verizon NHG DS"/>
                <a:cs typeface="Verizon NHG DS"/>
                <a:sym typeface="Verizon NHG DS"/>
              </a:defRPr>
            </a:lvl5pPr>
            <a:lvl6pPr marL="0" lvl="5" indent="0" algn="r" rtl="0">
              <a:spcBef>
                <a:spcPts val="0"/>
              </a:spcBef>
              <a:buNone/>
              <a:defRPr sz="700" b="1">
                <a:solidFill>
                  <a:schemeClr val="lt1"/>
                </a:solidFill>
                <a:latin typeface="Verizon NHG DS"/>
                <a:ea typeface="Verizon NHG DS"/>
                <a:cs typeface="Verizon NHG DS"/>
                <a:sym typeface="Verizon NHG DS"/>
              </a:defRPr>
            </a:lvl6pPr>
            <a:lvl7pPr marL="0" lvl="6" indent="0" algn="r" rtl="0">
              <a:spcBef>
                <a:spcPts val="0"/>
              </a:spcBef>
              <a:buNone/>
              <a:defRPr sz="700" b="1">
                <a:solidFill>
                  <a:schemeClr val="lt1"/>
                </a:solidFill>
                <a:latin typeface="Verizon NHG DS"/>
                <a:ea typeface="Verizon NHG DS"/>
                <a:cs typeface="Verizon NHG DS"/>
                <a:sym typeface="Verizon NHG DS"/>
              </a:defRPr>
            </a:lvl7pPr>
            <a:lvl8pPr marL="0" lvl="7" indent="0" algn="r" rtl="0">
              <a:spcBef>
                <a:spcPts val="0"/>
              </a:spcBef>
              <a:buNone/>
              <a:defRPr sz="700" b="1">
                <a:solidFill>
                  <a:schemeClr val="lt1"/>
                </a:solidFill>
                <a:latin typeface="Verizon NHG DS"/>
                <a:ea typeface="Verizon NHG DS"/>
                <a:cs typeface="Verizon NHG DS"/>
                <a:sym typeface="Verizon NHG DS"/>
              </a:defRPr>
            </a:lvl8pPr>
            <a:lvl9pPr marL="0" lvl="8" indent="0" algn="r" rtl="0">
              <a:spcBef>
                <a:spcPts val="0"/>
              </a:spcBef>
              <a:buNone/>
              <a:defRPr sz="700" b="1">
                <a:solidFill>
                  <a:schemeClr val="lt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pic>
        <p:nvPicPr>
          <p:cNvPr id="138" name="Google Shape;138;p22"/>
          <p:cNvPicPr preferRelativeResize="0"/>
          <p:nvPr/>
        </p:nvPicPr>
        <p:blipFill rotWithShape="1">
          <a:blip r:embed="rId2">
            <a:alphaModFix/>
          </a:blip>
          <a:srcRect/>
          <a:stretch/>
        </p:blipFill>
        <p:spPr>
          <a:xfrm>
            <a:off x="357160" y="4615079"/>
            <a:ext cx="1069848" cy="384837"/>
          </a:xfrm>
          <a:prstGeom prst="rect">
            <a:avLst/>
          </a:prstGeom>
          <a:noFill/>
          <a:ln>
            <a:noFill/>
          </a:ln>
        </p:spPr>
      </p:pic>
      <p:sp>
        <p:nvSpPr>
          <p:cNvPr id="139" name="Google Shape;139;p22"/>
          <p:cNvSpPr txBox="1"/>
          <p:nvPr/>
        </p:nvSpPr>
        <p:spPr>
          <a:xfrm>
            <a:off x="1333500" y="4700016"/>
            <a:ext cx="7124700" cy="2133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US" sz="650" b="0" i="0">
                <a:solidFill>
                  <a:schemeClr val="lt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tatement Black Text Photo">
  <p:cSld name="Statement Black Text Photo">
    <p:bg>
      <p:bgPr>
        <a:solidFill>
          <a:schemeClr val="lt1"/>
        </a:solidFill>
        <a:effectLst/>
      </p:bgPr>
    </p:bg>
    <p:spTree>
      <p:nvGrpSpPr>
        <p:cNvPr id="1" name="Shape 140"/>
        <p:cNvGrpSpPr/>
        <p:nvPr/>
      </p:nvGrpSpPr>
      <p:grpSpPr>
        <a:xfrm>
          <a:off x="0" y="0"/>
          <a:ext cx="0" cy="0"/>
          <a:chOff x="0" y="0"/>
          <a:chExt cx="0" cy="0"/>
        </a:xfrm>
      </p:grpSpPr>
      <p:sp>
        <p:nvSpPr>
          <p:cNvPr id="141" name="Google Shape;141;p23"/>
          <p:cNvSpPr>
            <a:spLocks noGrp="1"/>
          </p:cNvSpPr>
          <p:nvPr>
            <p:ph type="pic" idx="2"/>
          </p:nvPr>
        </p:nvSpPr>
        <p:spPr>
          <a:xfrm>
            <a:off x="0" y="0"/>
            <a:ext cx="9144000" cy="5143500"/>
          </a:xfrm>
          <a:prstGeom prst="rect">
            <a:avLst/>
          </a:prstGeom>
          <a:solidFill>
            <a:srgbClr val="D8D8D8"/>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42" name="Google Shape;142;p23"/>
          <p:cNvSpPr txBox="1">
            <a:spLocks noGrp="1"/>
          </p:cNvSpPr>
          <p:nvPr>
            <p:ph type="title"/>
          </p:nvPr>
        </p:nvSpPr>
        <p:spPr>
          <a:xfrm>
            <a:off x="457200" y="594359"/>
            <a:ext cx="7086600" cy="2057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4000"/>
              <a:buFont typeface="Verizon NHG DS"/>
              <a:buNone/>
              <a:defRPr sz="40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43" name="Google Shape;143;p2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pic>
        <p:nvPicPr>
          <p:cNvPr id="144" name="Google Shape;144;p23"/>
          <p:cNvPicPr preferRelativeResize="0"/>
          <p:nvPr/>
        </p:nvPicPr>
        <p:blipFill rotWithShape="1">
          <a:blip r:embed="rId2">
            <a:alphaModFix/>
          </a:blip>
          <a:srcRect/>
          <a:stretch/>
        </p:blipFill>
        <p:spPr>
          <a:xfrm>
            <a:off x="353824" y="4608575"/>
            <a:ext cx="1069844" cy="397804"/>
          </a:xfrm>
          <a:prstGeom prst="rect">
            <a:avLst/>
          </a:prstGeom>
          <a:noFill/>
          <a:ln>
            <a:noFill/>
          </a:ln>
        </p:spPr>
      </p:pic>
      <p:sp>
        <p:nvSpPr>
          <p:cNvPr id="145" name="Google Shape;145;p23"/>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US" sz="650" b="0" i="0">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a:solidFill>
                <a:schemeClr val="dk1"/>
              </a:solidFill>
              <a:latin typeface="Verizon NHG DS"/>
              <a:ea typeface="Verizon NHG DS"/>
              <a:cs typeface="Verizon NHG DS"/>
              <a:sym typeface="Verizon NHG D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Column Text and Photos">
  <p:cSld name="Three Column Text and Photos">
    <p:spTree>
      <p:nvGrpSpPr>
        <p:cNvPr id="1" name="Shape 146"/>
        <p:cNvGrpSpPr/>
        <p:nvPr/>
      </p:nvGrpSpPr>
      <p:grpSpPr>
        <a:xfrm>
          <a:off x="0" y="0"/>
          <a:ext cx="0" cy="0"/>
          <a:chOff x="0" y="0"/>
          <a:chExt cx="0" cy="0"/>
        </a:xfrm>
      </p:grpSpPr>
      <p:sp>
        <p:nvSpPr>
          <p:cNvPr id="147" name="Google Shape;147;p2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cxnSp>
        <p:nvCxnSpPr>
          <p:cNvPr id="148" name="Google Shape;148;p24"/>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49" name="Google Shape;149;p24"/>
          <p:cNvSpPr txBox="1">
            <a:spLocks noGrp="1"/>
          </p:cNvSpPr>
          <p:nvPr>
            <p:ph type="body" idx="1"/>
          </p:nvPr>
        </p:nvSpPr>
        <p:spPr>
          <a:xfrm>
            <a:off x="6119213"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50" name="Google Shape;150;p24"/>
          <p:cNvSpPr txBox="1">
            <a:spLocks noGrp="1"/>
          </p:cNvSpPr>
          <p:nvPr>
            <p:ph type="body" idx="2"/>
          </p:nvPr>
        </p:nvSpPr>
        <p:spPr>
          <a:xfrm>
            <a:off x="3288207"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51" name="Google Shape;151;p24"/>
          <p:cNvSpPr txBox="1">
            <a:spLocks noGrp="1"/>
          </p:cNvSpPr>
          <p:nvPr>
            <p:ph type="body" idx="3"/>
          </p:nvPr>
        </p:nvSpPr>
        <p:spPr>
          <a:xfrm>
            <a:off x="457200" y="3137136"/>
            <a:ext cx="2567700" cy="1301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52" name="Google Shape;152;p24"/>
          <p:cNvSpPr>
            <a:spLocks noGrp="1"/>
          </p:cNvSpPr>
          <p:nvPr>
            <p:ph type="pic" idx="4"/>
          </p:nvPr>
        </p:nvSpPr>
        <p:spPr>
          <a:xfrm>
            <a:off x="457200"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53" name="Google Shape;153;p24"/>
          <p:cNvSpPr>
            <a:spLocks noGrp="1"/>
          </p:cNvSpPr>
          <p:nvPr>
            <p:ph type="pic" idx="5"/>
          </p:nvPr>
        </p:nvSpPr>
        <p:spPr>
          <a:xfrm>
            <a:off x="3288206"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54" name="Google Shape;154;p24"/>
          <p:cNvSpPr>
            <a:spLocks noGrp="1"/>
          </p:cNvSpPr>
          <p:nvPr>
            <p:ph type="pic" idx="6"/>
          </p:nvPr>
        </p:nvSpPr>
        <p:spPr>
          <a:xfrm>
            <a:off x="6119213" y="1457326"/>
            <a:ext cx="2567700" cy="1591200"/>
          </a:xfrm>
          <a:prstGeom prst="rect">
            <a:avLst/>
          </a:prstGeom>
          <a:noFill/>
          <a:ln>
            <a:noFill/>
          </a:ln>
        </p:spPr>
        <p:txBody>
          <a:bodyPr spcFirstLastPara="1" wrap="square" lIns="0" tIns="0" rIns="0" bIns="0" anchor="t" anchorCtr="0">
            <a:noAutofit/>
          </a:bodyPr>
          <a:lstStyle>
            <a:lvl1pPr marR="0" lvl="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55" name="Google Shape;155;p24"/>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Media">
  <p:cSld name="Media">
    <p:bg>
      <p:bgPr>
        <a:solidFill>
          <a:schemeClr val="dk1"/>
        </a:solidFill>
        <a:effectLst/>
      </p:bgPr>
    </p:bg>
    <p:spTree>
      <p:nvGrpSpPr>
        <p:cNvPr id="1" name="Shape 156"/>
        <p:cNvGrpSpPr/>
        <p:nvPr/>
      </p:nvGrpSpPr>
      <p:grpSpPr>
        <a:xfrm>
          <a:off x="0" y="0"/>
          <a:ext cx="0" cy="0"/>
          <a:chOff x="0" y="0"/>
          <a:chExt cx="0" cy="0"/>
        </a:xfrm>
      </p:grpSpPr>
      <p:sp>
        <p:nvSpPr>
          <p:cNvPr id="157" name="Google Shape;157;p25"/>
          <p:cNvSpPr/>
          <p:nvPr/>
        </p:nvSpPr>
        <p:spPr>
          <a:xfrm>
            <a:off x="108488" y="4531602"/>
            <a:ext cx="2588100" cy="5706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sp>
        <p:nvSpPr>
          <p:cNvPr id="158" name="Google Shape;158;p25"/>
          <p:cNvSpPr>
            <a:spLocks noGrp="1"/>
          </p:cNvSpPr>
          <p:nvPr>
            <p:ph type="media" idx="2"/>
          </p:nvPr>
        </p:nvSpPr>
        <p:spPr>
          <a:xfrm>
            <a:off x="0" y="0"/>
            <a:ext cx="9144000" cy="5143500"/>
          </a:xfrm>
          <a:prstGeom prst="rect">
            <a:avLst/>
          </a:prstGeom>
          <a:solidFill>
            <a:srgbClr val="A5A5A5"/>
          </a:solidFill>
          <a:ln>
            <a:noFill/>
          </a:ln>
        </p:spPr>
        <p:txBody>
          <a:bodyPr spcFirstLastPara="1" wrap="square" lIns="0" tIns="45720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ne Statement and Long Chart">
  <p:cSld name="One Statement and Long Chart">
    <p:spTree>
      <p:nvGrpSpPr>
        <p:cNvPr id="1" name="Shape 159"/>
        <p:cNvGrpSpPr/>
        <p:nvPr/>
      </p:nvGrpSpPr>
      <p:grpSpPr>
        <a:xfrm>
          <a:off x="0" y="0"/>
          <a:ext cx="0" cy="0"/>
          <a:chOff x="0" y="0"/>
          <a:chExt cx="0" cy="0"/>
        </a:xfrm>
      </p:grpSpPr>
      <p:sp>
        <p:nvSpPr>
          <p:cNvPr id="160" name="Google Shape;160;p26"/>
          <p:cNvSpPr>
            <a:spLocks noGrp="1"/>
          </p:cNvSpPr>
          <p:nvPr>
            <p:ph type="chart" idx="2"/>
          </p:nvPr>
        </p:nvSpPr>
        <p:spPr>
          <a:xfrm>
            <a:off x="457198" y="2095248"/>
            <a:ext cx="8229600" cy="23433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61" name="Google Shape;161;p2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162" name="Google Shape;162;p26"/>
          <p:cNvSpPr txBox="1">
            <a:spLocks noGrp="1"/>
          </p:cNvSpPr>
          <p:nvPr>
            <p:ph type="body" idx="1"/>
          </p:nvPr>
        </p:nvSpPr>
        <p:spPr>
          <a:xfrm>
            <a:off x="457200" y="1459580"/>
            <a:ext cx="8229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0"/>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163" name="Google Shape;163;p26"/>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64" name="Google Shape;164;p26"/>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One Statement and Horizontal Chart">
  <p:cSld name="One Statement and Horizontal Chart">
    <p:spTree>
      <p:nvGrpSpPr>
        <p:cNvPr id="1" name="Shape 165"/>
        <p:cNvGrpSpPr/>
        <p:nvPr/>
      </p:nvGrpSpPr>
      <p:grpSpPr>
        <a:xfrm>
          <a:off x="0" y="0"/>
          <a:ext cx="0" cy="0"/>
          <a:chOff x="0" y="0"/>
          <a:chExt cx="0" cy="0"/>
        </a:xfrm>
      </p:grpSpPr>
      <p:sp>
        <p:nvSpPr>
          <p:cNvPr id="166" name="Google Shape;166;p27"/>
          <p:cNvSpPr>
            <a:spLocks noGrp="1"/>
          </p:cNvSpPr>
          <p:nvPr>
            <p:ph type="chart" idx="2"/>
          </p:nvPr>
        </p:nvSpPr>
        <p:spPr>
          <a:xfrm>
            <a:off x="457198" y="2095248"/>
            <a:ext cx="7086600" cy="23841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67" name="Google Shape;167;p27"/>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Verizon NHG TX"/>
                <a:ea typeface="Verizon NHG TX"/>
                <a:cs typeface="Verizon NHG TX"/>
                <a:sym typeface="Verizon NHG TX"/>
              </a:defRPr>
            </a:lvl1pPr>
            <a:lvl2pPr marR="0" lvl="1"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2pPr>
            <a:lvl3pPr marR="0" lvl="2"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3pPr>
            <a:lvl4pPr marR="0" lvl="3"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4pPr>
            <a:lvl5pPr marR="0" lvl="4"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5pPr>
            <a:lvl6pPr marR="0" lvl="5"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6pPr>
            <a:lvl7pPr marR="0" lvl="6"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7pPr>
            <a:lvl8pPr marR="0" lvl="7"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8pPr>
            <a:lvl9pPr marR="0" lvl="8"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9pPr>
          </a:lstStyle>
          <a:p>
            <a:endParaRPr/>
          </a:p>
        </p:txBody>
      </p:sp>
      <p:sp>
        <p:nvSpPr>
          <p:cNvPr id="168" name="Google Shape;168;p2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69" name="Google Shape;169;p27"/>
          <p:cNvSpPr txBox="1">
            <a:spLocks noGrp="1"/>
          </p:cNvSpPr>
          <p:nvPr>
            <p:ph type="body" idx="1"/>
          </p:nvPr>
        </p:nvSpPr>
        <p:spPr>
          <a:xfrm>
            <a:off x="457200" y="1459580"/>
            <a:ext cx="7086600" cy="5631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TX"/>
              <a:buNone/>
              <a:defRPr b="1"/>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170" name="Google Shape;170;p27"/>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71" name="Google Shape;171;p27"/>
          <p:cNvSpPr txBox="1"/>
          <p:nvPr/>
        </p:nvSpPr>
        <p:spPr>
          <a:xfrm>
            <a:off x="1294108" y="937647"/>
            <a:ext cx="184800" cy="3693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izon NHG TX"/>
              <a:ea typeface="Verizon NHG TX"/>
              <a:cs typeface="Verizon NHG TX"/>
              <a:sym typeface="Verizon NHG TX"/>
            </a:endParaRPr>
          </a:p>
        </p:txBody>
      </p:sp>
      <p:sp>
        <p:nvSpPr>
          <p:cNvPr id="172" name="Google Shape;172;p27"/>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One Statement and Chart">
  <p:cSld name="1_One Statement and Chart">
    <p:spTree>
      <p:nvGrpSpPr>
        <p:cNvPr id="1" name="Shape 173"/>
        <p:cNvGrpSpPr/>
        <p:nvPr/>
      </p:nvGrpSpPr>
      <p:grpSpPr>
        <a:xfrm>
          <a:off x="0" y="0"/>
          <a:ext cx="0" cy="0"/>
          <a:chOff x="0" y="0"/>
          <a:chExt cx="0" cy="0"/>
        </a:xfrm>
      </p:grpSpPr>
      <p:sp>
        <p:nvSpPr>
          <p:cNvPr id="174" name="Google Shape;174;p28"/>
          <p:cNvSpPr>
            <a:spLocks noGrp="1"/>
          </p:cNvSpPr>
          <p:nvPr>
            <p:ph type="chart" idx="2"/>
          </p:nvPr>
        </p:nvSpPr>
        <p:spPr>
          <a:xfrm>
            <a:off x="4572000" y="594360"/>
            <a:ext cx="4114800" cy="3615600"/>
          </a:xfrm>
          <a:prstGeom prst="rect">
            <a:avLst/>
          </a:prstGeom>
          <a:noFill/>
          <a:ln>
            <a:noFill/>
          </a:ln>
        </p:spPr>
        <p:txBody>
          <a:bodyPr spcFirstLastPara="1" wrap="square" lIns="0" tIns="0" rIns="0" bIns="0" anchor="ctr" anchorCtr="0">
            <a:noAutofit/>
          </a:bodyPr>
          <a:lstStyle>
            <a:lvl1pPr marR="0" lvl="0" algn="ctr" rtl="0">
              <a:lnSpc>
                <a:spcPct val="100000"/>
              </a:lnSpc>
              <a:spcBef>
                <a:spcPts val="900"/>
              </a:spcBef>
              <a:spcAft>
                <a:spcPts val="0"/>
              </a:spcAft>
              <a:buClr>
                <a:schemeClr val="dk1"/>
              </a:buClr>
              <a:buSzPts val="1200"/>
              <a:buFont typeface="Verizon NHG DS"/>
              <a:buNone/>
              <a:defRPr sz="1200" b="0" i="0" u="none" strike="noStrike" cap="none">
                <a:solidFill>
                  <a:schemeClr val="dk1"/>
                </a:solidFill>
                <a:latin typeface="Verizon NHG DS"/>
                <a:ea typeface="Verizon NHG DS"/>
                <a:cs typeface="Verizon NHG DS"/>
                <a:sym typeface="Verizon NHG DS"/>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75" name="Google Shape;175;p28"/>
          <p:cNvSpPr txBox="1">
            <a:spLocks noGrp="1"/>
          </p:cNvSpPr>
          <p:nvPr>
            <p:ph type="body" idx="1"/>
          </p:nvPr>
        </p:nvSpPr>
        <p:spPr>
          <a:xfrm>
            <a:off x="457200" y="1459580"/>
            <a:ext cx="3933000" cy="2750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200"/>
              <a:buFont typeface="Verizon NHG DS"/>
              <a:buNone/>
              <a:defRPr>
                <a:latin typeface="Verizon NHG DS"/>
                <a:ea typeface="Verizon NHG DS"/>
                <a:cs typeface="Verizon NHG DS"/>
                <a:sym typeface="Verizon NHG DS"/>
              </a:defRPr>
            </a:lvl1pPr>
            <a:lvl2pPr marL="914400" lvl="1" indent="-228600" algn="l" rtl="0">
              <a:lnSpc>
                <a:spcPct val="100000"/>
              </a:lnSpc>
              <a:spcBef>
                <a:spcPts val="900"/>
              </a:spcBef>
              <a:spcAft>
                <a:spcPts val="0"/>
              </a:spcAft>
              <a:buClr>
                <a:schemeClr val="dk1"/>
              </a:buClr>
              <a:buSzPts val="1200"/>
              <a:buFont typeface="Verizon NHG DS"/>
              <a:buNone/>
              <a:defRPr>
                <a:latin typeface="Verizon NHG DS"/>
                <a:ea typeface="Verizon NHG DS"/>
                <a:cs typeface="Verizon NHG DS"/>
                <a:sym typeface="Verizon NHG DS"/>
              </a:defRPr>
            </a:lvl2pPr>
            <a:lvl3pPr marL="1371600" lvl="2"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3pPr>
            <a:lvl4pPr marL="1828800" lvl="3"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4pPr>
            <a:lvl5pPr marL="2286000" lvl="4" indent="-304800" algn="l" rtl="0">
              <a:lnSpc>
                <a:spcPct val="100000"/>
              </a:lnSpc>
              <a:spcBef>
                <a:spcPts val="600"/>
              </a:spcBef>
              <a:spcAft>
                <a:spcPts val="0"/>
              </a:spcAft>
              <a:buClr>
                <a:schemeClr val="dk1"/>
              </a:buClr>
              <a:buSzPts val="1200"/>
              <a:buChar char="–"/>
              <a:defRPr>
                <a:latin typeface="Verizon NHG DS"/>
                <a:ea typeface="Verizon NHG DS"/>
                <a:cs typeface="Verizon NHG DS"/>
                <a:sym typeface="Verizon NHG DS"/>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cxnSp>
        <p:nvCxnSpPr>
          <p:cNvPr id="176" name="Google Shape;176;p28"/>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77" name="Google Shape;177;p28"/>
          <p:cNvSpPr txBox="1">
            <a:spLocks noGrp="1"/>
          </p:cNvSpPr>
          <p:nvPr>
            <p:ph type="title"/>
          </p:nvPr>
        </p:nvSpPr>
        <p:spPr>
          <a:xfrm>
            <a:off x="457200" y="590550"/>
            <a:ext cx="393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2400"/>
              <a:buFont typeface="Verizon NHG DS"/>
              <a:buNone/>
              <a:defRPr>
                <a:latin typeface="Verizon NHG DS"/>
                <a:ea typeface="Verizon NHG DS"/>
                <a:cs typeface="Verizon NHG DS"/>
                <a:sym typeface="Verizon NHG DS"/>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Complex Chart">
  <p:cSld name="Complex Chart">
    <p:spTree>
      <p:nvGrpSpPr>
        <p:cNvPr id="1" name="Shape 178"/>
        <p:cNvGrpSpPr/>
        <p:nvPr/>
      </p:nvGrpSpPr>
      <p:grpSpPr>
        <a:xfrm>
          <a:off x="0" y="0"/>
          <a:ext cx="0" cy="0"/>
          <a:chOff x="0" y="0"/>
          <a:chExt cx="0" cy="0"/>
        </a:xfrm>
      </p:grpSpPr>
      <p:sp>
        <p:nvSpPr>
          <p:cNvPr id="179" name="Google Shape;179;p2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sz="700" b="1">
                <a:solidFill>
                  <a:schemeClr val="dk1"/>
                </a:solidFill>
                <a:latin typeface="Verizon NHG DS"/>
                <a:ea typeface="Verizon NHG DS"/>
                <a:cs typeface="Verizon NHG DS"/>
                <a:sym typeface="Verizon NHG DS"/>
              </a:defRPr>
            </a:lvl1pPr>
            <a:lvl2pPr marL="0" lvl="1" indent="0" algn="r" rtl="0">
              <a:spcBef>
                <a:spcPts val="0"/>
              </a:spcBef>
              <a:buNone/>
              <a:defRPr sz="700" b="1">
                <a:solidFill>
                  <a:schemeClr val="dk1"/>
                </a:solidFill>
                <a:latin typeface="Verizon NHG DS"/>
                <a:ea typeface="Verizon NHG DS"/>
                <a:cs typeface="Verizon NHG DS"/>
                <a:sym typeface="Verizon NHG DS"/>
              </a:defRPr>
            </a:lvl2pPr>
            <a:lvl3pPr marL="0" lvl="2" indent="0" algn="r" rtl="0">
              <a:spcBef>
                <a:spcPts val="0"/>
              </a:spcBef>
              <a:buNone/>
              <a:defRPr sz="700" b="1">
                <a:solidFill>
                  <a:schemeClr val="dk1"/>
                </a:solidFill>
                <a:latin typeface="Verizon NHG DS"/>
                <a:ea typeface="Verizon NHG DS"/>
                <a:cs typeface="Verizon NHG DS"/>
                <a:sym typeface="Verizon NHG DS"/>
              </a:defRPr>
            </a:lvl3pPr>
            <a:lvl4pPr marL="0" lvl="3" indent="0" algn="r" rtl="0">
              <a:spcBef>
                <a:spcPts val="0"/>
              </a:spcBef>
              <a:buNone/>
              <a:defRPr sz="700" b="1">
                <a:solidFill>
                  <a:schemeClr val="dk1"/>
                </a:solidFill>
                <a:latin typeface="Verizon NHG DS"/>
                <a:ea typeface="Verizon NHG DS"/>
                <a:cs typeface="Verizon NHG DS"/>
                <a:sym typeface="Verizon NHG DS"/>
              </a:defRPr>
            </a:lvl4pPr>
            <a:lvl5pPr marL="0" lvl="4" indent="0" algn="r" rtl="0">
              <a:spcBef>
                <a:spcPts val="0"/>
              </a:spcBef>
              <a:buNone/>
              <a:defRPr sz="700" b="1">
                <a:solidFill>
                  <a:schemeClr val="dk1"/>
                </a:solidFill>
                <a:latin typeface="Verizon NHG DS"/>
                <a:ea typeface="Verizon NHG DS"/>
                <a:cs typeface="Verizon NHG DS"/>
                <a:sym typeface="Verizon NHG DS"/>
              </a:defRPr>
            </a:lvl5pPr>
            <a:lvl6pPr marL="0" lvl="5" indent="0" algn="r" rtl="0">
              <a:spcBef>
                <a:spcPts val="0"/>
              </a:spcBef>
              <a:buNone/>
              <a:defRPr sz="700" b="1">
                <a:solidFill>
                  <a:schemeClr val="dk1"/>
                </a:solidFill>
                <a:latin typeface="Verizon NHG DS"/>
                <a:ea typeface="Verizon NHG DS"/>
                <a:cs typeface="Verizon NHG DS"/>
                <a:sym typeface="Verizon NHG DS"/>
              </a:defRPr>
            </a:lvl6pPr>
            <a:lvl7pPr marL="0" lvl="6" indent="0" algn="r" rtl="0">
              <a:spcBef>
                <a:spcPts val="0"/>
              </a:spcBef>
              <a:buNone/>
              <a:defRPr sz="700" b="1">
                <a:solidFill>
                  <a:schemeClr val="dk1"/>
                </a:solidFill>
                <a:latin typeface="Verizon NHG DS"/>
                <a:ea typeface="Verizon NHG DS"/>
                <a:cs typeface="Verizon NHG DS"/>
                <a:sym typeface="Verizon NHG DS"/>
              </a:defRPr>
            </a:lvl7pPr>
            <a:lvl8pPr marL="0" lvl="7" indent="0" algn="r" rtl="0">
              <a:spcBef>
                <a:spcPts val="0"/>
              </a:spcBef>
              <a:buNone/>
              <a:defRPr sz="700" b="1">
                <a:solidFill>
                  <a:schemeClr val="dk1"/>
                </a:solidFill>
                <a:latin typeface="Verizon NHG DS"/>
                <a:ea typeface="Verizon NHG DS"/>
                <a:cs typeface="Verizon NHG DS"/>
                <a:sym typeface="Verizon NHG DS"/>
              </a:defRPr>
            </a:lvl8pPr>
            <a:lvl9pPr marL="0" lvl="8" indent="0" algn="r" rtl="0">
              <a:spcBef>
                <a:spcPts val="0"/>
              </a:spcBef>
              <a:buNone/>
              <a:defRPr sz="700" b="1">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sp>
        <p:nvSpPr>
          <p:cNvPr id="180" name="Google Shape;180;p29"/>
          <p:cNvSpPr txBox="1">
            <a:spLocks noGrp="1"/>
          </p:cNvSpPr>
          <p:nvPr>
            <p:ph type="title"/>
          </p:nvPr>
        </p:nvSpPr>
        <p:spPr>
          <a:xfrm>
            <a:off x="457200" y="2476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1" name="Google Shape;181;p29"/>
          <p:cNvSpPr>
            <a:spLocks noGrp="1"/>
          </p:cNvSpPr>
          <p:nvPr>
            <p:ph type="pic" idx="2"/>
          </p:nvPr>
        </p:nvSpPr>
        <p:spPr>
          <a:xfrm>
            <a:off x="457200" y="590550"/>
            <a:ext cx="8229600" cy="3848100"/>
          </a:xfrm>
          <a:prstGeom prst="rect">
            <a:avLst/>
          </a:prstGeom>
          <a:noFill/>
          <a:ln>
            <a:noFill/>
          </a:ln>
        </p:spPr>
        <p:txBody>
          <a:bodyPr spcFirstLastPara="1" wrap="square" lIns="0" tIns="1463025" rIns="0" bIns="0" anchor="t" anchorCtr="0">
            <a:noAutofit/>
          </a:bodyPr>
          <a:lstStyle>
            <a:lvl1pPr marR="0" lvl="0" algn="ctr"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R="0" lvl="1"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R="0" lvl="2"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R="0" lvl="3"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R="0" lvl="4"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R="0" lvl="5"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R="0" lvl="6"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R="0" lvl="7"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R="0" lvl="8"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hart Slide">
  <p:cSld name="Two Chart Slide">
    <p:spTree>
      <p:nvGrpSpPr>
        <p:cNvPr id="1" name="Shape 182"/>
        <p:cNvGrpSpPr/>
        <p:nvPr/>
      </p:nvGrpSpPr>
      <p:grpSpPr>
        <a:xfrm>
          <a:off x="0" y="0"/>
          <a:ext cx="0" cy="0"/>
          <a:chOff x="0" y="0"/>
          <a:chExt cx="0" cy="0"/>
        </a:xfrm>
      </p:grpSpPr>
      <p:sp>
        <p:nvSpPr>
          <p:cNvPr id="183" name="Google Shape;183;p3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Verizon NHG TX"/>
                <a:ea typeface="Verizon NHG TX"/>
                <a:cs typeface="Verizon NHG TX"/>
                <a:sym typeface="Verizon NHG TX"/>
              </a:defRPr>
            </a:lvl1pPr>
            <a:lvl2pPr marR="0" lvl="1"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2pPr>
            <a:lvl3pPr marR="0" lvl="2"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3pPr>
            <a:lvl4pPr marR="0" lvl="3"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4pPr>
            <a:lvl5pPr marR="0" lvl="4"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5pPr>
            <a:lvl6pPr marR="0" lvl="5"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6pPr>
            <a:lvl7pPr marR="0" lvl="6"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7pPr>
            <a:lvl8pPr marR="0" lvl="7"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8pPr>
            <a:lvl9pPr marR="0" lvl="8" algn="l" rtl="0">
              <a:spcBef>
                <a:spcPts val="0"/>
              </a:spcBef>
              <a:spcAft>
                <a:spcPts val="0"/>
              </a:spcAft>
              <a:buSzPts val="1400"/>
              <a:buNone/>
              <a:defRPr sz="1800" b="0" i="0" u="none" strike="noStrike" cap="none">
                <a:solidFill>
                  <a:schemeClr val="dk1"/>
                </a:solidFill>
                <a:latin typeface="Verizon NHG TX"/>
                <a:ea typeface="Verizon NHG TX"/>
                <a:cs typeface="Verizon NHG TX"/>
                <a:sym typeface="Verizon NHG TX"/>
              </a:defRPr>
            </a:lvl9pPr>
          </a:lstStyle>
          <a:p>
            <a:endParaRPr/>
          </a:p>
        </p:txBody>
      </p:sp>
      <p:sp>
        <p:nvSpPr>
          <p:cNvPr id="184" name="Google Shape;184;p3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185" name="Google Shape;185;p30"/>
          <p:cNvCxnSpPr/>
          <p:nvPr/>
        </p:nvCxnSpPr>
        <p:spPr>
          <a:xfrm>
            <a:off x="457200" y="457200"/>
            <a:ext cx="8229600" cy="0"/>
          </a:xfrm>
          <a:prstGeom prst="straightConnector1">
            <a:avLst/>
          </a:prstGeom>
          <a:noFill/>
          <a:ln w="47625" cap="flat" cmpd="sng">
            <a:solidFill>
              <a:schemeClr val="dk1"/>
            </a:solidFill>
            <a:prstDash val="solid"/>
            <a:round/>
            <a:headEnd type="none" w="sm" len="sm"/>
            <a:tailEnd type="none" w="sm" len="sm"/>
          </a:ln>
        </p:spPr>
      </p:cxnSp>
      <p:sp>
        <p:nvSpPr>
          <p:cNvPr id="186" name="Google Shape;186;p30"/>
          <p:cNvSpPr txBox="1">
            <a:spLocks noGrp="1"/>
          </p:cNvSpPr>
          <p:nvPr>
            <p:ph type="body" idx="1"/>
          </p:nvPr>
        </p:nvSpPr>
        <p:spPr>
          <a:xfrm>
            <a:off x="457200" y="1459580"/>
            <a:ext cx="39330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87" name="Google Shape;187;p30"/>
          <p:cNvSpPr txBox="1">
            <a:spLocks noGrp="1"/>
          </p:cNvSpPr>
          <p:nvPr>
            <p:ph type="body" idx="2"/>
          </p:nvPr>
        </p:nvSpPr>
        <p:spPr>
          <a:xfrm>
            <a:off x="4572000" y="1459580"/>
            <a:ext cx="3933000" cy="30174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900"/>
              </a:spcBef>
              <a:spcAft>
                <a:spcPts val="0"/>
              </a:spcAft>
              <a:buClr>
                <a:schemeClr val="dk1"/>
              </a:buClr>
              <a:buSzPts val="1800"/>
              <a:buNone/>
              <a:defRPr/>
            </a:lvl1pPr>
            <a:lvl2pPr marL="914400" lvl="1" indent="-228600" algn="l" rtl="0">
              <a:lnSpc>
                <a:spcPct val="100000"/>
              </a:lnSpc>
              <a:spcBef>
                <a:spcPts val="900"/>
              </a:spcBef>
              <a:spcAft>
                <a:spcPts val="0"/>
              </a:spcAft>
              <a:buClr>
                <a:schemeClr val="dk1"/>
              </a:buClr>
              <a:buSzPts val="1800"/>
              <a:buNone/>
              <a:defRPr/>
            </a:lvl2pPr>
            <a:lvl3pPr marL="1371600" lvl="2" indent="-342900" algn="l" rtl="0">
              <a:lnSpc>
                <a:spcPct val="100000"/>
              </a:lnSpc>
              <a:spcBef>
                <a:spcPts val="600"/>
              </a:spcBef>
              <a:spcAft>
                <a:spcPts val="0"/>
              </a:spcAft>
              <a:buClr>
                <a:schemeClr val="dk1"/>
              </a:buClr>
              <a:buSzPts val="1800"/>
              <a:buChar char="•"/>
              <a:defRPr/>
            </a:lvl3pPr>
            <a:lvl4pPr marL="1828800" lvl="3" indent="-342900" algn="l" rtl="0">
              <a:lnSpc>
                <a:spcPct val="100000"/>
              </a:lnSpc>
              <a:spcBef>
                <a:spcPts val="600"/>
              </a:spcBef>
              <a:spcAft>
                <a:spcPts val="0"/>
              </a:spcAft>
              <a:buClr>
                <a:schemeClr val="dk1"/>
              </a:buClr>
              <a:buSzPts val="1800"/>
              <a:buChar char="–"/>
              <a:defRPr/>
            </a:lvl4pPr>
            <a:lvl5pPr marL="2286000" lvl="4" indent="-342900" algn="l" rtl="0">
              <a:lnSpc>
                <a:spcPct val="100000"/>
              </a:lnSpc>
              <a:spcBef>
                <a:spcPts val="600"/>
              </a:spcBef>
              <a:spcAft>
                <a:spcPts val="0"/>
              </a:spcAft>
              <a:buClr>
                <a:schemeClr val="dk1"/>
              </a:buClr>
              <a:buSzPts val="1800"/>
              <a:buChar char="–"/>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600"/>
              </a:spcBef>
              <a:spcAft>
                <a:spcPts val="0"/>
              </a:spcAft>
              <a:buClr>
                <a:schemeClr val="dk1"/>
              </a:buClr>
              <a:buSzPts val="1800"/>
              <a:buChar char="–"/>
              <a:defRPr/>
            </a:lvl7pPr>
            <a:lvl8pPr marL="3657600" lvl="7" indent="-342900" algn="l" rtl="0">
              <a:lnSpc>
                <a:spcPct val="100000"/>
              </a:lnSpc>
              <a:spcBef>
                <a:spcPts val="600"/>
              </a:spcBef>
              <a:spcAft>
                <a:spcPts val="0"/>
              </a:spcAft>
              <a:buClr>
                <a:schemeClr val="dk1"/>
              </a:buClr>
              <a:buSzPts val="1800"/>
              <a:buChar char="–"/>
              <a:defRPr/>
            </a:lvl8pPr>
            <a:lvl9pPr marL="4114800" lvl="8" indent="-342900" algn="l" rtl="0">
              <a:lnSpc>
                <a:spcPct val="100000"/>
              </a:lnSpc>
              <a:spcBef>
                <a:spcPts val="600"/>
              </a:spcBef>
              <a:spcAft>
                <a:spcPts val="0"/>
              </a:spcAft>
              <a:buClr>
                <a:schemeClr val="dk1"/>
              </a:buClr>
              <a:buSzPts val="1800"/>
              <a:buChar char="–"/>
              <a:defRPr/>
            </a:lvl9pPr>
          </a:lstStyle>
          <a:p>
            <a:endParaRPr/>
          </a:p>
        </p:txBody>
      </p:sp>
      <p:sp>
        <p:nvSpPr>
          <p:cNvPr id="188" name="Google Shape;188;p30"/>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189"/>
        <p:cNvGrpSpPr/>
        <p:nvPr/>
      </p:nvGrpSpPr>
      <p:grpSpPr>
        <a:xfrm>
          <a:off x="0" y="0"/>
          <a:ext cx="0" cy="0"/>
          <a:chOff x="0" y="0"/>
          <a:chExt cx="0" cy="0"/>
        </a:xfrm>
      </p:grpSpPr>
      <p:pic>
        <p:nvPicPr>
          <p:cNvPr id="190" name="Google Shape;190;p31"/>
          <p:cNvPicPr preferRelativeResize="0"/>
          <p:nvPr/>
        </p:nvPicPr>
        <p:blipFill rotWithShape="1">
          <a:blip r:embed="rId2">
            <a:alphaModFix/>
          </a:blip>
          <a:srcRect/>
          <a:stretch/>
        </p:blipFill>
        <p:spPr>
          <a:xfrm>
            <a:off x="0" y="0"/>
            <a:ext cx="9144002" cy="5143501"/>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Thank You">
  <p:cSld name="1_Thank You">
    <p:spTree>
      <p:nvGrpSpPr>
        <p:cNvPr id="1" name="Shape 191"/>
        <p:cNvGrpSpPr/>
        <p:nvPr/>
      </p:nvGrpSpPr>
      <p:grpSpPr>
        <a:xfrm>
          <a:off x="0" y="0"/>
          <a:ext cx="0" cy="0"/>
          <a:chOff x="0" y="0"/>
          <a:chExt cx="0" cy="0"/>
        </a:xfrm>
      </p:grpSpPr>
      <p:pic>
        <p:nvPicPr>
          <p:cNvPr id="192" name="Google Shape;192;p32"/>
          <p:cNvPicPr preferRelativeResize="0"/>
          <p:nvPr/>
        </p:nvPicPr>
        <p:blipFill rotWithShape="1">
          <a:blip r:embed="rId2">
            <a:alphaModFix/>
          </a:blip>
          <a:srcRect/>
          <a:stretch/>
        </p:blipFill>
        <p:spPr>
          <a:xfrm>
            <a:off x="0" y="0"/>
            <a:ext cx="9144002" cy="514350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21" Type="http://schemas.openxmlformats.org/officeDocument/2006/relationships/slideLayout" Target="../slideLayouts/slideLayout29.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5" Type="http://schemas.openxmlformats.org/officeDocument/2006/relationships/image" Target="../media/image4.png"/><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slideLayout" Target="../slideLayouts/slideLayout28.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24" Type="http://schemas.openxmlformats.org/officeDocument/2006/relationships/image" Target="../media/image1.png"/><Relationship Id="rId5" Type="http://schemas.openxmlformats.org/officeDocument/2006/relationships/slideLayout" Target="../slideLayouts/slideLayout13.xml"/><Relationship Id="rId15" Type="http://schemas.openxmlformats.org/officeDocument/2006/relationships/slideLayout" Target="../slideLayouts/slideLayout23.xml"/><Relationship Id="rId23" Type="http://schemas.openxmlformats.org/officeDocument/2006/relationships/theme" Target="../theme/theme2.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 Id="rId22"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2400"/>
              <a:buFont typeface="Verizon NHG DS"/>
              <a:buNone/>
              <a:defRPr sz="2400" b="1" i="0" u="none" strike="noStrike" cap="none">
                <a:solidFill>
                  <a:schemeClr val="dk1"/>
                </a:solidFill>
                <a:latin typeface="Verizon NHG DS"/>
                <a:ea typeface="Verizon NHG DS"/>
                <a:cs typeface="Verizon NHG DS"/>
                <a:sym typeface="Verizon NHG D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463040"/>
            <a:ext cx="7086600" cy="297561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L="914400" marR="0" lvl="1" indent="-228600"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L="2743200" marR="0" lvl="5"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L="3200400" marR="0" lvl="6"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L="3657600" marR="0" lvl="7"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L="4114800" marR="0" lvl="8"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12" name="Google Shape;12;p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1pPr>
            <a:lvl2pPr marL="0" marR="0" lvl="1"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2pPr>
            <a:lvl3pPr marL="0" marR="0" lvl="2"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3pPr>
            <a:lvl4pPr marL="0" marR="0" lvl="3"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4pPr>
            <a:lvl5pPr marL="0" marR="0" lvl="4"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5pPr>
            <a:lvl6pPr marL="0" marR="0" lvl="5"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6pPr>
            <a:lvl7pPr marL="0" marR="0" lvl="6"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7pPr>
            <a:lvl8pPr marL="0" marR="0" lvl="7"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8pPr>
            <a:lvl9pPr marL="0" marR="0" lvl="8" indent="0" algn="r" rtl="0">
              <a:lnSpc>
                <a:spcPct val="100000"/>
              </a:lnSpc>
              <a:spcBef>
                <a:spcPts val="0"/>
              </a:spcBef>
              <a:spcAft>
                <a:spcPts val="0"/>
              </a:spcAft>
              <a:buClr>
                <a:srgbClr val="000000"/>
              </a:buClr>
              <a:buSzPts val="700"/>
              <a:buFont typeface="Arial"/>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pic>
        <p:nvPicPr>
          <p:cNvPr id="13" name="Google Shape;13;p1"/>
          <p:cNvPicPr preferRelativeResize="0"/>
          <p:nvPr/>
        </p:nvPicPr>
        <p:blipFill rotWithShape="1">
          <a:blip r:embed="rId10">
            <a:alphaModFix/>
          </a:blip>
          <a:srcRect/>
          <a:stretch/>
        </p:blipFill>
        <p:spPr>
          <a:xfrm>
            <a:off x="353824" y="4608575"/>
            <a:ext cx="1069846" cy="397804"/>
          </a:xfrm>
          <a:prstGeom prst="rect">
            <a:avLst/>
          </a:prstGeom>
          <a:noFill/>
          <a:ln>
            <a:noFill/>
          </a:ln>
        </p:spPr>
      </p:pic>
      <p:sp>
        <p:nvSpPr>
          <p:cNvPr id="14" name="Google Shape;14;p1"/>
          <p:cNvSpPr txBox="1"/>
          <p:nvPr/>
        </p:nvSpPr>
        <p:spPr>
          <a:xfrm>
            <a:off x="1333500" y="4612166"/>
            <a:ext cx="7124700" cy="301211"/>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Clr>
                <a:srgbClr val="000000"/>
              </a:buClr>
              <a:buSzPts val="650"/>
              <a:buFont typeface="Arial"/>
              <a:buNone/>
            </a:pPr>
            <a:r>
              <a:rPr lang="en-US" sz="650" b="0" i="0" u="none" strike="noStrike" cap="none">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dk1"/>
              </a:solidFill>
              <a:latin typeface="Verizon NHG DS"/>
              <a:ea typeface="Verizon NHG DS"/>
              <a:cs typeface="Verizon NHG DS"/>
              <a:sym typeface="Verizon NHG D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
          <p15:clr>
            <a:srgbClr val="F26B43"/>
          </p15:clr>
        </p15:guide>
        <p15:guide id="2" pos="288">
          <p15:clr>
            <a:srgbClr val="F26B43"/>
          </p15:clr>
        </p15:guide>
        <p15:guide id="3" pos="5472">
          <p15:clr>
            <a:srgbClr val="F26B43"/>
          </p15:clr>
        </p15:guide>
        <p15:guide id="4" pos="4752">
          <p15:clr>
            <a:srgbClr val="F26B43"/>
          </p15:clr>
        </p15:guide>
        <p15:guide id="5" orient="horz" pos="918">
          <p15:clr>
            <a:srgbClr val="F26B43"/>
          </p15:clr>
        </p15:guide>
        <p15:guide id="6" orient="horz" pos="2964">
          <p15:clr>
            <a:srgbClr val="F26B43"/>
          </p15:clr>
        </p15:guide>
        <p15:guide id="7" pos="2880">
          <p15:clr>
            <a:srgbClr val="F26B43"/>
          </p15:clr>
        </p15:guide>
        <p15:guide id="8" orient="horz" pos="372">
          <p15:clr>
            <a:srgbClr val="F26B43"/>
          </p15:clr>
        </p15:guide>
        <p15:guide id="9" orient="horz" pos="3084">
          <p15:clr>
            <a:srgbClr val="F26B43"/>
          </p15:clr>
        </p15:guide>
        <p15:guide id="10" orient="horz" pos="2796">
          <p15:clr>
            <a:srgbClr val="F26B43"/>
          </p15:clr>
        </p15:guide>
        <p15:guide id="11" pos="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3"/>
        <p:cNvGrpSpPr/>
        <p:nvPr/>
      </p:nvGrpSpPr>
      <p:grpSpPr>
        <a:xfrm>
          <a:off x="0" y="0"/>
          <a:ext cx="0" cy="0"/>
          <a:chOff x="0" y="0"/>
          <a:chExt cx="0" cy="0"/>
        </a:xfrm>
      </p:grpSpPr>
      <p:sp>
        <p:nvSpPr>
          <p:cNvPr id="54" name="Google Shape;54;p10"/>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2400"/>
              <a:buFont typeface="Verizon NHG DS"/>
              <a:buNone/>
              <a:defRPr sz="2400" b="1" i="0" u="none" strike="noStrike" cap="none">
                <a:solidFill>
                  <a:schemeClr val="dk1"/>
                </a:solidFill>
                <a:latin typeface="Verizon NHG DS"/>
                <a:ea typeface="Verizon NHG DS"/>
                <a:cs typeface="Verizon NHG DS"/>
                <a:sym typeface="Verizon NHG DS"/>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5" name="Google Shape;55;p10"/>
          <p:cNvSpPr txBox="1">
            <a:spLocks noGrp="1"/>
          </p:cNvSpPr>
          <p:nvPr>
            <p:ph type="body" idx="1"/>
          </p:nvPr>
        </p:nvSpPr>
        <p:spPr>
          <a:xfrm>
            <a:off x="457200" y="1463040"/>
            <a:ext cx="7086600" cy="29757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900"/>
              </a:spcBef>
              <a:spcAft>
                <a:spcPts val="0"/>
              </a:spcAft>
              <a:buClr>
                <a:schemeClr val="dk1"/>
              </a:buClr>
              <a:buSzPts val="1200"/>
              <a:buFont typeface="Verizon NHG TX"/>
              <a:buNone/>
              <a:defRPr sz="1200" b="1" i="0" u="none" strike="noStrike" cap="none">
                <a:solidFill>
                  <a:schemeClr val="dk1"/>
                </a:solidFill>
                <a:latin typeface="Verizon NHG TX"/>
                <a:ea typeface="Verizon NHG TX"/>
                <a:cs typeface="Verizon NHG TX"/>
                <a:sym typeface="Verizon NHG TX"/>
              </a:defRPr>
            </a:lvl1pPr>
            <a:lvl2pPr marL="914400" marR="0" lvl="1" indent="-228600" algn="l" rtl="0">
              <a:lnSpc>
                <a:spcPct val="100000"/>
              </a:lnSpc>
              <a:spcBef>
                <a:spcPts val="900"/>
              </a:spcBef>
              <a:spcAft>
                <a:spcPts val="0"/>
              </a:spcAft>
              <a:buClr>
                <a:schemeClr val="dk1"/>
              </a:buClr>
              <a:buSzPts val="1200"/>
              <a:buFont typeface="Verizon NHG TX"/>
              <a:buNone/>
              <a:defRPr sz="1200" b="0" i="0" u="none" strike="noStrike" cap="none">
                <a:solidFill>
                  <a:schemeClr val="dk1"/>
                </a:solidFill>
                <a:latin typeface="Verizon NHG TX"/>
                <a:ea typeface="Verizon NHG TX"/>
                <a:cs typeface="Verizon NHG TX"/>
                <a:sym typeface="Verizon NHG TX"/>
              </a:defRPr>
            </a:lvl2pPr>
            <a:lvl3pPr marL="1371600" marR="0" lvl="2"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3pPr>
            <a:lvl4pPr marL="1828800" marR="0" lvl="3"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4pPr>
            <a:lvl5pPr marL="2286000" marR="0" lvl="4"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5pPr>
            <a:lvl6pPr marL="2743200" marR="0" lvl="5"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6pPr>
            <a:lvl7pPr marL="3200400" marR="0" lvl="6"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7pPr>
            <a:lvl8pPr marL="3657600" marR="0" lvl="7"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8pPr>
            <a:lvl9pPr marL="4114800" marR="0" lvl="8" indent="-304800" algn="l" rtl="0">
              <a:lnSpc>
                <a:spcPct val="100000"/>
              </a:lnSpc>
              <a:spcBef>
                <a:spcPts val="600"/>
              </a:spcBef>
              <a:spcAft>
                <a:spcPts val="0"/>
              </a:spcAft>
              <a:buClr>
                <a:schemeClr val="dk1"/>
              </a:buClr>
              <a:buSzPts val="1200"/>
              <a:buFont typeface="Arial"/>
              <a:buChar char="–"/>
              <a:defRPr sz="1200" b="0" i="0" u="none" strike="noStrike" cap="none">
                <a:solidFill>
                  <a:schemeClr val="dk1"/>
                </a:solidFill>
                <a:latin typeface="Verizon NHG TX"/>
                <a:ea typeface="Verizon NHG TX"/>
                <a:cs typeface="Verizon NHG TX"/>
                <a:sym typeface="Verizon NHG TX"/>
              </a:defRPr>
            </a:lvl9pPr>
          </a:lstStyle>
          <a:p>
            <a:endParaRPr/>
          </a:p>
        </p:txBody>
      </p:sp>
      <p:sp>
        <p:nvSpPr>
          <p:cNvPr id="56" name="Google Shape;56;p1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700" b="1" i="0" u="none" strike="noStrike" cap="none">
                <a:solidFill>
                  <a:schemeClr val="dk1"/>
                </a:solidFill>
                <a:latin typeface="Verizon NHG DS"/>
                <a:ea typeface="Verizon NHG DS"/>
                <a:cs typeface="Verizon NHG DS"/>
                <a:sym typeface="Verizon NHG DS"/>
              </a:defRPr>
            </a:lvl1pPr>
            <a:lvl2pPr marL="0" marR="0" lvl="1" indent="0" algn="r" rtl="0">
              <a:spcBef>
                <a:spcPts val="0"/>
              </a:spcBef>
              <a:buNone/>
              <a:defRPr sz="700" b="1" i="0" u="none" strike="noStrike" cap="none">
                <a:solidFill>
                  <a:schemeClr val="dk1"/>
                </a:solidFill>
                <a:latin typeface="Verizon NHG DS"/>
                <a:ea typeface="Verizon NHG DS"/>
                <a:cs typeface="Verizon NHG DS"/>
                <a:sym typeface="Verizon NHG DS"/>
              </a:defRPr>
            </a:lvl2pPr>
            <a:lvl3pPr marL="0" marR="0" lvl="2" indent="0" algn="r" rtl="0">
              <a:spcBef>
                <a:spcPts val="0"/>
              </a:spcBef>
              <a:buNone/>
              <a:defRPr sz="700" b="1" i="0" u="none" strike="noStrike" cap="none">
                <a:solidFill>
                  <a:schemeClr val="dk1"/>
                </a:solidFill>
                <a:latin typeface="Verizon NHG DS"/>
                <a:ea typeface="Verizon NHG DS"/>
                <a:cs typeface="Verizon NHG DS"/>
                <a:sym typeface="Verizon NHG DS"/>
              </a:defRPr>
            </a:lvl3pPr>
            <a:lvl4pPr marL="0" marR="0" lvl="3" indent="0" algn="r" rtl="0">
              <a:spcBef>
                <a:spcPts val="0"/>
              </a:spcBef>
              <a:buNone/>
              <a:defRPr sz="700" b="1" i="0" u="none" strike="noStrike" cap="none">
                <a:solidFill>
                  <a:schemeClr val="dk1"/>
                </a:solidFill>
                <a:latin typeface="Verizon NHG DS"/>
                <a:ea typeface="Verizon NHG DS"/>
                <a:cs typeface="Verizon NHG DS"/>
                <a:sym typeface="Verizon NHG DS"/>
              </a:defRPr>
            </a:lvl4pPr>
            <a:lvl5pPr marL="0" marR="0" lvl="4" indent="0" algn="r" rtl="0">
              <a:spcBef>
                <a:spcPts val="0"/>
              </a:spcBef>
              <a:buNone/>
              <a:defRPr sz="700" b="1" i="0" u="none" strike="noStrike" cap="none">
                <a:solidFill>
                  <a:schemeClr val="dk1"/>
                </a:solidFill>
                <a:latin typeface="Verizon NHG DS"/>
                <a:ea typeface="Verizon NHG DS"/>
                <a:cs typeface="Verizon NHG DS"/>
                <a:sym typeface="Verizon NHG DS"/>
              </a:defRPr>
            </a:lvl5pPr>
            <a:lvl6pPr marL="0" marR="0" lvl="5" indent="0" algn="r" rtl="0">
              <a:spcBef>
                <a:spcPts val="0"/>
              </a:spcBef>
              <a:buNone/>
              <a:defRPr sz="700" b="1" i="0" u="none" strike="noStrike" cap="none">
                <a:solidFill>
                  <a:schemeClr val="dk1"/>
                </a:solidFill>
                <a:latin typeface="Verizon NHG DS"/>
                <a:ea typeface="Verizon NHG DS"/>
                <a:cs typeface="Verizon NHG DS"/>
                <a:sym typeface="Verizon NHG DS"/>
              </a:defRPr>
            </a:lvl6pPr>
            <a:lvl7pPr marL="0" marR="0" lvl="6" indent="0" algn="r" rtl="0">
              <a:spcBef>
                <a:spcPts val="0"/>
              </a:spcBef>
              <a:buNone/>
              <a:defRPr sz="700" b="1" i="0" u="none" strike="noStrike" cap="none">
                <a:solidFill>
                  <a:schemeClr val="dk1"/>
                </a:solidFill>
                <a:latin typeface="Verizon NHG DS"/>
                <a:ea typeface="Verizon NHG DS"/>
                <a:cs typeface="Verizon NHG DS"/>
                <a:sym typeface="Verizon NHG DS"/>
              </a:defRPr>
            </a:lvl7pPr>
            <a:lvl8pPr marL="0" marR="0" lvl="7" indent="0" algn="r" rtl="0">
              <a:spcBef>
                <a:spcPts val="0"/>
              </a:spcBef>
              <a:buNone/>
              <a:defRPr sz="700" b="1" i="0" u="none" strike="noStrike" cap="none">
                <a:solidFill>
                  <a:schemeClr val="dk1"/>
                </a:solidFill>
                <a:latin typeface="Verizon NHG DS"/>
                <a:ea typeface="Verizon NHG DS"/>
                <a:cs typeface="Verizon NHG DS"/>
                <a:sym typeface="Verizon NHG DS"/>
              </a:defRPr>
            </a:lvl8pPr>
            <a:lvl9pPr marL="0" marR="0" lvl="8" indent="0" algn="r" rtl="0">
              <a:spcBef>
                <a:spcPts val="0"/>
              </a:spcBef>
              <a:buNone/>
              <a:defRPr sz="700" b="1" i="0" u="none" strike="noStrike" cap="none">
                <a:solidFill>
                  <a:schemeClr val="dk1"/>
                </a:solidFill>
                <a:latin typeface="Verizon NHG DS"/>
                <a:ea typeface="Verizon NHG DS"/>
                <a:cs typeface="Verizon NHG DS"/>
                <a:sym typeface="Verizon NHG DS"/>
              </a:defRPr>
            </a:lvl9pPr>
          </a:lstStyle>
          <a:p>
            <a:pPr marL="0" lvl="0" indent="0" algn="r" rtl="0">
              <a:spcBef>
                <a:spcPts val="0"/>
              </a:spcBef>
              <a:spcAft>
                <a:spcPts val="0"/>
              </a:spcAft>
              <a:buNone/>
            </a:pPr>
            <a:fld id="{00000000-1234-1234-1234-123412341234}" type="slidenum">
              <a:rPr lang="en-US"/>
              <a:t>‹#›</a:t>
            </a:fld>
            <a:endParaRPr/>
          </a:p>
        </p:txBody>
      </p:sp>
      <p:pic>
        <p:nvPicPr>
          <p:cNvPr id="57" name="Google Shape;57;p10"/>
          <p:cNvPicPr preferRelativeResize="0"/>
          <p:nvPr/>
        </p:nvPicPr>
        <p:blipFill rotWithShape="1">
          <a:blip r:embed="rId24">
            <a:alphaModFix/>
          </a:blip>
          <a:srcRect/>
          <a:stretch/>
        </p:blipFill>
        <p:spPr>
          <a:xfrm>
            <a:off x="353824" y="4608575"/>
            <a:ext cx="1069844" cy="397804"/>
          </a:xfrm>
          <a:prstGeom prst="rect">
            <a:avLst/>
          </a:prstGeom>
          <a:noFill/>
          <a:ln>
            <a:noFill/>
          </a:ln>
        </p:spPr>
      </p:pic>
      <p:sp>
        <p:nvSpPr>
          <p:cNvPr id="58" name="Google Shape;58;p10"/>
          <p:cNvSpPr txBox="1"/>
          <p:nvPr/>
        </p:nvSpPr>
        <p:spPr>
          <a:xfrm>
            <a:off x="1333500" y="4612166"/>
            <a:ext cx="7124700" cy="301200"/>
          </a:xfrm>
          <a:prstGeom prst="rect">
            <a:avLst/>
          </a:prstGeom>
          <a:noFill/>
          <a:ln>
            <a:noFill/>
          </a:ln>
        </p:spPr>
        <p:txBody>
          <a:bodyPr spcFirstLastPara="1" wrap="square" lIns="0" tIns="0" rIns="0" bIns="0" anchor="b" anchorCtr="0">
            <a:noAutofit/>
          </a:bodyPr>
          <a:lstStyle/>
          <a:p>
            <a:pPr marL="0" marR="0" lvl="0" indent="0" algn="ctr" rtl="0">
              <a:lnSpc>
                <a:spcPct val="113846"/>
              </a:lnSpc>
              <a:spcBef>
                <a:spcPts val="0"/>
              </a:spcBef>
              <a:spcAft>
                <a:spcPts val="0"/>
              </a:spcAft>
              <a:buNone/>
            </a:pPr>
            <a:r>
              <a:rPr lang="en-US" sz="650" b="0" i="0" u="none" strike="noStrike" cap="none">
                <a:solidFill>
                  <a:schemeClr val="dk1"/>
                </a:solidFill>
                <a:latin typeface="Verizon NHG DS"/>
                <a:ea typeface="Verizon NHG DS"/>
                <a:cs typeface="Verizon NHG DS"/>
                <a:sym typeface="Verizon NHG DS"/>
              </a:rPr>
              <a:t>Verizon confidential and proprietary. Unauthorized disclosure, reproduction or other use prohibited.</a:t>
            </a:r>
            <a:endParaRPr sz="650" b="0" i="0" u="none" strike="noStrike" cap="none">
              <a:solidFill>
                <a:schemeClr val="dk1"/>
              </a:solidFill>
              <a:latin typeface="Verizon NHG DS"/>
              <a:ea typeface="Verizon NHG DS"/>
              <a:cs typeface="Verizon NHG DS"/>
              <a:sym typeface="Verizon NHG DS"/>
            </a:endParaRPr>
          </a:p>
        </p:txBody>
      </p:sp>
      <p:pic>
        <p:nvPicPr>
          <p:cNvPr id="59" name="Google Shape;59;p10"/>
          <p:cNvPicPr preferRelativeResize="0"/>
          <p:nvPr/>
        </p:nvPicPr>
        <p:blipFill>
          <a:blip r:embed="rId25">
            <a:alphaModFix/>
          </a:blip>
          <a:stretch>
            <a:fillRect/>
          </a:stretch>
        </p:blipFill>
        <p:spPr>
          <a:xfrm>
            <a:off x="7805950" y="1"/>
            <a:ext cx="914400" cy="43342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 id="2147483676" r:id="rId21"/>
    <p:sldLayoutId id="2147483677"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
          <p15:clr>
            <a:srgbClr val="F26B43"/>
          </p15:clr>
        </p15:guide>
        <p15:guide id="2" pos="288">
          <p15:clr>
            <a:srgbClr val="F26B43"/>
          </p15:clr>
        </p15:guide>
        <p15:guide id="3" pos="5472">
          <p15:clr>
            <a:srgbClr val="F26B43"/>
          </p15:clr>
        </p15:guide>
        <p15:guide id="4" pos="4752">
          <p15:clr>
            <a:srgbClr val="F26B43"/>
          </p15:clr>
        </p15:guide>
        <p15:guide id="5" orient="horz" pos="918">
          <p15:clr>
            <a:srgbClr val="F26B43"/>
          </p15:clr>
        </p15:guide>
        <p15:guide id="6" orient="horz" pos="2964">
          <p15:clr>
            <a:srgbClr val="F26B43"/>
          </p15:clr>
        </p15:guide>
        <p15:guide id="7" pos="2880">
          <p15:clr>
            <a:srgbClr val="F26B43"/>
          </p15:clr>
        </p15:guide>
        <p15:guide id="8" orient="horz" pos="372">
          <p15:clr>
            <a:srgbClr val="F26B43"/>
          </p15:clr>
        </p15:guide>
        <p15:guide id="9" orient="horz" pos="3084">
          <p15:clr>
            <a:srgbClr val="F26B43"/>
          </p15:clr>
        </p15:guide>
        <p15:guide id="10" orient="horz" pos="2796">
          <p15:clr>
            <a:srgbClr val="F26B43"/>
          </p15:clr>
        </p15:guide>
        <p15:guide id="11" pos="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3"/>
          <p:cNvSpPr txBox="1">
            <a:spLocks noGrp="1"/>
          </p:cNvSpPr>
          <p:nvPr>
            <p:ph type="ctrTitle"/>
          </p:nvPr>
        </p:nvSpPr>
        <p:spPr>
          <a:xfrm>
            <a:off x="457200" y="459908"/>
            <a:ext cx="7687200" cy="14799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6000"/>
              <a:buFont typeface="Verizon NHG DS"/>
              <a:buNone/>
            </a:pPr>
            <a:r>
              <a:rPr lang="en-US"/>
              <a:t>KTLO </a:t>
            </a:r>
            <a:endParaRPr/>
          </a:p>
          <a:p>
            <a:pPr marL="0" lvl="0" indent="0" algn="l" rtl="0">
              <a:lnSpc>
                <a:spcPct val="80000"/>
              </a:lnSpc>
              <a:spcBef>
                <a:spcPts val="0"/>
              </a:spcBef>
              <a:spcAft>
                <a:spcPts val="0"/>
              </a:spcAft>
              <a:buClr>
                <a:schemeClr val="dk1"/>
              </a:buClr>
              <a:buSzPts val="6000"/>
              <a:buFont typeface="Verizon NHG DS"/>
              <a:buNone/>
            </a:pPr>
            <a:r>
              <a:rPr lang="en-US"/>
              <a:t>Definition, Workflow &amp; Examples</a:t>
            </a:r>
            <a:endParaRPr/>
          </a:p>
          <a:p>
            <a:pPr marL="0" lvl="0" indent="0" algn="l" rtl="0">
              <a:lnSpc>
                <a:spcPct val="80000"/>
              </a:lnSpc>
              <a:spcBef>
                <a:spcPts val="0"/>
              </a:spcBef>
              <a:spcAft>
                <a:spcPts val="0"/>
              </a:spcAft>
              <a:buClr>
                <a:schemeClr val="dk1"/>
              </a:buClr>
              <a:buSzPts val="6000"/>
              <a:buFont typeface="Verizon NHG DS"/>
              <a:buNone/>
            </a:pPr>
            <a:endParaRPr/>
          </a:p>
          <a:p>
            <a:pPr marL="0" lvl="0" indent="0" algn="l" rtl="0">
              <a:lnSpc>
                <a:spcPct val="80000"/>
              </a:lnSpc>
              <a:spcBef>
                <a:spcPts val="0"/>
              </a:spcBef>
              <a:spcAft>
                <a:spcPts val="0"/>
              </a:spcAft>
              <a:buClr>
                <a:schemeClr val="dk1"/>
              </a:buClr>
              <a:buSzPts val="6000"/>
              <a:buFont typeface="Verizon NHG DS"/>
              <a:buNone/>
            </a:pPr>
            <a:r>
              <a:rPr lang="en-US"/>
              <a:t>February 12, 2020</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
        <p:nvSpPr>
          <p:cNvPr id="204" name="Google Shape;204;p34"/>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Application Maintenance / SOW2 Effort categories</a:t>
            </a:r>
            <a:endParaRPr/>
          </a:p>
        </p:txBody>
      </p:sp>
      <p:sp>
        <p:nvSpPr>
          <p:cNvPr id="205" name="Google Shape;205;p34"/>
          <p:cNvSpPr/>
          <p:nvPr/>
        </p:nvSpPr>
        <p:spPr>
          <a:xfrm>
            <a:off x="3092400" y="1009125"/>
            <a:ext cx="2276700" cy="684000"/>
          </a:xfrm>
          <a:prstGeom prst="rect">
            <a:avLst/>
          </a:prstGeom>
          <a:solidFill>
            <a:srgbClr val="F3F3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1">
                <a:latin typeface="Verizon NHG TX"/>
                <a:ea typeface="Verizon NHG TX"/>
                <a:cs typeface="Verizon NHG TX"/>
                <a:sym typeface="Verizon NHG TX"/>
              </a:rPr>
              <a:t>Application Maintenance / SOW2 </a:t>
            </a:r>
            <a:endParaRPr sz="1000" b="1" i="0" u="none" strike="noStrike" cap="none">
              <a:solidFill>
                <a:srgbClr val="000000"/>
              </a:solidFill>
              <a:latin typeface="Verizon NHG TX"/>
              <a:ea typeface="Verizon NHG TX"/>
              <a:cs typeface="Verizon NHG TX"/>
              <a:sym typeface="Verizon NHG TX"/>
            </a:endParaRPr>
          </a:p>
        </p:txBody>
      </p:sp>
      <p:sp>
        <p:nvSpPr>
          <p:cNvPr id="206" name="Google Shape;206;p34"/>
          <p:cNvSpPr/>
          <p:nvPr/>
        </p:nvSpPr>
        <p:spPr>
          <a:xfrm>
            <a:off x="569150" y="2206150"/>
            <a:ext cx="2052000" cy="20250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1">
                <a:latin typeface="Verizon NHG TX"/>
                <a:ea typeface="Verizon NHG TX"/>
                <a:cs typeface="Verizon NHG TX"/>
                <a:sym typeface="Verizon NHG TX"/>
              </a:rPr>
              <a:t>Application Maintenance Efforts</a:t>
            </a:r>
            <a:endParaRPr sz="1000" b="1">
              <a:latin typeface="Verizon NHG TX"/>
              <a:ea typeface="Verizon NHG TX"/>
              <a:cs typeface="Verizon NHG TX"/>
              <a:sym typeface="Verizon NHG TX"/>
            </a:endParaRPr>
          </a:p>
          <a:p>
            <a:pPr marL="0" marR="0" lvl="0" indent="0" algn="ctr" rtl="0">
              <a:lnSpc>
                <a:spcPct val="100000"/>
              </a:lnSpc>
              <a:spcBef>
                <a:spcPts val="0"/>
              </a:spcBef>
              <a:spcAft>
                <a:spcPts val="0"/>
              </a:spcAft>
              <a:buClr>
                <a:srgbClr val="000000"/>
              </a:buClr>
              <a:buSzPts val="1000"/>
              <a:buFont typeface="Arial"/>
              <a:buNone/>
            </a:pPr>
            <a:endParaRPr sz="1000" b="1">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IRs/ Defect Management</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User Support/ Ticket Mgmt</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Data Archive/Clean Up</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Regular Monitoring</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Assist with SOX compliance</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Code migration</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Operational Support</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Production Control and Scheduling</a:t>
            </a:r>
            <a:endParaRPr sz="900">
              <a:latin typeface="Verizon NHG TX"/>
              <a:ea typeface="Verizon NHG TX"/>
              <a:cs typeface="Verizon NHG TX"/>
              <a:sym typeface="Verizon NHG TX"/>
            </a:endParaRPr>
          </a:p>
          <a:p>
            <a:pPr marL="0" marR="0" lvl="0" indent="0" algn="ctr" rtl="0">
              <a:lnSpc>
                <a:spcPct val="100000"/>
              </a:lnSpc>
              <a:spcBef>
                <a:spcPts val="0"/>
              </a:spcBef>
              <a:spcAft>
                <a:spcPts val="0"/>
              </a:spcAft>
              <a:buClr>
                <a:srgbClr val="000000"/>
              </a:buClr>
              <a:buSzPts val="1000"/>
              <a:buFont typeface="Arial"/>
              <a:buNone/>
            </a:pPr>
            <a:endParaRPr sz="1000" b="1">
              <a:latin typeface="Verizon NHG TX"/>
              <a:ea typeface="Verizon NHG TX"/>
              <a:cs typeface="Verizon NHG TX"/>
              <a:sym typeface="Verizon NHG TX"/>
            </a:endParaRPr>
          </a:p>
        </p:txBody>
      </p:sp>
      <p:sp>
        <p:nvSpPr>
          <p:cNvPr id="207" name="Google Shape;207;p34"/>
          <p:cNvSpPr/>
          <p:nvPr/>
        </p:nvSpPr>
        <p:spPr>
          <a:xfrm>
            <a:off x="3142176" y="2206125"/>
            <a:ext cx="2174700" cy="18576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1">
                <a:latin typeface="Verizon NHG TX"/>
                <a:ea typeface="Verizon NHG TX"/>
                <a:cs typeface="Verizon NHG TX"/>
                <a:sym typeface="Verizon NHG TX"/>
              </a:rPr>
              <a:t>KTLO Efforts</a:t>
            </a:r>
            <a:endParaRPr sz="1000" b="1">
              <a:latin typeface="Verizon NHG TX"/>
              <a:ea typeface="Verizon NHG TX"/>
              <a:cs typeface="Verizon NHG TX"/>
              <a:sym typeface="Verizon NHG TX"/>
            </a:endParaRPr>
          </a:p>
          <a:p>
            <a:pPr marL="0" marR="0" lvl="0" indent="0" algn="ctr" rtl="0">
              <a:lnSpc>
                <a:spcPct val="100000"/>
              </a:lnSpc>
              <a:spcBef>
                <a:spcPts val="0"/>
              </a:spcBef>
              <a:spcAft>
                <a:spcPts val="0"/>
              </a:spcAft>
              <a:buClr>
                <a:srgbClr val="000000"/>
              </a:buClr>
              <a:buSzPts val="1000"/>
              <a:buFont typeface="Arial"/>
              <a:buNone/>
            </a:pPr>
            <a:endParaRPr sz="1000" b="1">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Adaptive Maintenance</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Perfective Maintenance</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Performance Maintenance</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Application Optimization</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Capacity Management</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Preventive Maintenance</a:t>
            </a:r>
            <a:endParaRPr sz="900">
              <a:latin typeface="Verizon NHG TX"/>
              <a:ea typeface="Verizon NHG TX"/>
              <a:cs typeface="Verizon NHG TX"/>
              <a:sym typeface="Verizon NHG TX"/>
            </a:endParaRPr>
          </a:p>
          <a:p>
            <a:pPr marL="457200" lvl="0" indent="0" algn="l" rtl="0">
              <a:spcBef>
                <a:spcPts val="0"/>
              </a:spcBef>
              <a:spcAft>
                <a:spcPts val="0"/>
              </a:spcAft>
              <a:buNone/>
            </a:pPr>
            <a:endParaRPr sz="900">
              <a:solidFill>
                <a:schemeClr val="dk1"/>
              </a:solidFill>
              <a:latin typeface="Verizon NHG TX"/>
              <a:ea typeface="Verizon NHG TX"/>
              <a:cs typeface="Verizon NHG TX"/>
              <a:sym typeface="Verizon NHG TX"/>
            </a:endParaRPr>
          </a:p>
          <a:p>
            <a:pPr marL="457200" lvl="0" indent="-285750" algn="l" rtl="0">
              <a:spcBef>
                <a:spcPts val="0"/>
              </a:spcBef>
              <a:spcAft>
                <a:spcPts val="0"/>
              </a:spcAft>
              <a:buClr>
                <a:schemeClr val="dk1"/>
              </a:buClr>
              <a:buSzPts val="900"/>
              <a:buFont typeface="Verizon NHG TX"/>
              <a:buChar char="●"/>
            </a:pPr>
            <a:r>
              <a:rPr lang="en-US" sz="900">
                <a:solidFill>
                  <a:schemeClr val="dk1"/>
                </a:solidFill>
                <a:latin typeface="Verizon NHG TX"/>
                <a:ea typeface="Verizon NHG TX"/>
                <a:cs typeface="Verizon NHG TX"/>
                <a:sym typeface="Verizon NHG TX"/>
              </a:rPr>
              <a:t>Minor Enhancements</a:t>
            </a:r>
            <a:endParaRPr sz="900">
              <a:solidFill>
                <a:schemeClr val="dk1"/>
              </a:solidFill>
              <a:latin typeface="Verizon NHG TX"/>
              <a:ea typeface="Verizon NHG TX"/>
              <a:cs typeface="Verizon NHG TX"/>
              <a:sym typeface="Verizon NHG TX"/>
            </a:endParaRPr>
          </a:p>
          <a:p>
            <a:pPr marL="457200" marR="0" lvl="0" indent="0" algn="l" rtl="0">
              <a:lnSpc>
                <a:spcPct val="100000"/>
              </a:lnSpc>
              <a:spcBef>
                <a:spcPts val="0"/>
              </a:spcBef>
              <a:spcAft>
                <a:spcPts val="0"/>
              </a:spcAft>
              <a:buNone/>
            </a:pPr>
            <a:endParaRPr sz="900">
              <a:latin typeface="Verizon NHG TX"/>
              <a:ea typeface="Verizon NHG TX"/>
              <a:cs typeface="Verizon NHG TX"/>
              <a:sym typeface="Verizon NHG TX"/>
            </a:endParaRPr>
          </a:p>
          <a:p>
            <a:pPr marL="457200" marR="0" lvl="0" indent="0" algn="l" rtl="0">
              <a:lnSpc>
                <a:spcPct val="100000"/>
              </a:lnSpc>
              <a:spcBef>
                <a:spcPts val="0"/>
              </a:spcBef>
              <a:spcAft>
                <a:spcPts val="0"/>
              </a:spcAft>
              <a:buNone/>
            </a:pPr>
            <a:endParaRPr sz="900">
              <a:latin typeface="Verizon NHG TX"/>
              <a:ea typeface="Verizon NHG TX"/>
              <a:cs typeface="Verizon NHG TX"/>
              <a:sym typeface="Verizon NHG TX"/>
            </a:endParaRPr>
          </a:p>
        </p:txBody>
      </p:sp>
      <p:cxnSp>
        <p:nvCxnSpPr>
          <p:cNvPr id="208" name="Google Shape;208;p34"/>
          <p:cNvCxnSpPr>
            <a:stCxn id="205" idx="2"/>
            <a:endCxn id="209" idx="0"/>
          </p:cNvCxnSpPr>
          <p:nvPr/>
        </p:nvCxnSpPr>
        <p:spPr>
          <a:xfrm rot="-5400000" flipH="1">
            <a:off x="5282250" y="641625"/>
            <a:ext cx="513000" cy="261600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210" name="Google Shape;210;p34"/>
          <p:cNvCxnSpPr>
            <a:stCxn id="205" idx="2"/>
            <a:endCxn id="206" idx="0"/>
          </p:cNvCxnSpPr>
          <p:nvPr/>
        </p:nvCxnSpPr>
        <p:spPr>
          <a:xfrm rot="5400000">
            <a:off x="2656500" y="631875"/>
            <a:ext cx="513000" cy="2635500"/>
          </a:xfrm>
          <a:prstGeom prst="bentConnector3">
            <a:avLst>
              <a:gd name="adj1" fmla="val 50002"/>
            </a:avLst>
          </a:prstGeom>
          <a:noFill/>
          <a:ln w="9525" cap="flat" cmpd="sng">
            <a:solidFill>
              <a:schemeClr val="dk2"/>
            </a:solidFill>
            <a:prstDash val="solid"/>
            <a:round/>
            <a:headEnd type="none" w="med" len="med"/>
            <a:tailEnd type="none" w="med" len="med"/>
          </a:ln>
        </p:spPr>
      </p:cxnSp>
      <p:sp>
        <p:nvSpPr>
          <p:cNvPr id="209" name="Google Shape;209;p34"/>
          <p:cNvSpPr/>
          <p:nvPr/>
        </p:nvSpPr>
        <p:spPr>
          <a:xfrm>
            <a:off x="5759501" y="2206125"/>
            <a:ext cx="2174700" cy="1857600"/>
          </a:xfrm>
          <a:prstGeom prst="rect">
            <a:avLst/>
          </a:prstGeom>
          <a:solidFill>
            <a:srgbClr val="F3F3F3"/>
          </a:solid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000"/>
              <a:buFont typeface="Arial"/>
              <a:buNone/>
            </a:pPr>
            <a:r>
              <a:rPr lang="en-US" sz="1000" b="1">
                <a:latin typeface="Verizon NHG TX"/>
                <a:ea typeface="Verizon NHG TX"/>
                <a:cs typeface="Verizon NHG TX"/>
                <a:sym typeface="Verizon NHG TX"/>
              </a:rPr>
              <a:t>Infosys Investment Efforts</a:t>
            </a:r>
            <a:endParaRPr sz="1000" b="1">
              <a:latin typeface="Verizon NHG TX"/>
              <a:ea typeface="Verizon NHG TX"/>
              <a:cs typeface="Verizon NHG TX"/>
              <a:sym typeface="Verizon NHG TX"/>
            </a:endParaRPr>
          </a:p>
          <a:p>
            <a:pPr marL="0" marR="0" lvl="0" indent="0" algn="ctr" rtl="0">
              <a:lnSpc>
                <a:spcPct val="100000"/>
              </a:lnSpc>
              <a:spcBef>
                <a:spcPts val="0"/>
              </a:spcBef>
              <a:spcAft>
                <a:spcPts val="0"/>
              </a:spcAft>
              <a:buClr>
                <a:srgbClr val="000000"/>
              </a:buClr>
              <a:buSzPts val="1000"/>
              <a:buFont typeface="Arial"/>
              <a:buNone/>
            </a:pPr>
            <a:endParaRPr sz="1000" b="1">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Ticket Reduction</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Automation of support tasks</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MTTR reduction</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Increase support team efficiency</a:t>
            </a:r>
            <a:endParaRPr sz="900">
              <a:latin typeface="Verizon NHG TX"/>
              <a:ea typeface="Verizon NHG TX"/>
              <a:cs typeface="Verizon NHG TX"/>
              <a:sym typeface="Verizon NHG TX"/>
            </a:endParaRPr>
          </a:p>
          <a:p>
            <a:pPr marL="457200" marR="0" lvl="0" indent="-285750" algn="l" rtl="0">
              <a:lnSpc>
                <a:spcPct val="100000"/>
              </a:lnSpc>
              <a:spcBef>
                <a:spcPts val="0"/>
              </a:spcBef>
              <a:spcAft>
                <a:spcPts val="0"/>
              </a:spcAft>
              <a:buSzPts val="900"/>
              <a:buFont typeface="Verizon NHG TX"/>
              <a:buChar char="●"/>
            </a:pPr>
            <a:r>
              <a:rPr lang="en-US" sz="900">
                <a:latin typeface="Verizon NHG TX"/>
                <a:ea typeface="Verizon NHG TX"/>
                <a:cs typeface="Verizon NHG TX"/>
                <a:sym typeface="Verizon NHG TX"/>
              </a:rPr>
              <a:t>etc.</a:t>
            </a:r>
            <a:endParaRPr sz="900">
              <a:latin typeface="Verizon NHG TX"/>
              <a:ea typeface="Verizon NHG TX"/>
              <a:cs typeface="Verizon NHG TX"/>
              <a:sym typeface="Verizon NHG TX"/>
            </a:endParaRPr>
          </a:p>
          <a:p>
            <a:pPr marL="457200" marR="0" lvl="0" indent="0" algn="l" rtl="0">
              <a:lnSpc>
                <a:spcPct val="100000"/>
              </a:lnSpc>
              <a:spcBef>
                <a:spcPts val="0"/>
              </a:spcBef>
              <a:spcAft>
                <a:spcPts val="0"/>
              </a:spcAft>
              <a:buNone/>
            </a:pPr>
            <a:endParaRPr sz="900">
              <a:latin typeface="Verizon NHG TX"/>
              <a:ea typeface="Verizon NHG TX"/>
              <a:cs typeface="Verizon NHG TX"/>
              <a:sym typeface="Verizon NHG TX"/>
            </a:endParaRPr>
          </a:p>
        </p:txBody>
      </p:sp>
      <p:cxnSp>
        <p:nvCxnSpPr>
          <p:cNvPr id="211" name="Google Shape;211;p34"/>
          <p:cNvCxnSpPr>
            <a:stCxn id="205" idx="2"/>
            <a:endCxn id="207" idx="0"/>
          </p:cNvCxnSpPr>
          <p:nvPr/>
        </p:nvCxnSpPr>
        <p:spPr>
          <a:xfrm rot="5400000">
            <a:off x="3973650" y="1949025"/>
            <a:ext cx="513000" cy="1200"/>
          </a:xfrm>
          <a:prstGeom prst="bentConnector3">
            <a:avLst>
              <a:gd name="adj1" fmla="val 50000"/>
            </a:avLst>
          </a:prstGeom>
          <a:noFill/>
          <a:ln w="9525" cap="flat" cmpd="sng">
            <a:solidFill>
              <a:schemeClr val="dk2"/>
            </a:solidFill>
            <a:prstDash val="solid"/>
            <a:round/>
            <a:headEnd type="none" w="med" len="med"/>
            <a:tailEnd type="none" w="med" len="med"/>
          </a:ln>
        </p:spPr>
      </p:cxnSp>
      <p:sp>
        <p:nvSpPr>
          <p:cNvPr id="212" name="Google Shape;212;p34"/>
          <p:cNvSpPr/>
          <p:nvPr/>
        </p:nvSpPr>
        <p:spPr>
          <a:xfrm>
            <a:off x="3142175" y="2206125"/>
            <a:ext cx="2174700" cy="1857600"/>
          </a:xfrm>
          <a:prstGeom prst="roundRect">
            <a:avLst>
              <a:gd name="adj" fmla="val 16667"/>
            </a:avLst>
          </a:prstGeom>
          <a:noFill/>
          <a:ln w="38100" cap="flat" cmpd="sng">
            <a:solidFill>
              <a:srgbClr val="FF0000"/>
            </a:solidFill>
            <a:prstDash val="solid"/>
            <a:round/>
            <a:headEnd type="none" w="sm" len="sm"/>
            <a:tailEnd type="none" w="sm" len="sm"/>
          </a:ln>
          <a:effectLst>
            <a:outerShdw blurRad="57150" dist="19050" dir="5400000" algn="bl" rotWithShape="0">
              <a:srgbClr val="FFFFFF"/>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34"/>
          <p:cNvSpPr/>
          <p:nvPr/>
        </p:nvSpPr>
        <p:spPr>
          <a:xfrm>
            <a:off x="457200" y="4349307"/>
            <a:ext cx="8229600" cy="2769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200" b="1">
                <a:solidFill>
                  <a:srgbClr val="FFFFFF"/>
                </a:solidFill>
                <a:latin typeface="Verizon NHG TX"/>
                <a:ea typeface="Verizon NHG TX"/>
                <a:cs typeface="Verizon NHG TX"/>
                <a:sym typeface="Verizon NHG TX"/>
              </a:rPr>
              <a:t>KTLO (“Keep The Lights On”) efforts is the focus of our discussion today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
        <p:nvSpPr>
          <p:cNvPr id="219" name="Google Shape;219;p35"/>
          <p:cNvSpPr txBox="1">
            <a:spLocks noGrp="1"/>
          </p:cNvSpPr>
          <p:nvPr>
            <p:ph type="title"/>
          </p:nvPr>
        </p:nvSpPr>
        <p:spPr>
          <a:xfrm>
            <a:off x="457200" y="590550"/>
            <a:ext cx="7086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Arial"/>
              <a:buNone/>
            </a:pPr>
            <a:r>
              <a:rPr lang="en-US"/>
              <a:t>Contracted KTLO efforts for Cluster D -  SOW 2</a:t>
            </a:r>
            <a:endParaRPr/>
          </a:p>
        </p:txBody>
      </p:sp>
      <p:sp>
        <p:nvSpPr>
          <p:cNvPr id="220" name="Google Shape;220;p35"/>
          <p:cNvSpPr txBox="1"/>
          <p:nvPr/>
        </p:nvSpPr>
        <p:spPr>
          <a:xfrm>
            <a:off x="477144" y="407703"/>
            <a:ext cx="8723100" cy="365700"/>
          </a:xfrm>
          <a:prstGeom prst="rect">
            <a:avLst/>
          </a:prstGeom>
          <a:noFill/>
          <a:ln>
            <a:noFill/>
          </a:ln>
        </p:spPr>
        <p:txBody>
          <a:bodyPr spcFirstLastPara="1" wrap="square" lIns="0" tIns="0" rIns="0" bIns="0" anchor="t" anchorCtr="0">
            <a:noAutofit/>
          </a:bodyPr>
          <a:lstStyle/>
          <a:p>
            <a:pPr marL="0" marR="0" lvl="0" indent="0" algn="l" rtl="0">
              <a:lnSpc>
                <a:spcPct val="80000"/>
              </a:lnSpc>
              <a:spcBef>
                <a:spcPts val="0"/>
              </a:spcBef>
              <a:spcAft>
                <a:spcPts val="0"/>
              </a:spcAft>
              <a:buClr>
                <a:schemeClr val="dk1"/>
              </a:buClr>
              <a:buSzPts val="1800"/>
              <a:buFont typeface="Arial"/>
              <a:buNone/>
            </a:pPr>
            <a:endParaRPr sz="1800" b="1">
              <a:solidFill>
                <a:srgbClr val="3F3F3F"/>
              </a:solidFill>
              <a:latin typeface="Calibri"/>
              <a:ea typeface="Calibri"/>
              <a:cs typeface="Calibri"/>
              <a:sym typeface="Calibri"/>
            </a:endParaRPr>
          </a:p>
        </p:txBody>
      </p:sp>
      <p:pic>
        <p:nvPicPr>
          <p:cNvPr id="221" name="Google Shape;221;p35"/>
          <p:cNvPicPr preferRelativeResize="0"/>
          <p:nvPr/>
        </p:nvPicPr>
        <p:blipFill>
          <a:blip r:embed="rId3">
            <a:alphaModFix/>
          </a:blip>
          <a:stretch>
            <a:fillRect/>
          </a:stretch>
        </p:blipFill>
        <p:spPr>
          <a:xfrm>
            <a:off x="152400" y="1811054"/>
            <a:ext cx="8839200" cy="1086485"/>
          </a:xfrm>
          <a:prstGeom prst="rect">
            <a:avLst/>
          </a:prstGeom>
          <a:noFill/>
          <a:ln>
            <a:noFill/>
          </a:ln>
        </p:spPr>
      </p:pic>
      <p:sp>
        <p:nvSpPr>
          <p:cNvPr id="222" name="Google Shape;222;p35"/>
          <p:cNvSpPr/>
          <p:nvPr/>
        </p:nvSpPr>
        <p:spPr>
          <a:xfrm>
            <a:off x="1954875" y="1678850"/>
            <a:ext cx="1676700" cy="1329300"/>
          </a:xfrm>
          <a:prstGeom prst="roundRect">
            <a:avLst>
              <a:gd name="adj" fmla="val 16667"/>
            </a:avLst>
          </a:prstGeom>
          <a:noFill/>
          <a:ln w="38100" cap="flat" cmpd="sng">
            <a:solidFill>
              <a:srgbClr val="FF0000"/>
            </a:solidFill>
            <a:prstDash val="solid"/>
            <a:round/>
            <a:headEnd type="none" w="sm" len="sm"/>
            <a:tailEnd type="none" w="sm" len="sm"/>
          </a:ln>
          <a:effectLst>
            <a:outerShdw blurRad="57150" dist="19050" dir="5400000" algn="bl" rotWithShape="0">
              <a:srgbClr val="FFFFFF"/>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36"/>
          <p:cNvSpPr/>
          <p:nvPr/>
        </p:nvSpPr>
        <p:spPr>
          <a:xfrm>
            <a:off x="224825" y="3794475"/>
            <a:ext cx="1412400" cy="8763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36"/>
          <p:cNvSpPr txBox="1">
            <a:spLocks noGrp="1"/>
          </p:cNvSpPr>
          <p:nvPr>
            <p:ph type="body" idx="1"/>
          </p:nvPr>
        </p:nvSpPr>
        <p:spPr>
          <a:xfrm>
            <a:off x="6018798" y="1003525"/>
            <a:ext cx="2689500" cy="1301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Verizon NHG TX"/>
              <a:buNone/>
            </a:pPr>
            <a:r>
              <a:rPr lang="en-US"/>
              <a:t>Operational Support</a:t>
            </a:r>
            <a:endParaRPr/>
          </a:p>
          <a:p>
            <a:pPr marL="0" lvl="0" indent="0" algn="l" rtl="0">
              <a:lnSpc>
                <a:spcPct val="100000"/>
              </a:lnSpc>
              <a:spcBef>
                <a:spcPts val="900"/>
              </a:spcBef>
              <a:spcAft>
                <a:spcPts val="0"/>
              </a:spcAft>
              <a:buClr>
                <a:schemeClr val="dk1"/>
              </a:buClr>
              <a:buSzPts val="1100"/>
              <a:buFont typeface="Arial"/>
              <a:buNone/>
            </a:pPr>
            <a:r>
              <a:rPr lang="en-US" sz="900" b="0"/>
              <a:t>Operational Support Services</a:t>
            </a:r>
            <a:endParaRPr sz="900" b="0"/>
          </a:p>
          <a:p>
            <a:pPr marL="0" lvl="0" indent="0" algn="l" rtl="0">
              <a:lnSpc>
                <a:spcPct val="100000"/>
              </a:lnSpc>
              <a:spcBef>
                <a:spcPts val="900"/>
              </a:spcBef>
              <a:spcAft>
                <a:spcPts val="0"/>
              </a:spcAft>
              <a:buClr>
                <a:schemeClr val="dk1"/>
              </a:buClr>
              <a:buSzPts val="1100"/>
              <a:buFont typeface="Arial"/>
              <a:buNone/>
            </a:pPr>
            <a:r>
              <a:rPr lang="en-US" sz="900" b="0"/>
              <a:t>Capacity Management</a:t>
            </a:r>
            <a:endParaRPr sz="900" b="0"/>
          </a:p>
          <a:p>
            <a:pPr marL="0" lvl="0" indent="0" algn="l" rtl="0">
              <a:lnSpc>
                <a:spcPct val="100000"/>
              </a:lnSpc>
              <a:spcBef>
                <a:spcPts val="900"/>
              </a:spcBef>
              <a:spcAft>
                <a:spcPts val="0"/>
              </a:spcAft>
              <a:buClr>
                <a:schemeClr val="dk1"/>
              </a:buClr>
              <a:buSzPts val="1100"/>
              <a:buFont typeface="Arial"/>
              <a:buNone/>
            </a:pPr>
            <a:r>
              <a:rPr lang="en-US" sz="900" b="0">
                <a:highlight>
                  <a:srgbClr val="FFFFFF"/>
                </a:highlight>
              </a:rPr>
              <a:t>Application Operations Incident Management</a:t>
            </a:r>
            <a:endParaRPr sz="900" b="0">
              <a:highlight>
                <a:srgbClr val="FFFFFF"/>
              </a:highlight>
            </a:endParaRPr>
          </a:p>
          <a:p>
            <a:pPr marL="0" lvl="0" indent="0" algn="l" rtl="0">
              <a:lnSpc>
                <a:spcPct val="100000"/>
              </a:lnSpc>
              <a:spcBef>
                <a:spcPts val="900"/>
              </a:spcBef>
              <a:spcAft>
                <a:spcPts val="0"/>
              </a:spcAft>
              <a:buClr>
                <a:schemeClr val="dk1"/>
              </a:buClr>
              <a:buSzPts val="1100"/>
              <a:buFont typeface="Arial"/>
              <a:buNone/>
            </a:pPr>
            <a:r>
              <a:rPr lang="en-US" sz="900" b="0"/>
              <a:t>Service Request and Trouble Ticket Management</a:t>
            </a:r>
            <a:endParaRPr sz="900" b="0"/>
          </a:p>
          <a:p>
            <a:pPr marL="0" lvl="0" indent="0" algn="l" rtl="0">
              <a:lnSpc>
                <a:spcPct val="100000"/>
              </a:lnSpc>
              <a:spcBef>
                <a:spcPts val="900"/>
              </a:spcBef>
              <a:spcAft>
                <a:spcPts val="0"/>
              </a:spcAft>
              <a:buClr>
                <a:schemeClr val="dk1"/>
              </a:buClr>
              <a:buSzPts val="1100"/>
              <a:buFont typeface="Arial"/>
              <a:buNone/>
            </a:pPr>
            <a:r>
              <a:rPr lang="en-US" sz="900" b="0">
                <a:highlight>
                  <a:srgbClr val="FFFFFF"/>
                </a:highlight>
              </a:rPr>
              <a:t>      a. Incident and Problem Management</a:t>
            </a:r>
            <a:endParaRPr sz="900" b="0">
              <a:highlight>
                <a:srgbClr val="FFFFFF"/>
              </a:highlight>
            </a:endParaRPr>
          </a:p>
          <a:p>
            <a:pPr marL="0" lvl="0" indent="0" algn="l" rtl="0">
              <a:lnSpc>
                <a:spcPct val="100000"/>
              </a:lnSpc>
              <a:spcBef>
                <a:spcPts val="900"/>
              </a:spcBef>
              <a:spcAft>
                <a:spcPts val="0"/>
              </a:spcAft>
              <a:buClr>
                <a:schemeClr val="dk1"/>
              </a:buClr>
              <a:buSzPts val="1100"/>
              <a:buFont typeface="Arial"/>
              <a:buNone/>
            </a:pPr>
            <a:r>
              <a:rPr lang="en-US" sz="900" b="0"/>
              <a:t>      b. Self Help Services</a:t>
            </a:r>
            <a:endParaRPr sz="900" b="0"/>
          </a:p>
          <a:p>
            <a:pPr marL="0" lvl="0" indent="0" algn="l" rtl="0">
              <a:lnSpc>
                <a:spcPct val="100000"/>
              </a:lnSpc>
              <a:spcBef>
                <a:spcPts val="900"/>
              </a:spcBef>
              <a:spcAft>
                <a:spcPts val="0"/>
              </a:spcAft>
              <a:buClr>
                <a:schemeClr val="dk1"/>
              </a:buClr>
              <a:buSzPts val="1100"/>
              <a:buFont typeface="Arial"/>
              <a:buNone/>
            </a:pPr>
            <a:r>
              <a:rPr lang="en-US" sz="900" b="0"/>
              <a:t>      c. Support to Verizon’s Help Desk</a:t>
            </a:r>
            <a:endParaRPr sz="900" b="0"/>
          </a:p>
          <a:p>
            <a:pPr marL="0" lvl="0" indent="0" algn="l" rtl="0">
              <a:lnSpc>
                <a:spcPct val="100000"/>
              </a:lnSpc>
              <a:spcBef>
                <a:spcPts val="900"/>
              </a:spcBef>
              <a:spcAft>
                <a:spcPts val="0"/>
              </a:spcAft>
              <a:buClr>
                <a:schemeClr val="dk1"/>
              </a:buClr>
              <a:buSzPts val="1100"/>
              <a:buFont typeface="Arial"/>
              <a:buNone/>
            </a:pPr>
            <a:r>
              <a:rPr lang="en-US" sz="900" b="0"/>
              <a:t>      d. Notifications to Business Users</a:t>
            </a:r>
            <a:endParaRPr sz="900" b="0"/>
          </a:p>
          <a:p>
            <a:pPr marL="0" lvl="0" indent="0" algn="l" rtl="0">
              <a:lnSpc>
                <a:spcPct val="100000"/>
              </a:lnSpc>
              <a:spcBef>
                <a:spcPts val="900"/>
              </a:spcBef>
              <a:spcAft>
                <a:spcPts val="0"/>
              </a:spcAft>
              <a:buClr>
                <a:schemeClr val="dk1"/>
              </a:buClr>
              <a:buSzPts val="1100"/>
              <a:buFont typeface="Arial"/>
              <a:buNone/>
            </a:pPr>
            <a:r>
              <a:rPr lang="en-US" sz="900" b="0">
                <a:highlight>
                  <a:srgbClr val="FFFFFF"/>
                </a:highlight>
              </a:rPr>
              <a:t>      e. Service Request Management</a:t>
            </a:r>
            <a:endParaRPr sz="900" b="0">
              <a:highlight>
                <a:srgbClr val="FFFFFF"/>
              </a:highlight>
            </a:endParaRPr>
          </a:p>
          <a:p>
            <a:pPr marL="0" lvl="0" indent="0" algn="l" rtl="0">
              <a:lnSpc>
                <a:spcPct val="100000"/>
              </a:lnSpc>
              <a:spcBef>
                <a:spcPts val="900"/>
              </a:spcBef>
              <a:spcAft>
                <a:spcPts val="0"/>
              </a:spcAft>
              <a:buClr>
                <a:schemeClr val="dk1"/>
              </a:buClr>
              <a:buSzPts val="1100"/>
              <a:buFont typeface="Arial"/>
              <a:buNone/>
            </a:pPr>
            <a:r>
              <a:rPr lang="en-US" sz="900" b="0">
                <a:highlight>
                  <a:srgbClr val="FFFFFF"/>
                </a:highlight>
              </a:rPr>
              <a:t>Minor enhancements development</a:t>
            </a:r>
            <a:endParaRPr sz="900" b="0">
              <a:highlight>
                <a:srgbClr val="FFFFFF"/>
              </a:highlight>
            </a:endParaRPr>
          </a:p>
          <a:p>
            <a:pPr marL="0" marR="0" lvl="0" indent="0" algn="l" rtl="0">
              <a:lnSpc>
                <a:spcPct val="100000"/>
              </a:lnSpc>
              <a:spcBef>
                <a:spcPts val="900"/>
              </a:spcBef>
              <a:spcAft>
                <a:spcPts val="0"/>
              </a:spcAft>
              <a:buClr>
                <a:schemeClr val="dk1"/>
              </a:buClr>
              <a:buSzPts val="1100"/>
              <a:buFont typeface="Arial"/>
              <a:buNone/>
            </a:pPr>
            <a:r>
              <a:rPr lang="en-US" sz="900" b="0">
                <a:highlight>
                  <a:srgbClr val="FFFFFF"/>
                </a:highlight>
              </a:rPr>
              <a:t>Security and Compliance Maintenance</a:t>
            </a:r>
            <a:endParaRPr sz="900" b="0">
              <a:highlight>
                <a:srgbClr val="FFFFFF"/>
              </a:highlight>
            </a:endParaRPr>
          </a:p>
          <a:p>
            <a:pPr marL="0" marR="0" lvl="0" indent="0" algn="l" rtl="0">
              <a:lnSpc>
                <a:spcPct val="100000"/>
              </a:lnSpc>
              <a:spcBef>
                <a:spcPts val="900"/>
              </a:spcBef>
              <a:spcAft>
                <a:spcPts val="0"/>
              </a:spcAft>
              <a:buClr>
                <a:schemeClr val="dk1"/>
              </a:buClr>
              <a:buSzPts val="1100"/>
              <a:buFont typeface="Arial"/>
              <a:buNone/>
            </a:pPr>
            <a:r>
              <a:rPr lang="en-US" sz="900" b="0">
                <a:highlight>
                  <a:srgbClr val="FFFFFF"/>
                </a:highlight>
              </a:rPr>
              <a:t>Security Management</a:t>
            </a:r>
            <a:endParaRPr sz="900" b="0">
              <a:highlight>
                <a:srgbClr val="FFFFFF"/>
              </a:highlight>
            </a:endParaRPr>
          </a:p>
          <a:p>
            <a:pPr marL="0" marR="0" lvl="0" indent="0" algn="l" rtl="0">
              <a:lnSpc>
                <a:spcPct val="100000"/>
              </a:lnSpc>
              <a:spcBef>
                <a:spcPts val="900"/>
              </a:spcBef>
              <a:spcAft>
                <a:spcPts val="0"/>
              </a:spcAft>
              <a:buClr>
                <a:schemeClr val="dk1"/>
              </a:buClr>
              <a:buSzPts val="1100"/>
              <a:buFont typeface="Arial"/>
              <a:buNone/>
            </a:pPr>
            <a:r>
              <a:rPr lang="en-US" sz="900" b="0"/>
              <a:t>Availability Management</a:t>
            </a:r>
            <a:endParaRPr sz="900" b="0"/>
          </a:p>
          <a:p>
            <a:pPr marL="0" lvl="0" indent="0" algn="l" rtl="0">
              <a:lnSpc>
                <a:spcPct val="100000"/>
              </a:lnSpc>
              <a:spcBef>
                <a:spcPts val="900"/>
              </a:spcBef>
              <a:spcAft>
                <a:spcPts val="0"/>
              </a:spcAft>
              <a:buClr>
                <a:schemeClr val="dk1"/>
              </a:buClr>
              <a:buSzPts val="1100"/>
              <a:buFont typeface="Arial"/>
              <a:buNone/>
            </a:pPr>
            <a:endParaRPr/>
          </a:p>
          <a:p>
            <a:pPr marL="0" lvl="1" indent="0" algn="l" rtl="0">
              <a:lnSpc>
                <a:spcPct val="100000"/>
              </a:lnSpc>
              <a:spcBef>
                <a:spcPts val="900"/>
              </a:spcBef>
              <a:spcAft>
                <a:spcPts val="0"/>
              </a:spcAft>
              <a:buClr>
                <a:schemeClr val="dk1"/>
              </a:buClr>
              <a:buSzPts val="1200"/>
              <a:buFont typeface="Verizon NHG TX"/>
              <a:buNone/>
            </a:pPr>
            <a:endParaRPr/>
          </a:p>
        </p:txBody>
      </p:sp>
      <p:sp>
        <p:nvSpPr>
          <p:cNvPr id="230" name="Google Shape;230;p36"/>
          <p:cNvSpPr txBox="1">
            <a:spLocks noGrp="1"/>
          </p:cNvSpPr>
          <p:nvPr>
            <p:ph type="body" idx="2"/>
          </p:nvPr>
        </p:nvSpPr>
        <p:spPr>
          <a:xfrm>
            <a:off x="2983425" y="1003525"/>
            <a:ext cx="2689500" cy="1301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dk1"/>
              </a:buClr>
              <a:buSzPts val="1200"/>
              <a:buFont typeface="Verizon NHG TX"/>
              <a:buNone/>
            </a:pPr>
            <a:r>
              <a:rPr lang="en-US"/>
              <a:t>Production Control and Scheduling</a:t>
            </a:r>
            <a:endParaRPr/>
          </a:p>
          <a:p>
            <a:pPr marL="0" lvl="0" indent="0" algn="l" rtl="0">
              <a:spcBef>
                <a:spcPts val="900"/>
              </a:spcBef>
              <a:spcAft>
                <a:spcPts val="0"/>
              </a:spcAft>
              <a:buClr>
                <a:schemeClr val="dk1"/>
              </a:buClr>
              <a:buSzPts val="1100"/>
              <a:buFont typeface="Arial"/>
              <a:buNone/>
            </a:pPr>
            <a:r>
              <a:rPr lang="en-US" sz="900" b="0"/>
              <a:t>Business Resiliency / Disaster Recovery</a:t>
            </a:r>
            <a:endParaRPr sz="900" b="0"/>
          </a:p>
          <a:p>
            <a:pPr marL="0" lvl="0" indent="0" algn="l" rtl="0">
              <a:spcBef>
                <a:spcPts val="900"/>
              </a:spcBef>
              <a:spcAft>
                <a:spcPts val="0"/>
              </a:spcAft>
              <a:buClr>
                <a:schemeClr val="dk1"/>
              </a:buClr>
              <a:buSzPts val="1100"/>
              <a:buFont typeface="Arial"/>
              <a:buNone/>
            </a:pPr>
            <a:r>
              <a:rPr lang="en-US" sz="900" b="0"/>
              <a:t>Monitoring</a:t>
            </a:r>
            <a:endParaRPr sz="900" b="0"/>
          </a:p>
          <a:p>
            <a:pPr marL="0" lvl="0" indent="0" algn="l" rtl="0">
              <a:spcBef>
                <a:spcPts val="900"/>
              </a:spcBef>
              <a:spcAft>
                <a:spcPts val="0"/>
              </a:spcAft>
              <a:buClr>
                <a:schemeClr val="dk1"/>
              </a:buClr>
              <a:buSzPts val="1100"/>
              <a:buFont typeface="Arial"/>
              <a:buNone/>
            </a:pPr>
            <a:r>
              <a:rPr lang="en-US" sz="900" b="0"/>
              <a:t>Special services</a:t>
            </a:r>
            <a:endParaRPr sz="900" b="0"/>
          </a:p>
          <a:p>
            <a:pPr marL="0" lvl="0" indent="0" algn="l" rtl="0">
              <a:spcBef>
                <a:spcPts val="900"/>
              </a:spcBef>
              <a:spcAft>
                <a:spcPts val="0"/>
              </a:spcAft>
              <a:buClr>
                <a:schemeClr val="dk1"/>
              </a:buClr>
              <a:buSzPts val="1100"/>
              <a:buFont typeface="Arial"/>
              <a:buNone/>
            </a:pPr>
            <a:r>
              <a:rPr lang="en-US" sz="900" b="0"/>
              <a:t> - User Support/Ticket Management </a:t>
            </a:r>
            <a:endParaRPr sz="900" b="0"/>
          </a:p>
          <a:p>
            <a:pPr marL="0" lvl="0" indent="0" algn="l" rtl="0">
              <a:spcBef>
                <a:spcPts val="900"/>
              </a:spcBef>
              <a:spcAft>
                <a:spcPts val="0"/>
              </a:spcAft>
              <a:buClr>
                <a:schemeClr val="dk1"/>
              </a:buClr>
              <a:buSzPts val="1100"/>
              <a:buFont typeface="Arial"/>
              <a:buNone/>
            </a:pPr>
            <a:r>
              <a:rPr lang="en-US" sz="900" b="0"/>
              <a:t> - Data Archive / Cleanup </a:t>
            </a:r>
            <a:endParaRPr sz="900" b="0"/>
          </a:p>
          <a:p>
            <a:pPr marL="0" lvl="0" indent="0" algn="l" rtl="0">
              <a:spcBef>
                <a:spcPts val="900"/>
              </a:spcBef>
              <a:spcAft>
                <a:spcPts val="0"/>
              </a:spcAft>
              <a:buClr>
                <a:schemeClr val="dk1"/>
              </a:buClr>
              <a:buSzPts val="1100"/>
              <a:buFont typeface="Arial"/>
              <a:buNone/>
            </a:pPr>
            <a:r>
              <a:rPr lang="en-US" sz="900" b="0"/>
              <a:t> - Configuration Management </a:t>
            </a:r>
            <a:endParaRPr sz="900" b="0"/>
          </a:p>
          <a:p>
            <a:pPr marL="0" lvl="0" indent="0" algn="l" rtl="0">
              <a:spcBef>
                <a:spcPts val="900"/>
              </a:spcBef>
              <a:spcAft>
                <a:spcPts val="0"/>
              </a:spcAft>
              <a:buClr>
                <a:schemeClr val="dk1"/>
              </a:buClr>
              <a:buSzPts val="1100"/>
              <a:buFont typeface="Arial"/>
              <a:buNone/>
            </a:pPr>
            <a:r>
              <a:rPr lang="en-US" sz="900" b="0">
                <a:highlight>
                  <a:srgbClr val="FFFFFF"/>
                </a:highlight>
              </a:rPr>
              <a:t> - Performance Management </a:t>
            </a:r>
            <a:endParaRPr sz="900" b="0">
              <a:highlight>
                <a:srgbClr val="FFFFFF"/>
              </a:highlight>
            </a:endParaRPr>
          </a:p>
          <a:p>
            <a:pPr marL="0" lvl="0" indent="0" algn="l" rtl="0">
              <a:spcBef>
                <a:spcPts val="900"/>
              </a:spcBef>
              <a:spcAft>
                <a:spcPts val="0"/>
              </a:spcAft>
              <a:buClr>
                <a:schemeClr val="dk1"/>
              </a:buClr>
              <a:buSzPts val="1100"/>
              <a:buFont typeface="Arial"/>
              <a:buNone/>
            </a:pPr>
            <a:r>
              <a:rPr lang="en-US" sz="900" b="0"/>
              <a:t> - Vendor Management</a:t>
            </a:r>
            <a:endParaRPr sz="900" b="0"/>
          </a:p>
          <a:p>
            <a:pPr marL="0" lvl="0" indent="0" algn="l" rtl="0">
              <a:spcBef>
                <a:spcPts val="900"/>
              </a:spcBef>
              <a:spcAft>
                <a:spcPts val="0"/>
              </a:spcAft>
              <a:buClr>
                <a:schemeClr val="dk1"/>
              </a:buClr>
              <a:buSzPts val="1100"/>
              <a:buFont typeface="Arial"/>
              <a:buNone/>
            </a:pPr>
            <a:r>
              <a:rPr lang="en-US" sz="900" b="0"/>
              <a:t>Production Database</a:t>
            </a:r>
            <a:endParaRPr sz="900" b="0"/>
          </a:p>
          <a:p>
            <a:pPr marL="0" lvl="0" indent="0" algn="l" rtl="0">
              <a:spcBef>
                <a:spcPts val="900"/>
              </a:spcBef>
              <a:spcAft>
                <a:spcPts val="0"/>
              </a:spcAft>
              <a:buClr>
                <a:schemeClr val="dk1"/>
              </a:buClr>
              <a:buSzPts val="1100"/>
              <a:buFont typeface="Arial"/>
              <a:buNone/>
            </a:pPr>
            <a:r>
              <a:rPr lang="en-US" sz="900" b="0"/>
              <a:t> - Application Database Support</a:t>
            </a:r>
            <a:endParaRPr sz="900" b="0"/>
          </a:p>
          <a:p>
            <a:pPr marL="0" lvl="0" indent="0" algn="l" rtl="0">
              <a:spcBef>
                <a:spcPts val="900"/>
              </a:spcBef>
              <a:spcAft>
                <a:spcPts val="0"/>
              </a:spcAft>
              <a:buClr>
                <a:schemeClr val="dk1"/>
              </a:buClr>
              <a:buSzPts val="1100"/>
              <a:buFont typeface="Arial"/>
              <a:buNone/>
            </a:pPr>
            <a:r>
              <a:rPr lang="en-US" sz="900" b="0"/>
              <a:t> - Crisis Management Desk (CMD) Support </a:t>
            </a:r>
            <a:endParaRPr sz="900" b="0"/>
          </a:p>
          <a:p>
            <a:pPr marL="0" lvl="0" indent="0" algn="l" rtl="0">
              <a:spcBef>
                <a:spcPts val="900"/>
              </a:spcBef>
              <a:spcAft>
                <a:spcPts val="0"/>
              </a:spcAft>
              <a:buClr>
                <a:schemeClr val="dk1"/>
              </a:buClr>
              <a:buSzPts val="1100"/>
              <a:buFont typeface="Arial"/>
              <a:buNone/>
            </a:pPr>
            <a:r>
              <a:rPr lang="en-US" sz="900" b="0"/>
              <a:t> - Change Activity (Cas) Support </a:t>
            </a:r>
            <a:endParaRPr sz="900" b="0"/>
          </a:p>
          <a:p>
            <a:pPr marL="0" lvl="0" indent="0" algn="l" rtl="0">
              <a:spcBef>
                <a:spcPts val="900"/>
              </a:spcBef>
              <a:spcAft>
                <a:spcPts val="0"/>
              </a:spcAft>
              <a:buClr>
                <a:schemeClr val="dk1"/>
              </a:buClr>
              <a:buSzPts val="1100"/>
              <a:buFont typeface="Arial"/>
              <a:buNone/>
            </a:pPr>
            <a:r>
              <a:rPr lang="en-US" sz="900" b="0"/>
              <a:t> - Post Release Health Monitoring</a:t>
            </a:r>
            <a:endParaRPr sz="900" b="0"/>
          </a:p>
          <a:p>
            <a:pPr marL="0" lvl="1" indent="0" algn="l" rtl="0">
              <a:lnSpc>
                <a:spcPct val="100000"/>
              </a:lnSpc>
              <a:spcBef>
                <a:spcPts val="900"/>
              </a:spcBef>
              <a:spcAft>
                <a:spcPts val="0"/>
              </a:spcAft>
              <a:buClr>
                <a:schemeClr val="dk1"/>
              </a:buClr>
              <a:buSzPts val="1200"/>
              <a:buFont typeface="Verizon NHG TX"/>
              <a:buNone/>
            </a:pPr>
            <a:endParaRPr/>
          </a:p>
        </p:txBody>
      </p:sp>
      <p:sp>
        <p:nvSpPr>
          <p:cNvPr id="231" name="Google Shape;231;p36"/>
          <p:cNvSpPr txBox="1">
            <a:spLocks noGrp="1"/>
          </p:cNvSpPr>
          <p:nvPr>
            <p:ph type="body" idx="3"/>
          </p:nvPr>
        </p:nvSpPr>
        <p:spPr>
          <a:xfrm>
            <a:off x="457200" y="1003525"/>
            <a:ext cx="2689500" cy="13014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1200"/>
              <a:buFont typeface="Verizon NHG TX"/>
              <a:buNone/>
            </a:pPr>
            <a:r>
              <a:rPr lang="en-US"/>
              <a:t>Application Maintenance</a:t>
            </a:r>
            <a:endParaRPr/>
          </a:p>
          <a:p>
            <a:pPr marL="0" marR="0" lvl="1" indent="0" algn="l" rtl="0">
              <a:lnSpc>
                <a:spcPct val="100000"/>
              </a:lnSpc>
              <a:spcBef>
                <a:spcPts val="900"/>
              </a:spcBef>
              <a:spcAft>
                <a:spcPts val="0"/>
              </a:spcAft>
              <a:buClr>
                <a:schemeClr val="dk1"/>
              </a:buClr>
              <a:buSzPts val="1200"/>
              <a:buFont typeface="Verizon NHG TX"/>
              <a:buNone/>
            </a:pPr>
            <a:r>
              <a:rPr lang="en-US" sz="900" b="0"/>
              <a:t>Corrective and Emergency Maintenance</a:t>
            </a:r>
            <a:endParaRPr sz="900" b="0"/>
          </a:p>
          <a:p>
            <a:pPr marL="0" marR="0" lvl="1" indent="0" algn="l" rtl="0">
              <a:lnSpc>
                <a:spcPct val="100000"/>
              </a:lnSpc>
              <a:spcBef>
                <a:spcPts val="900"/>
              </a:spcBef>
              <a:spcAft>
                <a:spcPts val="0"/>
              </a:spcAft>
              <a:buClr>
                <a:schemeClr val="dk1"/>
              </a:buClr>
              <a:buSzPts val="1200"/>
              <a:buFont typeface="Verizon NHG TX"/>
              <a:buNone/>
            </a:pPr>
            <a:r>
              <a:rPr lang="en-US" sz="900" b="0"/>
              <a:t>Preventive Maintenance</a:t>
            </a:r>
            <a:endParaRPr sz="900" b="0"/>
          </a:p>
          <a:p>
            <a:pPr marL="0" marR="0" lvl="1" indent="0" algn="l" rtl="0">
              <a:lnSpc>
                <a:spcPct val="100000"/>
              </a:lnSpc>
              <a:spcBef>
                <a:spcPts val="900"/>
              </a:spcBef>
              <a:spcAft>
                <a:spcPts val="0"/>
              </a:spcAft>
              <a:buClr>
                <a:schemeClr val="dk1"/>
              </a:buClr>
              <a:buSzPts val="1200"/>
              <a:buFont typeface="Verizon NHG TX"/>
              <a:buNone/>
            </a:pPr>
            <a:r>
              <a:rPr lang="en-US" sz="900" b="0"/>
              <a:t>Adaptive Maintenance</a:t>
            </a:r>
            <a:endParaRPr sz="900" b="0"/>
          </a:p>
          <a:p>
            <a:pPr marL="0" marR="0" lvl="1" indent="0" algn="l" rtl="0">
              <a:lnSpc>
                <a:spcPct val="100000"/>
              </a:lnSpc>
              <a:spcBef>
                <a:spcPts val="900"/>
              </a:spcBef>
              <a:spcAft>
                <a:spcPts val="0"/>
              </a:spcAft>
              <a:buClr>
                <a:schemeClr val="dk1"/>
              </a:buClr>
              <a:buSzPts val="1200"/>
              <a:buFont typeface="Verizon NHG TX"/>
              <a:buNone/>
            </a:pPr>
            <a:r>
              <a:rPr lang="en-US" sz="900" b="0"/>
              <a:t>Perfective Maintenance</a:t>
            </a:r>
            <a:endParaRPr sz="900" b="0"/>
          </a:p>
          <a:p>
            <a:pPr marL="0" marR="0" lvl="1" indent="0" algn="l" rtl="0">
              <a:lnSpc>
                <a:spcPct val="100000"/>
              </a:lnSpc>
              <a:spcBef>
                <a:spcPts val="900"/>
              </a:spcBef>
              <a:spcAft>
                <a:spcPts val="0"/>
              </a:spcAft>
              <a:buClr>
                <a:schemeClr val="dk1"/>
              </a:buClr>
              <a:buSzPts val="1200"/>
              <a:buFont typeface="Verizon NHG TX"/>
              <a:buNone/>
            </a:pPr>
            <a:r>
              <a:rPr lang="en-US" sz="900" b="0">
                <a:highlight>
                  <a:srgbClr val="FFFFFF"/>
                </a:highlight>
              </a:rPr>
              <a:t>Application Optimizatio</a:t>
            </a:r>
            <a:r>
              <a:rPr lang="en-US" sz="900">
                <a:highlight>
                  <a:srgbClr val="FFFFFF"/>
                </a:highlight>
              </a:rPr>
              <a:t>n</a:t>
            </a:r>
            <a:endParaRPr sz="900">
              <a:highlight>
                <a:srgbClr val="FFFFFF"/>
              </a:highlight>
            </a:endParaRPr>
          </a:p>
          <a:p>
            <a:pPr marL="0" lvl="0" indent="0" algn="l" rtl="0">
              <a:lnSpc>
                <a:spcPct val="100000"/>
              </a:lnSpc>
              <a:spcBef>
                <a:spcPts val="900"/>
              </a:spcBef>
              <a:spcAft>
                <a:spcPts val="0"/>
              </a:spcAft>
              <a:buClr>
                <a:schemeClr val="dk1"/>
              </a:buClr>
              <a:buSzPts val="1100"/>
              <a:buFont typeface="Arial"/>
              <a:buNone/>
            </a:pPr>
            <a:endParaRPr/>
          </a:p>
          <a:p>
            <a:pPr marL="0" lvl="1" indent="0" algn="l" rtl="0">
              <a:lnSpc>
                <a:spcPct val="100000"/>
              </a:lnSpc>
              <a:spcBef>
                <a:spcPts val="900"/>
              </a:spcBef>
              <a:spcAft>
                <a:spcPts val="0"/>
              </a:spcAft>
              <a:buClr>
                <a:schemeClr val="dk1"/>
              </a:buClr>
              <a:buSzPts val="1200"/>
              <a:buFont typeface="Verizon NHG TX"/>
              <a:buNone/>
            </a:pPr>
            <a:endParaRPr/>
          </a:p>
        </p:txBody>
      </p:sp>
      <p:sp>
        <p:nvSpPr>
          <p:cNvPr id="232" name="Google Shape;232;p36"/>
          <p:cNvSpPr txBox="1">
            <a:spLocks noGrp="1"/>
          </p:cNvSpPr>
          <p:nvPr>
            <p:ph type="title"/>
          </p:nvPr>
        </p:nvSpPr>
        <p:spPr>
          <a:xfrm>
            <a:off x="457200" y="590550"/>
            <a:ext cx="8544000" cy="8763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Major Sections in SOW2</a:t>
            </a:r>
            <a:endParaRPr/>
          </a:p>
        </p:txBody>
      </p:sp>
      <p:sp>
        <p:nvSpPr>
          <p:cNvPr id="233" name="Google Shape;233;p3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pic>
        <p:nvPicPr>
          <p:cNvPr id="234" name="Google Shape;234;p36"/>
          <p:cNvPicPr preferRelativeResize="0"/>
          <p:nvPr/>
        </p:nvPicPr>
        <p:blipFill rotWithShape="1">
          <a:blip r:embed="rId3">
            <a:alphaModFix/>
          </a:blip>
          <a:srcRect/>
          <a:stretch/>
        </p:blipFill>
        <p:spPr>
          <a:xfrm>
            <a:off x="228600" y="2221617"/>
            <a:ext cx="228600" cy="228616"/>
          </a:xfrm>
          <a:prstGeom prst="rect">
            <a:avLst/>
          </a:prstGeom>
          <a:noFill/>
          <a:ln>
            <a:noFill/>
          </a:ln>
        </p:spPr>
      </p:pic>
      <p:pic>
        <p:nvPicPr>
          <p:cNvPr id="235" name="Google Shape;235;p36"/>
          <p:cNvPicPr preferRelativeResize="0"/>
          <p:nvPr/>
        </p:nvPicPr>
        <p:blipFill rotWithShape="1">
          <a:blip r:embed="rId3">
            <a:alphaModFix/>
          </a:blip>
          <a:srcRect/>
          <a:stretch/>
        </p:blipFill>
        <p:spPr>
          <a:xfrm>
            <a:off x="2754825" y="2750042"/>
            <a:ext cx="228600" cy="228616"/>
          </a:xfrm>
          <a:prstGeom prst="rect">
            <a:avLst/>
          </a:prstGeom>
          <a:noFill/>
          <a:ln>
            <a:noFill/>
          </a:ln>
        </p:spPr>
      </p:pic>
      <p:pic>
        <p:nvPicPr>
          <p:cNvPr id="236" name="Google Shape;236;p36"/>
          <p:cNvPicPr preferRelativeResize="0"/>
          <p:nvPr/>
        </p:nvPicPr>
        <p:blipFill rotWithShape="1">
          <a:blip r:embed="rId3">
            <a:alphaModFix/>
          </a:blip>
          <a:srcRect/>
          <a:stretch/>
        </p:blipFill>
        <p:spPr>
          <a:xfrm>
            <a:off x="5731550" y="1771567"/>
            <a:ext cx="228600" cy="228616"/>
          </a:xfrm>
          <a:prstGeom prst="rect">
            <a:avLst/>
          </a:prstGeom>
          <a:noFill/>
          <a:ln>
            <a:noFill/>
          </a:ln>
        </p:spPr>
      </p:pic>
      <p:pic>
        <p:nvPicPr>
          <p:cNvPr id="237" name="Google Shape;237;p36"/>
          <p:cNvPicPr preferRelativeResize="0"/>
          <p:nvPr/>
        </p:nvPicPr>
        <p:blipFill rotWithShape="1">
          <a:blip r:embed="rId3">
            <a:alphaModFix/>
          </a:blip>
          <a:srcRect/>
          <a:stretch/>
        </p:blipFill>
        <p:spPr>
          <a:xfrm>
            <a:off x="5960150" y="3270142"/>
            <a:ext cx="228600" cy="228616"/>
          </a:xfrm>
          <a:prstGeom prst="rect">
            <a:avLst/>
          </a:prstGeom>
          <a:noFill/>
          <a:ln>
            <a:noFill/>
          </a:ln>
        </p:spPr>
      </p:pic>
      <p:pic>
        <p:nvPicPr>
          <p:cNvPr id="238" name="Google Shape;238;p36"/>
          <p:cNvPicPr preferRelativeResize="0"/>
          <p:nvPr/>
        </p:nvPicPr>
        <p:blipFill rotWithShape="1">
          <a:blip r:embed="rId3">
            <a:alphaModFix/>
          </a:blip>
          <a:srcRect/>
          <a:stretch/>
        </p:blipFill>
        <p:spPr>
          <a:xfrm>
            <a:off x="5731563" y="2000167"/>
            <a:ext cx="228600" cy="228616"/>
          </a:xfrm>
          <a:prstGeom prst="rect">
            <a:avLst/>
          </a:prstGeom>
          <a:noFill/>
          <a:ln>
            <a:noFill/>
          </a:ln>
        </p:spPr>
      </p:pic>
      <p:pic>
        <p:nvPicPr>
          <p:cNvPr id="239" name="Google Shape;239;p36"/>
          <p:cNvPicPr preferRelativeResize="0"/>
          <p:nvPr/>
        </p:nvPicPr>
        <p:blipFill rotWithShape="1">
          <a:blip r:embed="rId3">
            <a:alphaModFix/>
          </a:blip>
          <a:srcRect/>
          <a:stretch/>
        </p:blipFill>
        <p:spPr>
          <a:xfrm>
            <a:off x="5790200" y="3507242"/>
            <a:ext cx="228600" cy="228616"/>
          </a:xfrm>
          <a:prstGeom prst="rect">
            <a:avLst/>
          </a:prstGeom>
          <a:noFill/>
          <a:ln>
            <a:noFill/>
          </a:ln>
        </p:spPr>
      </p:pic>
      <p:pic>
        <p:nvPicPr>
          <p:cNvPr id="240" name="Google Shape;240;p36"/>
          <p:cNvPicPr preferRelativeResize="0"/>
          <p:nvPr/>
        </p:nvPicPr>
        <p:blipFill rotWithShape="1">
          <a:blip r:embed="rId3">
            <a:alphaModFix/>
          </a:blip>
          <a:srcRect/>
          <a:stretch/>
        </p:blipFill>
        <p:spPr>
          <a:xfrm>
            <a:off x="5790200" y="3744342"/>
            <a:ext cx="228600" cy="228616"/>
          </a:xfrm>
          <a:prstGeom prst="rect">
            <a:avLst/>
          </a:prstGeom>
          <a:noFill/>
          <a:ln>
            <a:noFill/>
          </a:ln>
        </p:spPr>
      </p:pic>
      <p:pic>
        <p:nvPicPr>
          <p:cNvPr id="241" name="Google Shape;241;p36"/>
          <p:cNvPicPr preferRelativeResize="0"/>
          <p:nvPr/>
        </p:nvPicPr>
        <p:blipFill rotWithShape="1">
          <a:blip r:embed="rId3">
            <a:alphaModFix/>
          </a:blip>
          <a:srcRect/>
          <a:stretch/>
        </p:blipFill>
        <p:spPr>
          <a:xfrm>
            <a:off x="5790200" y="3955980"/>
            <a:ext cx="228600" cy="228616"/>
          </a:xfrm>
          <a:prstGeom prst="rect">
            <a:avLst/>
          </a:prstGeom>
          <a:noFill/>
          <a:ln>
            <a:noFill/>
          </a:ln>
        </p:spPr>
      </p:pic>
      <p:pic>
        <p:nvPicPr>
          <p:cNvPr id="242" name="Google Shape;242;p36"/>
          <p:cNvPicPr preferRelativeResize="0"/>
          <p:nvPr/>
        </p:nvPicPr>
        <p:blipFill rotWithShape="1">
          <a:blip r:embed="rId3">
            <a:alphaModFix/>
          </a:blip>
          <a:srcRect/>
          <a:stretch/>
        </p:blipFill>
        <p:spPr>
          <a:xfrm>
            <a:off x="228600" y="3867732"/>
            <a:ext cx="228600" cy="228616"/>
          </a:xfrm>
          <a:prstGeom prst="rect">
            <a:avLst/>
          </a:prstGeom>
          <a:noFill/>
          <a:ln>
            <a:noFill/>
          </a:ln>
        </p:spPr>
      </p:pic>
      <p:sp>
        <p:nvSpPr>
          <p:cNvPr id="243" name="Google Shape;243;p36"/>
          <p:cNvSpPr/>
          <p:nvPr/>
        </p:nvSpPr>
        <p:spPr>
          <a:xfrm>
            <a:off x="269701" y="4149500"/>
            <a:ext cx="146400" cy="146400"/>
          </a:xfrm>
          <a:prstGeom prst="ellipse">
            <a:avLst/>
          </a:prstGeom>
          <a:solidFill>
            <a:schemeClr val="accent4"/>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44" name="Google Shape;244;p36"/>
          <p:cNvSpPr txBox="1"/>
          <p:nvPr/>
        </p:nvSpPr>
        <p:spPr>
          <a:xfrm>
            <a:off x="406350" y="3867740"/>
            <a:ext cx="1657200" cy="2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a:latin typeface="Verizon NHG TX"/>
                <a:ea typeface="Verizon NHG TX"/>
                <a:cs typeface="Verizon NHG TX"/>
                <a:sym typeface="Verizon NHG TX"/>
              </a:rPr>
              <a:t>Could involve Development</a:t>
            </a:r>
            <a:endParaRPr sz="700">
              <a:latin typeface="Verizon NHG TX"/>
              <a:ea typeface="Verizon NHG TX"/>
              <a:cs typeface="Verizon NHG TX"/>
              <a:sym typeface="Verizon NHG TX"/>
            </a:endParaRPr>
          </a:p>
        </p:txBody>
      </p:sp>
      <p:sp>
        <p:nvSpPr>
          <p:cNvPr id="245" name="Google Shape;245;p36"/>
          <p:cNvSpPr txBox="1"/>
          <p:nvPr/>
        </p:nvSpPr>
        <p:spPr>
          <a:xfrm>
            <a:off x="406350" y="4096350"/>
            <a:ext cx="1657200" cy="2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a:latin typeface="Verizon NHG TX"/>
                <a:ea typeface="Verizon NHG TX"/>
                <a:cs typeface="Verizon NHG TX"/>
                <a:sym typeface="Verizon NHG TX"/>
              </a:rPr>
              <a:t>KTLO Efforts</a:t>
            </a:r>
            <a:endParaRPr sz="700">
              <a:latin typeface="Verizon NHG TX"/>
              <a:ea typeface="Verizon NHG TX"/>
              <a:cs typeface="Verizon NHG TX"/>
              <a:sym typeface="Verizon NHG TX"/>
            </a:endParaRPr>
          </a:p>
        </p:txBody>
      </p:sp>
      <p:sp>
        <p:nvSpPr>
          <p:cNvPr id="246" name="Google Shape;246;p36"/>
          <p:cNvSpPr/>
          <p:nvPr/>
        </p:nvSpPr>
        <p:spPr>
          <a:xfrm>
            <a:off x="269701" y="1504825"/>
            <a:ext cx="146400" cy="146400"/>
          </a:xfrm>
          <a:prstGeom prst="ellipse">
            <a:avLst/>
          </a:prstGeom>
          <a:solidFill>
            <a:schemeClr val="accent4"/>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47" name="Google Shape;247;p36"/>
          <p:cNvSpPr/>
          <p:nvPr/>
        </p:nvSpPr>
        <p:spPr>
          <a:xfrm>
            <a:off x="269701" y="1773050"/>
            <a:ext cx="146400" cy="146400"/>
          </a:xfrm>
          <a:prstGeom prst="ellipse">
            <a:avLst/>
          </a:prstGeom>
          <a:solidFill>
            <a:schemeClr val="accent4"/>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48" name="Google Shape;248;p36"/>
          <p:cNvSpPr/>
          <p:nvPr/>
        </p:nvSpPr>
        <p:spPr>
          <a:xfrm>
            <a:off x="269701" y="2041263"/>
            <a:ext cx="146400" cy="146400"/>
          </a:xfrm>
          <a:prstGeom prst="ellipse">
            <a:avLst/>
          </a:prstGeom>
          <a:solidFill>
            <a:schemeClr val="accent4"/>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49" name="Google Shape;249;p36"/>
          <p:cNvSpPr/>
          <p:nvPr/>
        </p:nvSpPr>
        <p:spPr>
          <a:xfrm>
            <a:off x="82201" y="2262725"/>
            <a:ext cx="146400" cy="146400"/>
          </a:xfrm>
          <a:prstGeom prst="ellipse">
            <a:avLst/>
          </a:prstGeom>
          <a:solidFill>
            <a:schemeClr val="accent4"/>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50" name="Google Shape;250;p36"/>
          <p:cNvSpPr/>
          <p:nvPr/>
        </p:nvSpPr>
        <p:spPr>
          <a:xfrm>
            <a:off x="2608426" y="2791150"/>
            <a:ext cx="146400" cy="146400"/>
          </a:xfrm>
          <a:prstGeom prst="ellipse">
            <a:avLst/>
          </a:prstGeom>
          <a:solidFill>
            <a:schemeClr val="accent4"/>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51" name="Google Shape;251;p36"/>
          <p:cNvSpPr/>
          <p:nvPr/>
        </p:nvSpPr>
        <p:spPr>
          <a:xfrm>
            <a:off x="5643801" y="3548350"/>
            <a:ext cx="146400" cy="146400"/>
          </a:xfrm>
          <a:prstGeom prst="ellipse">
            <a:avLst/>
          </a:prstGeom>
          <a:solidFill>
            <a:schemeClr val="accent4"/>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52" name="Google Shape;252;p36"/>
          <p:cNvSpPr/>
          <p:nvPr/>
        </p:nvSpPr>
        <p:spPr>
          <a:xfrm>
            <a:off x="5831301" y="1546013"/>
            <a:ext cx="146400" cy="146400"/>
          </a:xfrm>
          <a:prstGeom prst="ellipse">
            <a:avLst/>
          </a:prstGeom>
          <a:solidFill>
            <a:schemeClr val="accent4"/>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53" name="Google Shape;253;p36"/>
          <p:cNvSpPr/>
          <p:nvPr/>
        </p:nvSpPr>
        <p:spPr>
          <a:xfrm>
            <a:off x="5643801" y="3981450"/>
            <a:ext cx="146400" cy="146400"/>
          </a:xfrm>
          <a:prstGeom prst="ellipse">
            <a:avLst/>
          </a:prstGeom>
          <a:solidFill>
            <a:srgbClr val="674EA7"/>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54" name="Google Shape;254;p36"/>
          <p:cNvSpPr/>
          <p:nvPr/>
        </p:nvSpPr>
        <p:spPr>
          <a:xfrm>
            <a:off x="5643801" y="4254750"/>
            <a:ext cx="146400" cy="146400"/>
          </a:xfrm>
          <a:prstGeom prst="ellipse">
            <a:avLst/>
          </a:prstGeom>
          <a:solidFill>
            <a:srgbClr val="674EA7"/>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55" name="Google Shape;255;p36"/>
          <p:cNvSpPr/>
          <p:nvPr/>
        </p:nvSpPr>
        <p:spPr>
          <a:xfrm>
            <a:off x="269701" y="4365450"/>
            <a:ext cx="146400" cy="146400"/>
          </a:xfrm>
          <a:prstGeom prst="ellipse">
            <a:avLst/>
          </a:prstGeom>
          <a:solidFill>
            <a:srgbClr val="674EA7"/>
          </a:solidFill>
          <a:ln w="9525" cap="sq" cmpd="sng">
            <a:solidFill>
              <a:srgbClr val="00000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D52B1E"/>
              </a:solidFill>
              <a:latin typeface="Verizon NHG TX"/>
              <a:ea typeface="Verizon NHG TX"/>
              <a:cs typeface="Verizon NHG TX"/>
              <a:sym typeface="Verizon NHG TX"/>
            </a:endParaRPr>
          </a:p>
        </p:txBody>
      </p:sp>
      <p:sp>
        <p:nvSpPr>
          <p:cNvPr id="256" name="Google Shape;256;p36"/>
          <p:cNvSpPr txBox="1"/>
          <p:nvPr/>
        </p:nvSpPr>
        <p:spPr>
          <a:xfrm>
            <a:off x="406350" y="4324950"/>
            <a:ext cx="1657200" cy="2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700">
                <a:latin typeface="Verizon NHG TX"/>
                <a:ea typeface="Verizon NHG TX"/>
                <a:cs typeface="Verizon NHG TX"/>
                <a:sym typeface="Verizon NHG TX"/>
              </a:rPr>
              <a:t>KTLO Eligible</a:t>
            </a:r>
            <a:endParaRPr sz="700">
              <a:latin typeface="Verizon NHG TX"/>
              <a:ea typeface="Verizon NHG TX"/>
              <a:cs typeface="Verizon NHG TX"/>
              <a:sym typeface="Verizon NHG TX"/>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3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
        <p:nvSpPr>
          <p:cNvPr id="263" name="Google Shape;263;p37"/>
          <p:cNvSpPr txBox="1">
            <a:spLocks noGrp="1"/>
          </p:cNvSpPr>
          <p:nvPr>
            <p:ph type="title"/>
          </p:nvPr>
        </p:nvSpPr>
        <p:spPr>
          <a:xfrm>
            <a:off x="457200" y="594354"/>
            <a:ext cx="6726000" cy="3891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Sources for KTLO</a:t>
            </a:r>
            <a:endParaRPr/>
          </a:p>
        </p:txBody>
      </p:sp>
      <p:sp>
        <p:nvSpPr>
          <p:cNvPr id="264" name="Google Shape;264;p37"/>
          <p:cNvSpPr/>
          <p:nvPr/>
        </p:nvSpPr>
        <p:spPr>
          <a:xfrm>
            <a:off x="457204" y="1348256"/>
            <a:ext cx="287700" cy="2877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000" b="1">
                <a:solidFill>
                  <a:schemeClr val="lt1"/>
                </a:solidFill>
                <a:latin typeface="Verizon NHG TX"/>
                <a:ea typeface="Verizon NHG TX"/>
                <a:cs typeface="Verizon NHG TX"/>
                <a:sym typeface="Verizon NHG TX"/>
              </a:rPr>
              <a:t>1</a:t>
            </a:r>
            <a:endParaRPr/>
          </a:p>
        </p:txBody>
      </p:sp>
      <p:sp>
        <p:nvSpPr>
          <p:cNvPr id="265" name="Google Shape;265;p37"/>
          <p:cNvSpPr txBox="1"/>
          <p:nvPr/>
        </p:nvSpPr>
        <p:spPr>
          <a:xfrm>
            <a:off x="905818" y="1373388"/>
            <a:ext cx="1796400" cy="10002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US" sz="900" b="1">
                <a:solidFill>
                  <a:schemeClr val="dk1"/>
                </a:solidFill>
                <a:latin typeface="Verizon NHG TX"/>
                <a:ea typeface="Verizon NHG TX"/>
                <a:cs typeface="Verizon NHG TX"/>
                <a:sym typeface="Verizon NHG TX"/>
              </a:rPr>
              <a:t>Verizon Business &amp; IT</a:t>
            </a:r>
            <a:endParaRPr/>
          </a:p>
          <a:p>
            <a:pPr marL="171450" marR="0" lvl="0" indent="-171450" algn="l" rtl="0">
              <a:spcBef>
                <a:spcPts val="300"/>
              </a:spcBef>
              <a:spcAft>
                <a:spcPts val="0"/>
              </a:spcAft>
              <a:buClr>
                <a:schemeClr val="dk1"/>
              </a:buClr>
              <a:buSzPts val="900"/>
              <a:buFont typeface="Arial"/>
              <a:buChar char="•"/>
            </a:pPr>
            <a:r>
              <a:rPr lang="en-US" sz="900">
                <a:solidFill>
                  <a:schemeClr val="dk1"/>
                </a:solidFill>
                <a:latin typeface="Verizon NHG TX"/>
                <a:ea typeface="Verizon NHG TX"/>
                <a:cs typeface="Verizon NHG TX"/>
                <a:sym typeface="Verizon NHG TX"/>
              </a:rPr>
              <a:t>Business requirements - Minor Enhancements</a:t>
            </a:r>
            <a:endParaRPr/>
          </a:p>
          <a:p>
            <a:pPr marL="171450" marR="0" lvl="0" indent="-171450" algn="l" rtl="0">
              <a:spcBef>
                <a:spcPts val="300"/>
              </a:spcBef>
              <a:spcAft>
                <a:spcPts val="0"/>
              </a:spcAft>
              <a:buClr>
                <a:schemeClr val="dk1"/>
              </a:buClr>
              <a:buSzPts val="900"/>
              <a:buFont typeface="Arial"/>
              <a:buChar char="•"/>
            </a:pPr>
            <a:r>
              <a:rPr lang="en-US" sz="900">
                <a:solidFill>
                  <a:schemeClr val="dk1"/>
                </a:solidFill>
                <a:latin typeface="Verizon NHG TX"/>
                <a:ea typeface="Verizon NHG TX"/>
                <a:cs typeface="Verizon NHG TX"/>
                <a:sym typeface="Verizon NHG TX"/>
              </a:rPr>
              <a:t>Improvement items identified by IT</a:t>
            </a:r>
            <a:endParaRPr sz="900">
              <a:solidFill>
                <a:schemeClr val="dk1"/>
              </a:solidFill>
              <a:latin typeface="Verizon NHG TX"/>
              <a:ea typeface="Verizon NHG TX"/>
              <a:cs typeface="Verizon NHG TX"/>
              <a:sym typeface="Verizon NHG TX"/>
            </a:endParaRPr>
          </a:p>
          <a:p>
            <a:pPr marL="171450" marR="0" lvl="0" indent="-171450" algn="l" rtl="0">
              <a:spcBef>
                <a:spcPts val="300"/>
              </a:spcBef>
              <a:spcAft>
                <a:spcPts val="0"/>
              </a:spcAft>
              <a:buClr>
                <a:schemeClr val="dk1"/>
              </a:buClr>
              <a:buSzPts val="900"/>
              <a:buFont typeface="Verizon NHG TX"/>
              <a:buChar char="•"/>
            </a:pPr>
            <a:r>
              <a:rPr lang="en-US" sz="900">
                <a:solidFill>
                  <a:schemeClr val="dk1"/>
                </a:solidFill>
                <a:latin typeface="Verizon NHG TX"/>
                <a:ea typeface="Verizon NHG TX"/>
                <a:cs typeface="Verizon NHG TX"/>
                <a:sym typeface="Verizon NHG TX"/>
              </a:rPr>
              <a:t>Technology Refresh</a:t>
            </a:r>
            <a:endParaRPr sz="900">
              <a:solidFill>
                <a:schemeClr val="dk1"/>
              </a:solidFill>
              <a:latin typeface="Verizon NHG TX"/>
              <a:ea typeface="Verizon NHG TX"/>
              <a:cs typeface="Verizon NHG TX"/>
              <a:sym typeface="Verizon NHG TX"/>
            </a:endParaRPr>
          </a:p>
          <a:p>
            <a:pPr marL="0" marR="0" lvl="0" indent="0" algn="l" rtl="0">
              <a:spcBef>
                <a:spcPts val="0"/>
              </a:spcBef>
              <a:spcAft>
                <a:spcPts val="0"/>
              </a:spcAft>
              <a:buNone/>
            </a:pPr>
            <a:endParaRPr sz="900">
              <a:solidFill>
                <a:schemeClr val="dk1"/>
              </a:solidFill>
              <a:latin typeface="Verizon NHG TX"/>
              <a:ea typeface="Verizon NHG TX"/>
              <a:cs typeface="Verizon NHG TX"/>
              <a:sym typeface="Verizon NHG TX"/>
            </a:endParaRPr>
          </a:p>
        </p:txBody>
      </p:sp>
      <p:sp>
        <p:nvSpPr>
          <p:cNvPr id="266" name="Google Shape;266;p37"/>
          <p:cNvSpPr txBox="1"/>
          <p:nvPr/>
        </p:nvSpPr>
        <p:spPr>
          <a:xfrm>
            <a:off x="6743628" y="1373388"/>
            <a:ext cx="1796400" cy="10002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US" sz="900" b="1">
                <a:solidFill>
                  <a:schemeClr val="dk1"/>
                </a:solidFill>
                <a:latin typeface="Verizon NHG TX"/>
                <a:ea typeface="Verizon NHG TX"/>
                <a:cs typeface="Verizon NHG TX"/>
                <a:sym typeface="Verizon NHG TX"/>
              </a:rPr>
              <a:t>Third Party driven</a:t>
            </a:r>
            <a:endParaRPr/>
          </a:p>
          <a:p>
            <a:pPr marL="171450" marR="0" lvl="0" indent="-171450" algn="l" rtl="0">
              <a:spcBef>
                <a:spcPts val="300"/>
              </a:spcBef>
              <a:spcAft>
                <a:spcPts val="0"/>
              </a:spcAft>
              <a:buClr>
                <a:schemeClr val="dk1"/>
              </a:buClr>
              <a:buSzPts val="900"/>
              <a:buFont typeface="Arial"/>
              <a:buChar char="•"/>
            </a:pPr>
            <a:r>
              <a:rPr lang="en-US" sz="900">
                <a:solidFill>
                  <a:schemeClr val="dk1"/>
                </a:solidFill>
                <a:latin typeface="Verizon NHG TX"/>
                <a:ea typeface="Verizon NHG TX"/>
                <a:cs typeface="Verizon NHG TX"/>
                <a:sym typeface="Verizon NHG TX"/>
              </a:rPr>
              <a:t>Software Upgrades</a:t>
            </a:r>
            <a:endParaRPr/>
          </a:p>
          <a:p>
            <a:pPr marL="171450" marR="0" lvl="0" indent="-171450" algn="l" rtl="0">
              <a:spcBef>
                <a:spcPts val="300"/>
              </a:spcBef>
              <a:spcAft>
                <a:spcPts val="0"/>
              </a:spcAft>
              <a:buClr>
                <a:schemeClr val="dk1"/>
              </a:buClr>
              <a:buSzPts val="900"/>
              <a:buFont typeface="Arial"/>
              <a:buChar char="•"/>
            </a:pPr>
            <a:r>
              <a:rPr lang="en-US" sz="900">
                <a:solidFill>
                  <a:schemeClr val="dk1"/>
                </a:solidFill>
                <a:latin typeface="Verizon NHG TX"/>
                <a:ea typeface="Verizon NHG TX"/>
                <a:cs typeface="Verizon NHG TX"/>
                <a:sym typeface="Verizon NHG TX"/>
              </a:rPr>
              <a:t>Changes to Interfaces</a:t>
            </a:r>
            <a:endParaRPr sz="900" b="1">
              <a:solidFill>
                <a:schemeClr val="dk1"/>
              </a:solidFill>
              <a:latin typeface="Verizon NHG TX"/>
              <a:ea typeface="Verizon NHG TX"/>
              <a:cs typeface="Verizon NHG TX"/>
              <a:sym typeface="Verizon NHG TX"/>
            </a:endParaRPr>
          </a:p>
          <a:p>
            <a:pPr marL="0" marR="0" lvl="0" indent="0" algn="l" rtl="0">
              <a:spcBef>
                <a:spcPts val="0"/>
              </a:spcBef>
              <a:spcAft>
                <a:spcPts val="0"/>
              </a:spcAft>
              <a:buNone/>
            </a:pPr>
            <a:endParaRPr sz="900">
              <a:solidFill>
                <a:schemeClr val="dk1"/>
              </a:solidFill>
              <a:latin typeface="Verizon NHG TX"/>
              <a:ea typeface="Verizon NHG TX"/>
              <a:cs typeface="Verizon NHG TX"/>
              <a:sym typeface="Verizon NHG TX"/>
            </a:endParaRPr>
          </a:p>
        </p:txBody>
      </p:sp>
      <p:sp>
        <p:nvSpPr>
          <p:cNvPr id="267" name="Google Shape;267;p37"/>
          <p:cNvSpPr txBox="1"/>
          <p:nvPr/>
        </p:nvSpPr>
        <p:spPr>
          <a:xfrm>
            <a:off x="6743628" y="2754224"/>
            <a:ext cx="1796400" cy="10386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US" sz="900" b="1">
                <a:solidFill>
                  <a:schemeClr val="dk1"/>
                </a:solidFill>
                <a:latin typeface="Verizon NHG TX"/>
                <a:ea typeface="Verizon NHG TX"/>
                <a:cs typeface="Verizon NHG TX"/>
                <a:sym typeface="Verizon NHG TX"/>
              </a:rPr>
              <a:t>Calendar/Event Driven</a:t>
            </a:r>
            <a:endParaRPr/>
          </a:p>
          <a:p>
            <a:pPr marL="171450" marR="0" lvl="0" indent="-171450" algn="l" rtl="0">
              <a:spcBef>
                <a:spcPts val="300"/>
              </a:spcBef>
              <a:spcAft>
                <a:spcPts val="0"/>
              </a:spcAft>
              <a:buClr>
                <a:schemeClr val="dk1"/>
              </a:buClr>
              <a:buSzPts val="900"/>
              <a:buFont typeface="Arial"/>
              <a:buChar char="•"/>
            </a:pPr>
            <a:r>
              <a:rPr lang="en-US" sz="900">
                <a:solidFill>
                  <a:schemeClr val="dk1"/>
                </a:solidFill>
                <a:latin typeface="Verizon NHG TX"/>
                <a:ea typeface="Verizon NHG TX"/>
                <a:cs typeface="Verizon NHG TX"/>
                <a:sym typeface="Verizon NHG TX"/>
              </a:rPr>
              <a:t>Some Audits</a:t>
            </a:r>
            <a:endParaRPr/>
          </a:p>
          <a:p>
            <a:pPr marL="171450" marR="0" lvl="0" indent="-171450" algn="l" rtl="0">
              <a:spcBef>
                <a:spcPts val="300"/>
              </a:spcBef>
              <a:spcAft>
                <a:spcPts val="0"/>
              </a:spcAft>
              <a:buClr>
                <a:schemeClr val="dk1"/>
              </a:buClr>
              <a:buSzPts val="900"/>
              <a:buFont typeface="Arial"/>
              <a:buChar char="•"/>
            </a:pPr>
            <a:r>
              <a:rPr lang="en-US" sz="900">
                <a:solidFill>
                  <a:schemeClr val="dk1"/>
                </a:solidFill>
                <a:latin typeface="Verizon NHG TX"/>
                <a:ea typeface="Verizon NHG TX"/>
                <a:cs typeface="Verizon NHG TX"/>
                <a:sym typeface="Verizon NHG TX"/>
              </a:rPr>
              <a:t>Iconic Launches</a:t>
            </a:r>
            <a:endParaRPr sz="900">
              <a:solidFill>
                <a:schemeClr val="dk1"/>
              </a:solidFill>
              <a:latin typeface="Verizon NHG TX"/>
              <a:ea typeface="Verizon NHG TX"/>
              <a:cs typeface="Verizon NHG TX"/>
              <a:sym typeface="Verizon NHG TX"/>
            </a:endParaRPr>
          </a:p>
          <a:p>
            <a:pPr marL="171450" marR="0" lvl="0" indent="-171450" algn="l" rtl="0">
              <a:spcBef>
                <a:spcPts val="300"/>
              </a:spcBef>
              <a:spcAft>
                <a:spcPts val="0"/>
              </a:spcAft>
              <a:buClr>
                <a:schemeClr val="dk1"/>
              </a:buClr>
              <a:buSzPts val="900"/>
              <a:buFont typeface="Verizon NHG TX"/>
              <a:buChar char="•"/>
            </a:pPr>
            <a:r>
              <a:rPr lang="en-US" sz="900">
                <a:solidFill>
                  <a:schemeClr val="dk1"/>
                </a:solidFill>
                <a:latin typeface="Verizon NHG TX"/>
                <a:ea typeface="Verizon NHG TX"/>
                <a:cs typeface="Verizon NHG TX"/>
                <a:sym typeface="Verizon NHG TX"/>
              </a:rPr>
              <a:t>Year End etc.</a:t>
            </a:r>
            <a:endParaRPr sz="900">
              <a:solidFill>
                <a:schemeClr val="dk1"/>
              </a:solidFill>
              <a:latin typeface="Verizon NHG TX"/>
              <a:ea typeface="Verizon NHG TX"/>
              <a:cs typeface="Verizon NHG TX"/>
              <a:sym typeface="Verizon NHG TX"/>
            </a:endParaRPr>
          </a:p>
          <a:p>
            <a:pPr marL="0" marR="0" lvl="0" indent="0" algn="l" rtl="0">
              <a:spcBef>
                <a:spcPts val="300"/>
              </a:spcBef>
              <a:spcAft>
                <a:spcPts val="0"/>
              </a:spcAft>
              <a:buNone/>
            </a:pPr>
            <a:endParaRPr sz="900">
              <a:solidFill>
                <a:schemeClr val="dk1"/>
              </a:solidFill>
              <a:latin typeface="Verizon NHG TX"/>
              <a:ea typeface="Verizon NHG TX"/>
              <a:cs typeface="Verizon NHG TX"/>
              <a:sym typeface="Verizon NHG TX"/>
            </a:endParaRPr>
          </a:p>
        </p:txBody>
      </p:sp>
      <p:sp>
        <p:nvSpPr>
          <p:cNvPr id="268" name="Google Shape;268;p37"/>
          <p:cNvSpPr/>
          <p:nvPr/>
        </p:nvSpPr>
        <p:spPr>
          <a:xfrm>
            <a:off x="3183959" y="1201429"/>
            <a:ext cx="2448600" cy="2448600"/>
          </a:xfrm>
          <a:prstGeom prst="ellipse">
            <a:avLst/>
          </a:prstGeom>
          <a:noFill/>
          <a:ln w="285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Verizon NHG TX"/>
              <a:ea typeface="Verizon NHG TX"/>
              <a:cs typeface="Verizon NHG TX"/>
              <a:sym typeface="Verizon NHG TX"/>
            </a:endParaRPr>
          </a:p>
        </p:txBody>
      </p:sp>
      <p:sp>
        <p:nvSpPr>
          <p:cNvPr id="269" name="Google Shape;269;p37"/>
          <p:cNvSpPr txBox="1"/>
          <p:nvPr/>
        </p:nvSpPr>
        <p:spPr>
          <a:xfrm>
            <a:off x="3644834" y="2118138"/>
            <a:ext cx="1505700" cy="831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chemeClr val="dk1"/>
                </a:solidFill>
                <a:latin typeface="Verizon NHG DS"/>
                <a:ea typeface="Verizon NHG DS"/>
                <a:cs typeface="Verizon NHG DS"/>
                <a:sym typeface="Verizon NHG DS"/>
              </a:rPr>
              <a:t>KTLO</a:t>
            </a:r>
            <a:endParaRPr/>
          </a:p>
        </p:txBody>
      </p:sp>
      <p:pic>
        <p:nvPicPr>
          <p:cNvPr id="270" name="Google Shape;270;p37"/>
          <p:cNvPicPr preferRelativeResize="0"/>
          <p:nvPr/>
        </p:nvPicPr>
        <p:blipFill rotWithShape="1">
          <a:blip r:embed="rId3">
            <a:alphaModFix/>
          </a:blip>
          <a:srcRect/>
          <a:stretch/>
        </p:blipFill>
        <p:spPr>
          <a:xfrm>
            <a:off x="2610943" y="1504027"/>
            <a:ext cx="661256" cy="659676"/>
          </a:xfrm>
          <a:prstGeom prst="rect">
            <a:avLst/>
          </a:prstGeom>
          <a:noFill/>
          <a:ln>
            <a:noFill/>
          </a:ln>
        </p:spPr>
      </p:pic>
      <p:pic>
        <p:nvPicPr>
          <p:cNvPr id="271" name="Google Shape;271;p37"/>
          <p:cNvPicPr preferRelativeResize="0"/>
          <p:nvPr/>
        </p:nvPicPr>
        <p:blipFill rotWithShape="1">
          <a:blip r:embed="rId3">
            <a:alphaModFix/>
          </a:blip>
          <a:srcRect/>
          <a:stretch/>
        </p:blipFill>
        <p:spPr>
          <a:xfrm>
            <a:off x="2610943" y="2849674"/>
            <a:ext cx="661256" cy="659676"/>
          </a:xfrm>
          <a:prstGeom prst="rect">
            <a:avLst/>
          </a:prstGeom>
          <a:noFill/>
          <a:ln>
            <a:noFill/>
          </a:ln>
        </p:spPr>
      </p:pic>
      <p:pic>
        <p:nvPicPr>
          <p:cNvPr id="272" name="Google Shape;272;p37"/>
          <p:cNvPicPr preferRelativeResize="0"/>
          <p:nvPr/>
        </p:nvPicPr>
        <p:blipFill rotWithShape="1">
          <a:blip r:embed="rId3">
            <a:alphaModFix/>
          </a:blip>
          <a:srcRect/>
          <a:stretch/>
        </p:blipFill>
        <p:spPr>
          <a:xfrm rot="10800000">
            <a:off x="5523182" y="1504027"/>
            <a:ext cx="661256" cy="659676"/>
          </a:xfrm>
          <a:prstGeom prst="rect">
            <a:avLst/>
          </a:prstGeom>
          <a:noFill/>
          <a:ln>
            <a:noFill/>
          </a:ln>
        </p:spPr>
      </p:pic>
      <p:pic>
        <p:nvPicPr>
          <p:cNvPr id="273" name="Google Shape;273;p37"/>
          <p:cNvPicPr preferRelativeResize="0"/>
          <p:nvPr/>
        </p:nvPicPr>
        <p:blipFill rotWithShape="1">
          <a:blip r:embed="rId3">
            <a:alphaModFix/>
          </a:blip>
          <a:srcRect/>
          <a:stretch/>
        </p:blipFill>
        <p:spPr>
          <a:xfrm rot="10800000">
            <a:off x="5523182" y="2849674"/>
            <a:ext cx="661256" cy="659676"/>
          </a:xfrm>
          <a:prstGeom prst="rect">
            <a:avLst/>
          </a:prstGeom>
          <a:noFill/>
          <a:ln>
            <a:noFill/>
          </a:ln>
        </p:spPr>
      </p:pic>
      <p:sp>
        <p:nvSpPr>
          <p:cNvPr id="274" name="Google Shape;274;p37"/>
          <p:cNvSpPr/>
          <p:nvPr/>
        </p:nvSpPr>
        <p:spPr>
          <a:xfrm>
            <a:off x="457204" y="2742373"/>
            <a:ext cx="287700" cy="2877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000" b="1">
                <a:solidFill>
                  <a:schemeClr val="lt1"/>
                </a:solidFill>
                <a:latin typeface="Verizon NHG TX"/>
                <a:ea typeface="Verizon NHG TX"/>
                <a:cs typeface="Verizon NHG TX"/>
                <a:sym typeface="Verizon NHG TX"/>
              </a:rPr>
              <a:t>3</a:t>
            </a:r>
            <a:endParaRPr/>
          </a:p>
        </p:txBody>
      </p:sp>
      <p:sp>
        <p:nvSpPr>
          <p:cNvPr id="275" name="Google Shape;275;p37"/>
          <p:cNvSpPr/>
          <p:nvPr/>
        </p:nvSpPr>
        <p:spPr>
          <a:xfrm>
            <a:off x="6305174" y="1358416"/>
            <a:ext cx="287700" cy="2877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000" b="1">
                <a:solidFill>
                  <a:schemeClr val="lt1"/>
                </a:solidFill>
                <a:latin typeface="Verizon NHG TX"/>
                <a:ea typeface="Verizon NHG TX"/>
                <a:cs typeface="Verizon NHG TX"/>
                <a:sym typeface="Verizon NHG TX"/>
              </a:rPr>
              <a:t>2</a:t>
            </a:r>
            <a:endParaRPr/>
          </a:p>
        </p:txBody>
      </p:sp>
      <p:sp>
        <p:nvSpPr>
          <p:cNvPr id="276" name="Google Shape;276;p37"/>
          <p:cNvSpPr/>
          <p:nvPr/>
        </p:nvSpPr>
        <p:spPr>
          <a:xfrm>
            <a:off x="6305174" y="2732299"/>
            <a:ext cx="287700" cy="2877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r>
              <a:rPr lang="en-US" sz="1000" b="1">
                <a:solidFill>
                  <a:schemeClr val="lt1"/>
                </a:solidFill>
                <a:latin typeface="Verizon NHG TX"/>
                <a:ea typeface="Verizon NHG TX"/>
                <a:cs typeface="Verizon NHG TX"/>
                <a:sym typeface="Verizon NHG TX"/>
              </a:rPr>
              <a:t>4</a:t>
            </a:r>
            <a:endParaRPr/>
          </a:p>
        </p:txBody>
      </p:sp>
      <p:sp>
        <p:nvSpPr>
          <p:cNvPr id="277" name="Google Shape;277;p37"/>
          <p:cNvSpPr txBox="1"/>
          <p:nvPr/>
        </p:nvSpPr>
        <p:spPr>
          <a:xfrm>
            <a:off x="905818" y="2754224"/>
            <a:ext cx="1796400" cy="10002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US" sz="900" b="1">
                <a:solidFill>
                  <a:schemeClr val="dk1"/>
                </a:solidFill>
                <a:latin typeface="Verizon NHG TX"/>
                <a:ea typeface="Verizon NHG TX"/>
                <a:cs typeface="Verizon NHG TX"/>
                <a:sym typeface="Verizon NHG TX"/>
              </a:rPr>
              <a:t>Infosys Driven</a:t>
            </a:r>
            <a:endParaRPr/>
          </a:p>
          <a:p>
            <a:pPr marL="171450" marR="0" lvl="0" indent="-171450" algn="l" rtl="0">
              <a:spcBef>
                <a:spcPts val="300"/>
              </a:spcBef>
              <a:spcAft>
                <a:spcPts val="0"/>
              </a:spcAft>
              <a:buClr>
                <a:schemeClr val="dk1"/>
              </a:buClr>
              <a:buSzPts val="900"/>
              <a:buFont typeface="Arial"/>
              <a:buChar char="•"/>
            </a:pPr>
            <a:r>
              <a:rPr lang="en-US" sz="900">
                <a:solidFill>
                  <a:schemeClr val="dk1"/>
                </a:solidFill>
                <a:latin typeface="Verizon NHG TX"/>
                <a:ea typeface="Verizon NHG TX"/>
                <a:cs typeface="Verizon NHG TX"/>
                <a:sym typeface="Verizon NHG TX"/>
              </a:rPr>
              <a:t>Ideas generated by Monitoring, Observing System behavior</a:t>
            </a:r>
            <a:endParaRPr/>
          </a:p>
          <a:p>
            <a:pPr marL="171450" marR="0" lvl="0" indent="-171450" algn="l" rtl="0">
              <a:spcBef>
                <a:spcPts val="300"/>
              </a:spcBef>
              <a:spcAft>
                <a:spcPts val="0"/>
              </a:spcAft>
              <a:buClr>
                <a:schemeClr val="dk1"/>
              </a:buClr>
              <a:buSzPts val="900"/>
              <a:buFont typeface="Arial"/>
              <a:buChar char="•"/>
            </a:pPr>
            <a:r>
              <a:rPr lang="en-US" sz="900">
                <a:solidFill>
                  <a:schemeClr val="dk1"/>
                </a:solidFill>
                <a:latin typeface="Verizon NHG TX"/>
                <a:ea typeface="Verizon NHG TX"/>
                <a:cs typeface="Verizon NHG TX"/>
                <a:sym typeface="Verizon NHG TX"/>
              </a:rPr>
              <a:t>Performance Improvement opportunities</a:t>
            </a:r>
            <a:endParaRPr sz="900" b="1">
              <a:solidFill>
                <a:schemeClr val="dk1"/>
              </a:solidFill>
              <a:latin typeface="Verizon NHG TX"/>
              <a:ea typeface="Verizon NHG TX"/>
              <a:cs typeface="Verizon NHG TX"/>
              <a:sym typeface="Verizon NHG TX"/>
            </a:endParaRPr>
          </a:p>
          <a:p>
            <a:pPr marL="0" marR="0" lvl="0" indent="0" algn="l" rtl="0">
              <a:spcBef>
                <a:spcPts val="0"/>
              </a:spcBef>
              <a:spcAft>
                <a:spcPts val="0"/>
              </a:spcAft>
              <a:buNone/>
            </a:pPr>
            <a:endParaRPr sz="900">
              <a:solidFill>
                <a:schemeClr val="dk1"/>
              </a:solidFill>
              <a:latin typeface="Verizon NHG TX"/>
              <a:ea typeface="Verizon NHG TX"/>
              <a:cs typeface="Verizon NHG TX"/>
              <a:sym typeface="Verizon NHG TX"/>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8"/>
          <p:cNvSpPr/>
          <p:nvPr/>
        </p:nvSpPr>
        <p:spPr>
          <a:xfrm rot="-5400000">
            <a:off x="-678084" y="1734126"/>
            <a:ext cx="1997700" cy="331800"/>
          </a:xfrm>
          <a:prstGeom prst="rect">
            <a:avLst/>
          </a:prstGeom>
          <a:solidFill>
            <a:schemeClr val="accent6"/>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1100" b="0" i="0" u="none" strike="noStrike" cap="none">
                <a:solidFill>
                  <a:schemeClr val="lt1"/>
                </a:solidFill>
                <a:latin typeface="Calibri"/>
                <a:ea typeface="Calibri"/>
                <a:cs typeface="Calibri"/>
                <a:sym typeface="Calibri"/>
              </a:rPr>
              <a:t>Infosys</a:t>
            </a:r>
            <a:endParaRPr sz="1100"/>
          </a:p>
        </p:txBody>
      </p:sp>
      <p:sp>
        <p:nvSpPr>
          <p:cNvPr id="283" name="Google Shape;283;p38"/>
          <p:cNvSpPr/>
          <p:nvPr/>
        </p:nvSpPr>
        <p:spPr>
          <a:xfrm>
            <a:off x="512480" y="1359643"/>
            <a:ext cx="261900" cy="222600"/>
          </a:xfrm>
          <a:prstGeom prst="flowChartConnector">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600" b="0" i="0" u="none" strike="noStrike" cap="none">
                <a:solidFill>
                  <a:schemeClr val="dk1"/>
                </a:solidFill>
                <a:latin typeface="Calibri"/>
                <a:ea typeface="Calibri"/>
                <a:cs typeface="Calibri"/>
                <a:sym typeface="Calibri"/>
              </a:rPr>
              <a:t>A</a:t>
            </a:r>
            <a:endParaRPr sz="600" b="0" i="0" u="none" strike="noStrike" cap="none">
              <a:solidFill>
                <a:schemeClr val="dk1"/>
              </a:solidFill>
              <a:latin typeface="Calibri"/>
              <a:ea typeface="Calibri"/>
              <a:cs typeface="Calibri"/>
              <a:sym typeface="Calibri"/>
            </a:endParaRPr>
          </a:p>
        </p:txBody>
      </p:sp>
      <p:sp>
        <p:nvSpPr>
          <p:cNvPr id="284" name="Google Shape;284;p38"/>
          <p:cNvSpPr/>
          <p:nvPr/>
        </p:nvSpPr>
        <p:spPr>
          <a:xfrm>
            <a:off x="884903" y="1161105"/>
            <a:ext cx="1098900" cy="6198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Create/Update  KTLO activities –Preventive, Adaptive*, Perfective maintenance, Capacity maintenance catalog</a:t>
            </a:r>
            <a:endParaRPr sz="700" b="0" i="0" u="none" strike="noStrike" cap="none">
              <a:solidFill>
                <a:schemeClr val="dk1"/>
              </a:solidFill>
              <a:latin typeface="Calibri"/>
              <a:ea typeface="Calibri"/>
              <a:cs typeface="Calibri"/>
              <a:sym typeface="Calibri"/>
            </a:endParaRPr>
          </a:p>
        </p:txBody>
      </p:sp>
      <p:sp>
        <p:nvSpPr>
          <p:cNvPr id="285" name="Google Shape;285;p38"/>
          <p:cNvSpPr/>
          <p:nvPr/>
        </p:nvSpPr>
        <p:spPr>
          <a:xfrm>
            <a:off x="884902" y="1955754"/>
            <a:ext cx="1098900" cy="5430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Create/Update priority list of minor enhancement activities   </a:t>
            </a:r>
            <a:endParaRPr sz="700" b="0" i="0" u="none" strike="noStrike" cap="none">
              <a:solidFill>
                <a:schemeClr val="dk1"/>
              </a:solidFill>
              <a:latin typeface="Calibri"/>
              <a:ea typeface="Calibri"/>
              <a:cs typeface="Calibri"/>
              <a:sym typeface="Calibri"/>
            </a:endParaRPr>
          </a:p>
        </p:txBody>
      </p:sp>
      <p:sp>
        <p:nvSpPr>
          <p:cNvPr id="286" name="Google Shape;286;p38"/>
          <p:cNvSpPr/>
          <p:nvPr/>
        </p:nvSpPr>
        <p:spPr>
          <a:xfrm>
            <a:off x="2271292" y="1161105"/>
            <a:ext cx="811200" cy="6198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Submit the estimated KTLO/ME Hours to  Verizon managers for review</a:t>
            </a:r>
            <a:endParaRPr sz="1100"/>
          </a:p>
        </p:txBody>
      </p:sp>
      <p:cxnSp>
        <p:nvCxnSpPr>
          <p:cNvPr id="287" name="Google Shape;287;p38"/>
          <p:cNvCxnSpPr>
            <a:stCxn id="283" idx="6"/>
            <a:endCxn id="284" idx="1"/>
          </p:cNvCxnSpPr>
          <p:nvPr/>
        </p:nvCxnSpPr>
        <p:spPr>
          <a:xfrm>
            <a:off x="774380" y="1470943"/>
            <a:ext cx="110400" cy="0"/>
          </a:xfrm>
          <a:prstGeom prst="straightConnector1">
            <a:avLst/>
          </a:prstGeom>
          <a:noFill/>
          <a:ln w="12700" cap="flat" cmpd="sng">
            <a:solidFill>
              <a:schemeClr val="dk1"/>
            </a:solidFill>
            <a:prstDash val="solid"/>
            <a:miter lim="800000"/>
            <a:headEnd type="none" w="sm" len="sm"/>
            <a:tailEnd type="triangle" w="med" len="med"/>
          </a:ln>
        </p:spPr>
      </p:cxnSp>
      <p:sp>
        <p:nvSpPr>
          <p:cNvPr id="288" name="Google Shape;288;p38"/>
          <p:cNvSpPr/>
          <p:nvPr/>
        </p:nvSpPr>
        <p:spPr>
          <a:xfrm>
            <a:off x="4352482" y="1653641"/>
            <a:ext cx="1047000" cy="5430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Perform KTLO and minor enhancement activities  for the month  </a:t>
            </a:r>
            <a:endParaRPr sz="1100"/>
          </a:p>
        </p:txBody>
      </p:sp>
      <p:sp>
        <p:nvSpPr>
          <p:cNvPr id="289" name="Google Shape;289;p38"/>
          <p:cNvSpPr/>
          <p:nvPr/>
        </p:nvSpPr>
        <p:spPr>
          <a:xfrm>
            <a:off x="7703075" y="1364562"/>
            <a:ext cx="1185000" cy="3390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Provide feedback on activities requiring clarification</a:t>
            </a:r>
            <a:endParaRPr sz="1100"/>
          </a:p>
        </p:txBody>
      </p:sp>
      <p:sp>
        <p:nvSpPr>
          <p:cNvPr id="290" name="Google Shape;290;p38"/>
          <p:cNvSpPr/>
          <p:nvPr/>
        </p:nvSpPr>
        <p:spPr>
          <a:xfrm>
            <a:off x="7703075" y="1958327"/>
            <a:ext cx="1185000" cy="3735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Submit clarifications</a:t>
            </a:r>
            <a:endParaRPr sz="700" b="0" i="0" u="none" strike="noStrike" cap="none">
              <a:solidFill>
                <a:schemeClr val="dk1"/>
              </a:solidFill>
              <a:latin typeface="Calibri"/>
              <a:ea typeface="Calibri"/>
              <a:cs typeface="Calibri"/>
              <a:sym typeface="Calibri"/>
            </a:endParaRPr>
          </a:p>
        </p:txBody>
      </p:sp>
      <p:sp>
        <p:nvSpPr>
          <p:cNvPr id="291" name="Google Shape;291;p38"/>
          <p:cNvSpPr/>
          <p:nvPr/>
        </p:nvSpPr>
        <p:spPr>
          <a:xfrm rot="-5400000">
            <a:off x="-648534" y="3726900"/>
            <a:ext cx="1938600" cy="331800"/>
          </a:xfrm>
          <a:prstGeom prst="rect">
            <a:avLst/>
          </a:prstGeom>
          <a:solidFill>
            <a:srgbClr val="C00000"/>
          </a:soli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1100" b="0" i="0" u="none" strike="noStrike" cap="none">
                <a:solidFill>
                  <a:schemeClr val="lt1"/>
                </a:solidFill>
                <a:latin typeface="Calibri"/>
                <a:ea typeface="Calibri"/>
                <a:cs typeface="Calibri"/>
                <a:sym typeface="Calibri"/>
              </a:rPr>
              <a:t>Verizon</a:t>
            </a:r>
            <a:endParaRPr sz="1100"/>
          </a:p>
        </p:txBody>
      </p:sp>
      <p:sp>
        <p:nvSpPr>
          <p:cNvPr id="292" name="Google Shape;292;p38"/>
          <p:cNvSpPr/>
          <p:nvPr/>
        </p:nvSpPr>
        <p:spPr>
          <a:xfrm>
            <a:off x="884902" y="3035035"/>
            <a:ext cx="1098900" cy="535500"/>
          </a:xfrm>
          <a:prstGeom prst="rect">
            <a:avLst/>
          </a:prstGeom>
          <a:no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Provide the Minor enhancements and Capacity management activities through regular channels</a:t>
            </a:r>
            <a:endParaRPr sz="700" b="0" i="0" u="none" strike="noStrike" cap="none">
              <a:solidFill>
                <a:schemeClr val="dk1"/>
              </a:solidFill>
              <a:latin typeface="Calibri"/>
              <a:ea typeface="Calibri"/>
              <a:cs typeface="Calibri"/>
              <a:sym typeface="Calibri"/>
            </a:endParaRPr>
          </a:p>
        </p:txBody>
      </p:sp>
      <p:sp>
        <p:nvSpPr>
          <p:cNvPr id="293" name="Google Shape;293;p38"/>
          <p:cNvSpPr/>
          <p:nvPr/>
        </p:nvSpPr>
        <p:spPr>
          <a:xfrm>
            <a:off x="884903" y="819996"/>
            <a:ext cx="1098900" cy="2274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Start</a:t>
            </a:r>
            <a:endParaRPr sz="1100"/>
          </a:p>
        </p:txBody>
      </p:sp>
      <p:cxnSp>
        <p:nvCxnSpPr>
          <p:cNvPr id="294" name="Google Shape;294;p38"/>
          <p:cNvCxnSpPr>
            <a:stCxn id="293" idx="2"/>
            <a:endCxn id="284" idx="0"/>
          </p:cNvCxnSpPr>
          <p:nvPr/>
        </p:nvCxnSpPr>
        <p:spPr>
          <a:xfrm>
            <a:off x="1434353" y="1047396"/>
            <a:ext cx="0" cy="113700"/>
          </a:xfrm>
          <a:prstGeom prst="straightConnector1">
            <a:avLst/>
          </a:prstGeom>
          <a:noFill/>
          <a:ln w="12700" cap="flat" cmpd="sng">
            <a:solidFill>
              <a:schemeClr val="dk1"/>
            </a:solidFill>
            <a:prstDash val="solid"/>
            <a:miter lim="800000"/>
            <a:headEnd type="none" w="sm" len="sm"/>
            <a:tailEnd type="triangle" w="med" len="med"/>
          </a:ln>
        </p:spPr>
      </p:cxnSp>
      <p:sp>
        <p:nvSpPr>
          <p:cNvPr id="295" name="Google Shape;295;p38"/>
          <p:cNvSpPr/>
          <p:nvPr/>
        </p:nvSpPr>
        <p:spPr>
          <a:xfrm>
            <a:off x="2275242" y="3655080"/>
            <a:ext cx="804526" cy="568269"/>
          </a:xfrm>
          <a:prstGeom prst="flowChartDecision">
            <a:avLst/>
          </a:prstGeom>
          <a:no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600" b="0" i="0" u="none" strike="noStrike" cap="none">
                <a:solidFill>
                  <a:schemeClr val="dk1"/>
                </a:solidFill>
                <a:latin typeface="Calibri"/>
                <a:ea typeface="Calibri"/>
                <a:cs typeface="Calibri"/>
                <a:sym typeface="Calibri"/>
              </a:rPr>
              <a:t>Accept/Reject</a:t>
            </a:r>
            <a:endParaRPr sz="600" b="0" i="0" u="none" strike="noStrike" cap="none">
              <a:solidFill>
                <a:schemeClr val="dk1"/>
              </a:solidFill>
              <a:latin typeface="Calibri"/>
              <a:ea typeface="Calibri"/>
              <a:cs typeface="Calibri"/>
              <a:sym typeface="Calibri"/>
            </a:endParaRPr>
          </a:p>
        </p:txBody>
      </p:sp>
      <p:sp>
        <p:nvSpPr>
          <p:cNvPr id="296" name="Google Shape;296;p38"/>
          <p:cNvSpPr/>
          <p:nvPr/>
        </p:nvSpPr>
        <p:spPr>
          <a:xfrm>
            <a:off x="2285500" y="2937321"/>
            <a:ext cx="794100" cy="522000"/>
          </a:xfrm>
          <a:prstGeom prst="rect">
            <a:avLst/>
          </a:prstGeom>
          <a:no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b="0" i="0" u="none" strike="noStrike" cap="none">
                <a:solidFill>
                  <a:schemeClr val="dk1"/>
                </a:solidFill>
                <a:latin typeface="Calibri"/>
                <a:ea typeface="Calibri"/>
                <a:cs typeface="Calibri"/>
                <a:sym typeface="Calibri"/>
              </a:rPr>
              <a:t>Review the Minor enhancements, KTLO priority list</a:t>
            </a:r>
            <a:endParaRPr sz="700" b="0" i="0" u="none" strike="noStrike" cap="none">
              <a:solidFill>
                <a:schemeClr val="dk1"/>
              </a:solidFill>
              <a:latin typeface="Calibri"/>
              <a:ea typeface="Calibri"/>
              <a:cs typeface="Calibri"/>
              <a:sym typeface="Calibri"/>
            </a:endParaRPr>
          </a:p>
        </p:txBody>
      </p:sp>
      <p:cxnSp>
        <p:nvCxnSpPr>
          <p:cNvPr id="297" name="Google Shape;297;p38"/>
          <p:cNvCxnSpPr>
            <a:stCxn id="296" idx="2"/>
            <a:endCxn id="295" idx="0"/>
          </p:cNvCxnSpPr>
          <p:nvPr/>
        </p:nvCxnSpPr>
        <p:spPr>
          <a:xfrm flipH="1">
            <a:off x="2677450" y="3459321"/>
            <a:ext cx="5100" cy="195900"/>
          </a:xfrm>
          <a:prstGeom prst="straightConnector1">
            <a:avLst/>
          </a:prstGeom>
          <a:noFill/>
          <a:ln w="12700" cap="flat" cmpd="sng">
            <a:solidFill>
              <a:schemeClr val="dk1"/>
            </a:solidFill>
            <a:prstDash val="solid"/>
            <a:miter lim="800000"/>
            <a:headEnd type="none" w="sm" len="sm"/>
            <a:tailEnd type="triangle" w="med" len="med"/>
          </a:ln>
        </p:spPr>
      </p:cxnSp>
      <p:sp>
        <p:nvSpPr>
          <p:cNvPr id="298" name="Google Shape;298;p38"/>
          <p:cNvSpPr txBox="1"/>
          <p:nvPr/>
        </p:nvSpPr>
        <p:spPr>
          <a:xfrm>
            <a:off x="3013222" y="3736440"/>
            <a:ext cx="741300" cy="173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700" b="0" i="0" u="none" strike="noStrike" cap="none">
                <a:solidFill>
                  <a:schemeClr val="dk1"/>
                </a:solidFill>
                <a:latin typeface="Calibri"/>
                <a:ea typeface="Calibri"/>
                <a:cs typeface="Calibri"/>
                <a:sym typeface="Calibri"/>
              </a:rPr>
              <a:t>Accept</a:t>
            </a:r>
            <a:endParaRPr sz="700">
              <a:solidFill>
                <a:schemeClr val="dk1"/>
              </a:solidFill>
              <a:latin typeface="Calibri"/>
              <a:ea typeface="Calibri"/>
              <a:cs typeface="Calibri"/>
              <a:sym typeface="Calibri"/>
            </a:endParaRPr>
          </a:p>
        </p:txBody>
      </p:sp>
      <p:sp>
        <p:nvSpPr>
          <p:cNvPr id="299" name="Google Shape;299;p38"/>
          <p:cNvSpPr txBox="1"/>
          <p:nvPr/>
        </p:nvSpPr>
        <p:spPr>
          <a:xfrm>
            <a:off x="2681663" y="4271450"/>
            <a:ext cx="454800" cy="173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Reject</a:t>
            </a:r>
            <a:endParaRPr sz="700">
              <a:solidFill>
                <a:schemeClr val="dk1"/>
              </a:solidFill>
              <a:latin typeface="Calibri"/>
              <a:ea typeface="Calibri"/>
              <a:cs typeface="Calibri"/>
              <a:sym typeface="Calibri"/>
            </a:endParaRPr>
          </a:p>
        </p:txBody>
      </p:sp>
      <p:sp>
        <p:nvSpPr>
          <p:cNvPr id="300" name="Google Shape;300;p38"/>
          <p:cNvSpPr/>
          <p:nvPr/>
        </p:nvSpPr>
        <p:spPr>
          <a:xfrm>
            <a:off x="4352482" y="3058187"/>
            <a:ext cx="1047000" cy="416400"/>
          </a:xfrm>
          <a:prstGeom prst="rect">
            <a:avLst/>
          </a:prstGeom>
          <a:no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Unplanned/emergency  minor enhancement and KTLO activities</a:t>
            </a:r>
            <a:endParaRPr sz="1100"/>
          </a:p>
        </p:txBody>
      </p:sp>
      <p:sp>
        <p:nvSpPr>
          <p:cNvPr id="301" name="Google Shape;301;p38"/>
          <p:cNvSpPr/>
          <p:nvPr/>
        </p:nvSpPr>
        <p:spPr>
          <a:xfrm>
            <a:off x="6200050" y="2962608"/>
            <a:ext cx="1185000" cy="333600"/>
          </a:xfrm>
          <a:prstGeom prst="rect">
            <a:avLst/>
          </a:prstGeom>
          <a:no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Review the KTLO/ME hours and activities</a:t>
            </a:r>
            <a:endParaRPr sz="700">
              <a:solidFill>
                <a:schemeClr val="dk1"/>
              </a:solidFill>
              <a:latin typeface="Calibri"/>
              <a:ea typeface="Calibri"/>
              <a:cs typeface="Calibri"/>
              <a:sym typeface="Calibri"/>
            </a:endParaRPr>
          </a:p>
        </p:txBody>
      </p:sp>
      <p:sp>
        <p:nvSpPr>
          <p:cNvPr id="302" name="Google Shape;302;p38"/>
          <p:cNvSpPr/>
          <p:nvPr/>
        </p:nvSpPr>
        <p:spPr>
          <a:xfrm>
            <a:off x="6200049" y="3444531"/>
            <a:ext cx="1185002" cy="693441"/>
          </a:xfrm>
          <a:prstGeom prst="flowChartDecision">
            <a:avLst/>
          </a:prstGeom>
          <a:no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Accept/</a:t>
            </a:r>
            <a:endParaRPr sz="1100"/>
          </a:p>
          <a:p>
            <a:pPr marL="0" marR="0" lvl="0" indent="0" algn="ctr" rtl="0">
              <a:spcBef>
                <a:spcPts val="0"/>
              </a:spcBef>
              <a:spcAft>
                <a:spcPts val="0"/>
              </a:spcAft>
              <a:buNone/>
            </a:pPr>
            <a:r>
              <a:rPr lang="en-US" sz="700">
                <a:solidFill>
                  <a:schemeClr val="dk1"/>
                </a:solidFill>
                <a:latin typeface="Calibri"/>
                <a:ea typeface="Calibri"/>
                <a:cs typeface="Calibri"/>
                <a:sym typeface="Calibri"/>
              </a:rPr>
              <a:t>Reject</a:t>
            </a:r>
            <a:endParaRPr sz="700">
              <a:solidFill>
                <a:schemeClr val="dk1"/>
              </a:solidFill>
              <a:latin typeface="Calibri"/>
              <a:ea typeface="Calibri"/>
              <a:cs typeface="Calibri"/>
              <a:sym typeface="Calibri"/>
            </a:endParaRPr>
          </a:p>
        </p:txBody>
      </p:sp>
      <p:sp>
        <p:nvSpPr>
          <p:cNvPr id="303" name="Google Shape;303;p38"/>
          <p:cNvSpPr/>
          <p:nvPr/>
        </p:nvSpPr>
        <p:spPr>
          <a:xfrm>
            <a:off x="6200048" y="4249012"/>
            <a:ext cx="1185000" cy="522300"/>
          </a:xfrm>
          <a:prstGeom prst="rect">
            <a:avLst/>
          </a:prstGeom>
          <a:noFill/>
          <a:ln w="9525" cap="flat" cmpd="sng">
            <a:solidFill>
              <a:schemeClr val="accent6"/>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Submit the approved hours to  Central teams</a:t>
            </a:r>
            <a:endParaRPr sz="700">
              <a:solidFill>
                <a:schemeClr val="dk1"/>
              </a:solidFill>
              <a:latin typeface="Calibri"/>
              <a:ea typeface="Calibri"/>
              <a:cs typeface="Calibri"/>
              <a:sym typeface="Calibri"/>
            </a:endParaRPr>
          </a:p>
        </p:txBody>
      </p:sp>
      <p:cxnSp>
        <p:nvCxnSpPr>
          <p:cNvPr id="304" name="Google Shape;304;p38"/>
          <p:cNvCxnSpPr>
            <a:stCxn id="301" idx="2"/>
            <a:endCxn id="302" idx="0"/>
          </p:cNvCxnSpPr>
          <p:nvPr/>
        </p:nvCxnSpPr>
        <p:spPr>
          <a:xfrm>
            <a:off x="6792550" y="3296208"/>
            <a:ext cx="0" cy="148200"/>
          </a:xfrm>
          <a:prstGeom prst="straightConnector1">
            <a:avLst/>
          </a:prstGeom>
          <a:gradFill>
            <a:gsLst>
              <a:gs pos="0">
                <a:srgbClr val="9A9A9A"/>
              </a:gs>
              <a:gs pos="50000">
                <a:srgbClr val="8D8D8D"/>
              </a:gs>
              <a:gs pos="100000">
                <a:srgbClr val="787878"/>
              </a:gs>
            </a:gsLst>
            <a:lin ang="5400012" scaled="0"/>
          </a:gradFill>
          <a:ln w="9525" cap="flat" cmpd="sng">
            <a:solidFill>
              <a:schemeClr val="dk1"/>
            </a:solidFill>
            <a:prstDash val="solid"/>
            <a:miter lim="800000"/>
            <a:headEnd type="none" w="sm" len="sm"/>
            <a:tailEnd type="none" w="sm" len="sm"/>
          </a:ln>
        </p:spPr>
      </p:cxnSp>
      <p:sp>
        <p:nvSpPr>
          <p:cNvPr id="305" name="Google Shape;305;p38"/>
          <p:cNvSpPr txBox="1"/>
          <p:nvPr/>
        </p:nvSpPr>
        <p:spPr>
          <a:xfrm>
            <a:off x="7307037" y="3580600"/>
            <a:ext cx="615000" cy="173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Reject</a:t>
            </a:r>
            <a:endParaRPr sz="700">
              <a:solidFill>
                <a:schemeClr val="dk1"/>
              </a:solidFill>
              <a:latin typeface="Calibri"/>
              <a:ea typeface="Calibri"/>
              <a:cs typeface="Calibri"/>
              <a:sym typeface="Calibri"/>
            </a:endParaRPr>
          </a:p>
        </p:txBody>
      </p:sp>
      <p:sp>
        <p:nvSpPr>
          <p:cNvPr id="306" name="Google Shape;306;p38"/>
          <p:cNvSpPr txBox="1"/>
          <p:nvPr/>
        </p:nvSpPr>
        <p:spPr>
          <a:xfrm>
            <a:off x="6280846" y="4080939"/>
            <a:ext cx="447000" cy="1731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700">
                <a:solidFill>
                  <a:schemeClr val="dk1"/>
                </a:solidFill>
                <a:latin typeface="Calibri"/>
                <a:ea typeface="Calibri"/>
                <a:cs typeface="Calibri"/>
                <a:sym typeface="Calibri"/>
              </a:rPr>
              <a:t>Accept</a:t>
            </a:r>
            <a:endParaRPr sz="700">
              <a:solidFill>
                <a:schemeClr val="dk1"/>
              </a:solidFill>
              <a:latin typeface="Calibri"/>
              <a:ea typeface="Calibri"/>
              <a:cs typeface="Calibri"/>
              <a:sym typeface="Calibri"/>
            </a:endParaRPr>
          </a:p>
        </p:txBody>
      </p:sp>
      <p:sp>
        <p:nvSpPr>
          <p:cNvPr id="307" name="Google Shape;307;p38"/>
          <p:cNvSpPr/>
          <p:nvPr/>
        </p:nvSpPr>
        <p:spPr>
          <a:xfrm>
            <a:off x="2573767" y="4529080"/>
            <a:ext cx="201600" cy="195900"/>
          </a:xfrm>
          <a:prstGeom prst="flowChartConnector">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600">
                <a:solidFill>
                  <a:schemeClr val="dk1"/>
                </a:solidFill>
                <a:latin typeface="Calibri"/>
                <a:ea typeface="Calibri"/>
                <a:cs typeface="Calibri"/>
                <a:sym typeface="Calibri"/>
              </a:rPr>
              <a:t>A</a:t>
            </a:r>
            <a:endParaRPr sz="600">
              <a:solidFill>
                <a:schemeClr val="dk1"/>
              </a:solidFill>
              <a:latin typeface="Calibri"/>
              <a:ea typeface="Calibri"/>
              <a:cs typeface="Calibri"/>
              <a:sym typeface="Calibri"/>
            </a:endParaRPr>
          </a:p>
        </p:txBody>
      </p:sp>
      <p:cxnSp>
        <p:nvCxnSpPr>
          <p:cNvPr id="308" name="Google Shape;308;p38"/>
          <p:cNvCxnSpPr>
            <a:stCxn id="292" idx="0"/>
            <a:endCxn id="285" idx="2"/>
          </p:cNvCxnSpPr>
          <p:nvPr/>
        </p:nvCxnSpPr>
        <p:spPr>
          <a:xfrm rot="10800000">
            <a:off x="1434352" y="2498635"/>
            <a:ext cx="0" cy="536400"/>
          </a:xfrm>
          <a:prstGeom prst="straightConnector1">
            <a:avLst/>
          </a:prstGeom>
          <a:noFill/>
          <a:ln w="12700" cap="flat" cmpd="sng">
            <a:solidFill>
              <a:schemeClr val="dk1"/>
            </a:solidFill>
            <a:prstDash val="solid"/>
            <a:miter lim="800000"/>
            <a:headEnd type="none" w="sm" len="sm"/>
            <a:tailEnd type="triangle" w="med" len="med"/>
          </a:ln>
        </p:spPr>
      </p:cxnSp>
      <p:sp>
        <p:nvSpPr>
          <p:cNvPr id="309" name="Google Shape;309;p38"/>
          <p:cNvSpPr/>
          <p:nvPr/>
        </p:nvSpPr>
        <p:spPr>
          <a:xfrm>
            <a:off x="586253" y="331841"/>
            <a:ext cx="3356400" cy="331500"/>
          </a:xfrm>
          <a:prstGeom prst="rect">
            <a:avLst/>
          </a:prstGeom>
          <a:gradFill>
            <a:gsLst>
              <a:gs pos="0">
                <a:srgbClr val="474747"/>
              </a:gs>
              <a:gs pos="50000">
                <a:schemeClr val="dk1"/>
              </a:gs>
              <a:gs pos="100000">
                <a:schemeClr val="dk1"/>
              </a:gs>
            </a:gsLst>
            <a:lin ang="5400012" scaled="0"/>
          </a:gra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900">
                <a:solidFill>
                  <a:schemeClr val="lt1"/>
                </a:solidFill>
                <a:latin typeface="Calibri"/>
                <a:ea typeface="Calibri"/>
                <a:cs typeface="Calibri"/>
                <a:sym typeface="Calibri"/>
              </a:rPr>
              <a:t>Planning and Prioritization  – Month (M-1)</a:t>
            </a:r>
            <a:endParaRPr sz="900">
              <a:solidFill>
                <a:schemeClr val="lt1"/>
              </a:solidFill>
              <a:latin typeface="Calibri"/>
              <a:ea typeface="Calibri"/>
              <a:cs typeface="Calibri"/>
              <a:sym typeface="Calibri"/>
            </a:endParaRPr>
          </a:p>
        </p:txBody>
      </p:sp>
      <p:sp>
        <p:nvSpPr>
          <p:cNvPr id="310" name="Google Shape;310;p38"/>
          <p:cNvSpPr/>
          <p:nvPr/>
        </p:nvSpPr>
        <p:spPr>
          <a:xfrm>
            <a:off x="4026050" y="331841"/>
            <a:ext cx="1920300" cy="326700"/>
          </a:xfrm>
          <a:prstGeom prst="rect">
            <a:avLst/>
          </a:prstGeom>
          <a:gradFill>
            <a:gsLst>
              <a:gs pos="0">
                <a:srgbClr val="474747"/>
              </a:gs>
              <a:gs pos="50000">
                <a:schemeClr val="dk1"/>
              </a:gs>
              <a:gs pos="100000">
                <a:schemeClr val="dk1"/>
              </a:gs>
            </a:gsLst>
            <a:lin ang="5400012" scaled="0"/>
          </a:gra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900">
                <a:solidFill>
                  <a:schemeClr val="lt1"/>
                </a:solidFill>
                <a:latin typeface="Calibri"/>
                <a:ea typeface="Calibri"/>
                <a:cs typeface="Calibri"/>
                <a:sym typeface="Calibri"/>
              </a:rPr>
              <a:t>Execution - Month (M)</a:t>
            </a:r>
            <a:endParaRPr sz="900">
              <a:solidFill>
                <a:schemeClr val="lt1"/>
              </a:solidFill>
              <a:latin typeface="Calibri"/>
              <a:ea typeface="Calibri"/>
              <a:cs typeface="Calibri"/>
              <a:sym typeface="Calibri"/>
            </a:endParaRPr>
          </a:p>
        </p:txBody>
      </p:sp>
      <p:sp>
        <p:nvSpPr>
          <p:cNvPr id="311" name="Google Shape;311;p38"/>
          <p:cNvSpPr txBox="1"/>
          <p:nvPr/>
        </p:nvSpPr>
        <p:spPr>
          <a:xfrm>
            <a:off x="192113" y="0"/>
            <a:ext cx="7856700" cy="2769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CSG – SOW2 – KTLO</a:t>
            </a:r>
            <a:r>
              <a:rPr lang="en-US">
                <a:solidFill>
                  <a:schemeClr val="dk1"/>
                </a:solidFill>
                <a:latin typeface="Calibri"/>
                <a:ea typeface="Calibri"/>
                <a:cs typeface="Calibri"/>
                <a:sym typeface="Calibri"/>
              </a:rPr>
              <a:t>/</a:t>
            </a:r>
            <a:r>
              <a:rPr lang="en-US" sz="1400">
                <a:solidFill>
                  <a:schemeClr val="dk1"/>
                </a:solidFill>
                <a:latin typeface="Calibri"/>
                <a:ea typeface="Calibri"/>
                <a:cs typeface="Calibri"/>
                <a:sym typeface="Calibri"/>
              </a:rPr>
              <a:t> Minor </a:t>
            </a:r>
            <a:r>
              <a:rPr lang="en-US">
                <a:solidFill>
                  <a:schemeClr val="dk1"/>
                </a:solidFill>
                <a:latin typeface="Calibri"/>
                <a:ea typeface="Calibri"/>
                <a:cs typeface="Calibri"/>
                <a:sym typeface="Calibri"/>
              </a:rPr>
              <a:t>E</a:t>
            </a:r>
            <a:r>
              <a:rPr lang="en-US" sz="1400">
                <a:solidFill>
                  <a:schemeClr val="dk1"/>
                </a:solidFill>
                <a:latin typeface="Calibri"/>
                <a:ea typeface="Calibri"/>
                <a:cs typeface="Calibri"/>
                <a:sym typeface="Calibri"/>
              </a:rPr>
              <a:t>nhancement process flow</a:t>
            </a:r>
            <a:endParaRPr sz="1400">
              <a:solidFill>
                <a:schemeClr val="dk1"/>
              </a:solidFill>
              <a:latin typeface="Calibri"/>
              <a:ea typeface="Calibri"/>
              <a:cs typeface="Calibri"/>
              <a:sym typeface="Calibri"/>
            </a:endParaRPr>
          </a:p>
        </p:txBody>
      </p:sp>
      <p:sp>
        <p:nvSpPr>
          <p:cNvPr id="312" name="Google Shape;312;p38"/>
          <p:cNvSpPr/>
          <p:nvPr/>
        </p:nvSpPr>
        <p:spPr>
          <a:xfrm>
            <a:off x="6029708" y="331841"/>
            <a:ext cx="2973300" cy="321600"/>
          </a:xfrm>
          <a:prstGeom prst="rect">
            <a:avLst/>
          </a:prstGeom>
          <a:gradFill>
            <a:gsLst>
              <a:gs pos="0">
                <a:srgbClr val="474747"/>
              </a:gs>
              <a:gs pos="50000">
                <a:schemeClr val="dk1"/>
              </a:gs>
              <a:gs pos="100000">
                <a:schemeClr val="dk1"/>
              </a:gs>
            </a:gsLst>
            <a:lin ang="5400012" scaled="0"/>
          </a:gradFill>
          <a:ln w="9525"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900">
                <a:solidFill>
                  <a:schemeClr val="lt1"/>
                </a:solidFill>
                <a:latin typeface="Calibri"/>
                <a:ea typeface="Calibri"/>
                <a:cs typeface="Calibri"/>
                <a:sym typeface="Calibri"/>
              </a:rPr>
              <a:t>Acceptance/Completion – Month (M+1)</a:t>
            </a:r>
            <a:endParaRPr sz="900">
              <a:solidFill>
                <a:schemeClr val="lt1"/>
              </a:solidFill>
              <a:latin typeface="Calibri"/>
              <a:ea typeface="Calibri"/>
              <a:cs typeface="Calibri"/>
              <a:sym typeface="Calibri"/>
            </a:endParaRPr>
          </a:p>
        </p:txBody>
      </p:sp>
      <p:cxnSp>
        <p:nvCxnSpPr>
          <p:cNvPr id="313" name="Google Shape;313;p38"/>
          <p:cNvCxnSpPr>
            <a:stCxn id="300" idx="0"/>
            <a:endCxn id="288" idx="2"/>
          </p:cNvCxnSpPr>
          <p:nvPr/>
        </p:nvCxnSpPr>
        <p:spPr>
          <a:xfrm rot="10800000">
            <a:off x="4875982" y="2196587"/>
            <a:ext cx="0" cy="861600"/>
          </a:xfrm>
          <a:prstGeom prst="straightConnector1">
            <a:avLst/>
          </a:prstGeom>
          <a:noFill/>
          <a:ln w="12700" cap="flat" cmpd="sng">
            <a:solidFill>
              <a:schemeClr val="dk1"/>
            </a:solidFill>
            <a:prstDash val="solid"/>
            <a:miter lim="800000"/>
            <a:headEnd type="none" w="sm" len="sm"/>
            <a:tailEnd type="triangle" w="med" len="med"/>
          </a:ln>
        </p:spPr>
      </p:cxnSp>
      <p:cxnSp>
        <p:nvCxnSpPr>
          <p:cNvPr id="314" name="Google Shape;314;p38"/>
          <p:cNvCxnSpPr>
            <a:stCxn id="285" idx="3"/>
            <a:endCxn id="286" idx="1"/>
          </p:cNvCxnSpPr>
          <p:nvPr/>
        </p:nvCxnSpPr>
        <p:spPr>
          <a:xfrm rot="10800000" flipH="1">
            <a:off x="1983802" y="1470954"/>
            <a:ext cx="287400" cy="756300"/>
          </a:xfrm>
          <a:prstGeom prst="bentConnector3">
            <a:avLst>
              <a:gd name="adj1" fmla="val 50016"/>
            </a:avLst>
          </a:prstGeom>
          <a:noFill/>
          <a:ln w="12700" cap="flat" cmpd="sng">
            <a:solidFill>
              <a:schemeClr val="dk1"/>
            </a:solidFill>
            <a:prstDash val="solid"/>
            <a:miter lim="800000"/>
            <a:headEnd type="none" w="sm" len="sm"/>
            <a:tailEnd type="triangle" w="med" len="med"/>
          </a:ln>
        </p:spPr>
      </p:cxnSp>
      <p:cxnSp>
        <p:nvCxnSpPr>
          <p:cNvPr id="315" name="Google Shape;315;p38"/>
          <p:cNvCxnSpPr>
            <a:stCxn id="284" idx="3"/>
            <a:endCxn id="286" idx="1"/>
          </p:cNvCxnSpPr>
          <p:nvPr/>
        </p:nvCxnSpPr>
        <p:spPr>
          <a:xfrm>
            <a:off x="1983803" y="1471005"/>
            <a:ext cx="287400" cy="600"/>
          </a:xfrm>
          <a:prstGeom prst="bentConnector3">
            <a:avLst>
              <a:gd name="adj1" fmla="val 50000"/>
            </a:avLst>
          </a:prstGeom>
          <a:noFill/>
          <a:ln w="12700" cap="flat" cmpd="sng">
            <a:solidFill>
              <a:schemeClr val="dk1"/>
            </a:solidFill>
            <a:prstDash val="solid"/>
            <a:miter lim="800000"/>
            <a:headEnd type="none" w="sm" len="sm"/>
            <a:tailEnd type="triangle" w="med" len="med"/>
          </a:ln>
        </p:spPr>
      </p:cxnSp>
      <p:sp>
        <p:nvSpPr>
          <p:cNvPr id="316" name="Google Shape;316;p38"/>
          <p:cNvSpPr/>
          <p:nvPr/>
        </p:nvSpPr>
        <p:spPr>
          <a:xfrm>
            <a:off x="3049516" y="1955755"/>
            <a:ext cx="853200" cy="543000"/>
          </a:xfrm>
          <a:prstGeom prst="rect">
            <a:avLst/>
          </a:prstGeom>
          <a:noFill/>
          <a:ln w="9525" cap="flat" cmpd="sng">
            <a:solidFill>
              <a:schemeClr val="accent6"/>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Submit estimated KTLO/ME spend to ITMS team</a:t>
            </a:r>
            <a:endParaRPr sz="700">
              <a:solidFill>
                <a:schemeClr val="dk1"/>
              </a:solidFill>
              <a:latin typeface="Calibri"/>
              <a:ea typeface="Calibri"/>
              <a:cs typeface="Calibri"/>
              <a:sym typeface="Calibri"/>
            </a:endParaRPr>
          </a:p>
        </p:txBody>
      </p:sp>
      <p:cxnSp>
        <p:nvCxnSpPr>
          <p:cNvPr id="317" name="Google Shape;317;p38"/>
          <p:cNvCxnSpPr>
            <a:stCxn id="295" idx="2"/>
            <a:endCxn id="307" idx="0"/>
          </p:cNvCxnSpPr>
          <p:nvPr/>
        </p:nvCxnSpPr>
        <p:spPr>
          <a:xfrm flipH="1">
            <a:off x="2674505" y="4223349"/>
            <a:ext cx="3000" cy="305700"/>
          </a:xfrm>
          <a:prstGeom prst="straightConnector1">
            <a:avLst/>
          </a:prstGeom>
          <a:noFill/>
          <a:ln w="12700" cap="flat" cmpd="sng">
            <a:solidFill>
              <a:schemeClr val="dk1"/>
            </a:solidFill>
            <a:prstDash val="solid"/>
            <a:miter lim="800000"/>
            <a:headEnd type="none" w="sm" len="sm"/>
            <a:tailEnd type="triangle" w="med" len="med"/>
          </a:ln>
        </p:spPr>
      </p:cxnSp>
      <p:cxnSp>
        <p:nvCxnSpPr>
          <p:cNvPr id="318" name="Google Shape;318;p38"/>
          <p:cNvCxnSpPr>
            <a:stCxn id="302" idx="2"/>
            <a:endCxn id="303" idx="0"/>
          </p:cNvCxnSpPr>
          <p:nvPr/>
        </p:nvCxnSpPr>
        <p:spPr>
          <a:xfrm>
            <a:off x="6792550" y="4137972"/>
            <a:ext cx="0" cy="111000"/>
          </a:xfrm>
          <a:prstGeom prst="straightConnector1">
            <a:avLst/>
          </a:prstGeom>
          <a:noFill/>
          <a:ln w="12700" cap="flat" cmpd="sng">
            <a:solidFill>
              <a:schemeClr val="dk1"/>
            </a:solidFill>
            <a:prstDash val="solid"/>
            <a:miter lim="800000"/>
            <a:headEnd type="none" w="sm" len="sm"/>
            <a:tailEnd type="triangle" w="med" len="med"/>
          </a:ln>
        </p:spPr>
      </p:cxnSp>
      <p:cxnSp>
        <p:nvCxnSpPr>
          <p:cNvPr id="319" name="Google Shape;319;p38"/>
          <p:cNvCxnSpPr>
            <a:stCxn id="302" idx="3"/>
            <a:endCxn id="320" idx="2"/>
          </p:cNvCxnSpPr>
          <p:nvPr/>
        </p:nvCxnSpPr>
        <p:spPr>
          <a:xfrm>
            <a:off x="7385051" y="3791251"/>
            <a:ext cx="176100" cy="6000"/>
          </a:xfrm>
          <a:prstGeom prst="straightConnector1">
            <a:avLst/>
          </a:prstGeom>
          <a:noFill/>
          <a:ln w="12700" cap="flat" cmpd="sng">
            <a:solidFill>
              <a:schemeClr val="dk1"/>
            </a:solidFill>
            <a:prstDash val="solid"/>
            <a:miter lim="800000"/>
            <a:headEnd type="none" w="sm" len="sm"/>
            <a:tailEnd type="triangle" w="med" len="med"/>
          </a:ln>
        </p:spPr>
      </p:cxnSp>
      <p:sp>
        <p:nvSpPr>
          <p:cNvPr id="320" name="Google Shape;320;p38"/>
          <p:cNvSpPr/>
          <p:nvPr/>
        </p:nvSpPr>
        <p:spPr>
          <a:xfrm>
            <a:off x="7561258" y="3699383"/>
            <a:ext cx="201600" cy="195900"/>
          </a:xfrm>
          <a:prstGeom prst="flowChartConnector">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600">
                <a:solidFill>
                  <a:schemeClr val="dk1"/>
                </a:solidFill>
                <a:latin typeface="Calibri"/>
                <a:ea typeface="Calibri"/>
                <a:cs typeface="Calibri"/>
                <a:sym typeface="Calibri"/>
              </a:rPr>
              <a:t>B</a:t>
            </a:r>
            <a:endParaRPr sz="1100"/>
          </a:p>
        </p:txBody>
      </p:sp>
      <p:sp>
        <p:nvSpPr>
          <p:cNvPr id="321" name="Google Shape;321;p38"/>
          <p:cNvSpPr/>
          <p:nvPr/>
        </p:nvSpPr>
        <p:spPr>
          <a:xfrm>
            <a:off x="8191669" y="1084477"/>
            <a:ext cx="201600" cy="146400"/>
          </a:xfrm>
          <a:prstGeom prst="flowChartConnector">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600">
                <a:solidFill>
                  <a:schemeClr val="dk1"/>
                </a:solidFill>
                <a:latin typeface="Calibri"/>
                <a:ea typeface="Calibri"/>
                <a:cs typeface="Calibri"/>
                <a:sym typeface="Calibri"/>
              </a:rPr>
              <a:t>B</a:t>
            </a:r>
            <a:endParaRPr sz="1100"/>
          </a:p>
        </p:txBody>
      </p:sp>
      <p:cxnSp>
        <p:nvCxnSpPr>
          <p:cNvPr id="322" name="Google Shape;322;p38"/>
          <p:cNvCxnSpPr>
            <a:stCxn id="321" idx="4"/>
            <a:endCxn id="289" idx="0"/>
          </p:cNvCxnSpPr>
          <p:nvPr/>
        </p:nvCxnSpPr>
        <p:spPr>
          <a:xfrm>
            <a:off x="8292469" y="1230877"/>
            <a:ext cx="3000" cy="133800"/>
          </a:xfrm>
          <a:prstGeom prst="straightConnector1">
            <a:avLst/>
          </a:prstGeom>
          <a:noFill/>
          <a:ln w="12700" cap="flat" cmpd="sng">
            <a:solidFill>
              <a:schemeClr val="dk1"/>
            </a:solidFill>
            <a:prstDash val="solid"/>
            <a:miter lim="800000"/>
            <a:headEnd type="none" w="sm" len="sm"/>
            <a:tailEnd type="triangle" w="med" len="med"/>
          </a:ln>
        </p:spPr>
      </p:cxnSp>
      <p:cxnSp>
        <p:nvCxnSpPr>
          <p:cNvPr id="323" name="Google Shape;323;p38"/>
          <p:cNvCxnSpPr>
            <a:stCxn id="324" idx="2"/>
            <a:endCxn id="301" idx="0"/>
          </p:cNvCxnSpPr>
          <p:nvPr/>
        </p:nvCxnSpPr>
        <p:spPr>
          <a:xfrm>
            <a:off x="6792549" y="1700934"/>
            <a:ext cx="0" cy="1261800"/>
          </a:xfrm>
          <a:prstGeom prst="straightConnector1">
            <a:avLst/>
          </a:prstGeom>
          <a:noFill/>
          <a:ln w="12700" cap="flat" cmpd="sng">
            <a:solidFill>
              <a:schemeClr val="dk1"/>
            </a:solidFill>
            <a:prstDash val="solid"/>
            <a:miter lim="800000"/>
            <a:headEnd type="none" w="sm" len="sm"/>
            <a:tailEnd type="triangle" w="med" len="med"/>
          </a:ln>
        </p:spPr>
      </p:cxnSp>
      <p:cxnSp>
        <p:nvCxnSpPr>
          <p:cNvPr id="325" name="Google Shape;325;p38"/>
          <p:cNvCxnSpPr>
            <a:stCxn id="286" idx="2"/>
            <a:endCxn id="296" idx="0"/>
          </p:cNvCxnSpPr>
          <p:nvPr/>
        </p:nvCxnSpPr>
        <p:spPr>
          <a:xfrm>
            <a:off x="2676892" y="1780905"/>
            <a:ext cx="5700" cy="1156500"/>
          </a:xfrm>
          <a:prstGeom prst="straightConnector1">
            <a:avLst/>
          </a:prstGeom>
          <a:noFill/>
          <a:ln w="12700" cap="flat" cmpd="sng">
            <a:solidFill>
              <a:schemeClr val="dk1"/>
            </a:solidFill>
            <a:prstDash val="solid"/>
            <a:miter lim="800000"/>
            <a:headEnd type="none" w="sm" len="sm"/>
            <a:tailEnd type="triangle" w="med" len="med"/>
          </a:ln>
        </p:spPr>
      </p:cxnSp>
      <p:cxnSp>
        <p:nvCxnSpPr>
          <p:cNvPr id="326" name="Google Shape;326;p38"/>
          <p:cNvCxnSpPr>
            <a:stCxn id="289" idx="2"/>
            <a:endCxn id="290" idx="0"/>
          </p:cNvCxnSpPr>
          <p:nvPr/>
        </p:nvCxnSpPr>
        <p:spPr>
          <a:xfrm>
            <a:off x="8295575" y="1703562"/>
            <a:ext cx="0" cy="254700"/>
          </a:xfrm>
          <a:prstGeom prst="straightConnector1">
            <a:avLst/>
          </a:prstGeom>
          <a:noFill/>
          <a:ln w="12700" cap="flat" cmpd="sng">
            <a:solidFill>
              <a:schemeClr val="dk1"/>
            </a:solidFill>
            <a:prstDash val="solid"/>
            <a:miter lim="800000"/>
            <a:headEnd type="none" w="sm" len="sm"/>
            <a:tailEnd type="triangle" w="med" len="med"/>
          </a:ln>
        </p:spPr>
      </p:cxnSp>
      <p:sp>
        <p:nvSpPr>
          <p:cNvPr id="324" name="Google Shape;324;p38"/>
          <p:cNvSpPr/>
          <p:nvPr/>
        </p:nvSpPr>
        <p:spPr>
          <a:xfrm>
            <a:off x="6200049" y="1157934"/>
            <a:ext cx="1185000" cy="5430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Update the actual hours, activities in the substantiation file and submit to governance teams</a:t>
            </a:r>
            <a:endParaRPr sz="700">
              <a:solidFill>
                <a:schemeClr val="dk1"/>
              </a:solidFill>
              <a:latin typeface="Calibri"/>
              <a:ea typeface="Calibri"/>
              <a:cs typeface="Calibri"/>
              <a:sym typeface="Calibri"/>
            </a:endParaRPr>
          </a:p>
        </p:txBody>
      </p:sp>
      <p:cxnSp>
        <p:nvCxnSpPr>
          <p:cNvPr id="327" name="Google Shape;327;p38"/>
          <p:cNvCxnSpPr>
            <a:stCxn id="316" idx="3"/>
            <a:endCxn id="288" idx="1"/>
          </p:cNvCxnSpPr>
          <p:nvPr/>
        </p:nvCxnSpPr>
        <p:spPr>
          <a:xfrm rot="10800000" flipH="1">
            <a:off x="3902716" y="1925155"/>
            <a:ext cx="449700" cy="302100"/>
          </a:xfrm>
          <a:prstGeom prst="bentConnector3">
            <a:avLst>
              <a:gd name="adj1" fmla="val 50001"/>
            </a:avLst>
          </a:prstGeom>
          <a:noFill/>
          <a:ln w="12700" cap="flat" cmpd="sng">
            <a:solidFill>
              <a:schemeClr val="dk1"/>
            </a:solidFill>
            <a:prstDash val="solid"/>
            <a:miter lim="800000"/>
            <a:headEnd type="none" w="sm" len="sm"/>
            <a:tailEnd type="triangle" w="med" len="med"/>
          </a:ln>
        </p:spPr>
      </p:cxnSp>
      <p:sp>
        <p:nvSpPr>
          <p:cNvPr id="328" name="Google Shape;328;p38"/>
          <p:cNvSpPr/>
          <p:nvPr/>
        </p:nvSpPr>
        <p:spPr>
          <a:xfrm>
            <a:off x="6280846" y="4862100"/>
            <a:ext cx="1026300" cy="228600"/>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End</a:t>
            </a:r>
            <a:endParaRPr sz="1100"/>
          </a:p>
        </p:txBody>
      </p:sp>
      <p:cxnSp>
        <p:nvCxnSpPr>
          <p:cNvPr id="329" name="Google Shape;329;p38"/>
          <p:cNvCxnSpPr>
            <a:stCxn id="303" idx="2"/>
            <a:endCxn id="328" idx="0"/>
          </p:cNvCxnSpPr>
          <p:nvPr/>
        </p:nvCxnSpPr>
        <p:spPr>
          <a:xfrm>
            <a:off x="6792548" y="4771312"/>
            <a:ext cx="1500" cy="90900"/>
          </a:xfrm>
          <a:prstGeom prst="straightConnector1">
            <a:avLst/>
          </a:prstGeom>
          <a:noFill/>
          <a:ln w="12700" cap="flat" cmpd="sng">
            <a:solidFill>
              <a:schemeClr val="dk1"/>
            </a:solidFill>
            <a:prstDash val="solid"/>
            <a:miter lim="800000"/>
            <a:headEnd type="none" w="sm" len="sm"/>
            <a:tailEnd type="triangle" w="med" len="med"/>
          </a:ln>
        </p:spPr>
      </p:cxnSp>
      <p:cxnSp>
        <p:nvCxnSpPr>
          <p:cNvPr id="330" name="Google Shape;330;p38"/>
          <p:cNvCxnSpPr>
            <a:stCxn id="290" idx="1"/>
            <a:endCxn id="324" idx="3"/>
          </p:cNvCxnSpPr>
          <p:nvPr/>
        </p:nvCxnSpPr>
        <p:spPr>
          <a:xfrm rot="10800000">
            <a:off x="7385075" y="1429577"/>
            <a:ext cx="318000" cy="715500"/>
          </a:xfrm>
          <a:prstGeom prst="bentConnector3">
            <a:avLst>
              <a:gd name="adj1" fmla="val 50015"/>
            </a:avLst>
          </a:prstGeom>
          <a:noFill/>
          <a:ln w="12700" cap="flat" cmpd="sng">
            <a:solidFill>
              <a:schemeClr val="dk1"/>
            </a:solidFill>
            <a:prstDash val="solid"/>
            <a:miter lim="800000"/>
            <a:headEnd type="none" w="sm" len="sm"/>
            <a:tailEnd type="triangle" w="med" len="med"/>
          </a:ln>
        </p:spPr>
      </p:cxnSp>
      <p:sp>
        <p:nvSpPr>
          <p:cNvPr id="331" name="Google Shape;331;p38"/>
          <p:cNvSpPr/>
          <p:nvPr/>
        </p:nvSpPr>
        <p:spPr>
          <a:xfrm>
            <a:off x="4352481" y="1119268"/>
            <a:ext cx="1047000" cy="3486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Unplanned/emergency KTLO activities </a:t>
            </a:r>
            <a:endParaRPr sz="1100"/>
          </a:p>
        </p:txBody>
      </p:sp>
      <p:cxnSp>
        <p:nvCxnSpPr>
          <p:cNvPr id="332" name="Google Shape;332;p38"/>
          <p:cNvCxnSpPr>
            <a:stCxn id="331" idx="2"/>
            <a:endCxn id="288" idx="0"/>
          </p:cNvCxnSpPr>
          <p:nvPr/>
        </p:nvCxnSpPr>
        <p:spPr>
          <a:xfrm>
            <a:off x="4875981" y="1467868"/>
            <a:ext cx="0" cy="185700"/>
          </a:xfrm>
          <a:prstGeom prst="straightConnector1">
            <a:avLst/>
          </a:prstGeom>
          <a:noFill/>
          <a:ln w="12700" cap="flat" cmpd="sng">
            <a:solidFill>
              <a:schemeClr val="dk1"/>
            </a:solidFill>
            <a:prstDash val="solid"/>
            <a:miter lim="800000"/>
            <a:headEnd type="none" w="sm" len="sm"/>
            <a:tailEnd type="triangle" w="med" len="med"/>
          </a:ln>
        </p:spPr>
      </p:cxnSp>
      <p:cxnSp>
        <p:nvCxnSpPr>
          <p:cNvPr id="333" name="Google Shape;333;p38"/>
          <p:cNvCxnSpPr>
            <a:stCxn id="288" idx="3"/>
            <a:endCxn id="324" idx="1"/>
          </p:cNvCxnSpPr>
          <p:nvPr/>
        </p:nvCxnSpPr>
        <p:spPr>
          <a:xfrm rot="10800000" flipH="1">
            <a:off x="5399482" y="1429541"/>
            <a:ext cx="800700" cy="495600"/>
          </a:xfrm>
          <a:prstGeom prst="bentConnector3">
            <a:avLst>
              <a:gd name="adj1" fmla="val 50001"/>
            </a:avLst>
          </a:prstGeom>
          <a:noFill/>
          <a:ln w="12700" cap="flat" cmpd="sng">
            <a:solidFill>
              <a:schemeClr val="dk1"/>
            </a:solidFill>
            <a:prstDash val="solid"/>
            <a:miter lim="800000"/>
            <a:headEnd type="none" w="sm" len="sm"/>
            <a:tailEnd type="triangle" w="med" len="med"/>
          </a:ln>
        </p:spPr>
      </p:cxnSp>
      <p:cxnSp>
        <p:nvCxnSpPr>
          <p:cNvPr id="334" name="Google Shape;334;p38"/>
          <p:cNvCxnSpPr/>
          <p:nvPr/>
        </p:nvCxnSpPr>
        <p:spPr>
          <a:xfrm rot="10800000" flipH="1">
            <a:off x="486705" y="2884544"/>
            <a:ext cx="8657400" cy="24900"/>
          </a:xfrm>
          <a:prstGeom prst="straightConnector1">
            <a:avLst/>
          </a:prstGeom>
          <a:noFill/>
          <a:ln w="9525" cap="flat" cmpd="sng">
            <a:solidFill>
              <a:schemeClr val="accent1"/>
            </a:solidFill>
            <a:prstDash val="dash"/>
            <a:miter lim="800000"/>
            <a:headEnd type="none" w="sm" len="sm"/>
            <a:tailEnd type="none" w="sm" len="sm"/>
          </a:ln>
        </p:spPr>
      </p:cxnSp>
      <p:cxnSp>
        <p:nvCxnSpPr>
          <p:cNvPr id="335" name="Google Shape;335;p38"/>
          <p:cNvCxnSpPr/>
          <p:nvPr/>
        </p:nvCxnSpPr>
        <p:spPr>
          <a:xfrm>
            <a:off x="4024153" y="658556"/>
            <a:ext cx="19500" cy="4485000"/>
          </a:xfrm>
          <a:prstGeom prst="straightConnector1">
            <a:avLst/>
          </a:prstGeom>
          <a:noFill/>
          <a:ln w="12700" cap="flat" cmpd="sng">
            <a:solidFill>
              <a:schemeClr val="accent3"/>
            </a:solidFill>
            <a:prstDash val="solid"/>
            <a:miter lim="800000"/>
            <a:headEnd type="none" w="sm" len="sm"/>
            <a:tailEnd type="none" w="sm" len="sm"/>
          </a:ln>
        </p:spPr>
      </p:cxnSp>
      <p:cxnSp>
        <p:nvCxnSpPr>
          <p:cNvPr id="336" name="Google Shape;336;p38"/>
          <p:cNvCxnSpPr/>
          <p:nvPr/>
        </p:nvCxnSpPr>
        <p:spPr>
          <a:xfrm>
            <a:off x="5968577" y="658556"/>
            <a:ext cx="12900" cy="4485000"/>
          </a:xfrm>
          <a:prstGeom prst="straightConnector1">
            <a:avLst/>
          </a:prstGeom>
          <a:noFill/>
          <a:ln w="12700" cap="flat" cmpd="sng">
            <a:solidFill>
              <a:schemeClr val="accent3"/>
            </a:solidFill>
            <a:prstDash val="solid"/>
            <a:miter lim="800000"/>
            <a:headEnd type="none" w="sm" len="sm"/>
            <a:tailEnd type="none" w="sm" len="sm"/>
          </a:ln>
        </p:spPr>
      </p:cxnSp>
      <p:grpSp>
        <p:nvGrpSpPr>
          <p:cNvPr id="337" name="Google Shape;337;p38"/>
          <p:cNvGrpSpPr/>
          <p:nvPr/>
        </p:nvGrpSpPr>
        <p:grpSpPr>
          <a:xfrm>
            <a:off x="1921349" y="1076056"/>
            <a:ext cx="137169" cy="169407"/>
            <a:chOff x="4511701" y="1245053"/>
            <a:chExt cx="329100" cy="363300"/>
          </a:xfrm>
        </p:grpSpPr>
        <p:sp>
          <p:nvSpPr>
            <p:cNvPr id="338" name="Google Shape;338;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15</a:t>
              </a:r>
              <a:endParaRPr sz="800">
                <a:solidFill>
                  <a:schemeClr val="dk1"/>
                </a:solidFill>
                <a:latin typeface="Calibri"/>
                <a:ea typeface="Calibri"/>
                <a:cs typeface="Calibri"/>
                <a:sym typeface="Calibri"/>
              </a:endParaRPr>
            </a:p>
          </p:txBody>
        </p:sp>
        <p:sp>
          <p:nvSpPr>
            <p:cNvPr id="339" name="Google Shape;339;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40" name="Google Shape;340;p38"/>
          <p:cNvGrpSpPr/>
          <p:nvPr/>
        </p:nvGrpSpPr>
        <p:grpSpPr>
          <a:xfrm>
            <a:off x="1905632" y="1831343"/>
            <a:ext cx="137169" cy="171441"/>
            <a:chOff x="4511701" y="1245053"/>
            <a:chExt cx="329100" cy="363300"/>
          </a:xfrm>
        </p:grpSpPr>
        <p:sp>
          <p:nvSpPr>
            <p:cNvPr id="341" name="Google Shape;341;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15</a:t>
              </a:r>
              <a:endParaRPr sz="800">
                <a:solidFill>
                  <a:schemeClr val="dk1"/>
                </a:solidFill>
                <a:latin typeface="Calibri"/>
                <a:ea typeface="Calibri"/>
                <a:cs typeface="Calibri"/>
                <a:sym typeface="Calibri"/>
              </a:endParaRPr>
            </a:p>
          </p:txBody>
        </p:sp>
        <p:sp>
          <p:nvSpPr>
            <p:cNvPr id="342" name="Google Shape;342;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43" name="Google Shape;343;p38"/>
          <p:cNvGrpSpPr/>
          <p:nvPr/>
        </p:nvGrpSpPr>
        <p:grpSpPr>
          <a:xfrm>
            <a:off x="1822094" y="2957555"/>
            <a:ext cx="137169" cy="171441"/>
            <a:chOff x="4511701" y="1245053"/>
            <a:chExt cx="329100" cy="363300"/>
          </a:xfrm>
        </p:grpSpPr>
        <p:sp>
          <p:nvSpPr>
            <p:cNvPr id="344" name="Google Shape;344;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15</a:t>
              </a:r>
              <a:endParaRPr sz="800">
                <a:solidFill>
                  <a:schemeClr val="dk1"/>
                </a:solidFill>
                <a:latin typeface="Calibri"/>
                <a:ea typeface="Calibri"/>
                <a:cs typeface="Calibri"/>
                <a:sym typeface="Calibri"/>
              </a:endParaRPr>
            </a:p>
          </p:txBody>
        </p:sp>
        <p:sp>
          <p:nvSpPr>
            <p:cNvPr id="345" name="Google Shape;345;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46" name="Google Shape;346;p38"/>
          <p:cNvGrpSpPr/>
          <p:nvPr/>
        </p:nvGrpSpPr>
        <p:grpSpPr>
          <a:xfrm>
            <a:off x="3010139" y="2920537"/>
            <a:ext cx="137169" cy="171441"/>
            <a:chOff x="4511701" y="1245053"/>
            <a:chExt cx="329100" cy="363300"/>
          </a:xfrm>
        </p:grpSpPr>
        <p:sp>
          <p:nvSpPr>
            <p:cNvPr id="347" name="Google Shape;347;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18</a:t>
              </a:r>
              <a:endParaRPr sz="800">
                <a:solidFill>
                  <a:schemeClr val="dk1"/>
                </a:solidFill>
                <a:latin typeface="Calibri"/>
                <a:ea typeface="Calibri"/>
                <a:cs typeface="Calibri"/>
                <a:sym typeface="Calibri"/>
              </a:endParaRPr>
            </a:p>
          </p:txBody>
        </p:sp>
        <p:sp>
          <p:nvSpPr>
            <p:cNvPr id="348" name="Google Shape;348;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49" name="Google Shape;349;p38"/>
          <p:cNvGrpSpPr/>
          <p:nvPr/>
        </p:nvGrpSpPr>
        <p:grpSpPr>
          <a:xfrm>
            <a:off x="2839081" y="3667964"/>
            <a:ext cx="137169" cy="171441"/>
            <a:chOff x="4511701" y="1245053"/>
            <a:chExt cx="329100" cy="363300"/>
          </a:xfrm>
        </p:grpSpPr>
        <p:sp>
          <p:nvSpPr>
            <p:cNvPr id="350" name="Google Shape;350;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28</a:t>
              </a:r>
              <a:endParaRPr sz="800">
                <a:solidFill>
                  <a:schemeClr val="dk1"/>
                </a:solidFill>
                <a:latin typeface="Calibri"/>
                <a:ea typeface="Calibri"/>
                <a:cs typeface="Calibri"/>
                <a:sym typeface="Calibri"/>
              </a:endParaRPr>
            </a:p>
          </p:txBody>
        </p:sp>
        <p:sp>
          <p:nvSpPr>
            <p:cNvPr id="351" name="Google Shape;351;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52" name="Google Shape;352;p38"/>
          <p:cNvGrpSpPr/>
          <p:nvPr/>
        </p:nvGrpSpPr>
        <p:grpSpPr>
          <a:xfrm>
            <a:off x="3774852" y="1847036"/>
            <a:ext cx="137169" cy="171441"/>
            <a:chOff x="4511701" y="1245053"/>
            <a:chExt cx="329100" cy="363300"/>
          </a:xfrm>
        </p:grpSpPr>
        <p:sp>
          <p:nvSpPr>
            <p:cNvPr id="353" name="Google Shape;353;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28</a:t>
              </a:r>
              <a:endParaRPr sz="800">
                <a:solidFill>
                  <a:schemeClr val="dk1"/>
                </a:solidFill>
                <a:latin typeface="Calibri"/>
                <a:ea typeface="Calibri"/>
                <a:cs typeface="Calibri"/>
                <a:sym typeface="Calibri"/>
              </a:endParaRPr>
            </a:p>
          </p:txBody>
        </p:sp>
        <p:sp>
          <p:nvSpPr>
            <p:cNvPr id="354" name="Google Shape;354;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55" name="Google Shape;355;p38"/>
          <p:cNvGrpSpPr/>
          <p:nvPr/>
        </p:nvGrpSpPr>
        <p:grpSpPr>
          <a:xfrm>
            <a:off x="7263660" y="1083133"/>
            <a:ext cx="137169" cy="171441"/>
            <a:chOff x="4511701" y="1245053"/>
            <a:chExt cx="329100" cy="363300"/>
          </a:xfrm>
        </p:grpSpPr>
        <p:sp>
          <p:nvSpPr>
            <p:cNvPr id="356" name="Google Shape;356;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6</a:t>
              </a:r>
              <a:endParaRPr sz="800">
                <a:solidFill>
                  <a:schemeClr val="dk1"/>
                </a:solidFill>
                <a:latin typeface="Calibri"/>
                <a:ea typeface="Calibri"/>
                <a:cs typeface="Calibri"/>
                <a:sym typeface="Calibri"/>
              </a:endParaRPr>
            </a:p>
          </p:txBody>
        </p:sp>
        <p:sp>
          <p:nvSpPr>
            <p:cNvPr id="357" name="Google Shape;357;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58" name="Google Shape;358;p38"/>
          <p:cNvGrpSpPr/>
          <p:nvPr/>
        </p:nvGrpSpPr>
        <p:grpSpPr>
          <a:xfrm>
            <a:off x="8780765" y="1885247"/>
            <a:ext cx="137169" cy="171441"/>
            <a:chOff x="4511701" y="1245053"/>
            <a:chExt cx="329100" cy="363300"/>
          </a:xfrm>
        </p:grpSpPr>
        <p:sp>
          <p:nvSpPr>
            <p:cNvPr id="359" name="Google Shape;359;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11</a:t>
              </a:r>
              <a:endParaRPr sz="800">
                <a:solidFill>
                  <a:schemeClr val="dk1"/>
                </a:solidFill>
                <a:latin typeface="Calibri"/>
                <a:ea typeface="Calibri"/>
                <a:cs typeface="Calibri"/>
                <a:sym typeface="Calibri"/>
              </a:endParaRPr>
            </a:p>
          </p:txBody>
        </p:sp>
        <p:sp>
          <p:nvSpPr>
            <p:cNvPr id="360" name="Google Shape;360;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61" name="Google Shape;361;p38"/>
          <p:cNvGrpSpPr/>
          <p:nvPr/>
        </p:nvGrpSpPr>
        <p:grpSpPr>
          <a:xfrm>
            <a:off x="7337677" y="2949275"/>
            <a:ext cx="137169" cy="171441"/>
            <a:chOff x="4511701" y="1245053"/>
            <a:chExt cx="329100" cy="363300"/>
          </a:xfrm>
        </p:grpSpPr>
        <p:sp>
          <p:nvSpPr>
            <p:cNvPr id="362" name="Google Shape;362;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8</a:t>
              </a:r>
              <a:endParaRPr sz="800">
                <a:solidFill>
                  <a:schemeClr val="dk1"/>
                </a:solidFill>
                <a:latin typeface="Calibri"/>
                <a:ea typeface="Calibri"/>
                <a:cs typeface="Calibri"/>
                <a:sym typeface="Calibri"/>
              </a:endParaRPr>
            </a:p>
          </p:txBody>
        </p:sp>
        <p:sp>
          <p:nvSpPr>
            <p:cNvPr id="363" name="Google Shape;363;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64" name="Google Shape;364;p38"/>
          <p:cNvGrpSpPr/>
          <p:nvPr/>
        </p:nvGrpSpPr>
        <p:grpSpPr>
          <a:xfrm>
            <a:off x="7037987" y="3474344"/>
            <a:ext cx="137169" cy="171441"/>
            <a:chOff x="4511701" y="1245053"/>
            <a:chExt cx="329100" cy="363300"/>
          </a:xfrm>
        </p:grpSpPr>
        <p:sp>
          <p:nvSpPr>
            <p:cNvPr id="365" name="Google Shape;365;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13</a:t>
              </a:r>
              <a:endParaRPr sz="800">
                <a:solidFill>
                  <a:schemeClr val="dk1"/>
                </a:solidFill>
                <a:latin typeface="Calibri"/>
                <a:ea typeface="Calibri"/>
                <a:cs typeface="Calibri"/>
                <a:sym typeface="Calibri"/>
              </a:endParaRPr>
            </a:p>
          </p:txBody>
        </p:sp>
        <p:sp>
          <p:nvSpPr>
            <p:cNvPr id="366" name="Google Shape;366;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67" name="Google Shape;367;p38"/>
          <p:cNvGrpSpPr/>
          <p:nvPr/>
        </p:nvGrpSpPr>
        <p:grpSpPr>
          <a:xfrm>
            <a:off x="7294115" y="4175724"/>
            <a:ext cx="137169" cy="171441"/>
            <a:chOff x="4511701" y="1245053"/>
            <a:chExt cx="329100" cy="363300"/>
          </a:xfrm>
        </p:grpSpPr>
        <p:sp>
          <p:nvSpPr>
            <p:cNvPr id="368" name="Google Shape;368;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14</a:t>
              </a:r>
              <a:endParaRPr sz="800">
                <a:solidFill>
                  <a:schemeClr val="dk1"/>
                </a:solidFill>
                <a:latin typeface="Calibri"/>
                <a:ea typeface="Calibri"/>
                <a:cs typeface="Calibri"/>
                <a:sym typeface="Calibri"/>
              </a:endParaRPr>
            </a:p>
          </p:txBody>
        </p:sp>
        <p:sp>
          <p:nvSpPr>
            <p:cNvPr id="369" name="Google Shape;369;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grpSp>
        <p:nvGrpSpPr>
          <p:cNvPr id="370" name="Google Shape;370;p38"/>
          <p:cNvGrpSpPr/>
          <p:nvPr/>
        </p:nvGrpSpPr>
        <p:grpSpPr>
          <a:xfrm>
            <a:off x="8595150" y="4816761"/>
            <a:ext cx="137169" cy="171441"/>
            <a:chOff x="4511701" y="1245053"/>
            <a:chExt cx="329100" cy="363300"/>
          </a:xfrm>
        </p:grpSpPr>
        <p:sp>
          <p:nvSpPr>
            <p:cNvPr id="371" name="Google Shape;371;p38"/>
            <p:cNvSpPr/>
            <p:nvPr/>
          </p:nvSpPr>
          <p:spPr>
            <a:xfrm>
              <a:off x="4511701" y="1245053"/>
              <a:ext cx="329100" cy="363300"/>
            </a:xfrm>
            <a:prstGeom prst="rect">
              <a:avLst/>
            </a:prstGeom>
            <a:solidFill>
              <a:schemeClr val="lt1"/>
            </a:solidFill>
            <a:ln w="12700" cap="flat" cmpd="sng">
              <a:solidFill>
                <a:schemeClr val="accent5"/>
              </a:solidFill>
              <a:prstDash val="solid"/>
              <a:miter lim="800000"/>
              <a:headEnd type="none" w="sm" len="sm"/>
              <a:tailEnd type="none" w="sm" len="sm"/>
            </a:ln>
          </p:spPr>
          <p:txBody>
            <a:bodyPr spcFirstLastPara="1" wrap="square" lIns="0" tIns="0" rIns="0" bIns="0" anchor="b" anchorCtr="0">
              <a:noAutofit/>
            </a:bodyPr>
            <a:lstStyle/>
            <a:p>
              <a:pPr marL="0" marR="0" lvl="0" indent="0" algn="ctr" rtl="0">
                <a:spcBef>
                  <a:spcPts val="0"/>
                </a:spcBef>
                <a:spcAft>
                  <a:spcPts val="0"/>
                </a:spcAft>
                <a:buNone/>
              </a:pPr>
              <a:r>
                <a:rPr lang="en-US" sz="800">
                  <a:solidFill>
                    <a:schemeClr val="dk1"/>
                  </a:solidFill>
                  <a:latin typeface="Calibri"/>
                  <a:ea typeface="Calibri"/>
                  <a:cs typeface="Calibri"/>
                  <a:sym typeface="Calibri"/>
                </a:rPr>
                <a:t>31</a:t>
              </a:r>
              <a:endParaRPr sz="800">
                <a:solidFill>
                  <a:schemeClr val="dk1"/>
                </a:solidFill>
                <a:latin typeface="Calibri"/>
                <a:ea typeface="Calibri"/>
                <a:cs typeface="Calibri"/>
                <a:sym typeface="Calibri"/>
              </a:endParaRPr>
            </a:p>
          </p:txBody>
        </p:sp>
        <p:sp>
          <p:nvSpPr>
            <p:cNvPr id="372" name="Google Shape;372;p38"/>
            <p:cNvSpPr/>
            <p:nvPr/>
          </p:nvSpPr>
          <p:spPr>
            <a:xfrm>
              <a:off x="4511701" y="1253986"/>
              <a:ext cx="329100" cy="114600"/>
            </a:xfrm>
            <a:prstGeom prst="rect">
              <a:avLst/>
            </a:prstGeom>
            <a:solidFill>
              <a:schemeClr val="accent1"/>
            </a:solid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sp>
        <p:nvSpPr>
          <p:cNvPr id="373" name="Google Shape;373;p38"/>
          <p:cNvSpPr txBox="1"/>
          <p:nvPr/>
        </p:nvSpPr>
        <p:spPr>
          <a:xfrm>
            <a:off x="8691704" y="4787104"/>
            <a:ext cx="393000" cy="2307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US" sz="500">
                <a:solidFill>
                  <a:schemeClr val="dk1"/>
                </a:solidFill>
                <a:latin typeface="Calibri"/>
                <a:ea typeface="Calibri"/>
                <a:cs typeface="Calibri"/>
                <a:sym typeface="Calibri"/>
              </a:rPr>
              <a:t>Day of Month</a:t>
            </a:r>
            <a:endParaRPr sz="500">
              <a:solidFill>
                <a:schemeClr val="dk1"/>
              </a:solidFill>
              <a:latin typeface="Calibri"/>
              <a:ea typeface="Calibri"/>
              <a:cs typeface="Calibri"/>
              <a:sym typeface="Calibri"/>
            </a:endParaRPr>
          </a:p>
        </p:txBody>
      </p:sp>
      <p:sp>
        <p:nvSpPr>
          <p:cNvPr id="374" name="Google Shape;374;p38"/>
          <p:cNvSpPr/>
          <p:nvPr/>
        </p:nvSpPr>
        <p:spPr>
          <a:xfrm>
            <a:off x="3380867" y="901180"/>
            <a:ext cx="201600" cy="195900"/>
          </a:xfrm>
          <a:prstGeom prst="flowChartConnector">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600">
                <a:solidFill>
                  <a:schemeClr val="dk1"/>
                </a:solidFill>
                <a:latin typeface="Calibri"/>
                <a:ea typeface="Calibri"/>
                <a:cs typeface="Calibri"/>
                <a:sym typeface="Calibri"/>
              </a:rPr>
              <a:t>C</a:t>
            </a:r>
            <a:endParaRPr sz="600">
              <a:solidFill>
                <a:schemeClr val="dk1"/>
              </a:solidFill>
              <a:latin typeface="Calibri"/>
              <a:ea typeface="Calibri"/>
              <a:cs typeface="Calibri"/>
              <a:sym typeface="Calibri"/>
            </a:endParaRPr>
          </a:p>
        </p:txBody>
      </p:sp>
      <p:sp>
        <p:nvSpPr>
          <p:cNvPr id="375" name="Google Shape;375;p38"/>
          <p:cNvSpPr/>
          <p:nvPr/>
        </p:nvSpPr>
        <p:spPr>
          <a:xfrm>
            <a:off x="3375317" y="3854330"/>
            <a:ext cx="201600" cy="195900"/>
          </a:xfrm>
          <a:prstGeom prst="flowChartConnector">
            <a:avLst/>
          </a:prstGeom>
          <a:noFill/>
          <a:ln w="12700" cap="flat" cmpd="sng">
            <a:solidFill>
              <a:schemeClr val="dk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600">
                <a:solidFill>
                  <a:schemeClr val="dk1"/>
                </a:solidFill>
                <a:latin typeface="Calibri"/>
                <a:ea typeface="Calibri"/>
                <a:cs typeface="Calibri"/>
                <a:sym typeface="Calibri"/>
              </a:rPr>
              <a:t>C</a:t>
            </a:r>
            <a:endParaRPr sz="600">
              <a:solidFill>
                <a:schemeClr val="dk1"/>
              </a:solidFill>
              <a:latin typeface="Calibri"/>
              <a:ea typeface="Calibri"/>
              <a:cs typeface="Calibri"/>
              <a:sym typeface="Calibri"/>
            </a:endParaRPr>
          </a:p>
        </p:txBody>
      </p:sp>
      <p:cxnSp>
        <p:nvCxnSpPr>
          <p:cNvPr id="376" name="Google Shape;376;p38"/>
          <p:cNvCxnSpPr>
            <a:stCxn id="295" idx="3"/>
            <a:endCxn id="375" idx="2"/>
          </p:cNvCxnSpPr>
          <p:nvPr/>
        </p:nvCxnSpPr>
        <p:spPr>
          <a:xfrm>
            <a:off x="3079769" y="3939214"/>
            <a:ext cx="295500" cy="13200"/>
          </a:xfrm>
          <a:prstGeom prst="straightConnector1">
            <a:avLst/>
          </a:prstGeom>
          <a:noFill/>
          <a:ln w="9525" cap="flat" cmpd="sng">
            <a:solidFill>
              <a:schemeClr val="dk2"/>
            </a:solidFill>
            <a:prstDash val="solid"/>
            <a:round/>
            <a:headEnd type="none" w="med" len="med"/>
            <a:tailEnd type="triangle" w="med" len="med"/>
          </a:ln>
        </p:spPr>
      </p:cxnSp>
      <p:cxnSp>
        <p:nvCxnSpPr>
          <p:cNvPr id="377" name="Google Shape;377;p38"/>
          <p:cNvCxnSpPr>
            <a:stCxn id="374" idx="4"/>
            <a:endCxn id="378" idx="0"/>
          </p:cNvCxnSpPr>
          <p:nvPr/>
        </p:nvCxnSpPr>
        <p:spPr>
          <a:xfrm>
            <a:off x="3481667" y="1097080"/>
            <a:ext cx="5400" cy="242700"/>
          </a:xfrm>
          <a:prstGeom prst="straightConnector1">
            <a:avLst/>
          </a:prstGeom>
          <a:noFill/>
          <a:ln w="9525" cap="flat" cmpd="sng">
            <a:solidFill>
              <a:schemeClr val="dk2"/>
            </a:solidFill>
            <a:prstDash val="solid"/>
            <a:round/>
            <a:headEnd type="none" w="med" len="med"/>
            <a:tailEnd type="triangle" w="med" len="med"/>
          </a:ln>
        </p:spPr>
      </p:cxnSp>
      <p:sp>
        <p:nvSpPr>
          <p:cNvPr id="378" name="Google Shape;378;p38"/>
          <p:cNvSpPr/>
          <p:nvPr/>
        </p:nvSpPr>
        <p:spPr>
          <a:xfrm>
            <a:off x="3179713" y="1339663"/>
            <a:ext cx="615000" cy="373500"/>
          </a:xfrm>
          <a:prstGeom prst="rect">
            <a:avLst/>
          </a:prstGeom>
          <a:noFill/>
          <a:ln w="12700" cap="flat" cmpd="sng">
            <a:solidFill>
              <a:srgbClr val="42719B"/>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r>
              <a:rPr lang="en-US" sz="700">
                <a:solidFill>
                  <a:schemeClr val="dk1"/>
                </a:solidFill>
                <a:latin typeface="Calibri"/>
                <a:ea typeface="Calibri"/>
                <a:cs typeface="Calibri"/>
                <a:sym typeface="Calibri"/>
              </a:rPr>
              <a:t>Consolidate across Cluster D</a:t>
            </a:r>
            <a:endParaRPr sz="1100"/>
          </a:p>
        </p:txBody>
      </p:sp>
      <p:cxnSp>
        <p:nvCxnSpPr>
          <p:cNvPr id="379" name="Google Shape;379;p38"/>
          <p:cNvCxnSpPr>
            <a:stCxn id="378" idx="2"/>
            <a:endCxn id="316" idx="0"/>
          </p:cNvCxnSpPr>
          <p:nvPr/>
        </p:nvCxnSpPr>
        <p:spPr>
          <a:xfrm flipH="1">
            <a:off x="3476113" y="1713163"/>
            <a:ext cx="11100" cy="24270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39"/>
          <p:cNvSpPr txBox="1">
            <a:spLocks noGrp="1"/>
          </p:cNvSpPr>
          <p:nvPr>
            <p:ph type="title"/>
          </p:nvPr>
        </p:nvSpPr>
        <p:spPr>
          <a:xfrm>
            <a:off x="457200" y="457200"/>
            <a:ext cx="7086600" cy="20574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lt1"/>
              </a:buClr>
              <a:buSzPts val="6000"/>
              <a:buFont typeface="Verizon NHG DS"/>
              <a:buNone/>
            </a:pPr>
            <a:r>
              <a:rPr lang="en-US" sz="6000"/>
              <a:t>KTLO Activities - Definition, Examples</a:t>
            </a:r>
            <a:endParaRPr/>
          </a:p>
        </p:txBody>
      </p:sp>
      <p:sp>
        <p:nvSpPr>
          <p:cNvPr id="385" name="Google Shape;385;p3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40"/>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8</a:t>
            </a:fld>
            <a:endParaRPr/>
          </a:p>
        </p:txBody>
      </p:sp>
      <p:sp>
        <p:nvSpPr>
          <p:cNvPr id="392" name="Google Shape;392;p40"/>
          <p:cNvSpPr txBox="1">
            <a:spLocks noGrp="1"/>
          </p:cNvSpPr>
          <p:nvPr>
            <p:ph type="title"/>
          </p:nvPr>
        </p:nvSpPr>
        <p:spPr>
          <a:xfrm>
            <a:off x="1153125" y="393575"/>
            <a:ext cx="6312900" cy="685800"/>
          </a:xfrm>
          <a:prstGeom prst="rect">
            <a:avLst/>
          </a:prstGeom>
        </p:spPr>
        <p:txBody>
          <a:bodyPr spcFirstLastPara="1" wrap="square" lIns="0" tIns="0" rIns="0" bIns="0" anchor="t" anchorCtr="0">
            <a:noAutofit/>
          </a:bodyPr>
          <a:lstStyle/>
          <a:p>
            <a:pPr marL="0" lvl="1" indent="0" algn="l" rtl="0">
              <a:spcBef>
                <a:spcPts val="900"/>
              </a:spcBef>
              <a:spcAft>
                <a:spcPts val="0"/>
              </a:spcAft>
              <a:buNone/>
            </a:pPr>
            <a:r>
              <a:rPr lang="en-US" sz="2400" b="1">
                <a:solidFill>
                  <a:schemeClr val="dk1"/>
                </a:solidFill>
                <a:latin typeface="Verizon NHG DS"/>
                <a:ea typeface="Verizon NHG DS"/>
                <a:cs typeface="Verizon NHG DS"/>
                <a:sym typeface="Verizon NHG DS"/>
              </a:rPr>
              <a:t>Adaptive Maintenance </a:t>
            </a:r>
            <a:endParaRPr b="1">
              <a:solidFill>
                <a:schemeClr val="dk1"/>
              </a:solidFill>
            </a:endParaRPr>
          </a:p>
          <a:p>
            <a:pPr marL="0" lvl="0" indent="0" algn="l" rtl="0">
              <a:spcBef>
                <a:spcPts val="0"/>
              </a:spcBef>
              <a:spcAft>
                <a:spcPts val="0"/>
              </a:spcAft>
              <a:buNone/>
            </a:pPr>
            <a:r>
              <a:rPr lang="en-US"/>
              <a:t> </a:t>
            </a:r>
            <a:endParaRPr/>
          </a:p>
          <a:p>
            <a:pPr marL="0" lvl="1" indent="0" algn="l" rtl="0">
              <a:spcBef>
                <a:spcPts val="900"/>
              </a:spcBef>
              <a:spcAft>
                <a:spcPts val="0"/>
              </a:spcAft>
              <a:buNone/>
            </a:pPr>
            <a:endParaRPr sz="2400" b="1">
              <a:solidFill>
                <a:schemeClr val="dk1"/>
              </a:solidFill>
              <a:latin typeface="Verizon NHG TX"/>
              <a:ea typeface="Verizon NHG TX"/>
              <a:cs typeface="Verizon NHG TX"/>
              <a:sym typeface="Verizon NHG TX"/>
            </a:endParaRPr>
          </a:p>
        </p:txBody>
      </p:sp>
      <p:sp>
        <p:nvSpPr>
          <p:cNvPr id="393" name="Google Shape;393;p40"/>
          <p:cNvSpPr txBox="1"/>
          <p:nvPr/>
        </p:nvSpPr>
        <p:spPr>
          <a:xfrm>
            <a:off x="311050" y="1166525"/>
            <a:ext cx="3347400" cy="3272100"/>
          </a:xfrm>
          <a:prstGeom prst="rect">
            <a:avLst/>
          </a:prstGeom>
          <a:noFill/>
          <a:ln>
            <a:noFill/>
          </a:ln>
        </p:spPr>
        <p:txBody>
          <a:bodyPr spcFirstLastPara="1" wrap="square" lIns="91425" tIns="91425" rIns="91425" bIns="91425" anchor="t" anchorCtr="0">
            <a:noAutofit/>
          </a:bodyPr>
          <a:lstStyle/>
          <a:p>
            <a:pPr marL="0" lvl="0" indent="0" algn="l" rtl="0">
              <a:spcBef>
                <a:spcPts val="900"/>
              </a:spcBef>
              <a:spcAft>
                <a:spcPts val="0"/>
              </a:spcAft>
              <a:buNone/>
            </a:pPr>
            <a:r>
              <a:rPr lang="en-US">
                <a:solidFill>
                  <a:schemeClr val="dk1"/>
                </a:solidFill>
                <a:latin typeface="Verizon NHG TX"/>
                <a:ea typeface="Verizon NHG TX"/>
                <a:cs typeface="Verizon NHG TX"/>
                <a:sym typeface="Verizon NHG TX"/>
              </a:rPr>
              <a:t>“As part of the KTLO Services for each cluster, Supplier shall perform adaptive maintenance, which includes ensuring that application performance is not affected by changes to interfacing applications, changes in the infrastructure that affect the In-Scope Applications, new applications or packages and technical environment changes, which, if not addressed proactively, could impact applications in production.”</a:t>
            </a:r>
            <a:endParaRPr>
              <a:latin typeface="Verizon NHG TX"/>
              <a:ea typeface="Verizon NHG TX"/>
              <a:cs typeface="Verizon NHG TX"/>
              <a:sym typeface="Verizon NHG TX"/>
            </a:endParaRPr>
          </a:p>
        </p:txBody>
      </p:sp>
      <p:sp>
        <p:nvSpPr>
          <p:cNvPr id="394" name="Google Shape;394;p40"/>
          <p:cNvSpPr txBox="1"/>
          <p:nvPr/>
        </p:nvSpPr>
        <p:spPr>
          <a:xfrm>
            <a:off x="3566035" y="1307475"/>
            <a:ext cx="5066400" cy="3000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Tax rate Table rate entry (Compliance and legal requirement)</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Updates to application to point to new SMTP gateway</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Changes required to allow inclusion of new Active Directory groups into the application</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Oracle 11 to 12 migration</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Sql server upgrades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Firmware upgrade to 2.61 to 165 key cabinets.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APIGEE Migration for PaymentHub</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ESSO to OneSSO Migration</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Operating system upgrade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Inputs and assistance with any litigation based reviews, regulatory reviews, audits, compliance assessments and data gathering</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Infrastructure changes that affect In-Scope Applications, associated Tools and Software, or the Services generally  (Windows 2008 upgrade)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Interface changes</a:t>
            </a: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endParaRPr sz="1200">
              <a:solidFill>
                <a:schemeClr val="dk1"/>
              </a:solidFill>
              <a:latin typeface="Calibri"/>
              <a:ea typeface="Calibri"/>
              <a:cs typeface="Calibri"/>
              <a:sym typeface="Calibri"/>
            </a:endParaRPr>
          </a:p>
        </p:txBody>
      </p:sp>
      <p:cxnSp>
        <p:nvCxnSpPr>
          <p:cNvPr id="395" name="Google Shape;395;p40"/>
          <p:cNvCxnSpPr/>
          <p:nvPr/>
        </p:nvCxnSpPr>
        <p:spPr>
          <a:xfrm>
            <a:off x="3593274" y="1166525"/>
            <a:ext cx="0" cy="3495000"/>
          </a:xfrm>
          <a:prstGeom prst="straightConnector1">
            <a:avLst/>
          </a:prstGeom>
          <a:noFill/>
          <a:ln w="9525" cap="flat" cmpd="sng">
            <a:solidFill>
              <a:schemeClr val="dk2"/>
            </a:solidFill>
            <a:prstDash val="solid"/>
            <a:round/>
            <a:headEnd type="none" w="med" len="med"/>
            <a:tailEnd type="none" w="med" len="med"/>
          </a:ln>
        </p:spPr>
      </p:cxnSp>
      <p:pic>
        <p:nvPicPr>
          <p:cNvPr id="396" name="Google Shape;396;p40"/>
          <p:cNvPicPr preferRelativeResize="0"/>
          <p:nvPr/>
        </p:nvPicPr>
        <p:blipFill rotWithShape="1">
          <a:blip r:embed="rId3">
            <a:alphaModFix/>
          </a:blip>
          <a:srcRect l="54959" t="16390" r="4202" b="50920"/>
          <a:stretch/>
        </p:blipFill>
        <p:spPr>
          <a:xfrm>
            <a:off x="457200" y="500700"/>
            <a:ext cx="576545" cy="5786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41"/>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
        <p:nvSpPr>
          <p:cNvPr id="403" name="Google Shape;403;p41"/>
          <p:cNvSpPr txBox="1">
            <a:spLocks noGrp="1"/>
          </p:cNvSpPr>
          <p:nvPr>
            <p:ph type="title"/>
          </p:nvPr>
        </p:nvSpPr>
        <p:spPr>
          <a:xfrm>
            <a:off x="1145525" y="428900"/>
            <a:ext cx="5401500" cy="527400"/>
          </a:xfrm>
          <a:prstGeom prst="rect">
            <a:avLst/>
          </a:prstGeom>
        </p:spPr>
        <p:txBody>
          <a:bodyPr spcFirstLastPara="1" wrap="square" lIns="0" tIns="0" rIns="0" bIns="0" anchor="t" anchorCtr="0">
            <a:noAutofit/>
          </a:bodyPr>
          <a:lstStyle/>
          <a:p>
            <a:pPr marL="0" lvl="1" indent="0" algn="l" rtl="0">
              <a:spcBef>
                <a:spcPts val="900"/>
              </a:spcBef>
              <a:spcAft>
                <a:spcPts val="0"/>
              </a:spcAft>
              <a:buClr>
                <a:schemeClr val="dk1"/>
              </a:buClr>
              <a:buSzPts val="1100"/>
              <a:buFont typeface="Arial"/>
              <a:buNone/>
            </a:pPr>
            <a:r>
              <a:rPr lang="en-US" sz="2400" b="1">
                <a:solidFill>
                  <a:schemeClr val="dk1"/>
                </a:solidFill>
                <a:latin typeface="Verizon NHG TX"/>
                <a:ea typeface="Verizon NHG TX"/>
                <a:cs typeface="Verizon NHG TX"/>
                <a:sym typeface="Verizon NHG TX"/>
              </a:rPr>
              <a:t>Preventive Maintenance </a:t>
            </a:r>
            <a:endParaRPr/>
          </a:p>
        </p:txBody>
      </p:sp>
      <p:sp>
        <p:nvSpPr>
          <p:cNvPr id="404" name="Google Shape;404;p41"/>
          <p:cNvSpPr txBox="1"/>
          <p:nvPr/>
        </p:nvSpPr>
        <p:spPr>
          <a:xfrm>
            <a:off x="457200" y="1220325"/>
            <a:ext cx="3000000" cy="1645200"/>
          </a:xfrm>
          <a:prstGeom prst="rect">
            <a:avLst/>
          </a:prstGeom>
          <a:noFill/>
          <a:ln>
            <a:noFill/>
          </a:ln>
        </p:spPr>
        <p:txBody>
          <a:bodyPr spcFirstLastPara="1" wrap="square" lIns="91425" tIns="91425" rIns="91425" bIns="91425" anchor="t" anchorCtr="0">
            <a:noAutofit/>
          </a:bodyPr>
          <a:lstStyle/>
          <a:p>
            <a:pPr marL="0" lvl="0" indent="0" algn="l" rtl="0">
              <a:spcBef>
                <a:spcPts val="900"/>
              </a:spcBef>
              <a:spcAft>
                <a:spcPts val="0"/>
              </a:spcAft>
              <a:buNone/>
            </a:pPr>
            <a:r>
              <a:rPr lang="en-US">
                <a:solidFill>
                  <a:schemeClr val="dk1"/>
                </a:solidFill>
                <a:latin typeface="Verizon NHG TX"/>
                <a:ea typeface="Verizon NHG TX"/>
                <a:cs typeface="Verizon NHG TX"/>
                <a:sym typeface="Verizon NHG TX"/>
              </a:rPr>
              <a:t>“Preventive Maintenance - Supplier shall perform preventive maintenance, which includes resolution of issues which, if not addressed proactively, could impact applications in production.”</a:t>
            </a:r>
            <a:endParaRPr/>
          </a:p>
        </p:txBody>
      </p:sp>
      <p:sp>
        <p:nvSpPr>
          <p:cNvPr id="405" name="Google Shape;405;p41"/>
          <p:cNvSpPr txBox="1"/>
          <p:nvPr/>
        </p:nvSpPr>
        <p:spPr>
          <a:xfrm>
            <a:off x="3381825" y="1220325"/>
            <a:ext cx="5263800" cy="3000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Special activities around End of financial and calendar Year</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Iconic Launches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highlight>
                  <a:schemeClr val="lt1"/>
                </a:highlight>
                <a:latin typeface="Verizon NHG TX"/>
                <a:ea typeface="Verizon NHG TX"/>
                <a:cs typeface="Verizon NHG TX"/>
                <a:sym typeface="Verizon NHG TX"/>
              </a:rPr>
              <a:t>The collection hold as per the federal law during the natural calamities/ flood to avoid suspension of the service to the customers</a:t>
            </a:r>
            <a:endParaRPr sz="1100">
              <a:solidFill>
                <a:schemeClr val="dk1"/>
              </a:solidFill>
              <a:highlight>
                <a:schemeClr val="lt1"/>
              </a:highlight>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highlight>
                  <a:schemeClr val="lt1"/>
                </a:highlight>
                <a:latin typeface="Verizon NHG TX"/>
                <a:ea typeface="Verizon NHG TX"/>
                <a:cs typeface="Verizon NHG TX"/>
                <a:sym typeface="Verizon NHG TX"/>
              </a:rPr>
              <a:t>Partner Certificate Expiry Check Improvements</a:t>
            </a:r>
            <a:endParaRPr sz="1100">
              <a:solidFill>
                <a:schemeClr val="dk1"/>
              </a:solidFill>
              <a:highlight>
                <a:schemeClr val="lt1"/>
              </a:highlight>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highlight>
                  <a:schemeClr val="lt1"/>
                </a:highlight>
                <a:latin typeface="Verizon NHG TX"/>
                <a:ea typeface="Verizon NHG TX"/>
                <a:cs typeface="Verizon NHG TX"/>
                <a:sym typeface="Verizon NHG TX"/>
              </a:rPr>
              <a:t>Freeze Period readiness</a:t>
            </a:r>
            <a:endParaRPr sz="1100">
              <a:solidFill>
                <a:schemeClr val="dk1"/>
              </a:solidFill>
              <a:highlight>
                <a:schemeClr val="lt1"/>
              </a:highlight>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highlight>
                  <a:schemeClr val="lt1"/>
                </a:highlight>
                <a:latin typeface="Verizon NHG TX"/>
                <a:ea typeface="Verizon NHG TX"/>
                <a:cs typeface="Verizon NHG TX"/>
                <a:sym typeface="Verizon NHG TX"/>
              </a:rPr>
              <a:t>Proactively Staying on the most current release or as directed by Verizon</a:t>
            </a:r>
            <a:endParaRPr sz="1100">
              <a:solidFill>
                <a:schemeClr val="dk1"/>
              </a:solidFill>
              <a:highlight>
                <a:schemeClr val="lt1"/>
              </a:highlight>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highlight>
                  <a:schemeClr val="lt1"/>
                </a:highlight>
                <a:latin typeface="Verizon NHG TX"/>
                <a:ea typeface="Verizon NHG TX"/>
                <a:cs typeface="Verizon NHG TX"/>
                <a:sym typeface="Verizon NHG TX"/>
              </a:rPr>
              <a:t>Proactive archiving (Not regularly scheduled archiving)</a:t>
            </a:r>
            <a:endParaRPr sz="1100">
              <a:solidFill>
                <a:schemeClr val="dk1"/>
              </a:solidFill>
              <a:highlight>
                <a:schemeClr val="lt1"/>
              </a:highlight>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highlight>
                  <a:schemeClr val="lt1"/>
                </a:highlight>
                <a:latin typeface="Verizon NHG TX"/>
                <a:ea typeface="Verizon NHG TX"/>
                <a:cs typeface="Verizon NHG TX"/>
                <a:sym typeface="Verizon NHG TX"/>
              </a:rPr>
              <a:t>Manual production checklist for critical weekend, month-end and year-end production, including resetting counters or accumulators</a:t>
            </a:r>
            <a:endParaRPr sz="1100">
              <a:solidFill>
                <a:schemeClr val="dk1"/>
              </a:solidFill>
              <a:highlight>
                <a:schemeClr val="lt1"/>
              </a:highlight>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highlight>
                  <a:schemeClr val="lt1"/>
                </a:highlight>
                <a:latin typeface="Verizon NHG TX"/>
                <a:ea typeface="Verizon NHG TX"/>
                <a:cs typeface="Verizon NHG TX"/>
                <a:sym typeface="Verizon NHG TX"/>
              </a:rPr>
              <a:t>Testing for scenarios like End of Financial year, End of month, End of calendar year, Leap year, Iconic launches, System freeze periods</a:t>
            </a:r>
            <a:endParaRPr sz="1100">
              <a:solidFill>
                <a:schemeClr val="dk1"/>
              </a:solidFill>
              <a:highlight>
                <a:schemeClr val="lt1"/>
              </a:highlight>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highlight>
                  <a:schemeClr val="lt1"/>
                </a:highlight>
                <a:latin typeface="Verizon NHG TX"/>
                <a:ea typeface="Verizon NHG TX"/>
                <a:cs typeface="Verizon NHG TX"/>
                <a:sym typeface="Verizon NHG TX"/>
              </a:rPr>
              <a:t>Changing business volumes – Load testing, data set up, environment preparation for testing, etc.</a:t>
            </a:r>
            <a:endParaRPr sz="1100">
              <a:solidFill>
                <a:schemeClr val="dk1"/>
              </a:solidFill>
              <a:highlight>
                <a:schemeClr val="lt1"/>
              </a:highlight>
              <a:latin typeface="Verizon NHG TX"/>
              <a:ea typeface="Verizon NHG TX"/>
              <a:cs typeface="Verizon NHG TX"/>
              <a:sym typeface="Verizon NHG TX"/>
            </a:endParaRPr>
          </a:p>
        </p:txBody>
      </p:sp>
      <p:cxnSp>
        <p:nvCxnSpPr>
          <p:cNvPr id="406" name="Google Shape;406;p41"/>
          <p:cNvCxnSpPr/>
          <p:nvPr/>
        </p:nvCxnSpPr>
        <p:spPr>
          <a:xfrm>
            <a:off x="3410125" y="1079375"/>
            <a:ext cx="18900" cy="2918700"/>
          </a:xfrm>
          <a:prstGeom prst="straightConnector1">
            <a:avLst/>
          </a:prstGeom>
          <a:noFill/>
          <a:ln w="9525" cap="flat" cmpd="sng">
            <a:solidFill>
              <a:schemeClr val="dk2"/>
            </a:solidFill>
            <a:prstDash val="solid"/>
            <a:round/>
            <a:headEnd type="none" w="med" len="med"/>
            <a:tailEnd type="none" w="med" len="med"/>
          </a:ln>
        </p:spPr>
      </p:cxnSp>
      <p:pic>
        <p:nvPicPr>
          <p:cNvPr id="407" name="Google Shape;407;p41"/>
          <p:cNvPicPr preferRelativeResize="0"/>
          <p:nvPr/>
        </p:nvPicPr>
        <p:blipFill rotWithShape="1">
          <a:blip r:embed="rId3">
            <a:alphaModFix/>
          </a:blip>
          <a:srcRect l="55576" t="54182" r="3476" b="11767"/>
          <a:stretch/>
        </p:blipFill>
        <p:spPr>
          <a:xfrm>
            <a:off x="509400" y="487550"/>
            <a:ext cx="597725" cy="6232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42"/>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10</a:t>
            </a:fld>
            <a:endParaRPr/>
          </a:p>
        </p:txBody>
      </p:sp>
      <p:sp>
        <p:nvSpPr>
          <p:cNvPr id="414" name="Google Shape;414;p42"/>
          <p:cNvSpPr txBox="1">
            <a:spLocks noGrp="1"/>
          </p:cNvSpPr>
          <p:nvPr>
            <p:ph type="title"/>
          </p:nvPr>
        </p:nvSpPr>
        <p:spPr>
          <a:xfrm>
            <a:off x="1411050" y="534525"/>
            <a:ext cx="6132600" cy="3684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US"/>
              <a:t>Perfective Maintenance</a:t>
            </a:r>
            <a:endParaRPr sz="2400" b="1">
              <a:solidFill>
                <a:schemeClr val="dk1"/>
              </a:solidFill>
              <a:latin typeface="Verizon NHG TX"/>
              <a:ea typeface="Verizon NHG TX"/>
              <a:cs typeface="Verizon NHG TX"/>
              <a:sym typeface="Verizon NHG TX"/>
            </a:endParaRPr>
          </a:p>
        </p:txBody>
      </p:sp>
      <p:sp>
        <p:nvSpPr>
          <p:cNvPr id="415" name="Google Shape;415;p42"/>
          <p:cNvSpPr txBox="1"/>
          <p:nvPr/>
        </p:nvSpPr>
        <p:spPr>
          <a:xfrm>
            <a:off x="379100" y="1174000"/>
            <a:ext cx="3000000" cy="1701300"/>
          </a:xfrm>
          <a:prstGeom prst="rect">
            <a:avLst/>
          </a:prstGeom>
          <a:noFill/>
          <a:ln>
            <a:noFill/>
          </a:ln>
        </p:spPr>
        <p:txBody>
          <a:bodyPr spcFirstLastPara="1" wrap="square" lIns="91425" tIns="91425" rIns="91425" bIns="91425" anchor="t" anchorCtr="0">
            <a:noAutofit/>
          </a:bodyPr>
          <a:lstStyle/>
          <a:p>
            <a:pPr marL="0" lvl="0" indent="0" algn="l" rtl="0">
              <a:spcBef>
                <a:spcPts val="900"/>
              </a:spcBef>
              <a:spcAft>
                <a:spcPts val="0"/>
              </a:spcAft>
              <a:buNone/>
            </a:pPr>
            <a:r>
              <a:rPr lang="en-US">
                <a:solidFill>
                  <a:schemeClr val="dk1"/>
                </a:solidFill>
                <a:latin typeface="Verizon NHG TX"/>
                <a:ea typeface="Verizon NHG TX"/>
                <a:cs typeface="Verizon NHG TX"/>
                <a:sym typeface="Verizon NHG TX"/>
              </a:rPr>
              <a:t>“Supplier shall perform perfective maintenance, which includes performing Software tuning, code restructuring, and other efforts to improve the efficiency and reliability of Software thereby minimizing on-going maintenance and operational requirements to ensure that applications operate at peak efficiency.”</a:t>
            </a:r>
            <a:endParaRPr/>
          </a:p>
        </p:txBody>
      </p:sp>
      <p:sp>
        <p:nvSpPr>
          <p:cNvPr id="416" name="Google Shape;416;p42"/>
          <p:cNvSpPr txBox="1"/>
          <p:nvPr/>
        </p:nvSpPr>
        <p:spPr>
          <a:xfrm>
            <a:off x="3503200" y="1220325"/>
            <a:ext cx="4381800" cy="3000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Proactive efforts to improve the application performance by reindexing and purging the database statistics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Performance tuning and Re-indexing database tables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Performance tuning of SQL queries in t-sql queries on their stored procedures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Proactive management of storage space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Proactive Software tuning and system CPU hours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Performance tuning of code, response time of SQLs, services, etc.,</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rgbClr val="FF0000"/>
                </a:solidFill>
                <a:latin typeface="Verizon NHG TX"/>
                <a:ea typeface="Verizon NHG TX"/>
                <a:cs typeface="Verizon NHG TX"/>
                <a:sym typeface="Verizon NHG TX"/>
              </a:rPr>
              <a:t>Perform required AWS rehydration to the servers to prevent loss of servers**</a:t>
            </a: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endParaRPr sz="1100">
              <a:solidFill>
                <a:schemeClr val="dk1"/>
              </a:solidFill>
              <a:latin typeface="Verizon NHG TX"/>
              <a:ea typeface="Verizon NHG TX"/>
              <a:cs typeface="Verizon NHG TX"/>
              <a:sym typeface="Verizon NHG TX"/>
            </a:endParaRPr>
          </a:p>
        </p:txBody>
      </p:sp>
      <p:cxnSp>
        <p:nvCxnSpPr>
          <p:cNvPr id="417" name="Google Shape;417;p42"/>
          <p:cNvCxnSpPr/>
          <p:nvPr/>
        </p:nvCxnSpPr>
        <p:spPr>
          <a:xfrm flipH="1">
            <a:off x="3524300" y="1079375"/>
            <a:ext cx="7200" cy="2939100"/>
          </a:xfrm>
          <a:prstGeom prst="straightConnector1">
            <a:avLst/>
          </a:prstGeom>
          <a:noFill/>
          <a:ln w="9525" cap="flat" cmpd="sng">
            <a:solidFill>
              <a:schemeClr val="dk2"/>
            </a:solidFill>
            <a:prstDash val="solid"/>
            <a:round/>
            <a:headEnd type="none" w="med" len="med"/>
            <a:tailEnd type="none" w="med" len="med"/>
          </a:ln>
        </p:spPr>
      </p:cxnSp>
      <p:pic>
        <p:nvPicPr>
          <p:cNvPr id="418" name="Google Shape;418;p42"/>
          <p:cNvPicPr preferRelativeResize="0"/>
          <p:nvPr/>
        </p:nvPicPr>
        <p:blipFill rotWithShape="1">
          <a:blip r:embed="rId3">
            <a:alphaModFix/>
          </a:blip>
          <a:srcRect l="5292" t="55015" r="50824" b="11371"/>
          <a:stretch/>
        </p:blipFill>
        <p:spPr>
          <a:xfrm>
            <a:off x="457200" y="534525"/>
            <a:ext cx="828675" cy="595575"/>
          </a:xfrm>
          <a:prstGeom prst="rect">
            <a:avLst/>
          </a:prstGeom>
          <a:noFill/>
          <a:ln>
            <a:noFill/>
          </a:ln>
        </p:spPr>
      </p:pic>
      <p:sp>
        <p:nvSpPr>
          <p:cNvPr id="419" name="Google Shape;419;p42"/>
          <p:cNvSpPr txBox="1"/>
          <p:nvPr/>
        </p:nvSpPr>
        <p:spPr>
          <a:xfrm>
            <a:off x="3927125" y="4335475"/>
            <a:ext cx="4639500" cy="13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800">
                <a:solidFill>
                  <a:srgbClr val="CC0000"/>
                </a:solidFill>
                <a:latin typeface="Verizon NHG TX"/>
                <a:ea typeface="Verizon NHG TX"/>
                <a:cs typeface="Verizon NHG TX"/>
                <a:sym typeface="Verizon NHG TX"/>
              </a:rPr>
              <a:t>*</a:t>
            </a:r>
            <a:r>
              <a:rPr lang="en-US" sz="800">
                <a:solidFill>
                  <a:srgbClr val="FF0000"/>
                </a:solidFill>
                <a:latin typeface="Verizon NHG TX"/>
                <a:ea typeface="Verizon NHG TX"/>
                <a:cs typeface="Verizon NHG TX"/>
                <a:sym typeface="Verizon NHG TX"/>
              </a:rPr>
              <a:t>*- Being reviewed to confirm whether this is KTLO activity</a:t>
            </a:r>
            <a:endParaRPr sz="800">
              <a:solidFill>
                <a:srgbClr val="FF0000"/>
              </a:solidFill>
              <a:latin typeface="Verizon NHG TX"/>
              <a:ea typeface="Verizon NHG TX"/>
              <a:cs typeface="Verizon NHG TX"/>
              <a:sym typeface="Verizon NHG TX"/>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43"/>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11</a:t>
            </a:fld>
            <a:endParaRPr/>
          </a:p>
        </p:txBody>
      </p:sp>
      <p:sp>
        <p:nvSpPr>
          <p:cNvPr id="426" name="Google Shape;426;p43"/>
          <p:cNvSpPr txBox="1">
            <a:spLocks noGrp="1"/>
          </p:cNvSpPr>
          <p:nvPr>
            <p:ph type="title"/>
          </p:nvPr>
        </p:nvSpPr>
        <p:spPr>
          <a:xfrm>
            <a:off x="1183450" y="520875"/>
            <a:ext cx="6360300" cy="68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Capacity Management</a:t>
            </a:r>
            <a:endParaRPr sz="2400" b="1">
              <a:solidFill>
                <a:schemeClr val="dk1"/>
              </a:solidFill>
              <a:latin typeface="Verizon NHG TX"/>
              <a:ea typeface="Verizon NHG TX"/>
              <a:cs typeface="Verizon NHG TX"/>
              <a:sym typeface="Verizon NHG TX"/>
            </a:endParaRPr>
          </a:p>
        </p:txBody>
      </p:sp>
      <p:sp>
        <p:nvSpPr>
          <p:cNvPr id="427" name="Google Shape;427;p43"/>
          <p:cNvSpPr txBox="1"/>
          <p:nvPr/>
        </p:nvSpPr>
        <p:spPr>
          <a:xfrm>
            <a:off x="353750" y="951475"/>
            <a:ext cx="3132600" cy="1701300"/>
          </a:xfrm>
          <a:prstGeom prst="rect">
            <a:avLst/>
          </a:prstGeom>
          <a:noFill/>
          <a:ln>
            <a:noFill/>
          </a:ln>
        </p:spPr>
        <p:txBody>
          <a:bodyPr spcFirstLastPara="1" wrap="square" lIns="91425" tIns="91425" rIns="91425" bIns="91425" anchor="t" anchorCtr="0">
            <a:noAutofit/>
          </a:bodyPr>
          <a:lstStyle/>
          <a:p>
            <a:pPr marL="0" lvl="0" indent="0" algn="l" rtl="0">
              <a:spcBef>
                <a:spcPts val="900"/>
              </a:spcBef>
              <a:spcAft>
                <a:spcPts val="0"/>
              </a:spcAft>
              <a:buNone/>
            </a:pPr>
            <a:r>
              <a:rPr lang="en-US">
                <a:solidFill>
                  <a:schemeClr val="dk1"/>
                </a:solidFill>
                <a:highlight>
                  <a:schemeClr val="lt1"/>
                </a:highlight>
                <a:latin typeface="Verizon NHG TX"/>
                <a:ea typeface="Verizon NHG TX"/>
                <a:cs typeface="Verizon NHG TX"/>
                <a:sym typeface="Verizon NHG TX"/>
              </a:rPr>
              <a:t>“Capacity management Services are those Services related to ensuring that the capacity of the information technology Services matches the evolving demands of the business in the most cost-effective and timely manner. It involve providing advanced notification of application changes (e.g. new or modified applications) consuming resources on CPU, memory, and disk hardware as well. Supplier shall be responsible for the performance and capacity management of the In-Scope Applications”</a:t>
            </a:r>
            <a:endParaRPr>
              <a:latin typeface="Verizon NHG TX"/>
              <a:ea typeface="Verizon NHG TX"/>
              <a:cs typeface="Verizon NHG TX"/>
              <a:sym typeface="Verizon NHG TX"/>
            </a:endParaRPr>
          </a:p>
        </p:txBody>
      </p:sp>
      <p:sp>
        <p:nvSpPr>
          <p:cNvPr id="428" name="Google Shape;428;p43"/>
          <p:cNvSpPr txBox="1"/>
          <p:nvPr/>
        </p:nvSpPr>
        <p:spPr>
          <a:xfrm>
            <a:off x="3486325" y="880725"/>
            <a:ext cx="5347800" cy="3000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Automate SQL Agent jobs alerts to notify the low disk/ CPU/ memory) space.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Proactive Capacity planning for storage growth</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Proactive Capacity planning for RMS PROD BAU growth</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Capacity Management for Quantus- PDB1 Storage growth 2019</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Table / Data sizing for capacity planning</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Estimating resource requirements (e.g., for memory, disk I/O, CPU, throughput), and defining future workload profile (e.g., for CPU, memory, storage)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Performing trend analysis to detect long term performance problems and to prevent performance degradation</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Effort spent to determine the actions needed to be taken to resolve any performance or capacity problems; creating and disseminating reports summarizing the performance and capacity utilization of the In-Scope Application</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Tuning the application for performance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Analyze workload (e.g., CPU usage, memory usage, disk usage, network, backup, facilities, reporting, throughput), estimating resource requirements (e.g., for memory, disk I/O, CPU, throughput), and defining future workload profile (e.g., for CPU, memory, storage)."</a:t>
            </a: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endParaRPr sz="1100">
              <a:solidFill>
                <a:schemeClr val="dk1"/>
              </a:solidFill>
              <a:latin typeface="Verizon NHG TX"/>
              <a:ea typeface="Verizon NHG TX"/>
              <a:cs typeface="Verizon NHG TX"/>
              <a:sym typeface="Verizon NHG TX"/>
            </a:endParaRPr>
          </a:p>
        </p:txBody>
      </p:sp>
      <p:cxnSp>
        <p:nvCxnSpPr>
          <p:cNvPr id="429" name="Google Shape;429;p43"/>
          <p:cNvCxnSpPr/>
          <p:nvPr/>
        </p:nvCxnSpPr>
        <p:spPr>
          <a:xfrm>
            <a:off x="3486325" y="1079375"/>
            <a:ext cx="0" cy="3495000"/>
          </a:xfrm>
          <a:prstGeom prst="straightConnector1">
            <a:avLst/>
          </a:prstGeom>
          <a:noFill/>
          <a:ln w="9525" cap="flat" cmpd="sng">
            <a:solidFill>
              <a:schemeClr val="dk2"/>
            </a:solidFill>
            <a:prstDash val="solid"/>
            <a:round/>
            <a:headEnd type="none" w="med" len="med"/>
            <a:tailEnd type="none" w="med" len="med"/>
          </a:ln>
        </p:spPr>
      </p:cxnSp>
      <p:pic>
        <p:nvPicPr>
          <p:cNvPr id="430" name="Google Shape;430;p43"/>
          <p:cNvPicPr preferRelativeResize="0"/>
          <p:nvPr/>
        </p:nvPicPr>
        <p:blipFill rotWithShape="1">
          <a:blip r:embed="rId3">
            <a:alphaModFix/>
          </a:blip>
          <a:srcRect l="10719" t="7884" r="9458" b="18634"/>
          <a:stretch/>
        </p:blipFill>
        <p:spPr>
          <a:xfrm>
            <a:off x="457202" y="487550"/>
            <a:ext cx="654573" cy="494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4"/>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12</a:t>
            </a:fld>
            <a:endParaRPr/>
          </a:p>
        </p:txBody>
      </p:sp>
      <p:sp>
        <p:nvSpPr>
          <p:cNvPr id="437" name="Google Shape;437;p44"/>
          <p:cNvSpPr txBox="1">
            <a:spLocks noGrp="1"/>
          </p:cNvSpPr>
          <p:nvPr>
            <p:ph type="title"/>
          </p:nvPr>
        </p:nvSpPr>
        <p:spPr>
          <a:xfrm>
            <a:off x="1100000" y="590550"/>
            <a:ext cx="6443700" cy="68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Performance Management</a:t>
            </a:r>
            <a:endParaRPr sz="2400" b="1">
              <a:solidFill>
                <a:schemeClr val="dk1"/>
              </a:solidFill>
              <a:latin typeface="Verizon NHG TX"/>
              <a:ea typeface="Verizon NHG TX"/>
              <a:cs typeface="Verizon NHG TX"/>
              <a:sym typeface="Verizon NHG TX"/>
            </a:endParaRPr>
          </a:p>
        </p:txBody>
      </p:sp>
      <p:sp>
        <p:nvSpPr>
          <p:cNvPr id="438" name="Google Shape;438;p44"/>
          <p:cNvSpPr txBox="1"/>
          <p:nvPr/>
        </p:nvSpPr>
        <p:spPr>
          <a:xfrm>
            <a:off x="378225" y="832350"/>
            <a:ext cx="2766600" cy="2287800"/>
          </a:xfrm>
          <a:prstGeom prst="rect">
            <a:avLst/>
          </a:prstGeom>
          <a:noFill/>
          <a:ln>
            <a:noFill/>
          </a:ln>
        </p:spPr>
        <p:txBody>
          <a:bodyPr spcFirstLastPara="1" wrap="square" lIns="91425" tIns="91425" rIns="91425" bIns="91425" anchor="t" anchorCtr="0">
            <a:noAutofit/>
          </a:bodyPr>
          <a:lstStyle/>
          <a:p>
            <a:pPr marL="0" lvl="0" indent="0" algn="l" rtl="0">
              <a:spcBef>
                <a:spcPts val="900"/>
              </a:spcBef>
              <a:spcAft>
                <a:spcPts val="0"/>
              </a:spcAft>
              <a:buNone/>
            </a:pPr>
            <a:endParaRPr>
              <a:solidFill>
                <a:schemeClr val="dk1"/>
              </a:solidFill>
              <a:highlight>
                <a:schemeClr val="lt1"/>
              </a:highlight>
              <a:latin typeface="Verizon NHG TX"/>
              <a:ea typeface="Verizon NHG TX"/>
              <a:cs typeface="Verizon NHG TX"/>
              <a:sym typeface="Verizon NHG TX"/>
            </a:endParaRPr>
          </a:p>
          <a:p>
            <a:pPr marL="0" lvl="0" indent="0" algn="l" rtl="0">
              <a:spcBef>
                <a:spcPts val="900"/>
              </a:spcBef>
              <a:spcAft>
                <a:spcPts val="0"/>
              </a:spcAft>
              <a:buNone/>
            </a:pPr>
            <a:r>
              <a:rPr lang="en-US">
                <a:solidFill>
                  <a:schemeClr val="dk1"/>
                </a:solidFill>
                <a:highlight>
                  <a:schemeClr val="lt1"/>
                </a:highlight>
                <a:latin typeface="Verizon NHG TX"/>
                <a:ea typeface="Verizon NHG TX"/>
                <a:cs typeface="Verizon NHG TX"/>
                <a:sym typeface="Verizon NHG TX"/>
              </a:rPr>
              <a:t>“</a:t>
            </a:r>
            <a:r>
              <a:rPr lang="en-US">
                <a:solidFill>
                  <a:schemeClr val="dk1"/>
                </a:solidFill>
                <a:latin typeface="Verizon NHG TX"/>
                <a:ea typeface="Verizon NHG TX"/>
                <a:cs typeface="Verizon NHG TX"/>
                <a:sym typeface="Verizon NHG TX"/>
              </a:rPr>
              <a:t>Ensure performance meets or exceeds predefined baselines for the application and function level. Baselines must be measured in existing code. These baselines then serve as future baselines that new code will be measured against.</a:t>
            </a:r>
            <a:endParaRPr>
              <a:solidFill>
                <a:schemeClr val="dk1"/>
              </a:solidFill>
              <a:latin typeface="Verizon NHG TX"/>
              <a:ea typeface="Verizon NHG TX"/>
              <a:cs typeface="Verizon NHG TX"/>
              <a:sym typeface="Verizon NHG TX"/>
            </a:endParaRPr>
          </a:p>
          <a:p>
            <a:pPr marL="0" lvl="0" indent="0" algn="l" rtl="0">
              <a:spcBef>
                <a:spcPts val="900"/>
              </a:spcBef>
              <a:spcAft>
                <a:spcPts val="0"/>
              </a:spcAft>
              <a:buNone/>
            </a:pPr>
            <a:r>
              <a:rPr lang="en-US">
                <a:solidFill>
                  <a:schemeClr val="dk1"/>
                </a:solidFill>
                <a:latin typeface="Verizon NHG TX"/>
                <a:ea typeface="Verizon NHG TX"/>
                <a:cs typeface="Verizon NHG TX"/>
                <a:sym typeface="Verizon NHG TX"/>
              </a:rPr>
              <a:t>Voice of the Customer: Analyze customer inputs and develop plans to improve the customer experience; work with Verizon to prioritize improvements.</a:t>
            </a:r>
            <a:endParaRPr b="1">
              <a:solidFill>
                <a:schemeClr val="dk1"/>
              </a:solidFill>
              <a:latin typeface="Verizon NHG TX"/>
              <a:ea typeface="Verizon NHG TX"/>
              <a:cs typeface="Verizon NHG TX"/>
              <a:sym typeface="Verizon NHG TX"/>
            </a:endParaRPr>
          </a:p>
          <a:p>
            <a:pPr marL="0" lvl="0" indent="0" algn="l" rtl="0">
              <a:spcBef>
                <a:spcPts val="900"/>
              </a:spcBef>
              <a:spcAft>
                <a:spcPts val="0"/>
              </a:spcAft>
              <a:buNone/>
            </a:pPr>
            <a:endParaRPr>
              <a:latin typeface="Verizon NHG TX"/>
              <a:ea typeface="Verizon NHG TX"/>
              <a:cs typeface="Verizon NHG TX"/>
              <a:sym typeface="Verizon NHG TX"/>
            </a:endParaRPr>
          </a:p>
        </p:txBody>
      </p:sp>
      <p:sp>
        <p:nvSpPr>
          <p:cNvPr id="439" name="Google Shape;439;p44"/>
          <p:cNvSpPr txBox="1"/>
          <p:nvPr/>
        </p:nvSpPr>
        <p:spPr>
          <a:xfrm>
            <a:off x="3410125" y="1249050"/>
            <a:ext cx="4881600" cy="3000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Tune existing t-sql queries, stored procedures, functions and custom business intelligence packages to improve the system performance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Analyze customer inputs to improve customer experience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Proactive efforts to exceed the performance from the predefined baseline performance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Effort spent to execute performance volume in pre-production and support performance volume validation in post-production using load testing</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Effort spent to ensure performance meets or exceeds predefined baselines for the application and function level</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Analyze customer inputs and develop plans to improve the customer experience</a:t>
            </a: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endParaRPr sz="1100">
              <a:solidFill>
                <a:schemeClr val="dk1"/>
              </a:solidFill>
              <a:latin typeface="Verizon NHG TX"/>
              <a:ea typeface="Verizon NHG TX"/>
              <a:cs typeface="Verizon NHG TX"/>
              <a:sym typeface="Verizon NHG TX"/>
            </a:endParaRPr>
          </a:p>
        </p:txBody>
      </p:sp>
      <p:cxnSp>
        <p:nvCxnSpPr>
          <p:cNvPr id="440" name="Google Shape;440;p44"/>
          <p:cNvCxnSpPr/>
          <p:nvPr/>
        </p:nvCxnSpPr>
        <p:spPr>
          <a:xfrm flipH="1">
            <a:off x="3398625" y="1122775"/>
            <a:ext cx="22800" cy="3224100"/>
          </a:xfrm>
          <a:prstGeom prst="straightConnector1">
            <a:avLst/>
          </a:prstGeom>
          <a:noFill/>
          <a:ln w="9525" cap="flat" cmpd="sng">
            <a:solidFill>
              <a:schemeClr val="dk2"/>
            </a:solidFill>
            <a:prstDash val="solid"/>
            <a:round/>
            <a:headEnd type="none" w="med" len="med"/>
            <a:tailEnd type="none" w="med" len="med"/>
          </a:ln>
        </p:spPr>
      </p:cxnSp>
      <p:pic>
        <p:nvPicPr>
          <p:cNvPr id="441" name="Google Shape;441;p44"/>
          <p:cNvPicPr preferRelativeResize="0"/>
          <p:nvPr/>
        </p:nvPicPr>
        <p:blipFill>
          <a:blip r:embed="rId3">
            <a:alphaModFix/>
          </a:blip>
          <a:stretch>
            <a:fillRect/>
          </a:stretch>
        </p:blipFill>
        <p:spPr>
          <a:xfrm>
            <a:off x="457200" y="523450"/>
            <a:ext cx="521424" cy="5323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5"/>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13</a:t>
            </a:fld>
            <a:endParaRPr/>
          </a:p>
        </p:txBody>
      </p:sp>
      <p:sp>
        <p:nvSpPr>
          <p:cNvPr id="448" name="Google Shape;448;p45"/>
          <p:cNvSpPr txBox="1">
            <a:spLocks noGrp="1"/>
          </p:cNvSpPr>
          <p:nvPr>
            <p:ph type="title"/>
          </p:nvPr>
        </p:nvSpPr>
        <p:spPr>
          <a:xfrm>
            <a:off x="1069675" y="393575"/>
            <a:ext cx="6396300" cy="685800"/>
          </a:xfrm>
          <a:prstGeom prst="rect">
            <a:avLst/>
          </a:prstGeom>
        </p:spPr>
        <p:txBody>
          <a:bodyPr spcFirstLastPara="1" wrap="square" lIns="0" tIns="0" rIns="0" bIns="0" anchor="t" anchorCtr="0">
            <a:noAutofit/>
          </a:bodyPr>
          <a:lstStyle/>
          <a:p>
            <a:pPr marL="0" lvl="1" indent="0" algn="l" rtl="0">
              <a:spcBef>
                <a:spcPts val="900"/>
              </a:spcBef>
              <a:spcAft>
                <a:spcPts val="0"/>
              </a:spcAft>
              <a:buNone/>
            </a:pPr>
            <a:r>
              <a:rPr lang="en-US" sz="2400" b="1">
                <a:solidFill>
                  <a:schemeClr val="dk1"/>
                </a:solidFill>
                <a:latin typeface="Verizon NHG DS"/>
                <a:ea typeface="Verizon NHG DS"/>
                <a:cs typeface="Verizon NHG DS"/>
                <a:sym typeface="Verizon NHG DS"/>
              </a:rPr>
              <a:t>Application Optimization </a:t>
            </a:r>
            <a:endParaRPr b="1">
              <a:solidFill>
                <a:schemeClr val="dk1"/>
              </a:solidFill>
            </a:endParaRPr>
          </a:p>
          <a:p>
            <a:pPr marL="0" lvl="0" indent="0" algn="l" rtl="0">
              <a:spcBef>
                <a:spcPts val="0"/>
              </a:spcBef>
              <a:spcAft>
                <a:spcPts val="0"/>
              </a:spcAft>
              <a:buClr>
                <a:schemeClr val="dk1"/>
              </a:buClr>
              <a:buSzPts val="2400"/>
              <a:buFont typeface="Verizon NHG DS"/>
              <a:buNone/>
            </a:pPr>
            <a:r>
              <a:rPr lang="en-US"/>
              <a:t> </a:t>
            </a:r>
            <a:endParaRPr/>
          </a:p>
          <a:p>
            <a:pPr marL="0" lvl="1" indent="0" algn="l" rtl="0">
              <a:spcBef>
                <a:spcPts val="900"/>
              </a:spcBef>
              <a:spcAft>
                <a:spcPts val="0"/>
              </a:spcAft>
              <a:buNone/>
            </a:pPr>
            <a:endParaRPr sz="2400" b="1">
              <a:solidFill>
                <a:schemeClr val="dk1"/>
              </a:solidFill>
              <a:latin typeface="Verizon NHG TX"/>
              <a:ea typeface="Verizon NHG TX"/>
              <a:cs typeface="Verizon NHG TX"/>
              <a:sym typeface="Verizon NHG TX"/>
            </a:endParaRPr>
          </a:p>
        </p:txBody>
      </p:sp>
      <p:sp>
        <p:nvSpPr>
          <p:cNvPr id="449" name="Google Shape;449;p45"/>
          <p:cNvSpPr txBox="1"/>
          <p:nvPr/>
        </p:nvSpPr>
        <p:spPr>
          <a:xfrm>
            <a:off x="457200" y="1280575"/>
            <a:ext cx="3098100" cy="1969500"/>
          </a:xfrm>
          <a:prstGeom prst="rect">
            <a:avLst/>
          </a:prstGeom>
          <a:noFill/>
          <a:ln>
            <a:noFill/>
          </a:ln>
        </p:spPr>
        <p:txBody>
          <a:bodyPr spcFirstLastPara="1" wrap="square" lIns="91425" tIns="91425" rIns="91425" bIns="91425" anchor="t" anchorCtr="0">
            <a:noAutofit/>
          </a:bodyPr>
          <a:lstStyle/>
          <a:p>
            <a:pPr marL="0" lvl="0" indent="0" algn="l" rtl="0">
              <a:spcBef>
                <a:spcPts val="900"/>
              </a:spcBef>
              <a:spcAft>
                <a:spcPts val="0"/>
              </a:spcAft>
              <a:buNone/>
            </a:pPr>
            <a:r>
              <a:rPr lang="en-US">
                <a:solidFill>
                  <a:schemeClr val="dk1"/>
                </a:solidFill>
                <a:latin typeface="Verizon NHG TX"/>
                <a:ea typeface="Verizon NHG TX"/>
                <a:cs typeface="Verizon NHG TX"/>
                <a:sym typeface="Verizon NHG TX"/>
              </a:rPr>
              <a:t>“Supplier shall perform activities to optimize the operational aspects of the In-Scope Applications. At all times, Supplier will seek and implement actions to improve Application availability, performance and response times.”</a:t>
            </a:r>
            <a:endParaRPr>
              <a:latin typeface="Verizon NHG TX"/>
              <a:ea typeface="Verizon NHG TX"/>
              <a:cs typeface="Verizon NHG TX"/>
              <a:sym typeface="Verizon NHG TX"/>
            </a:endParaRPr>
          </a:p>
        </p:txBody>
      </p:sp>
      <p:sp>
        <p:nvSpPr>
          <p:cNvPr id="450" name="Google Shape;450;p45"/>
          <p:cNvSpPr txBox="1"/>
          <p:nvPr/>
        </p:nvSpPr>
        <p:spPr>
          <a:xfrm>
            <a:off x="3555175" y="1280575"/>
            <a:ext cx="4902900" cy="3000000"/>
          </a:xfrm>
          <a:prstGeom prst="rect">
            <a:avLst/>
          </a:prstGeom>
          <a:noFill/>
          <a:ln>
            <a:noFill/>
          </a:ln>
        </p:spPr>
        <p:txBody>
          <a:bodyPr spcFirstLastPara="1" wrap="square" lIns="91425" tIns="91425" rIns="91425" bIns="91425" anchor="t" anchorCtr="0">
            <a:noAutofit/>
          </a:bodyPr>
          <a:lstStyle/>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Review of SQL Agent jobs for the opportunities to optimize the existing processes.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Refresh cron jobs and add new modules to optimize performance and avoid job failures.</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Regular reviews of the In-Scope Applications and seeking opportunities to optimize the system performance.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Effort spent to evaluate and recommend better software </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Analysis and review of performance data</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Optimization of server, DB space, memcache - conducting regular reviews of the application and architecture seeking opportunities to consolidate systems and infrastructure</a:t>
            </a:r>
            <a:endParaRPr sz="1100">
              <a:solidFill>
                <a:schemeClr val="dk1"/>
              </a:solidFill>
              <a:latin typeface="Verizon NHG TX"/>
              <a:ea typeface="Verizon NHG TX"/>
              <a:cs typeface="Verizon NHG TX"/>
              <a:sym typeface="Verizon NHG TX"/>
            </a:endParaRPr>
          </a:p>
          <a:p>
            <a:pPr marL="457200" lvl="0" indent="-298450" algn="l" rtl="0">
              <a:lnSpc>
                <a:spcPct val="115000"/>
              </a:lnSpc>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Effort spent to evaluate software for application optimization </a:t>
            </a: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endParaRPr sz="1100">
              <a:solidFill>
                <a:schemeClr val="dk1"/>
              </a:solidFill>
              <a:latin typeface="Verizon NHG TX"/>
              <a:ea typeface="Verizon NHG TX"/>
              <a:cs typeface="Verizon NHG TX"/>
              <a:sym typeface="Verizon NHG TX"/>
            </a:endParaRPr>
          </a:p>
        </p:txBody>
      </p:sp>
      <p:cxnSp>
        <p:nvCxnSpPr>
          <p:cNvPr id="451" name="Google Shape;451;p45"/>
          <p:cNvCxnSpPr/>
          <p:nvPr/>
        </p:nvCxnSpPr>
        <p:spPr>
          <a:xfrm>
            <a:off x="3583475" y="1238675"/>
            <a:ext cx="3600" cy="2713800"/>
          </a:xfrm>
          <a:prstGeom prst="straightConnector1">
            <a:avLst/>
          </a:prstGeom>
          <a:noFill/>
          <a:ln w="9525" cap="flat" cmpd="sng">
            <a:solidFill>
              <a:schemeClr val="dk2"/>
            </a:solidFill>
            <a:prstDash val="solid"/>
            <a:round/>
            <a:headEnd type="none" w="med" len="med"/>
            <a:tailEnd type="none" w="med" len="med"/>
          </a:ln>
        </p:spPr>
      </p:cxnSp>
      <p:pic>
        <p:nvPicPr>
          <p:cNvPr id="452" name="Google Shape;452;p45"/>
          <p:cNvPicPr preferRelativeResize="0"/>
          <p:nvPr/>
        </p:nvPicPr>
        <p:blipFill rotWithShape="1">
          <a:blip r:embed="rId3">
            <a:alphaModFix/>
          </a:blip>
          <a:srcRect l="16218" r="18854"/>
          <a:stretch/>
        </p:blipFill>
        <p:spPr>
          <a:xfrm>
            <a:off x="457200" y="518013"/>
            <a:ext cx="568975" cy="561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46"/>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14</a:t>
            </a:fld>
            <a:endParaRPr/>
          </a:p>
        </p:txBody>
      </p:sp>
      <p:sp>
        <p:nvSpPr>
          <p:cNvPr id="459" name="Google Shape;459;p46"/>
          <p:cNvSpPr txBox="1">
            <a:spLocks noGrp="1"/>
          </p:cNvSpPr>
          <p:nvPr>
            <p:ph type="title"/>
          </p:nvPr>
        </p:nvSpPr>
        <p:spPr>
          <a:xfrm>
            <a:off x="1115175" y="545025"/>
            <a:ext cx="5836800" cy="6858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Minor Enhancements</a:t>
            </a:r>
            <a:endParaRPr sz="2400" b="1">
              <a:solidFill>
                <a:schemeClr val="dk1"/>
              </a:solidFill>
              <a:latin typeface="Verizon NHG TX"/>
              <a:ea typeface="Verizon NHG TX"/>
              <a:cs typeface="Verizon NHG TX"/>
              <a:sym typeface="Verizon NHG TX"/>
            </a:endParaRPr>
          </a:p>
        </p:txBody>
      </p:sp>
      <p:sp>
        <p:nvSpPr>
          <p:cNvPr id="460" name="Google Shape;460;p46"/>
          <p:cNvSpPr txBox="1"/>
          <p:nvPr/>
        </p:nvSpPr>
        <p:spPr>
          <a:xfrm>
            <a:off x="381925" y="1356575"/>
            <a:ext cx="3028200" cy="1701300"/>
          </a:xfrm>
          <a:prstGeom prst="rect">
            <a:avLst/>
          </a:prstGeom>
          <a:noFill/>
          <a:ln>
            <a:noFill/>
          </a:ln>
        </p:spPr>
        <p:txBody>
          <a:bodyPr spcFirstLastPara="1" wrap="square" lIns="91425" tIns="91425" rIns="91425" bIns="91425" anchor="t" anchorCtr="0">
            <a:noAutofit/>
          </a:bodyPr>
          <a:lstStyle/>
          <a:p>
            <a:pPr marL="0" lvl="0" indent="0" algn="l" rtl="0">
              <a:spcBef>
                <a:spcPts val="900"/>
              </a:spcBef>
              <a:spcAft>
                <a:spcPts val="0"/>
              </a:spcAft>
              <a:buNone/>
            </a:pPr>
            <a:r>
              <a:rPr lang="en-US">
                <a:solidFill>
                  <a:schemeClr val="dk1"/>
                </a:solidFill>
                <a:highlight>
                  <a:schemeClr val="lt1"/>
                </a:highlight>
                <a:latin typeface="Verizon NHG TX"/>
                <a:ea typeface="Verizon NHG TX"/>
                <a:cs typeface="Verizon NHG TX"/>
                <a:sym typeface="Verizon NHG TX"/>
              </a:rPr>
              <a:t>“A Minor Enhancement means a small, isolated or minor item of development work implemented in less than 120 Person Hours that is required to be performed as part of Application Maintenance.”</a:t>
            </a:r>
            <a:endParaRPr>
              <a:solidFill>
                <a:schemeClr val="dk1"/>
              </a:solidFill>
              <a:highlight>
                <a:schemeClr val="lt1"/>
              </a:highlight>
              <a:latin typeface="Verizon NHG TX"/>
              <a:ea typeface="Verizon NHG TX"/>
              <a:cs typeface="Verizon NHG TX"/>
              <a:sym typeface="Verizon NHG TX"/>
            </a:endParaRPr>
          </a:p>
          <a:p>
            <a:pPr marL="0" lvl="0" indent="0" algn="l" rtl="0">
              <a:spcBef>
                <a:spcPts val="900"/>
              </a:spcBef>
              <a:spcAft>
                <a:spcPts val="0"/>
              </a:spcAft>
              <a:buNone/>
            </a:pPr>
            <a:endParaRPr>
              <a:solidFill>
                <a:schemeClr val="dk1"/>
              </a:solidFill>
              <a:highlight>
                <a:schemeClr val="lt1"/>
              </a:highlight>
              <a:latin typeface="Verizon NHG TX"/>
              <a:ea typeface="Verizon NHG TX"/>
              <a:cs typeface="Verizon NHG TX"/>
              <a:sym typeface="Verizon NHG TX"/>
            </a:endParaRPr>
          </a:p>
          <a:p>
            <a:pPr marL="0" lvl="0" indent="0" algn="l" rtl="0">
              <a:spcBef>
                <a:spcPts val="900"/>
              </a:spcBef>
              <a:spcAft>
                <a:spcPts val="0"/>
              </a:spcAft>
              <a:buNone/>
            </a:pPr>
            <a:endParaRPr>
              <a:solidFill>
                <a:schemeClr val="dk1"/>
              </a:solidFill>
              <a:highlight>
                <a:schemeClr val="lt1"/>
              </a:highlight>
              <a:latin typeface="Verizon NHG TX"/>
              <a:ea typeface="Verizon NHG TX"/>
              <a:cs typeface="Verizon NHG TX"/>
              <a:sym typeface="Verizon NHG TX"/>
            </a:endParaRPr>
          </a:p>
        </p:txBody>
      </p:sp>
      <p:cxnSp>
        <p:nvCxnSpPr>
          <p:cNvPr id="461" name="Google Shape;461;p46"/>
          <p:cNvCxnSpPr/>
          <p:nvPr/>
        </p:nvCxnSpPr>
        <p:spPr>
          <a:xfrm>
            <a:off x="3410125" y="1079375"/>
            <a:ext cx="0" cy="2960400"/>
          </a:xfrm>
          <a:prstGeom prst="straightConnector1">
            <a:avLst/>
          </a:prstGeom>
          <a:noFill/>
          <a:ln w="9525" cap="flat" cmpd="sng">
            <a:solidFill>
              <a:schemeClr val="dk2"/>
            </a:solidFill>
            <a:prstDash val="solid"/>
            <a:round/>
            <a:headEnd type="none" w="med" len="med"/>
            <a:tailEnd type="none" w="med" len="med"/>
          </a:ln>
        </p:spPr>
      </p:cxnSp>
      <p:pic>
        <p:nvPicPr>
          <p:cNvPr id="462" name="Google Shape;462;p46"/>
          <p:cNvPicPr preferRelativeResize="0"/>
          <p:nvPr/>
        </p:nvPicPr>
        <p:blipFill rotWithShape="1">
          <a:blip r:embed="rId3">
            <a:alphaModFix/>
          </a:blip>
          <a:srcRect l="6466" t="8004" r="10518" b="20269"/>
          <a:stretch/>
        </p:blipFill>
        <p:spPr>
          <a:xfrm>
            <a:off x="457200" y="507100"/>
            <a:ext cx="604876" cy="513676"/>
          </a:xfrm>
          <a:prstGeom prst="rect">
            <a:avLst/>
          </a:prstGeom>
          <a:noFill/>
          <a:ln>
            <a:noFill/>
          </a:ln>
        </p:spPr>
      </p:pic>
      <p:sp>
        <p:nvSpPr>
          <p:cNvPr id="463" name="Google Shape;463;p46"/>
          <p:cNvSpPr txBox="1"/>
          <p:nvPr/>
        </p:nvSpPr>
        <p:spPr>
          <a:xfrm>
            <a:off x="3372175" y="1147625"/>
            <a:ext cx="4881600" cy="30000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XSmall Projects</a:t>
            </a: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Standalone Deliverables</a:t>
            </a: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Enhancements</a:t>
            </a: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Small Dev/Test work of a bigger project e.g. Cluster A runs a 1000+ hours project, but they need one small interface done in your area which Infosys returns with LOE of &lt;= 120 hours</a:t>
            </a: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Changes to increase software/hardware capabilities beyond original/baseline specifications</a:t>
            </a: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Enhancements to add a new functionality</a:t>
            </a: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rgbClr val="B7B7B7"/>
              </a:buClr>
              <a:buSzPts val="1100"/>
              <a:buFont typeface="Verizon NHG TX"/>
              <a:buAutoNum type="arabicPeriod"/>
            </a:pPr>
            <a:r>
              <a:rPr lang="en-US" sz="1100" strike="sngStrike">
                <a:solidFill>
                  <a:srgbClr val="B7B7B7"/>
                </a:solidFill>
                <a:latin typeface="Verizon NHG TX"/>
                <a:ea typeface="Verizon NHG TX"/>
                <a:cs typeface="Verizon NHG TX"/>
                <a:sym typeface="Verizon NHG TX"/>
              </a:rPr>
              <a:t>Software / Platform upgrades*</a:t>
            </a:r>
            <a:endParaRPr sz="1100" strike="sngStrike">
              <a:solidFill>
                <a:srgbClr val="B7B7B7"/>
              </a:solidFill>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Ideas for new features or improvements to existing features/ functionalities</a:t>
            </a: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Design, Development and Testing hours are acceptable</a:t>
            </a: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r>
              <a:rPr lang="en-US" sz="800">
                <a:solidFill>
                  <a:srgbClr val="B7B7B7"/>
                </a:solidFill>
                <a:latin typeface="Verizon NHG TX"/>
                <a:ea typeface="Verizon NHG TX"/>
                <a:cs typeface="Verizon NHG TX"/>
                <a:sym typeface="Verizon NHG TX"/>
              </a:rPr>
              <a:t>* - Incorrectly added in original version of documented, deleted after meeting feedback and review</a:t>
            </a:r>
            <a:endParaRPr sz="800">
              <a:solidFill>
                <a:srgbClr val="B7B7B7"/>
              </a:solidFill>
              <a:latin typeface="Verizon NHG TX"/>
              <a:ea typeface="Verizon NHG TX"/>
              <a:cs typeface="Verizon NHG TX"/>
              <a:sym typeface="Verizon NHG TX"/>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47"/>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fld id="{00000000-1234-1234-1234-123412341234}" type="slidenum">
              <a:rPr lang="en-US"/>
              <a:t>15</a:t>
            </a:fld>
            <a:endParaRPr/>
          </a:p>
        </p:txBody>
      </p:sp>
      <p:sp>
        <p:nvSpPr>
          <p:cNvPr id="470" name="Google Shape;470;p47"/>
          <p:cNvSpPr txBox="1"/>
          <p:nvPr/>
        </p:nvSpPr>
        <p:spPr>
          <a:xfrm>
            <a:off x="220000" y="2820775"/>
            <a:ext cx="3255000" cy="1701300"/>
          </a:xfrm>
          <a:prstGeom prst="rect">
            <a:avLst/>
          </a:prstGeom>
          <a:noFill/>
          <a:ln>
            <a:noFill/>
          </a:ln>
        </p:spPr>
        <p:txBody>
          <a:bodyPr spcFirstLastPara="1" wrap="square" lIns="91425" tIns="91425" rIns="91425" bIns="91425" anchor="t" anchorCtr="0">
            <a:noAutofit/>
          </a:bodyPr>
          <a:lstStyle/>
          <a:p>
            <a:pPr marL="0" lvl="0" indent="0" algn="l" rtl="0">
              <a:spcBef>
                <a:spcPts val="900"/>
              </a:spcBef>
              <a:spcAft>
                <a:spcPts val="0"/>
              </a:spcAft>
              <a:buNone/>
            </a:pPr>
            <a:r>
              <a:rPr lang="en-US" sz="1300">
                <a:solidFill>
                  <a:schemeClr val="dk1"/>
                </a:solidFill>
                <a:highlight>
                  <a:schemeClr val="lt1"/>
                </a:highlight>
                <a:latin typeface="Verizon NHG TX"/>
                <a:ea typeface="Verizon NHG TX"/>
                <a:cs typeface="Verizon NHG TX"/>
                <a:sym typeface="Verizon NHG TX"/>
              </a:rPr>
              <a:t>“</a:t>
            </a:r>
            <a:r>
              <a:rPr lang="en-US" sz="1300">
                <a:solidFill>
                  <a:schemeClr val="dk1"/>
                </a:solidFill>
                <a:latin typeface="Verizon NHG TX"/>
                <a:ea typeface="Verizon NHG TX"/>
                <a:cs typeface="Verizon NHG TX"/>
                <a:sym typeface="Verizon NHG TX"/>
              </a:rPr>
              <a:t>The purpose of the availability management process is to consider the design, implementation, measurement and management of those aspects of the Services and other business process may impact availability so that business requirements for availability are consistently met</a:t>
            </a:r>
            <a:r>
              <a:rPr lang="en-US" sz="1300">
                <a:solidFill>
                  <a:schemeClr val="dk1"/>
                </a:solidFill>
                <a:highlight>
                  <a:schemeClr val="lt1"/>
                </a:highlight>
                <a:latin typeface="Verizon NHG TX"/>
                <a:ea typeface="Verizon NHG TX"/>
                <a:cs typeface="Verizon NHG TX"/>
                <a:sym typeface="Verizon NHG TX"/>
              </a:rPr>
              <a:t>.”</a:t>
            </a:r>
            <a:endParaRPr sz="1300">
              <a:solidFill>
                <a:schemeClr val="dk1"/>
              </a:solidFill>
              <a:highlight>
                <a:schemeClr val="lt1"/>
              </a:highlight>
              <a:latin typeface="Verizon NHG TX"/>
              <a:ea typeface="Verizon NHG TX"/>
              <a:cs typeface="Verizon NHG TX"/>
              <a:sym typeface="Verizon NHG TX"/>
            </a:endParaRPr>
          </a:p>
          <a:p>
            <a:pPr marL="0" lvl="0" indent="0" algn="l" rtl="0">
              <a:spcBef>
                <a:spcPts val="900"/>
              </a:spcBef>
              <a:spcAft>
                <a:spcPts val="0"/>
              </a:spcAft>
              <a:buNone/>
            </a:pPr>
            <a:endParaRPr>
              <a:solidFill>
                <a:schemeClr val="dk1"/>
              </a:solidFill>
              <a:highlight>
                <a:schemeClr val="lt1"/>
              </a:highlight>
              <a:latin typeface="Verizon NHG TX"/>
              <a:ea typeface="Verizon NHG TX"/>
              <a:cs typeface="Verizon NHG TX"/>
              <a:sym typeface="Verizon NHG TX"/>
            </a:endParaRPr>
          </a:p>
          <a:p>
            <a:pPr marL="0" lvl="0" indent="0" algn="l" rtl="0">
              <a:spcBef>
                <a:spcPts val="900"/>
              </a:spcBef>
              <a:spcAft>
                <a:spcPts val="0"/>
              </a:spcAft>
              <a:buNone/>
            </a:pPr>
            <a:endParaRPr>
              <a:solidFill>
                <a:schemeClr val="dk1"/>
              </a:solidFill>
              <a:highlight>
                <a:schemeClr val="lt1"/>
              </a:highlight>
              <a:latin typeface="Verizon NHG TX"/>
              <a:ea typeface="Verizon NHG TX"/>
              <a:cs typeface="Verizon NHG TX"/>
              <a:sym typeface="Verizon NHG TX"/>
            </a:endParaRPr>
          </a:p>
        </p:txBody>
      </p:sp>
      <p:sp>
        <p:nvSpPr>
          <p:cNvPr id="471" name="Google Shape;471;p47"/>
          <p:cNvSpPr txBox="1"/>
          <p:nvPr/>
        </p:nvSpPr>
        <p:spPr>
          <a:xfrm>
            <a:off x="3463150" y="1276600"/>
            <a:ext cx="48816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100">
                <a:solidFill>
                  <a:schemeClr val="dk1"/>
                </a:solidFill>
                <a:latin typeface="Verizon NHG TX"/>
                <a:ea typeface="Verizon NHG TX"/>
                <a:cs typeface="Verizon NHG TX"/>
                <a:sym typeface="Verizon NHG TX"/>
              </a:rPr>
              <a:t>Not all activities under these two sections are default KTLO activities. Items that add/improve  to operating environment are the ones that are “KTLO eligible” - Will be reviewed by VZ to approve as KTLO.</a:t>
            </a:r>
            <a:endParaRPr sz="1100">
              <a:solidFill>
                <a:schemeClr val="dk1"/>
              </a:solidFill>
              <a:latin typeface="Verizon NHG TX"/>
              <a:ea typeface="Verizon NHG TX"/>
              <a:cs typeface="Verizon NHG TX"/>
              <a:sym typeface="Verizon NHG TX"/>
            </a:endParaRPr>
          </a:p>
          <a:p>
            <a:pPr marL="0" lvl="0" indent="0" algn="l" rtl="0">
              <a:spcBef>
                <a:spcPts val="0"/>
              </a:spcBef>
              <a:spcAft>
                <a:spcPts val="0"/>
              </a:spcAft>
              <a:buClr>
                <a:schemeClr val="dk1"/>
              </a:buClr>
              <a:buSzPts val="1100"/>
              <a:buFont typeface="Arial"/>
              <a:buNone/>
            </a:pP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AutoNum type="arabicPeriod"/>
            </a:pPr>
            <a:r>
              <a:rPr lang="en-US" sz="1100">
                <a:solidFill>
                  <a:schemeClr val="dk1"/>
                </a:solidFill>
                <a:latin typeface="Verizon NHG TX"/>
                <a:ea typeface="Verizon NHG TX"/>
                <a:cs typeface="Verizon NHG TX"/>
                <a:sym typeface="Verizon NHG TX"/>
              </a:rPr>
              <a:t>Some Security Management activities requiring high level of code change (Logging etc.)</a:t>
            </a:r>
            <a:endParaRPr sz="1100">
              <a:solidFill>
                <a:schemeClr val="dk1"/>
              </a:solidFill>
              <a:latin typeface="Verizon NHG TX"/>
              <a:ea typeface="Verizon NHG TX"/>
              <a:cs typeface="Verizon NHG TX"/>
              <a:sym typeface="Verizon NHG TX"/>
            </a:endParaRPr>
          </a:p>
          <a:p>
            <a:pPr marL="457200" lvl="0" indent="-298450" algn="l" rtl="0">
              <a:spcBef>
                <a:spcPts val="0"/>
              </a:spcBef>
              <a:spcAft>
                <a:spcPts val="0"/>
              </a:spcAft>
              <a:buClr>
                <a:srgbClr val="595959"/>
              </a:buClr>
              <a:buSzPts val="1100"/>
              <a:buFont typeface="Verizon NHG TX"/>
              <a:buAutoNum type="arabicPeriod"/>
            </a:pPr>
            <a:r>
              <a:rPr lang="en-US" sz="1100">
                <a:solidFill>
                  <a:schemeClr val="dk1"/>
                </a:solidFill>
                <a:latin typeface="Verizon NHG TX"/>
                <a:ea typeface="Verizon NHG TX"/>
                <a:cs typeface="Verizon NHG TX"/>
                <a:sym typeface="Verizon NHG TX"/>
              </a:rPr>
              <a:t>Changes to Improve availability of application from 18*5 to 20*5</a:t>
            </a:r>
            <a:endParaRPr sz="1100">
              <a:solidFill>
                <a:schemeClr val="dk1"/>
              </a:solidFill>
              <a:latin typeface="Verizon NHG TX"/>
              <a:ea typeface="Verizon NHG TX"/>
              <a:cs typeface="Verizon NHG TX"/>
              <a:sym typeface="Verizon NHG TX"/>
            </a:endParaRPr>
          </a:p>
          <a:p>
            <a:pPr marL="0" lvl="0" indent="0" algn="l" rtl="0">
              <a:spcBef>
                <a:spcPts val="0"/>
              </a:spcBef>
              <a:spcAft>
                <a:spcPts val="0"/>
              </a:spcAft>
              <a:buClr>
                <a:schemeClr val="dk1"/>
              </a:buClr>
              <a:buSzPts val="1100"/>
              <a:buFont typeface="Arial"/>
              <a:buNone/>
            </a:pPr>
            <a:endParaRPr sz="1100">
              <a:solidFill>
                <a:schemeClr val="dk1"/>
              </a:solidFill>
              <a:latin typeface="Verizon NHG TX"/>
              <a:ea typeface="Verizon NHG TX"/>
              <a:cs typeface="Verizon NHG TX"/>
              <a:sym typeface="Verizon NHG TX"/>
            </a:endParaRPr>
          </a:p>
          <a:p>
            <a:pPr marL="457200" lvl="0" indent="0" algn="l" rtl="0">
              <a:lnSpc>
                <a:spcPct val="115000"/>
              </a:lnSpc>
              <a:spcBef>
                <a:spcPts val="0"/>
              </a:spcBef>
              <a:spcAft>
                <a:spcPts val="0"/>
              </a:spcAft>
              <a:buNone/>
            </a:pPr>
            <a:endParaRPr sz="1100">
              <a:solidFill>
                <a:schemeClr val="dk1"/>
              </a:solidFill>
              <a:latin typeface="Verizon NHG TX"/>
              <a:ea typeface="Verizon NHG TX"/>
              <a:cs typeface="Verizon NHG TX"/>
              <a:sym typeface="Verizon NHG TX"/>
            </a:endParaRPr>
          </a:p>
        </p:txBody>
      </p:sp>
      <p:cxnSp>
        <p:nvCxnSpPr>
          <p:cNvPr id="472" name="Google Shape;472;p47"/>
          <p:cNvCxnSpPr/>
          <p:nvPr/>
        </p:nvCxnSpPr>
        <p:spPr>
          <a:xfrm>
            <a:off x="3455950" y="1276600"/>
            <a:ext cx="7200" cy="3366300"/>
          </a:xfrm>
          <a:prstGeom prst="straightConnector1">
            <a:avLst/>
          </a:prstGeom>
          <a:noFill/>
          <a:ln w="9525" cap="flat" cmpd="sng">
            <a:solidFill>
              <a:schemeClr val="dk2"/>
            </a:solidFill>
            <a:prstDash val="solid"/>
            <a:round/>
            <a:headEnd type="none" w="med" len="med"/>
            <a:tailEnd type="none" w="med" len="med"/>
          </a:ln>
        </p:spPr>
      </p:cxnSp>
      <p:sp>
        <p:nvSpPr>
          <p:cNvPr id="473" name="Google Shape;473;p47"/>
          <p:cNvSpPr txBox="1">
            <a:spLocks noGrp="1"/>
          </p:cNvSpPr>
          <p:nvPr>
            <p:ph type="title"/>
          </p:nvPr>
        </p:nvSpPr>
        <p:spPr>
          <a:xfrm>
            <a:off x="1130400" y="516325"/>
            <a:ext cx="6413400" cy="6858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US"/>
              <a:t>Security Management &amp; Availability Management - KTLO Eligible</a:t>
            </a:r>
            <a:endParaRPr/>
          </a:p>
        </p:txBody>
      </p:sp>
      <p:pic>
        <p:nvPicPr>
          <p:cNvPr id="474" name="Google Shape;474;p47"/>
          <p:cNvPicPr preferRelativeResize="0"/>
          <p:nvPr/>
        </p:nvPicPr>
        <p:blipFill rotWithShape="1">
          <a:blip r:embed="rId3">
            <a:alphaModFix/>
          </a:blip>
          <a:srcRect b="13337"/>
          <a:stretch/>
        </p:blipFill>
        <p:spPr>
          <a:xfrm>
            <a:off x="457200" y="516325"/>
            <a:ext cx="617950" cy="523000"/>
          </a:xfrm>
          <a:prstGeom prst="rect">
            <a:avLst/>
          </a:prstGeom>
          <a:noFill/>
          <a:ln>
            <a:noFill/>
          </a:ln>
        </p:spPr>
      </p:pic>
      <p:sp>
        <p:nvSpPr>
          <p:cNvPr id="475" name="Google Shape;475;p47"/>
          <p:cNvSpPr txBox="1"/>
          <p:nvPr/>
        </p:nvSpPr>
        <p:spPr>
          <a:xfrm>
            <a:off x="239050" y="1241388"/>
            <a:ext cx="3216900" cy="137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300">
                <a:solidFill>
                  <a:schemeClr val="dk1"/>
                </a:solidFill>
                <a:latin typeface="Verizon NHG TX"/>
                <a:ea typeface="Verizon NHG TX"/>
                <a:cs typeface="Verizon NHG TX"/>
                <a:sym typeface="Verizon NHG TX"/>
              </a:rPr>
              <a:t>“Security management support Services mean the Services necessary to implement overall security plans and roles to manage the integrity of the In-Scope Applications in accordance with the Verizon policies and procedures.”</a:t>
            </a:r>
            <a:endParaRPr sz="1300">
              <a:latin typeface="Verizon NHG TX"/>
              <a:ea typeface="Verizon NHG TX"/>
              <a:cs typeface="Verizon NHG TX"/>
              <a:sym typeface="Verizon NHG TX"/>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48"/>
          <p:cNvSpPr txBox="1">
            <a:spLocks noGrp="1"/>
          </p:cNvSpPr>
          <p:nvPr>
            <p:ph type="body" idx="1"/>
          </p:nvPr>
        </p:nvSpPr>
        <p:spPr>
          <a:xfrm>
            <a:off x="457200" y="1368525"/>
            <a:ext cx="8127000" cy="2979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800" b="0"/>
              <a:t>Infosys has highlighted that they consider </a:t>
            </a:r>
            <a:r>
              <a:rPr lang="en-US" sz="1800" b="0" u="sng"/>
              <a:t>Fixing Security Vulnerabilities </a:t>
            </a:r>
            <a:r>
              <a:rPr lang="en-US" sz="1800" b="0"/>
              <a:t>(Fortify, Black duck etc.) under Security &amp; Compliance Maintenance as being a KTLO effort. The VZ PMO is verifying this with the legal team and has not made a determination yet. </a:t>
            </a:r>
            <a:endParaRPr sz="1800" b="0"/>
          </a:p>
        </p:txBody>
      </p:sp>
      <p:sp>
        <p:nvSpPr>
          <p:cNvPr id="482" name="Google Shape;482;p48"/>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
        <p:nvSpPr>
          <p:cNvPr id="483" name="Google Shape;483;p48"/>
          <p:cNvSpPr txBox="1">
            <a:spLocks noGrp="1"/>
          </p:cNvSpPr>
          <p:nvPr>
            <p:ph type="title"/>
          </p:nvPr>
        </p:nvSpPr>
        <p:spPr>
          <a:xfrm>
            <a:off x="457200" y="590550"/>
            <a:ext cx="7086600" cy="6858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2400"/>
              <a:buFont typeface="Verizon NHG DS"/>
              <a:buNone/>
            </a:pPr>
            <a:r>
              <a:rPr lang="en-US"/>
              <a:t>Security &amp; Compliance Maintenance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49"/>
          <p:cNvSpPr txBox="1">
            <a:spLocks noGrp="1"/>
          </p:cNvSpPr>
          <p:nvPr>
            <p:ph type="title"/>
          </p:nvPr>
        </p:nvSpPr>
        <p:spPr>
          <a:xfrm>
            <a:off x="988800" y="514825"/>
            <a:ext cx="4423200" cy="438300"/>
          </a:xfrm>
          <a:prstGeom prst="rect">
            <a:avLst/>
          </a:prstGeom>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a:t>Unacceptable Entries </a:t>
            </a:r>
            <a:endParaRPr/>
          </a:p>
        </p:txBody>
      </p:sp>
      <p:sp>
        <p:nvSpPr>
          <p:cNvPr id="490" name="Google Shape;490;p49"/>
          <p:cNvSpPr txBox="1">
            <a:spLocks noGrp="1"/>
          </p:cNvSpPr>
          <p:nvPr>
            <p:ph type="body" idx="1"/>
          </p:nvPr>
        </p:nvSpPr>
        <p:spPr>
          <a:xfrm>
            <a:off x="535025" y="1101774"/>
            <a:ext cx="7086600" cy="3551700"/>
          </a:xfrm>
          <a:prstGeom prst="rect">
            <a:avLst/>
          </a:prstGeom>
        </p:spPr>
        <p:txBody>
          <a:bodyPr spcFirstLastPara="1" wrap="square" lIns="0" tIns="0" rIns="0" bIns="0" anchor="t" anchorCtr="0">
            <a:noAutofit/>
          </a:bodyPr>
          <a:lstStyle/>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IR / Defect/ Incident / Bug fixes/Work on</a:t>
            </a:r>
            <a:endParaRPr sz="1200" b="0">
              <a:solidFill>
                <a:srgbClr val="000000"/>
              </a:solidFill>
            </a:endParaRPr>
          </a:p>
          <a:p>
            <a:pPr marL="457200" marR="0" lvl="0" indent="0" algn="l" rtl="0">
              <a:lnSpc>
                <a:spcPct val="100000"/>
              </a:lnSpc>
              <a:spcBef>
                <a:spcPts val="0"/>
              </a:spcBef>
              <a:spcAft>
                <a:spcPts val="0"/>
              </a:spcAft>
              <a:buNone/>
            </a:pPr>
            <a:r>
              <a:rPr lang="en-US" sz="1200" b="0">
                <a:solidFill>
                  <a:srgbClr val="000000"/>
                </a:solidFill>
              </a:rPr>
              <a:t>AYS tickets and fix issues</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Adhoc end user request</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Batch Job Monitoring and Troubleshooting </a:t>
            </a:r>
            <a:endParaRPr sz="1200" b="0">
              <a:solidFill>
                <a:srgbClr val="000000"/>
              </a:solidFill>
            </a:endParaRPr>
          </a:p>
          <a:p>
            <a:pPr marL="457200" marR="0" lvl="0" indent="0" algn="l" rtl="0">
              <a:lnSpc>
                <a:spcPct val="100000"/>
              </a:lnSpc>
              <a:spcBef>
                <a:spcPts val="0"/>
              </a:spcBef>
              <a:spcAft>
                <a:spcPts val="0"/>
              </a:spcAft>
              <a:buNone/>
            </a:pPr>
            <a:r>
              <a:rPr lang="en-US" sz="1200" b="0">
                <a:solidFill>
                  <a:srgbClr val="000000"/>
                </a:solidFill>
              </a:rPr>
              <a:t>the job issues</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Misc user help</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DB issues for batch delay jobs</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DB script execution across environments</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Handling infra issues</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Alerts troubleshooting and monitoring</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General support and bug fix/ </a:t>
            </a:r>
            <a:r>
              <a:rPr lang="en-US" sz="1200" b="0">
                <a:highlight>
                  <a:srgbClr val="FFFFFF"/>
                </a:highlight>
              </a:rPr>
              <a:t>Bill cycle </a:t>
            </a:r>
            <a:endParaRPr sz="1200" b="0">
              <a:highlight>
                <a:srgbClr val="FFFFFF"/>
              </a:highlight>
            </a:endParaRPr>
          </a:p>
          <a:p>
            <a:pPr marL="457200" marR="0" lvl="0" indent="0" algn="l" rtl="0">
              <a:lnSpc>
                <a:spcPct val="100000"/>
              </a:lnSpc>
              <a:spcBef>
                <a:spcPts val="0"/>
              </a:spcBef>
              <a:spcAft>
                <a:spcPts val="0"/>
              </a:spcAft>
              <a:buNone/>
            </a:pPr>
            <a:r>
              <a:rPr lang="en-US" sz="1200" b="0">
                <a:highlight>
                  <a:srgbClr val="FFFFFF"/>
                </a:highlight>
              </a:rPr>
              <a:t>issues</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DR Testing</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SOX/Security audits</a:t>
            </a:r>
            <a:endParaRPr sz="1200" b="0">
              <a:solidFill>
                <a:srgbClr val="000000"/>
              </a:solidFill>
            </a:endParaRPr>
          </a:p>
          <a:p>
            <a:pPr marL="457200" marR="0" lvl="0" indent="-304800" algn="l" rtl="0">
              <a:lnSpc>
                <a:spcPct val="100000"/>
              </a:lnSpc>
              <a:spcBef>
                <a:spcPts val="0"/>
              </a:spcBef>
              <a:spcAft>
                <a:spcPts val="0"/>
              </a:spcAft>
              <a:buClr>
                <a:srgbClr val="000000"/>
              </a:buClr>
              <a:buSzPts val="1200"/>
              <a:buFont typeface="Verizon NHG TX"/>
              <a:buChar char="●"/>
            </a:pPr>
            <a:r>
              <a:rPr lang="en-US" sz="1200" b="0">
                <a:solidFill>
                  <a:srgbClr val="000000"/>
                </a:solidFill>
              </a:rPr>
              <a:t>Monitoring</a:t>
            </a:r>
            <a:endParaRPr sz="1200" b="0">
              <a:solidFill>
                <a:srgbClr val="000000"/>
              </a:solidFill>
            </a:endParaRPr>
          </a:p>
          <a:p>
            <a:pPr marL="457200" lvl="0" indent="-304800" algn="l" rtl="0">
              <a:spcBef>
                <a:spcPts val="0"/>
              </a:spcBef>
              <a:spcAft>
                <a:spcPts val="0"/>
              </a:spcAft>
              <a:buSzPts val="1200"/>
              <a:buFont typeface="Verizon NHG TX"/>
              <a:buChar char="●"/>
            </a:pPr>
            <a:r>
              <a:rPr lang="en-US" sz="1200" b="0"/>
              <a:t>Daily Manual Job processing</a:t>
            </a:r>
            <a:endParaRPr sz="1200" b="0"/>
          </a:p>
          <a:p>
            <a:pPr marL="457200" lvl="0" indent="-304800" algn="l" rtl="0">
              <a:spcBef>
                <a:spcPts val="0"/>
              </a:spcBef>
              <a:spcAft>
                <a:spcPts val="0"/>
              </a:spcAft>
              <a:buSzPts val="1200"/>
              <a:buFont typeface="Verizon NHG TX"/>
              <a:buChar char="●"/>
            </a:pPr>
            <a:r>
              <a:rPr lang="en-US" sz="1200" b="0"/>
              <a:t>Processing user requests</a:t>
            </a:r>
            <a:endParaRPr sz="1200" b="0"/>
          </a:p>
          <a:p>
            <a:pPr marL="457200" lvl="0" indent="-304800" algn="l" rtl="0">
              <a:spcBef>
                <a:spcPts val="0"/>
              </a:spcBef>
              <a:spcAft>
                <a:spcPts val="0"/>
              </a:spcAft>
              <a:buClr>
                <a:srgbClr val="000000"/>
              </a:buClr>
              <a:buSzPts val="1200"/>
              <a:buFont typeface="Verizon NHG TX"/>
              <a:buChar char="●"/>
            </a:pPr>
            <a:r>
              <a:rPr lang="en-US" sz="1200" b="0"/>
              <a:t>DB Performance</a:t>
            </a:r>
            <a:endParaRPr sz="1200" b="0">
              <a:solidFill>
                <a:srgbClr val="000000"/>
              </a:solidFill>
            </a:endParaRPr>
          </a:p>
          <a:p>
            <a:pPr marL="457200" marR="0" lvl="0" indent="0" algn="l" rtl="0">
              <a:lnSpc>
                <a:spcPct val="100000"/>
              </a:lnSpc>
              <a:spcBef>
                <a:spcPts val="0"/>
              </a:spcBef>
              <a:spcAft>
                <a:spcPts val="0"/>
              </a:spcAft>
              <a:buNone/>
            </a:pPr>
            <a:endParaRPr sz="1200" b="0">
              <a:solidFill>
                <a:srgbClr val="000000"/>
              </a:solidFill>
              <a:latin typeface="Calibri"/>
              <a:ea typeface="Calibri"/>
              <a:cs typeface="Calibri"/>
              <a:sym typeface="Calibri"/>
            </a:endParaRPr>
          </a:p>
        </p:txBody>
      </p:sp>
      <p:sp>
        <p:nvSpPr>
          <p:cNvPr id="491" name="Google Shape;491;p49"/>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17</a:t>
            </a:fld>
            <a:endParaRPr/>
          </a:p>
        </p:txBody>
      </p:sp>
      <p:cxnSp>
        <p:nvCxnSpPr>
          <p:cNvPr id="492" name="Google Shape;492;p49"/>
          <p:cNvCxnSpPr>
            <a:stCxn id="490" idx="0"/>
            <a:endCxn id="490" idx="2"/>
          </p:cNvCxnSpPr>
          <p:nvPr/>
        </p:nvCxnSpPr>
        <p:spPr>
          <a:xfrm>
            <a:off x="4078325" y="1101774"/>
            <a:ext cx="0" cy="3551700"/>
          </a:xfrm>
          <a:prstGeom prst="straightConnector1">
            <a:avLst/>
          </a:prstGeom>
          <a:noFill/>
          <a:ln w="9525" cap="flat" cmpd="sng">
            <a:solidFill>
              <a:schemeClr val="dk2"/>
            </a:solidFill>
            <a:prstDash val="solid"/>
            <a:round/>
            <a:headEnd type="none" w="med" len="med"/>
            <a:tailEnd type="none" w="med" len="med"/>
          </a:ln>
        </p:spPr>
      </p:cxnSp>
      <p:sp>
        <p:nvSpPr>
          <p:cNvPr id="493" name="Google Shape;493;p49"/>
          <p:cNvSpPr txBox="1"/>
          <p:nvPr/>
        </p:nvSpPr>
        <p:spPr>
          <a:xfrm>
            <a:off x="4133700" y="980400"/>
            <a:ext cx="3410100" cy="35517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Logical DBA Support (Problem Solving, Tuning, Observations)</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Configure/Maintain Health checks</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Daily Batch Management</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Production support/ service request/ User access request</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Monitoring Storages</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After weekly weekend reboot checking and making sure the server is up </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and running the databases are healthy and available for users</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New User Creation</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New hire reprocessing</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Partial/Full term processing</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Role assignment</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Provision error corrections</a:t>
            </a:r>
            <a:endParaRPr sz="1200">
              <a:solidFill>
                <a:schemeClr val="dk1"/>
              </a:solidFill>
              <a:latin typeface="Verizon NHG TX"/>
              <a:ea typeface="Verizon NHG TX"/>
              <a:cs typeface="Verizon NHG TX"/>
              <a:sym typeface="Verizon NHG TX"/>
            </a:endParaRPr>
          </a:p>
          <a:p>
            <a:pPr marL="457200" lvl="0" indent="-304800" algn="l" rtl="0">
              <a:spcBef>
                <a:spcPts val="0"/>
              </a:spcBef>
              <a:spcAft>
                <a:spcPts val="0"/>
              </a:spcAft>
              <a:buClr>
                <a:schemeClr val="dk1"/>
              </a:buClr>
              <a:buSzPts val="1200"/>
              <a:buFont typeface="Verizon NHG TX"/>
              <a:buChar char="●"/>
            </a:pPr>
            <a:r>
              <a:rPr lang="en-US" sz="1200">
                <a:solidFill>
                  <a:schemeClr val="dk1"/>
                </a:solidFill>
                <a:latin typeface="Verizon NHG TX"/>
                <a:ea typeface="Verizon NHG TX"/>
                <a:cs typeface="Verizon NHG TX"/>
                <a:sym typeface="Verizon NHG TX"/>
              </a:rPr>
              <a:t>Log report/remediation</a:t>
            </a:r>
            <a:endParaRPr sz="1200">
              <a:solidFill>
                <a:schemeClr val="dk1"/>
              </a:solidFill>
              <a:latin typeface="Verizon NHG TX"/>
              <a:ea typeface="Verizon NHG TX"/>
              <a:cs typeface="Verizon NHG TX"/>
              <a:sym typeface="Verizon NHG TX"/>
            </a:endParaRPr>
          </a:p>
          <a:p>
            <a:pPr marL="457200" lvl="0" indent="0" algn="l" rtl="0">
              <a:spcBef>
                <a:spcPts val="0"/>
              </a:spcBef>
              <a:spcAft>
                <a:spcPts val="0"/>
              </a:spcAft>
              <a:buNone/>
            </a:pPr>
            <a:endParaRPr sz="800">
              <a:solidFill>
                <a:schemeClr val="dk1"/>
              </a:solidFill>
              <a:highlight>
                <a:srgbClr val="FFFFFF"/>
              </a:highlight>
              <a:latin typeface="Calibri"/>
              <a:ea typeface="Calibri"/>
              <a:cs typeface="Calibri"/>
              <a:sym typeface="Calibri"/>
            </a:endParaRPr>
          </a:p>
        </p:txBody>
      </p:sp>
      <p:pic>
        <p:nvPicPr>
          <p:cNvPr id="494" name="Google Shape;494;p49"/>
          <p:cNvPicPr preferRelativeResize="0"/>
          <p:nvPr/>
        </p:nvPicPr>
        <p:blipFill rotWithShape="1">
          <a:blip r:embed="rId3">
            <a:alphaModFix/>
          </a:blip>
          <a:srcRect l="4948" t="3541" r="2902" b="-5023"/>
          <a:stretch/>
        </p:blipFill>
        <p:spPr>
          <a:xfrm>
            <a:off x="457200" y="487550"/>
            <a:ext cx="424139" cy="49285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50"/>
          <p:cNvSpPr txBox="1">
            <a:spLocks noGrp="1"/>
          </p:cNvSpPr>
          <p:nvPr>
            <p:ph type="title"/>
          </p:nvPr>
        </p:nvSpPr>
        <p:spPr>
          <a:xfrm>
            <a:off x="988800" y="514825"/>
            <a:ext cx="4423200" cy="438300"/>
          </a:xfrm>
          <a:prstGeom prst="rect">
            <a:avLst/>
          </a:prstGeom>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a:t>Unacceptable Entries </a:t>
            </a:r>
            <a:endParaRPr/>
          </a:p>
        </p:txBody>
      </p:sp>
      <p:sp>
        <p:nvSpPr>
          <p:cNvPr id="501" name="Google Shape;501;p50"/>
          <p:cNvSpPr txBox="1">
            <a:spLocks noGrp="1"/>
          </p:cNvSpPr>
          <p:nvPr>
            <p:ph type="body" idx="1"/>
          </p:nvPr>
        </p:nvSpPr>
        <p:spPr>
          <a:xfrm>
            <a:off x="535025" y="980399"/>
            <a:ext cx="7086600" cy="3551700"/>
          </a:xfrm>
          <a:prstGeom prst="rect">
            <a:avLst/>
          </a:prstGeom>
        </p:spPr>
        <p:txBody>
          <a:bodyPr spcFirstLastPara="1" wrap="square" lIns="0" tIns="0" rIns="0" bIns="0" anchor="t" anchorCtr="0">
            <a:noAutofit/>
          </a:bodyPr>
          <a:lstStyle/>
          <a:p>
            <a:pPr marL="457200" marR="0" lvl="0" indent="0" algn="l" rtl="0">
              <a:lnSpc>
                <a:spcPct val="100000"/>
              </a:lnSpc>
              <a:spcBef>
                <a:spcPts val="0"/>
              </a:spcBef>
              <a:spcAft>
                <a:spcPts val="0"/>
              </a:spcAft>
              <a:buNone/>
            </a:pPr>
            <a:endParaRPr sz="1100" b="0">
              <a:solidFill>
                <a:srgbClr val="000000"/>
              </a:solidFill>
            </a:endParaRPr>
          </a:p>
          <a:p>
            <a:pPr marL="457200" lvl="0" indent="-298450" algn="l" rtl="0">
              <a:spcBef>
                <a:spcPts val="0"/>
              </a:spcBef>
              <a:spcAft>
                <a:spcPts val="0"/>
              </a:spcAft>
              <a:buSzPts val="1100"/>
              <a:buFont typeface="Verizon NHG TX"/>
              <a:buChar char="●"/>
            </a:pPr>
            <a:r>
              <a:rPr lang="en-US" sz="1100" b="0">
                <a:highlight>
                  <a:schemeClr val="lt1"/>
                </a:highlight>
              </a:rPr>
              <a:t>Security profile creations and updates </a:t>
            </a:r>
            <a:endParaRPr sz="1100" b="0">
              <a:highlight>
                <a:schemeClr val="lt1"/>
              </a:highlight>
            </a:endParaRPr>
          </a:p>
          <a:p>
            <a:pPr marL="457200" lvl="0" indent="0" algn="l" rtl="0">
              <a:spcBef>
                <a:spcPts val="0"/>
              </a:spcBef>
              <a:spcAft>
                <a:spcPts val="0"/>
              </a:spcAft>
              <a:buNone/>
            </a:pPr>
            <a:r>
              <a:rPr lang="en-US" sz="1100" b="0">
                <a:highlight>
                  <a:schemeClr val="lt1"/>
                </a:highlight>
              </a:rPr>
              <a:t>(SAP Logistics, IT &amp; AP roles)</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Security profile creations and updates (portal)</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Support Defect Testing</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Review and resolve AYS &amp; email-driven </a:t>
            </a:r>
            <a:endParaRPr sz="1100" b="0">
              <a:highlight>
                <a:schemeClr val="lt1"/>
              </a:highlight>
            </a:endParaRPr>
          </a:p>
          <a:p>
            <a:pPr marL="457200" lvl="0" indent="0" algn="l" rtl="0">
              <a:spcBef>
                <a:spcPts val="0"/>
              </a:spcBef>
              <a:spcAft>
                <a:spcPts val="0"/>
              </a:spcAft>
              <a:buNone/>
            </a:pPr>
            <a:r>
              <a:rPr lang="en-US" sz="1100" b="0">
                <a:highlight>
                  <a:schemeClr val="lt1"/>
                </a:highlight>
              </a:rPr>
              <a:t>questions / issues</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Security profile creations and updates (BOTS)</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Process user production access requests</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Provide support to functional teams</a:t>
            </a:r>
            <a:endParaRPr sz="1100" b="0">
              <a:highlight>
                <a:schemeClr val="lt1"/>
              </a:highlight>
            </a:endParaRPr>
          </a:p>
          <a:p>
            <a:pPr marL="457200" lvl="0" indent="0" algn="l" rtl="0">
              <a:spcBef>
                <a:spcPts val="0"/>
              </a:spcBef>
              <a:spcAft>
                <a:spcPts val="0"/>
              </a:spcAft>
              <a:buNone/>
            </a:pPr>
            <a:r>
              <a:rPr lang="en-US" sz="1100" b="0">
                <a:highlight>
                  <a:schemeClr val="lt1"/>
                </a:highlight>
              </a:rPr>
              <a:t>including calls</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Process user production access requests</a:t>
            </a:r>
            <a:endParaRPr sz="1100" b="0"/>
          </a:p>
          <a:p>
            <a:pPr marL="457200" lvl="0" indent="-298450" algn="l" rtl="0">
              <a:spcBef>
                <a:spcPts val="0"/>
              </a:spcBef>
              <a:spcAft>
                <a:spcPts val="0"/>
              </a:spcAft>
              <a:buSzPts val="1100"/>
              <a:buFont typeface="Verizon NHG TX"/>
              <a:buChar char="●"/>
            </a:pPr>
            <a:r>
              <a:rPr lang="en-US" sz="1100" b="0"/>
              <a:t>18,000+ DELIVERED NOTIFICATION </a:t>
            </a:r>
            <a:endParaRPr sz="1100" b="0"/>
          </a:p>
          <a:p>
            <a:pPr marL="457200" lvl="0" indent="0" algn="l" rtl="0">
              <a:spcBef>
                <a:spcPts val="0"/>
              </a:spcBef>
              <a:spcAft>
                <a:spcPts val="0"/>
              </a:spcAft>
              <a:buNone/>
            </a:pPr>
            <a:r>
              <a:rPr lang="en-US" sz="1100" b="0"/>
              <a:t>Message Errors in CPEM Adapter</a:t>
            </a:r>
            <a:endParaRPr sz="1100" b="0"/>
          </a:p>
          <a:p>
            <a:pPr marL="457200" lvl="0" indent="-298450" algn="l" rtl="0">
              <a:spcBef>
                <a:spcPts val="0"/>
              </a:spcBef>
              <a:spcAft>
                <a:spcPts val="0"/>
              </a:spcAft>
              <a:buSzPts val="1100"/>
              <a:buFont typeface="Verizon NHG TX"/>
              <a:buChar char="●"/>
            </a:pPr>
            <a:r>
              <a:rPr lang="en-US" sz="1100" b="0"/>
              <a:t>System Support</a:t>
            </a:r>
            <a:endParaRPr sz="1100" b="0"/>
          </a:p>
          <a:p>
            <a:pPr marL="457200" lvl="0" indent="-298450" algn="l" rtl="0">
              <a:spcBef>
                <a:spcPts val="0"/>
              </a:spcBef>
              <a:spcAft>
                <a:spcPts val="0"/>
              </a:spcAft>
              <a:buSzPts val="1100"/>
              <a:buFont typeface="Verizon NHG TX"/>
              <a:buChar char="●"/>
            </a:pPr>
            <a:r>
              <a:rPr lang="en-US" sz="1100" b="0"/>
              <a:t>New Release</a:t>
            </a:r>
            <a:endParaRPr sz="1100" b="0"/>
          </a:p>
          <a:p>
            <a:pPr marL="457200" lvl="0" indent="-298450" algn="l" rtl="0">
              <a:spcBef>
                <a:spcPts val="0"/>
              </a:spcBef>
              <a:spcAft>
                <a:spcPts val="0"/>
              </a:spcAft>
              <a:buSzPts val="1100"/>
              <a:buFont typeface="Verizon NHG TX"/>
              <a:buChar char="●"/>
            </a:pPr>
            <a:r>
              <a:rPr lang="en-US" sz="1100" b="0">
                <a:highlight>
                  <a:schemeClr val="lt1"/>
                </a:highlight>
              </a:rPr>
              <a:t>Change Contact us emails</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Proactive Health Check before Month end </a:t>
            </a:r>
            <a:endParaRPr sz="1100" b="0">
              <a:highlight>
                <a:schemeClr val="lt1"/>
              </a:highlight>
            </a:endParaRPr>
          </a:p>
          <a:p>
            <a:pPr marL="457200" lvl="0" indent="0" algn="l" rtl="0">
              <a:spcBef>
                <a:spcPts val="0"/>
              </a:spcBef>
              <a:spcAft>
                <a:spcPts val="0"/>
              </a:spcAft>
              <a:buNone/>
            </a:pPr>
            <a:r>
              <a:rPr lang="en-US" sz="1100" b="0">
                <a:highlight>
                  <a:schemeClr val="lt1"/>
                </a:highlight>
              </a:rPr>
              <a:t>roll over process for March,  including validation</a:t>
            </a:r>
            <a:endParaRPr sz="1100" b="0">
              <a:highlight>
                <a:schemeClr val="lt1"/>
              </a:highlight>
            </a:endParaRPr>
          </a:p>
          <a:p>
            <a:pPr marL="457200" lvl="0" indent="0" algn="l" rtl="0">
              <a:spcBef>
                <a:spcPts val="0"/>
              </a:spcBef>
              <a:spcAft>
                <a:spcPts val="0"/>
              </a:spcAft>
              <a:buNone/>
            </a:pPr>
            <a:r>
              <a:rPr lang="en-US" sz="1100" b="0">
                <a:highlight>
                  <a:schemeClr val="lt1"/>
                </a:highlight>
              </a:rPr>
              <a:t>of available files for archival</a:t>
            </a:r>
            <a:endParaRPr sz="1100" b="0">
              <a:highlight>
                <a:schemeClr val="lt1"/>
              </a:highlight>
            </a:endParaRPr>
          </a:p>
          <a:p>
            <a:pPr marL="457200" lvl="0" indent="-298450" algn="l" rtl="0">
              <a:spcBef>
                <a:spcPts val="0"/>
              </a:spcBef>
              <a:spcAft>
                <a:spcPts val="0"/>
              </a:spcAft>
              <a:buSzPts val="1100"/>
              <a:buFont typeface="Verizon NHG TX"/>
              <a:buChar char="●"/>
            </a:pPr>
            <a:r>
              <a:rPr lang="en-US" sz="1100" b="0">
                <a:highlight>
                  <a:schemeClr val="lt1"/>
                </a:highlight>
              </a:rPr>
              <a:t>Prod Issue Management/data repair</a:t>
            </a:r>
            <a:endParaRPr sz="1100" b="0">
              <a:highlight>
                <a:schemeClr val="lt1"/>
              </a:highlight>
            </a:endParaRPr>
          </a:p>
        </p:txBody>
      </p:sp>
      <p:sp>
        <p:nvSpPr>
          <p:cNvPr id="502" name="Google Shape;502;p50"/>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18</a:t>
            </a:fld>
            <a:endParaRPr/>
          </a:p>
        </p:txBody>
      </p:sp>
      <p:cxnSp>
        <p:nvCxnSpPr>
          <p:cNvPr id="503" name="Google Shape;503;p50"/>
          <p:cNvCxnSpPr>
            <a:stCxn id="501" idx="0"/>
            <a:endCxn id="501" idx="2"/>
          </p:cNvCxnSpPr>
          <p:nvPr/>
        </p:nvCxnSpPr>
        <p:spPr>
          <a:xfrm>
            <a:off x="4078325" y="980399"/>
            <a:ext cx="0" cy="3551700"/>
          </a:xfrm>
          <a:prstGeom prst="straightConnector1">
            <a:avLst/>
          </a:prstGeom>
          <a:noFill/>
          <a:ln w="9525" cap="flat" cmpd="sng">
            <a:solidFill>
              <a:schemeClr val="dk2"/>
            </a:solidFill>
            <a:prstDash val="solid"/>
            <a:round/>
            <a:headEnd type="none" w="med" len="med"/>
            <a:tailEnd type="none" w="med" len="med"/>
          </a:ln>
        </p:spPr>
      </p:cxnSp>
      <p:sp>
        <p:nvSpPr>
          <p:cNvPr id="504" name="Google Shape;504;p50"/>
          <p:cNvSpPr txBox="1"/>
          <p:nvPr/>
        </p:nvSpPr>
        <p:spPr>
          <a:xfrm>
            <a:off x="4133700" y="953125"/>
            <a:ext cx="3410100" cy="35517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800">
              <a:solidFill>
                <a:schemeClr val="dk1"/>
              </a:solidFill>
              <a:highlight>
                <a:srgbClr val="FFFFFF"/>
              </a:highlight>
              <a:latin typeface="Calibri"/>
              <a:ea typeface="Calibri"/>
              <a:cs typeface="Calibri"/>
              <a:sym typeface="Calibri"/>
            </a:endParaRPr>
          </a:p>
          <a:p>
            <a:pPr marL="457200" lvl="0" indent="-298450" algn="l" rtl="0">
              <a:spcBef>
                <a:spcPts val="0"/>
              </a:spcBef>
              <a:spcAft>
                <a:spcPts val="0"/>
              </a:spcAft>
              <a:buClr>
                <a:schemeClr val="dk1"/>
              </a:buClr>
              <a:buSzPts val="1100"/>
              <a:buFont typeface="Verizon NHG TX"/>
              <a:buChar char="●"/>
            </a:pPr>
            <a:r>
              <a:rPr lang="en-US" sz="1100">
                <a:solidFill>
                  <a:schemeClr val="dk1"/>
                </a:solidFill>
                <a:highlight>
                  <a:srgbClr val="FFFFFF"/>
                </a:highlight>
                <a:latin typeface="Verizon NHG TX"/>
                <a:ea typeface="Verizon NHG TX"/>
                <a:cs typeface="Verizon NHG TX"/>
                <a:sym typeface="Verizon NHG TX"/>
              </a:rPr>
              <a:t>October data is showing in the tickets but not in the database. Those need to be reloaded (short term fix). However, there's an ongoing issue where data is not loading to the database and we need IT to identify what is causing this issue. Some issues are related to Indy coming onboard, but this missing data/null data (not due to known issues) has been an ongoing overall issue with this report.</a:t>
            </a:r>
            <a:endParaRPr sz="1100">
              <a:solidFill>
                <a:schemeClr val="dk1"/>
              </a:solidFill>
              <a:highlight>
                <a:srgbClr val="FFFFFF"/>
              </a:highlight>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Char char="●"/>
            </a:pPr>
            <a:r>
              <a:rPr lang="en-US" sz="1100">
                <a:solidFill>
                  <a:schemeClr val="dk1"/>
                </a:solidFill>
                <a:highlight>
                  <a:srgbClr val="FFFFFF"/>
                </a:highlight>
                <a:latin typeface="Verizon NHG TX"/>
                <a:ea typeface="Verizon NHG TX"/>
                <a:cs typeface="Verizon NHG TX"/>
                <a:sym typeface="Verizon NHG TX"/>
              </a:rPr>
              <a:t>Assist end users with desktop support issues in Google suite, MS Office, and various software tools</a:t>
            </a:r>
            <a:endParaRPr sz="1100">
              <a:solidFill>
                <a:schemeClr val="dk1"/>
              </a:solidFill>
              <a:highlight>
                <a:srgbClr val="FFFFFF"/>
              </a:highlight>
              <a:latin typeface="Verizon NHG TX"/>
              <a:ea typeface="Verizon NHG TX"/>
              <a:cs typeface="Verizon NHG TX"/>
              <a:sym typeface="Verizon NHG TX"/>
            </a:endParaRPr>
          </a:p>
          <a:p>
            <a:pPr marL="457200" lvl="0" indent="-298450" algn="l" rtl="0">
              <a:spcBef>
                <a:spcPts val="0"/>
              </a:spcBef>
              <a:spcAft>
                <a:spcPts val="0"/>
              </a:spcAft>
              <a:buClr>
                <a:schemeClr val="dk1"/>
              </a:buClr>
              <a:buSzPts val="1100"/>
              <a:buFont typeface="Verizon NHG TX"/>
              <a:buChar char="●"/>
            </a:pPr>
            <a:r>
              <a:rPr lang="en-US" sz="1100">
                <a:solidFill>
                  <a:schemeClr val="dk1"/>
                </a:solidFill>
                <a:highlight>
                  <a:srgbClr val="FFFFFF"/>
                </a:highlight>
                <a:latin typeface="Verizon NHG TX"/>
                <a:ea typeface="Verizon NHG TX"/>
                <a:cs typeface="Verizon NHG TX"/>
                <a:sym typeface="Verizon NHG TX"/>
              </a:rPr>
              <a:t>Coordinate with utiliites vendor (Cushman &amp; Wakefield) for scheduled maintenance on building power equipment (Facility UPS/Generator), requiring soft power down of computers, servers, printers etc.</a:t>
            </a:r>
            <a:endParaRPr sz="1100">
              <a:solidFill>
                <a:schemeClr val="dk1"/>
              </a:solidFill>
              <a:highlight>
                <a:srgbClr val="FFFFFF"/>
              </a:highlight>
              <a:latin typeface="Verizon NHG TX"/>
              <a:ea typeface="Verizon NHG TX"/>
              <a:cs typeface="Verizon NHG TX"/>
              <a:sym typeface="Verizon NHG TX"/>
            </a:endParaRPr>
          </a:p>
        </p:txBody>
      </p:sp>
      <p:pic>
        <p:nvPicPr>
          <p:cNvPr id="505" name="Google Shape;505;p50"/>
          <p:cNvPicPr preferRelativeResize="0"/>
          <p:nvPr/>
        </p:nvPicPr>
        <p:blipFill rotWithShape="1">
          <a:blip r:embed="rId3">
            <a:alphaModFix/>
          </a:blip>
          <a:srcRect l="4948" t="3541" r="2902" b="-5023"/>
          <a:stretch/>
        </p:blipFill>
        <p:spPr>
          <a:xfrm>
            <a:off x="457200" y="487550"/>
            <a:ext cx="424139" cy="49285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9"/>
        <p:cNvGrpSpPr/>
        <p:nvPr/>
      </p:nvGrpSpPr>
      <p:grpSpPr>
        <a:xfrm>
          <a:off x="0" y="0"/>
          <a:ext cx="0" cy="0"/>
          <a:chOff x="0" y="0"/>
          <a:chExt cx="0" cy="0"/>
        </a:xfrm>
      </p:grpSpPr>
      <p:sp>
        <p:nvSpPr>
          <p:cNvPr id="510" name="Google Shape;510;p51"/>
          <p:cNvSpPr txBox="1">
            <a:spLocks noGrp="1"/>
          </p:cNvSpPr>
          <p:nvPr>
            <p:ph type="title"/>
          </p:nvPr>
        </p:nvSpPr>
        <p:spPr>
          <a:xfrm>
            <a:off x="457200" y="457200"/>
            <a:ext cx="7086600" cy="20574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lt1"/>
              </a:buClr>
              <a:buSzPts val="6000"/>
              <a:buFont typeface="Verizon NHG DS"/>
              <a:buNone/>
            </a:pPr>
            <a:r>
              <a:rPr lang="en-US" sz="6000"/>
              <a:t>Workstream wise budget &amp; FAQs </a:t>
            </a:r>
            <a:endParaRPr/>
          </a:p>
        </p:txBody>
      </p:sp>
      <p:sp>
        <p:nvSpPr>
          <p:cNvPr id="511" name="Google Shape;511;p5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52"/>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
        <p:nvSpPr>
          <p:cNvPr id="518" name="Google Shape;518;p52"/>
          <p:cNvSpPr txBox="1">
            <a:spLocks noGrp="1"/>
          </p:cNvSpPr>
          <p:nvPr>
            <p:ph type="title"/>
          </p:nvPr>
        </p:nvSpPr>
        <p:spPr>
          <a:xfrm>
            <a:off x="457200" y="526875"/>
            <a:ext cx="7086600" cy="329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KTLO - Suggested Utilization by Workstreams</a:t>
            </a:r>
            <a:endParaRPr/>
          </a:p>
        </p:txBody>
      </p:sp>
      <p:graphicFrame>
        <p:nvGraphicFramePr>
          <p:cNvPr id="519" name="Google Shape;519;p52"/>
          <p:cNvGraphicFramePr/>
          <p:nvPr/>
        </p:nvGraphicFramePr>
        <p:xfrm>
          <a:off x="3331650" y="1008013"/>
          <a:ext cx="3000000" cy="3000000"/>
        </p:xfrm>
        <a:graphic>
          <a:graphicData uri="http://schemas.openxmlformats.org/drawingml/2006/table">
            <a:tbl>
              <a:tblPr>
                <a:noFill/>
                <a:tableStyleId>{05248E05-9CBA-4BF7-BEAF-C900DD286D1C}</a:tableStyleId>
              </a:tblPr>
              <a:tblGrid>
                <a:gridCol w="1463075"/>
                <a:gridCol w="1725575"/>
                <a:gridCol w="1937900"/>
              </a:tblGrid>
              <a:tr h="322600">
                <a:tc>
                  <a:txBody>
                    <a:bodyPr/>
                    <a:lstStyle/>
                    <a:p>
                      <a:pPr marL="0" lvl="0" indent="0" algn="ctr" rtl="0">
                        <a:lnSpc>
                          <a:spcPct val="115000"/>
                        </a:lnSpc>
                        <a:spcBef>
                          <a:spcPts val="0"/>
                        </a:spcBef>
                        <a:spcAft>
                          <a:spcPts val="0"/>
                        </a:spcAft>
                        <a:buNone/>
                      </a:pPr>
                      <a:r>
                        <a:rPr lang="en-US" sz="800" b="1">
                          <a:solidFill>
                            <a:srgbClr val="FFFFFF"/>
                          </a:solidFill>
                          <a:latin typeface="Verizon NHG TX"/>
                          <a:ea typeface="Verizon NHG TX"/>
                          <a:cs typeface="Verizon NHG TX"/>
                          <a:sym typeface="Verizon NHG TX"/>
                        </a:rPr>
                        <a:t>Workstream</a:t>
                      </a:r>
                      <a:endParaRPr sz="800" b="1">
                        <a:solidFill>
                          <a:srgbClr val="FFFFFF"/>
                        </a:solidFill>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80000"/>
                    </a:solidFill>
                  </a:tcPr>
                </a:tc>
                <a:tc>
                  <a:txBody>
                    <a:bodyPr/>
                    <a:lstStyle/>
                    <a:p>
                      <a:pPr marL="0" lvl="0" indent="0" algn="ctr" rtl="0">
                        <a:lnSpc>
                          <a:spcPct val="115000"/>
                        </a:lnSpc>
                        <a:spcBef>
                          <a:spcPts val="0"/>
                        </a:spcBef>
                        <a:spcAft>
                          <a:spcPts val="0"/>
                        </a:spcAft>
                        <a:buNone/>
                      </a:pPr>
                      <a:r>
                        <a:rPr lang="en-US" sz="800" b="1">
                          <a:solidFill>
                            <a:srgbClr val="FFFFFF"/>
                          </a:solidFill>
                          <a:latin typeface="Verizon NHG TX"/>
                          <a:ea typeface="Verizon NHG TX"/>
                          <a:cs typeface="Verizon NHG TX"/>
                          <a:sym typeface="Verizon NHG TX"/>
                        </a:rPr>
                        <a:t>Projected 2020 Monthly Run rate</a:t>
                      </a:r>
                      <a:endParaRPr sz="800" b="1">
                        <a:solidFill>
                          <a:srgbClr val="FFFFFF"/>
                        </a:solidFill>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80000"/>
                    </a:solidFill>
                  </a:tcPr>
                </a:tc>
                <a:tc>
                  <a:txBody>
                    <a:bodyPr/>
                    <a:lstStyle/>
                    <a:p>
                      <a:pPr marL="0" lvl="0" indent="0" algn="ctr" rtl="0">
                        <a:lnSpc>
                          <a:spcPct val="115000"/>
                        </a:lnSpc>
                        <a:spcBef>
                          <a:spcPts val="0"/>
                        </a:spcBef>
                        <a:spcAft>
                          <a:spcPts val="0"/>
                        </a:spcAft>
                        <a:buNone/>
                      </a:pPr>
                      <a:r>
                        <a:rPr lang="en-US" sz="800" b="1">
                          <a:solidFill>
                            <a:srgbClr val="FFFFFF"/>
                          </a:solidFill>
                          <a:latin typeface="Verizon NHG TX"/>
                          <a:ea typeface="Verizon NHG TX"/>
                          <a:cs typeface="Verizon NHG TX"/>
                          <a:sym typeface="Verizon NHG TX"/>
                        </a:rPr>
                        <a:t>2020 Projected KTLO Total</a:t>
                      </a:r>
                      <a:endParaRPr sz="800" b="1">
                        <a:solidFill>
                          <a:srgbClr val="FFFFFF"/>
                        </a:solidFill>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80000"/>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CAO-HR</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5,250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63,000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CAO-SC</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1500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18,000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CFO-B2C</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4580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55,000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CFO-ERP</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3900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47,000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CFO-FDSM</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500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6,000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CFO-FRPS</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500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6,000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CFO-TTR</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1,000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13,000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CFO-GSRM</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DWP-SM</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300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15000"/>
                        </a:lnSpc>
                        <a:spcBef>
                          <a:spcPts val="0"/>
                        </a:spcBef>
                        <a:spcAft>
                          <a:spcPts val="0"/>
                        </a:spcAft>
                        <a:buNone/>
                      </a:pPr>
                      <a:r>
                        <a:rPr lang="en-US" sz="800" b="1">
                          <a:latin typeface="Verizon NHG TX"/>
                          <a:ea typeface="Verizon NHG TX"/>
                          <a:cs typeface="Verizon NHG TX"/>
                          <a:sym typeface="Verizon NHG TX"/>
                        </a:rPr>
                        <a:t>3,600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r>
              <a:tr h="322600">
                <a:tc>
                  <a:txBody>
                    <a:bodyPr/>
                    <a:lstStyle/>
                    <a:p>
                      <a:pPr marL="0" lvl="0" indent="0" algn="l" rtl="0">
                        <a:lnSpc>
                          <a:spcPct val="115000"/>
                        </a:lnSpc>
                        <a:spcBef>
                          <a:spcPts val="0"/>
                        </a:spcBef>
                        <a:spcAft>
                          <a:spcPts val="0"/>
                        </a:spcAft>
                        <a:buNone/>
                      </a:pPr>
                      <a:r>
                        <a:rPr lang="en-US" sz="800" b="1">
                          <a:latin typeface="Verizon NHG TX"/>
                          <a:ea typeface="Verizon NHG TX"/>
                          <a:cs typeface="Verizon NHG TX"/>
                          <a:sym typeface="Verizon NHG TX"/>
                        </a:rPr>
                        <a:t>Total 2020 Projections</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17,530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lnSpc>
                          <a:spcPct val="115000"/>
                        </a:lnSpc>
                        <a:spcBef>
                          <a:spcPts val="0"/>
                        </a:spcBef>
                        <a:spcAft>
                          <a:spcPts val="0"/>
                        </a:spcAft>
                        <a:buNone/>
                      </a:pPr>
                      <a:r>
                        <a:rPr lang="en-US" sz="800" b="1">
                          <a:latin typeface="Verizon NHG TX"/>
                          <a:ea typeface="Verizon NHG TX"/>
                          <a:cs typeface="Verizon NHG TX"/>
                          <a:sym typeface="Verizon NHG TX"/>
                        </a:rPr>
                        <a:t>211,600</a:t>
                      </a:r>
                      <a:endParaRPr sz="800" b="1">
                        <a:latin typeface="Verizon NHG TX"/>
                        <a:ea typeface="Verizon NHG TX"/>
                        <a:cs typeface="Verizon NHG TX"/>
                        <a:sym typeface="Verizon NHG TX"/>
                      </a:endParaRPr>
                    </a:p>
                  </a:txBody>
                  <a:tcPr marL="28575" marR="28575" marT="91425" marB="91425"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r>
            </a:tbl>
          </a:graphicData>
        </a:graphic>
      </p:graphicFrame>
      <p:sp>
        <p:nvSpPr>
          <p:cNvPr id="520" name="Google Shape;520;p52"/>
          <p:cNvSpPr txBox="1"/>
          <p:nvPr/>
        </p:nvSpPr>
        <p:spPr>
          <a:xfrm>
            <a:off x="488175" y="1422075"/>
            <a:ext cx="2469300" cy="2157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b="1">
                <a:latin typeface="Verizon NHG TX"/>
                <a:ea typeface="Verizon NHG TX"/>
                <a:cs typeface="Verizon NHG TX"/>
                <a:sym typeface="Verizon NHG TX"/>
              </a:rPr>
              <a:t>Factors Considered:</a:t>
            </a:r>
            <a:endParaRPr b="1">
              <a:latin typeface="Verizon NHG TX"/>
              <a:ea typeface="Verizon NHG TX"/>
              <a:cs typeface="Verizon NHG TX"/>
              <a:sym typeface="Verizon NHG TX"/>
            </a:endParaRPr>
          </a:p>
          <a:p>
            <a:pPr marL="0" lvl="0" indent="0" algn="l" rtl="0">
              <a:spcBef>
                <a:spcPts val="0"/>
              </a:spcBef>
              <a:spcAft>
                <a:spcPts val="0"/>
              </a:spcAft>
              <a:buNone/>
            </a:pPr>
            <a:endParaRPr>
              <a:latin typeface="Verizon NHG TX"/>
              <a:ea typeface="Verizon NHG TX"/>
              <a:cs typeface="Verizon NHG TX"/>
              <a:sym typeface="Verizon NHG TX"/>
            </a:endParaRPr>
          </a:p>
          <a:p>
            <a:pPr marL="457200" lvl="0" indent="-317500" algn="l" rtl="0">
              <a:spcBef>
                <a:spcPts val="0"/>
              </a:spcBef>
              <a:spcAft>
                <a:spcPts val="0"/>
              </a:spcAft>
              <a:buSzPts val="1400"/>
              <a:buFont typeface="Verizon NHG TX"/>
              <a:buChar char="●"/>
            </a:pPr>
            <a:r>
              <a:rPr lang="en-US">
                <a:latin typeface="Verizon NHG TX"/>
                <a:ea typeface="Verizon NHG TX"/>
                <a:cs typeface="Verizon NHG TX"/>
                <a:sym typeface="Verizon NHG TX"/>
              </a:rPr>
              <a:t>Due-Diligence Data from 2018</a:t>
            </a:r>
            <a:endParaRPr>
              <a:latin typeface="Verizon NHG TX"/>
              <a:ea typeface="Verizon NHG TX"/>
              <a:cs typeface="Verizon NHG TX"/>
              <a:sym typeface="Verizon NHG TX"/>
            </a:endParaRPr>
          </a:p>
          <a:p>
            <a:pPr marL="457200" lvl="0" indent="-317500" algn="l" rtl="0">
              <a:spcBef>
                <a:spcPts val="0"/>
              </a:spcBef>
              <a:spcAft>
                <a:spcPts val="0"/>
              </a:spcAft>
              <a:buSzPts val="1400"/>
              <a:buFont typeface="Verizon NHG TX"/>
              <a:buChar char="●"/>
            </a:pPr>
            <a:r>
              <a:rPr lang="en-US">
                <a:latin typeface="Verizon NHG TX"/>
                <a:ea typeface="Verizon NHG TX"/>
                <a:cs typeface="Verizon NHG TX"/>
                <a:sym typeface="Verizon NHG TX"/>
              </a:rPr>
              <a:t>KTLO hours reported by Infosys (July- Dec 2019)</a:t>
            </a:r>
            <a:endParaRPr>
              <a:latin typeface="Verizon NHG TX"/>
              <a:ea typeface="Verizon NHG TX"/>
              <a:cs typeface="Verizon NHG TX"/>
              <a:sym typeface="Verizon NHG TX"/>
            </a:endParaRPr>
          </a:p>
          <a:p>
            <a:pPr marL="457200" lvl="0" indent="-317500" algn="l" rtl="0">
              <a:spcBef>
                <a:spcPts val="0"/>
              </a:spcBef>
              <a:spcAft>
                <a:spcPts val="0"/>
              </a:spcAft>
              <a:buSzPts val="1400"/>
              <a:buFont typeface="Verizon NHG TX"/>
              <a:buChar char="●"/>
            </a:pPr>
            <a:r>
              <a:rPr lang="en-US">
                <a:latin typeface="Verizon NHG TX"/>
                <a:ea typeface="Verizon NHG TX"/>
                <a:cs typeface="Verizon NHG TX"/>
                <a:sym typeface="Verizon NHG TX"/>
              </a:rPr>
              <a:t>AD activity </a:t>
            </a:r>
            <a:endParaRPr>
              <a:latin typeface="Verizon NHG TX"/>
              <a:ea typeface="Verizon NHG TX"/>
              <a:cs typeface="Verizon NHG TX"/>
              <a:sym typeface="Verizon NHG TX"/>
            </a:endParaRPr>
          </a:p>
          <a:p>
            <a:pPr marL="457200" lvl="0" indent="-317500" algn="l" rtl="0">
              <a:spcBef>
                <a:spcPts val="0"/>
              </a:spcBef>
              <a:spcAft>
                <a:spcPts val="0"/>
              </a:spcAft>
              <a:buSzPts val="1400"/>
              <a:buFont typeface="Verizon NHG TX"/>
              <a:buChar char="●"/>
            </a:pPr>
            <a:r>
              <a:rPr lang="en-US">
                <a:latin typeface="Verizon NHG TX"/>
                <a:ea typeface="Verizon NHG TX"/>
                <a:cs typeface="Verizon NHG TX"/>
                <a:sym typeface="Verizon NHG TX"/>
              </a:rPr>
              <a:t>Complexity Level</a:t>
            </a:r>
            <a:endParaRPr>
              <a:latin typeface="Verizon NHG TX"/>
              <a:ea typeface="Verizon NHG TX"/>
              <a:cs typeface="Verizon NHG TX"/>
              <a:sym typeface="Verizon NHG TX"/>
            </a:endParaRPr>
          </a:p>
          <a:p>
            <a:pPr marL="0" lvl="0" indent="0" algn="l" rtl="0">
              <a:spcBef>
                <a:spcPts val="0"/>
              </a:spcBef>
              <a:spcAft>
                <a:spcPts val="0"/>
              </a:spcAft>
              <a:buNone/>
            </a:pPr>
            <a:endParaRPr>
              <a:latin typeface="Verizon NHG TX"/>
              <a:ea typeface="Verizon NHG TX"/>
              <a:cs typeface="Verizon NHG TX"/>
              <a:sym typeface="Verizon NHG TX"/>
            </a:endParaRPr>
          </a:p>
          <a:p>
            <a:pPr marL="0" lvl="0" indent="0" algn="l" rtl="0">
              <a:spcBef>
                <a:spcPts val="0"/>
              </a:spcBef>
              <a:spcAft>
                <a:spcPts val="0"/>
              </a:spcAft>
              <a:buNone/>
            </a:pPr>
            <a:endParaRPr>
              <a:latin typeface="Verizon NHG TX"/>
              <a:ea typeface="Verizon NHG TX"/>
              <a:cs typeface="Verizon NHG TX"/>
              <a:sym typeface="Verizon NHG TX"/>
            </a:endParaRPr>
          </a:p>
          <a:p>
            <a:pPr marL="457200" lvl="0" indent="0" algn="l" rtl="0">
              <a:spcBef>
                <a:spcPts val="0"/>
              </a:spcBef>
              <a:spcAft>
                <a:spcPts val="0"/>
              </a:spcAft>
              <a:buNone/>
            </a:pPr>
            <a:endParaRPr>
              <a:latin typeface="Verizon NHG TX"/>
              <a:ea typeface="Verizon NHG TX"/>
              <a:cs typeface="Verizon NHG TX"/>
              <a:sym typeface="Verizon NHG TX"/>
            </a:endParaRPr>
          </a:p>
          <a:p>
            <a:pPr marL="0" lvl="0" indent="0" algn="l" rtl="0">
              <a:spcBef>
                <a:spcPts val="0"/>
              </a:spcBef>
              <a:spcAft>
                <a:spcPts val="0"/>
              </a:spcAft>
              <a:buNone/>
            </a:pPr>
            <a:endParaRPr>
              <a:latin typeface="Verizon NHG TX"/>
              <a:ea typeface="Verizon NHG TX"/>
              <a:cs typeface="Verizon NHG TX"/>
              <a:sym typeface="Verizon NHG TX"/>
            </a:endParaRPr>
          </a:p>
          <a:p>
            <a:pPr marL="0" lvl="0" indent="0" algn="l" rtl="0">
              <a:spcBef>
                <a:spcPts val="0"/>
              </a:spcBef>
              <a:spcAft>
                <a:spcPts val="0"/>
              </a:spcAft>
              <a:buNone/>
            </a:pPr>
            <a:endParaRPr>
              <a:latin typeface="Verizon NHG TX"/>
              <a:ea typeface="Verizon NHG TX"/>
              <a:cs typeface="Verizon NHG TX"/>
              <a:sym typeface="Verizon NHG TX"/>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53"/>
          <p:cNvSpPr txBox="1">
            <a:spLocks noGrp="1"/>
          </p:cNvSpPr>
          <p:nvPr>
            <p:ph type="body" idx="1"/>
          </p:nvPr>
        </p:nvSpPr>
        <p:spPr>
          <a:xfrm>
            <a:off x="540650" y="988200"/>
            <a:ext cx="8391000" cy="2979000"/>
          </a:xfrm>
          <a:prstGeom prst="rect">
            <a:avLst/>
          </a:prstGeom>
        </p:spPr>
        <p:txBody>
          <a:bodyPr spcFirstLastPara="1" wrap="square" lIns="0" tIns="0" rIns="0" bIns="0" anchor="t" anchorCtr="0">
            <a:noAutofit/>
          </a:bodyPr>
          <a:lstStyle/>
          <a:p>
            <a:pPr marL="457200" lvl="0" indent="-342900" algn="l" rtl="0">
              <a:spcBef>
                <a:spcPts val="900"/>
              </a:spcBef>
              <a:spcAft>
                <a:spcPts val="0"/>
              </a:spcAft>
              <a:buSzPts val="1800"/>
              <a:buChar char="-"/>
            </a:pPr>
            <a:r>
              <a:rPr lang="en-US"/>
              <a:t>I am a VZ Manager/Lead, what do I have to do in this process? </a:t>
            </a:r>
            <a:endParaRPr/>
          </a:p>
          <a:p>
            <a:pPr marL="914400" lvl="1" indent="-342900" algn="l" rtl="0">
              <a:spcBef>
                <a:spcPts val="0"/>
              </a:spcBef>
              <a:spcAft>
                <a:spcPts val="0"/>
              </a:spcAft>
              <a:buSzPts val="1800"/>
              <a:buChar char="-"/>
            </a:pPr>
            <a:r>
              <a:rPr lang="en-US"/>
              <a:t>Review activities &amp; hours for pre-authorization, Answer any questions during the final approvals</a:t>
            </a:r>
            <a:endParaRPr/>
          </a:p>
          <a:p>
            <a:pPr marL="457200" lvl="0" indent="-342900" algn="l" rtl="0">
              <a:spcBef>
                <a:spcPts val="0"/>
              </a:spcBef>
              <a:spcAft>
                <a:spcPts val="0"/>
              </a:spcAft>
              <a:buSzPts val="1800"/>
              <a:buChar char="-"/>
            </a:pPr>
            <a:r>
              <a:rPr lang="en-US"/>
              <a:t>I am a VZ Director, what do I have to do in this process? </a:t>
            </a:r>
            <a:endParaRPr/>
          </a:p>
          <a:p>
            <a:pPr marL="914400" lvl="1" indent="-342900" algn="l" rtl="0">
              <a:spcBef>
                <a:spcPts val="0"/>
              </a:spcBef>
              <a:spcAft>
                <a:spcPts val="0"/>
              </a:spcAft>
              <a:buSzPts val="1800"/>
              <a:buChar char="-"/>
            </a:pPr>
            <a:r>
              <a:rPr lang="en-US"/>
              <a:t>Infosys will present KTLO hours planned and spent for your information in the formal reviews. Provide guidance as necessary.</a:t>
            </a:r>
            <a:endParaRPr/>
          </a:p>
          <a:p>
            <a:pPr marL="457200" lvl="0" indent="-342900" algn="l" rtl="0">
              <a:spcBef>
                <a:spcPts val="0"/>
              </a:spcBef>
              <a:spcAft>
                <a:spcPts val="0"/>
              </a:spcAft>
              <a:buSzPts val="1800"/>
              <a:buChar char="-"/>
            </a:pPr>
            <a:r>
              <a:rPr lang="en-US"/>
              <a:t>What do I do if my group/I run out of KTLO hours? </a:t>
            </a:r>
            <a:endParaRPr/>
          </a:p>
          <a:p>
            <a:pPr marL="914400" lvl="1" indent="-342900" algn="l" rtl="0">
              <a:spcBef>
                <a:spcPts val="0"/>
              </a:spcBef>
              <a:spcAft>
                <a:spcPts val="0"/>
              </a:spcAft>
              <a:buSzPts val="1800"/>
              <a:buChar char="-"/>
            </a:pPr>
            <a:r>
              <a:rPr lang="en-US"/>
              <a:t>Re-prioritize activities, if not possible please reach out to ITMS team to help resolve</a:t>
            </a:r>
            <a:endParaRPr/>
          </a:p>
          <a:p>
            <a:pPr marL="457200" lvl="0" indent="-342900" algn="l" rtl="0">
              <a:spcBef>
                <a:spcPts val="0"/>
              </a:spcBef>
              <a:spcAft>
                <a:spcPts val="0"/>
              </a:spcAft>
              <a:buSzPts val="1800"/>
              <a:buChar char="-"/>
            </a:pPr>
            <a:r>
              <a:rPr lang="en-US"/>
              <a:t>I am not sure if the current activity I am reviewing is a KTLO activity? Who do I reach out to? </a:t>
            </a:r>
            <a:endParaRPr/>
          </a:p>
          <a:p>
            <a:pPr marL="914400" lvl="1" indent="-342900" algn="l" rtl="0">
              <a:spcBef>
                <a:spcPts val="0"/>
              </a:spcBef>
              <a:spcAft>
                <a:spcPts val="0"/>
              </a:spcAft>
              <a:buSzPts val="1800"/>
              <a:buChar char="-"/>
            </a:pPr>
            <a:r>
              <a:rPr lang="en-US"/>
              <a:t>Please reach out to ITMS team </a:t>
            </a:r>
            <a:endParaRPr/>
          </a:p>
          <a:p>
            <a:pPr marL="457200" lvl="0" indent="-342900" algn="l" rtl="0">
              <a:spcBef>
                <a:spcPts val="0"/>
              </a:spcBef>
              <a:spcAft>
                <a:spcPts val="0"/>
              </a:spcAft>
              <a:buSzPts val="1800"/>
              <a:buChar char="-"/>
            </a:pPr>
            <a:r>
              <a:rPr lang="en-US"/>
              <a:t>If I am pre-approving an AM activity mistakenly as KTLO, what would happen? </a:t>
            </a:r>
            <a:endParaRPr/>
          </a:p>
          <a:p>
            <a:pPr marL="914400" lvl="1" indent="-342900" algn="l" rtl="0">
              <a:spcBef>
                <a:spcPts val="0"/>
              </a:spcBef>
              <a:spcAft>
                <a:spcPts val="0"/>
              </a:spcAft>
              <a:buSzPts val="1800"/>
              <a:buChar char="-"/>
            </a:pPr>
            <a:r>
              <a:rPr lang="en-US"/>
              <a:t>This most likely will get flagged during the month end review process and will be used to improve the process.</a:t>
            </a:r>
            <a:endParaRPr/>
          </a:p>
          <a:p>
            <a:pPr marL="457200" lvl="0" indent="-342900" algn="l" rtl="0">
              <a:spcBef>
                <a:spcPts val="0"/>
              </a:spcBef>
              <a:spcAft>
                <a:spcPts val="0"/>
              </a:spcAft>
              <a:buSzPts val="1800"/>
              <a:buChar char="-"/>
            </a:pPr>
            <a:r>
              <a:rPr lang="en-US"/>
              <a:t>Will I get a report of what KTLO hours Infosys spends on my area? </a:t>
            </a:r>
            <a:endParaRPr/>
          </a:p>
          <a:p>
            <a:pPr marL="914400" lvl="1" indent="-342900" algn="l" rtl="0">
              <a:spcBef>
                <a:spcPts val="0"/>
              </a:spcBef>
              <a:spcAft>
                <a:spcPts val="0"/>
              </a:spcAft>
              <a:buSzPts val="1800"/>
              <a:buChar char="-"/>
            </a:pPr>
            <a:r>
              <a:rPr lang="en-US"/>
              <a:t>Yes, the ITMS team will share the report with all VZ Managers.</a:t>
            </a:r>
            <a:endParaRPr/>
          </a:p>
        </p:txBody>
      </p:sp>
      <p:sp>
        <p:nvSpPr>
          <p:cNvPr id="527" name="Google Shape;527;p53"/>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
        <p:nvSpPr>
          <p:cNvPr id="528" name="Google Shape;528;p53"/>
          <p:cNvSpPr txBox="1">
            <a:spLocks noGrp="1"/>
          </p:cNvSpPr>
          <p:nvPr>
            <p:ph type="title"/>
          </p:nvPr>
        </p:nvSpPr>
        <p:spPr>
          <a:xfrm>
            <a:off x="1266900" y="590550"/>
            <a:ext cx="6277200" cy="350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FAQs</a:t>
            </a:r>
            <a:endParaRPr/>
          </a:p>
        </p:txBody>
      </p:sp>
      <p:pic>
        <p:nvPicPr>
          <p:cNvPr id="529" name="Google Shape;529;p53"/>
          <p:cNvPicPr preferRelativeResize="0"/>
          <p:nvPr/>
        </p:nvPicPr>
        <p:blipFill rotWithShape="1">
          <a:blip r:embed="rId3">
            <a:alphaModFix/>
          </a:blip>
          <a:srcRect l="17357" t="2363" r="16870" b="1176"/>
          <a:stretch/>
        </p:blipFill>
        <p:spPr>
          <a:xfrm>
            <a:off x="457200" y="495001"/>
            <a:ext cx="627650" cy="647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54"/>
          <p:cNvSpPr txBox="1">
            <a:spLocks noGrp="1"/>
          </p:cNvSpPr>
          <p:nvPr>
            <p:ph type="title"/>
          </p:nvPr>
        </p:nvSpPr>
        <p:spPr>
          <a:xfrm>
            <a:off x="457200" y="457200"/>
            <a:ext cx="7086600" cy="20574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lt1"/>
              </a:buClr>
              <a:buSzPts val="6000"/>
              <a:buFont typeface="Verizon NHG DS"/>
              <a:buNone/>
            </a:pPr>
            <a:r>
              <a:rPr lang="en-US" sz="6000"/>
              <a:t>Appendix</a:t>
            </a:r>
            <a:endParaRPr/>
          </a:p>
        </p:txBody>
      </p:sp>
      <p:sp>
        <p:nvSpPr>
          <p:cNvPr id="535" name="Google Shape;535;p5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55"/>
          <p:cNvSpPr txBox="1">
            <a:spLocks noGrp="1"/>
          </p:cNvSpPr>
          <p:nvPr>
            <p:ph type="sldNum" idx="12"/>
          </p:nvPr>
        </p:nvSpPr>
        <p:spPr>
          <a:xfrm>
            <a:off x="8458200" y="4700016"/>
            <a:ext cx="2286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sz="800">
                <a:latin typeface="Calibri"/>
                <a:ea typeface="Calibri"/>
                <a:cs typeface="Calibri"/>
                <a:sym typeface="Calibri"/>
              </a:rPr>
              <a:t>23</a:t>
            </a:fld>
            <a:endParaRPr sz="800">
              <a:latin typeface="Calibri"/>
              <a:ea typeface="Calibri"/>
              <a:cs typeface="Calibri"/>
              <a:sym typeface="Calibri"/>
            </a:endParaRPr>
          </a:p>
        </p:txBody>
      </p:sp>
      <p:sp>
        <p:nvSpPr>
          <p:cNvPr id="542" name="Google Shape;542;p55"/>
          <p:cNvSpPr txBox="1">
            <a:spLocks noGrp="1"/>
          </p:cNvSpPr>
          <p:nvPr>
            <p:ph type="title"/>
          </p:nvPr>
        </p:nvSpPr>
        <p:spPr>
          <a:xfrm>
            <a:off x="457200" y="526875"/>
            <a:ext cx="7086600" cy="3291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a:t>Approved KTLO Hours</a:t>
            </a:r>
            <a:endParaRPr/>
          </a:p>
        </p:txBody>
      </p:sp>
      <p:pic>
        <p:nvPicPr>
          <p:cNvPr id="543" name="Google Shape;543;p55"/>
          <p:cNvPicPr preferRelativeResize="0"/>
          <p:nvPr/>
        </p:nvPicPr>
        <p:blipFill rotWithShape="1">
          <a:blip r:embed="rId3">
            <a:alphaModFix/>
          </a:blip>
          <a:srcRect r="487" b="139"/>
          <a:stretch/>
        </p:blipFill>
        <p:spPr>
          <a:xfrm>
            <a:off x="1043825" y="855975"/>
            <a:ext cx="7340000" cy="3844049"/>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56"/>
          <p:cNvSpPr txBox="1">
            <a:spLocks noGrp="1"/>
          </p:cNvSpPr>
          <p:nvPr>
            <p:ph type="title"/>
          </p:nvPr>
        </p:nvSpPr>
        <p:spPr>
          <a:xfrm>
            <a:off x="457200" y="5943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Adaptive Maintenance</a:t>
            </a:r>
            <a:endParaRPr/>
          </a:p>
        </p:txBody>
      </p:sp>
      <p:sp>
        <p:nvSpPr>
          <p:cNvPr id="549" name="Google Shape;549;p56"/>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550" name="Google Shape;550;p5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24</a:t>
            </a:fld>
            <a:endParaRPr/>
          </a:p>
        </p:txBody>
      </p:sp>
      <p:sp>
        <p:nvSpPr>
          <p:cNvPr id="551" name="Google Shape;551;p56"/>
          <p:cNvSpPr txBox="1">
            <a:spLocks noGrp="1"/>
          </p:cNvSpPr>
          <p:nvPr>
            <p:ph type="body" idx="1"/>
          </p:nvPr>
        </p:nvSpPr>
        <p:spPr>
          <a:xfrm>
            <a:off x="93525" y="923025"/>
            <a:ext cx="8121900" cy="3777000"/>
          </a:xfrm>
          <a:prstGeom prst="rect">
            <a:avLst/>
          </a:prstGeom>
        </p:spPr>
        <p:txBody>
          <a:bodyPr spcFirstLastPara="1" wrap="square" lIns="0" tIns="0" rIns="0" bIns="0" anchor="t" anchorCtr="0">
            <a:noAutofit/>
          </a:bodyPr>
          <a:lstStyle/>
          <a:p>
            <a:pPr marL="457200" lvl="0" indent="0" algn="l" rtl="0">
              <a:spcBef>
                <a:spcPts val="900"/>
              </a:spcBef>
              <a:spcAft>
                <a:spcPts val="0"/>
              </a:spcAft>
              <a:buNone/>
            </a:pPr>
            <a:r>
              <a:rPr lang="en-US" sz="1400" b="0"/>
              <a:t>"Adaptive Maintenance. As part of the KTLO Services for each cluster, Supplier shall perform adaptive maintenance, which includes ensuring that application performance is not affected by changes to interfacing applications, changes in the infrastructure that affect the In-Scope Applications, new applications or packages and technical environment changes, which, if not addressed proactively, could impact applications in production, including:</a:t>
            </a:r>
            <a:endParaRPr sz="1400" b="0">
              <a:highlight>
                <a:srgbClr val="FFFFFF"/>
              </a:highlight>
              <a:latin typeface="Arial"/>
              <a:ea typeface="Arial"/>
              <a:cs typeface="Arial"/>
              <a:sym typeface="Arial"/>
            </a:endParaRPr>
          </a:p>
          <a:p>
            <a:pPr marL="457200" lvl="0" indent="0" algn="l" rtl="0">
              <a:spcBef>
                <a:spcPts val="900"/>
              </a:spcBef>
              <a:spcAft>
                <a:spcPts val="0"/>
              </a:spcAft>
              <a:buNone/>
            </a:pPr>
            <a:r>
              <a:rPr lang="en-US" sz="1000" b="0"/>
              <a:t> (i) Upgrades of operating Software;</a:t>
            </a:r>
            <a:endParaRPr sz="1000" b="0"/>
          </a:p>
          <a:p>
            <a:pPr marL="457200" lvl="0" indent="0" algn="l" rtl="0">
              <a:spcBef>
                <a:spcPts val="900"/>
              </a:spcBef>
              <a:spcAft>
                <a:spcPts val="0"/>
              </a:spcAft>
              <a:buNone/>
            </a:pPr>
            <a:r>
              <a:rPr lang="en-US" sz="1000" b="0"/>
              <a:t> (ii) New/changed Equipment;</a:t>
            </a:r>
            <a:endParaRPr sz="1000" b="0"/>
          </a:p>
          <a:p>
            <a:pPr marL="457200" lvl="0" indent="0" algn="l" rtl="0">
              <a:spcBef>
                <a:spcPts val="900"/>
              </a:spcBef>
              <a:spcAft>
                <a:spcPts val="0"/>
              </a:spcAft>
              <a:buNone/>
            </a:pPr>
            <a:r>
              <a:rPr lang="en-US" sz="1000" b="0"/>
              <a:t> (iii) New/changed Software;</a:t>
            </a:r>
            <a:endParaRPr sz="1000" b="0"/>
          </a:p>
          <a:p>
            <a:pPr marL="457200" lvl="0" indent="0" algn="l" rtl="0">
              <a:spcBef>
                <a:spcPts val="900"/>
              </a:spcBef>
              <a:spcAft>
                <a:spcPts val="0"/>
              </a:spcAft>
              <a:buNone/>
            </a:pPr>
            <a:r>
              <a:rPr lang="en-US" sz="1000" b="0"/>
              <a:t> (iv) New/changed network Equipment (network and servers);</a:t>
            </a:r>
            <a:endParaRPr sz="1000" b="0"/>
          </a:p>
          <a:p>
            <a:pPr marL="457200" lvl="0" indent="0" algn="l" rtl="0">
              <a:spcBef>
                <a:spcPts val="900"/>
              </a:spcBef>
              <a:spcAft>
                <a:spcPts val="0"/>
              </a:spcAft>
              <a:buNone/>
            </a:pPr>
            <a:r>
              <a:rPr lang="en-US" sz="1000" b="0"/>
              <a:t> (v) New/changed policies;</a:t>
            </a:r>
            <a:endParaRPr sz="1000" b="0"/>
          </a:p>
          <a:p>
            <a:pPr marL="457200" lvl="0" indent="0" algn="l" rtl="0">
              <a:spcBef>
                <a:spcPts val="900"/>
              </a:spcBef>
              <a:spcAft>
                <a:spcPts val="0"/>
              </a:spcAft>
              <a:buNone/>
            </a:pPr>
            <a:r>
              <a:rPr lang="en-US" sz="1000" b="0"/>
              <a:t> (vi) Interface changes;</a:t>
            </a:r>
            <a:endParaRPr sz="1000" b="0"/>
          </a:p>
          <a:p>
            <a:pPr marL="457200" lvl="0" indent="0" algn="l" rtl="0">
              <a:spcBef>
                <a:spcPts val="900"/>
              </a:spcBef>
              <a:spcAft>
                <a:spcPts val="0"/>
              </a:spcAft>
              <a:buNone/>
            </a:pPr>
            <a:r>
              <a:rPr lang="en-US" sz="1000" b="0"/>
              <a:t> (vii) Infrastructure changes that affect In-Scope Applications, associated Tools and Software, or the Services generally;</a:t>
            </a:r>
            <a:endParaRPr sz="1000" b="0"/>
          </a:p>
          <a:p>
            <a:pPr marL="457200" lvl="0" indent="0" algn="l" rtl="0">
              <a:spcBef>
                <a:spcPts val="900"/>
              </a:spcBef>
              <a:spcAft>
                <a:spcPts val="0"/>
              </a:spcAft>
              <a:buNone/>
            </a:pPr>
            <a:r>
              <a:rPr lang="en-US" sz="1000" b="0"/>
              <a:t> (viii) Compliance to regulatory items; and exercises;</a:t>
            </a:r>
            <a:endParaRPr sz="1000" b="0"/>
          </a:p>
          <a:p>
            <a:pPr marL="457200" lvl="0" indent="0" algn="l" rtl="0">
              <a:spcBef>
                <a:spcPts val="900"/>
              </a:spcBef>
              <a:spcAft>
                <a:spcPts val="0"/>
              </a:spcAft>
              <a:buNone/>
            </a:pPr>
            <a:r>
              <a:rPr lang="en-US" sz="1000" b="0"/>
              <a:t> (ix) Inputs and assistance with any litigation based reviews, regulatory reviews, audits, compliance assessments and data gathering."</a:t>
            </a:r>
            <a:endParaRPr sz="1000" b="0"/>
          </a:p>
          <a:p>
            <a:pPr marL="0" lvl="0" indent="0" algn="l" rtl="0">
              <a:spcBef>
                <a:spcPts val="900"/>
              </a:spcBef>
              <a:spcAft>
                <a:spcPts val="0"/>
              </a:spcAft>
              <a:buNone/>
            </a:pPr>
            <a:endParaRPr/>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graphicFrame>
        <p:nvGraphicFramePr>
          <p:cNvPr id="552" name="Google Shape;552;p56"/>
          <p:cNvGraphicFramePr/>
          <p:nvPr/>
        </p:nvGraphicFramePr>
        <p:xfrm>
          <a:off x="6705625" y="64800"/>
          <a:ext cx="3000000" cy="3000000"/>
        </p:xfrm>
        <a:graphic>
          <a:graphicData uri="http://schemas.openxmlformats.org/drawingml/2006/table">
            <a:tbl>
              <a:tblPr>
                <a:noFill/>
                <a:tableStyleId>{B160F1D3-B883-4AC0-8E5A-4BE9966CEF15}</a:tableStyleId>
              </a:tblPr>
              <a:tblGrid>
                <a:gridCol w="1467525"/>
                <a:gridCol w="8646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56"/>
        <p:cNvGrpSpPr/>
        <p:nvPr/>
      </p:nvGrpSpPr>
      <p:grpSpPr>
        <a:xfrm>
          <a:off x="0" y="0"/>
          <a:ext cx="0" cy="0"/>
          <a:chOff x="0" y="0"/>
          <a:chExt cx="0" cy="0"/>
        </a:xfrm>
      </p:grpSpPr>
      <p:sp>
        <p:nvSpPr>
          <p:cNvPr id="557" name="Google Shape;557;p57"/>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Perfective Maintenance </a:t>
            </a:r>
            <a:endParaRPr/>
          </a:p>
        </p:txBody>
      </p:sp>
      <p:sp>
        <p:nvSpPr>
          <p:cNvPr id="558" name="Google Shape;558;p57"/>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559" name="Google Shape;559;p5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25</a:t>
            </a:fld>
            <a:endParaRPr/>
          </a:p>
        </p:txBody>
      </p:sp>
      <p:sp>
        <p:nvSpPr>
          <p:cNvPr id="560" name="Google Shape;560;p57"/>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b="0"/>
              <a:t>"Perfective Maintenance. Supplier shall perform perfective maintenance, which includes performing Software tuning, code restructuring, and other efforts to improve the efficiency and reliability of Software thereby minimizing on-going maintenance and operational requirements. Perfective maintenance includes ensuring that applications operate at peak efficiency with particular focus on areas such as</a:t>
            </a:r>
            <a:r>
              <a:rPr lang="en-US" sz="1150" b="0">
                <a:highlight>
                  <a:srgbClr val="FFFFFF"/>
                </a:highlight>
                <a:latin typeface="Arial"/>
                <a:ea typeface="Arial"/>
                <a:cs typeface="Arial"/>
                <a:sym typeface="Arial"/>
              </a:rPr>
              <a:t>:</a:t>
            </a:r>
            <a:endParaRPr sz="1150" b="0">
              <a:highlight>
                <a:srgbClr val="FFFFFF"/>
              </a:highlight>
              <a:latin typeface="Arial"/>
              <a:ea typeface="Arial"/>
              <a:cs typeface="Arial"/>
              <a:sym typeface="Arial"/>
            </a:endParaRPr>
          </a:p>
          <a:p>
            <a:pPr marL="0" lvl="0" indent="0" algn="l" rtl="0">
              <a:spcBef>
                <a:spcPts val="900"/>
              </a:spcBef>
              <a:spcAft>
                <a:spcPts val="0"/>
              </a:spcAft>
              <a:buNone/>
            </a:pPr>
            <a:r>
              <a:rPr lang="en-US" sz="1000" b="0"/>
              <a:t> (i) System CPU hours; </a:t>
            </a:r>
            <a:endParaRPr sz="1000" b="0"/>
          </a:p>
          <a:p>
            <a:pPr marL="0" lvl="0" indent="0" algn="l" rtl="0">
              <a:spcBef>
                <a:spcPts val="900"/>
              </a:spcBef>
              <a:spcAft>
                <a:spcPts val="0"/>
              </a:spcAft>
              <a:buNone/>
            </a:pPr>
            <a:r>
              <a:rPr lang="en-US" sz="1000" b="0"/>
              <a:t> (ii) General performance tuning;</a:t>
            </a:r>
            <a:endParaRPr sz="1000" b="0"/>
          </a:p>
          <a:p>
            <a:pPr marL="0" lvl="0" indent="0" algn="l" rtl="0">
              <a:spcBef>
                <a:spcPts val="900"/>
              </a:spcBef>
              <a:spcAft>
                <a:spcPts val="0"/>
              </a:spcAft>
              <a:buNone/>
            </a:pPr>
            <a:r>
              <a:rPr lang="en-US" sz="1000" b="0"/>
              <a:t> (iii) Storage space;</a:t>
            </a:r>
            <a:endParaRPr sz="1000" b="0"/>
          </a:p>
          <a:p>
            <a:pPr marL="0" lvl="0" indent="0" algn="l" rtl="0">
              <a:spcBef>
                <a:spcPts val="900"/>
              </a:spcBef>
              <a:spcAft>
                <a:spcPts val="0"/>
              </a:spcAft>
              <a:buNone/>
            </a:pPr>
            <a:r>
              <a:rPr lang="en-US" sz="1000" b="0"/>
              <a:t> (iv) Response time;</a:t>
            </a:r>
            <a:endParaRPr sz="1000" b="0"/>
          </a:p>
          <a:p>
            <a:pPr marL="0" lvl="0" indent="0" algn="l" rtl="0">
              <a:spcBef>
                <a:spcPts val="900"/>
              </a:spcBef>
              <a:spcAft>
                <a:spcPts val="0"/>
              </a:spcAft>
              <a:buNone/>
            </a:pPr>
            <a:r>
              <a:rPr lang="en-US" sz="1000" b="0"/>
              <a:t> (v) Archiving;</a:t>
            </a:r>
            <a:endParaRPr sz="1000" b="0"/>
          </a:p>
          <a:p>
            <a:pPr marL="0" lvl="0" indent="0" algn="l" rtl="0">
              <a:spcBef>
                <a:spcPts val="900"/>
              </a:spcBef>
              <a:spcAft>
                <a:spcPts val="0"/>
              </a:spcAft>
              <a:buNone/>
            </a:pPr>
            <a:r>
              <a:rPr lang="en-US" sz="1000" b="0"/>
              <a:t> (vi) Maintainability;</a:t>
            </a:r>
            <a:endParaRPr sz="1000" b="0"/>
          </a:p>
          <a:p>
            <a:pPr marL="0" lvl="0" indent="0" algn="l" rtl="0">
              <a:spcBef>
                <a:spcPts val="900"/>
              </a:spcBef>
              <a:spcAft>
                <a:spcPts val="0"/>
              </a:spcAft>
              <a:buNone/>
            </a:pPr>
            <a:r>
              <a:rPr lang="en-US" sz="1000" b="0"/>
              <a:t> (vii) Availability;</a:t>
            </a:r>
            <a:endParaRPr sz="1000" b="0"/>
          </a:p>
          <a:p>
            <a:pPr marL="0" lvl="0" indent="0" algn="l" rtl="0">
              <a:spcBef>
                <a:spcPts val="900"/>
              </a:spcBef>
              <a:spcAft>
                <a:spcPts val="0"/>
              </a:spcAft>
              <a:buNone/>
            </a:pPr>
            <a:r>
              <a:rPr lang="en-US" sz="1000" b="0"/>
              <a:t> (viii) Program performance tuning; and</a:t>
            </a:r>
            <a:endParaRPr sz="1000" b="0"/>
          </a:p>
          <a:p>
            <a:pPr marL="0" lvl="0" indent="0" algn="l" rtl="0">
              <a:spcBef>
                <a:spcPts val="900"/>
              </a:spcBef>
              <a:spcAft>
                <a:spcPts val="0"/>
              </a:spcAft>
              <a:buNone/>
            </a:pPr>
            <a:r>
              <a:rPr lang="en-US" sz="1000" b="0"/>
              <a:t> (ix) Code complexity.</a:t>
            </a:r>
            <a:r>
              <a:rPr lang="en-US" sz="1150" b="0">
                <a:highlight>
                  <a:srgbClr val="FFFFFF"/>
                </a:highlight>
                <a:latin typeface="Arial"/>
                <a:ea typeface="Arial"/>
                <a:cs typeface="Arial"/>
                <a:sym typeface="Arial"/>
              </a:rPr>
              <a:t>"</a:t>
            </a:r>
            <a:endParaRPr sz="1000" b="0"/>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graphicFrame>
        <p:nvGraphicFramePr>
          <p:cNvPr id="561" name="Google Shape;561;p57"/>
          <p:cNvGraphicFramePr/>
          <p:nvPr/>
        </p:nvGraphicFramePr>
        <p:xfrm>
          <a:off x="6705625" y="64800"/>
          <a:ext cx="3000000" cy="3000000"/>
        </p:xfrm>
        <a:graphic>
          <a:graphicData uri="http://schemas.openxmlformats.org/drawingml/2006/table">
            <a:tbl>
              <a:tblPr>
                <a:noFill/>
                <a:tableStyleId>{B160F1D3-B883-4AC0-8E5A-4BE9966CEF15}</a:tableStyleId>
              </a:tblPr>
              <a:tblGrid>
                <a:gridCol w="1467525"/>
                <a:gridCol w="8646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65"/>
        <p:cNvGrpSpPr/>
        <p:nvPr/>
      </p:nvGrpSpPr>
      <p:grpSpPr>
        <a:xfrm>
          <a:off x="0" y="0"/>
          <a:ext cx="0" cy="0"/>
          <a:chOff x="0" y="0"/>
          <a:chExt cx="0" cy="0"/>
        </a:xfrm>
      </p:grpSpPr>
      <p:sp>
        <p:nvSpPr>
          <p:cNvPr id="566" name="Google Shape;566;p58"/>
          <p:cNvSpPr txBox="1">
            <a:spLocks noGrp="1"/>
          </p:cNvSpPr>
          <p:nvPr>
            <p:ph type="title"/>
          </p:nvPr>
        </p:nvSpPr>
        <p:spPr>
          <a:xfrm>
            <a:off x="457200" y="5943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Preventive Maintenance</a:t>
            </a:r>
            <a:endParaRPr/>
          </a:p>
        </p:txBody>
      </p:sp>
      <p:sp>
        <p:nvSpPr>
          <p:cNvPr id="567" name="Google Shape;567;p58"/>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568" name="Google Shape;568;p5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26</a:t>
            </a:fld>
            <a:endParaRPr/>
          </a:p>
        </p:txBody>
      </p:sp>
      <p:sp>
        <p:nvSpPr>
          <p:cNvPr id="569" name="Google Shape;569;p58"/>
          <p:cNvSpPr txBox="1">
            <a:spLocks noGrp="1"/>
          </p:cNvSpPr>
          <p:nvPr>
            <p:ph type="body" idx="1"/>
          </p:nvPr>
        </p:nvSpPr>
        <p:spPr>
          <a:xfrm>
            <a:off x="130975" y="909588"/>
            <a:ext cx="8121900" cy="3248100"/>
          </a:xfrm>
          <a:prstGeom prst="rect">
            <a:avLst/>
          </a:prstGeom>
        </p:spPr>
        <p:txBody>
          <a:bodyPr spcFirstLastPara="1" wrap="square" lIns="0" tIns="0" rIns="0" bIns="0" anchor="t" anchorCtr="0">
            <a:noAutofit/>
          </a:bodyPr>
          <a:lstStyle/>
          <a:p>
            <a:pPr marL="457200" lvl="0" indent="0" algn="l" rtl="0">
              <a:spcBef>
                <a:spcPts val="900"/>
              </a:spcBef>
              <a:spcAft>
                <a:spcPts val="0"/>
              </a:spcAft>
              <a:buNone/>
            </a:pPr>
            <a:r>
              <a:rPr lang="en-US" sz="1200" b="0"/>
              <a:t> </a:t>
            </a:r>
            <a:r>
              <a:rPr lang="en-US" b="0"/>
              <a:t>"Preventive Maintenance. Supplier shall perform preventive maintenance, which includes resolution of issues which, if not addressed proactively, could impact applications in production, including:</a:t>
            </a:r>
            <a:endParaRPr sz="1150" b="0">
              <a:highlight>
                <a:srgbClr val="FFFFFF"/>
              </a:highlight>
              <a:latin typeface="Arial"/>
              <a:ea typeface="Arial"/>
              <a:cs typeface="Arial"/>
              <a:sym typeface="Arial"/>
            </a:endParaRPr>
          </a:p>
          <a:p>
            <a:pPr marL="457200" lvl="0" indent="0" algn="l" rtl="0">
              <a:spcBef>
                <a:spcPts val="900"/>
              </a:spcBef>
              <a:spcAft>
                <a:spcPts val="0"/>
              </a:spcAft>
              <a:buNone/>
            </a:pPr>
            <a:r>
              <a:rPr lang="en-US" sz="1000" b="0"/>
              <a:t> (i) Changing business volumes;</a:t>
            </a:r>
            <a:endParaRPr sz="1000" b="0"/>
          </a:p>
          <a:p>
            <a:pPr marL="457200" lvl="0" indent="0" algn="l" rtl="0">
              <a:spcBef>
                <a:spcPts val="900"/>
              </a:spcBef>
              <a:spcAft>
                <a:spcPts val="0"/>
              </a:spcAft>
              <a:buNone/>
            </a:pPr>
            <a:r>
              <a:rPr lang="en-US" sz="1000" b="0"/>
              <a:t> (ii) Staying on the most current release or as directed by Verizon;</a:t>
            </a:r>
            <a:endParaRPr sz="1000" b="0">
              <a:highlight>
                <a:srgbClr val="FFFFFF"/>
              </a:highlight>
              <a:latin typeface="Arial"/>
              <a:ea typeface="Arial"/>
              <a:cs typeface="Arial"/>
              <a:sym typeface="Arial"/>
            </a:endParaRPr>
          </a:p>
          <a:p>
            <a:pPr marL="457200" lvl="0" indent="0" algn="l" rtl="0">
              <a:spcBef>
                <a:spcPts val="900"/>
              </a:spcBef>
              <a:spcAft>
                <a:spcPts val="0"/>
              </a:spcAft>
              <a:buNone/>
            </a:pPr>
            <a:r>
              <a:rPr lang="en-US" sz="1000" b="0"/>
              <a:t> (iii) Proactive performance tuning;</a:t>
            </a:r>
            <a:endParaRPr sz="1000" b="0">
              <a:highlight>
                <a:srgbClr val="FFFFFF"/>
              </a:highlight>
              <a:latin typeface="Arial"/>
              <a:ea typeface="Arial"/>
              <a:cs typeface="Arial"/>
              <a:sym typeface="Arial"/>
            </a:endParaRPr>
          </a:p>
          <a:p>
            <a:pPr marL="457200" lvl="0" indent="0" algn="l" rtl="0">
              <a:spcBef>
                <a:spcPts val="900"/>
              </a:spcBef>
              <a:spcAft>
                <a:spcPts val="0"/>
              </a:spcAft>
              <a:buNone/>
            </a:pPr>
            <a:r>
              <a:rPr lang="en-US" sz="1000" b="0"/>
              <a:t> (iv) Proactive archiving</a:t>
            </a:r>
            <a:endParaRPr sz="1000" b="0"/>
          </a:p>
          <a:p>
            <a:pPr marL="457200" lvl="0" indent="0" algn="l" rtl="0">
              <a:spcBef>
                <a:spcPts val="900"/>
              </a:spcBef>
              <a:spcAft>
                <a:spcPts val="0"/>
              </a:spcAft>
              <a:buNone/>
            </a:pPr>
            <a:r>
              <a:rPr lang="en-US" sz="1000" b="0"/>
              <a:t> (v) Pre-production execution simulation</a:t>
            </a:r>
            <a:endParaRPr sz="1000" b="0"/>
          </a:p>
          <a:p>
            <a:pPr marL="457200" lvl="0" indent="0" algn="l" rtl="0">
              <a:spcBef>
                <a:spcPts val="900"/>
              </a:spcBef>
              <a:spcAft>
                <a:spcPts val="0"/>
              </a:spcAft>
              <a:buNone/>
            </a:pPr>
            <a:r>
              <a:rPr lang="en-US" sz="1000" b="0"/>
              <a:t> (vi) Manual production checklist for critical weekend, month-end and year-end production, including resetting counters or accumulators;</a:t>
            </a:r>
            <a:endParaRPr sz="1000" b="0"/>
          </a:p>
          <a:p>
            <a:pPr marL="457200" lvl="0" indent="0" algn="l" rtl="0">
              <a:spcBef>
                <a:spcPts val="900"/>
              </a:spcBef>
              <a:spcAft>
                <a:spcPts val="0"/>
              </a:spcAft>
              <a:buNone/>
            </a:pPr>
            <a:r>
              <a:rPr lang="en-US" sz="1000" b="0"/>
              <a:t> (vii) Heightened awareness scenario unique testing shall be carried out for events to include: </a:t>
            </a:r>
            <a:endParaRPr sz="1000" b="0"/>
          </a:p>
          <a:p>
            <a:pPr marL="457200" lvl="0" indent="0" algn="l" rtl="0">
              <a:spcBef>
                <a:spcPts val="900"/>
              </a:spcBef>
              <a:spcAft>
                <a:spcPts val="0"/>
              </a:spcAft>
              <a:buNone/>
            </a:pPr>
            <a:r>
              <a:rPr lang="en-US" sz="1000" b="0"/>
              <a:t> • End of financial year; • End of calendar year;  • Daylight savings time;  • Leap Year; </a:t>
            </a:r>
            <a:r>
              <a:rPr lang="en-US" sz="1000" b="0">
                <a:highlight>
                  <a:srgbClr val="FFFFFF"/>
                </a:highlight>
                <a:latin typeface="Arial"/>
                <a:ea typeface="Arial"/>
                <a:cs typeface="Arial"/>
                <a:sym typeface="Arial"/>
              </a:rPr>
              <a:t> • Iconic Launches • “System Freeze” periods."</a:t>
            </a:r>
            <a:endParaRPr sz="1000" b="0"/>
          </a:p>
          <a:p>
            <a:pPr marL="0" lvl="0" indent="0" algn="l" rtl="0">
              <a:spcBef>
                <a:spcPts val="900"/>
              </a:spcBef>
              <a:spcAft>
                <a:spcPts val="0"/>
              </a:spcAft>
              <a:buNone/>
            </a:pPr>
            <a:endParaRPr/>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graphicFrame>
        <p:nvGraphicFramePr>
          <p:cNvPr id="570" name="Google Shape;570;p58"/>
          <p:cNvGraphicFramePr/>
          <p:nvPr/>
        </p:nvGraphicFramePr>
        <p:xfrm>
          <a:off x="6705625" y="64800"/>
          <a:ext cx="3000000" cy="3000000"/>
        </p:xfrm>
        <a:graphic>
          <a:graphicData uri="http://schemas.openxmlformats.org/drawingml/2006/table">
            <a:tbl>
              <a:tblPr>
                <a:noFill/>
                <a:tableStyleId>{B160F1D3-B883-4AC0-8E5A-4BE9966CEF15}</a:tableStyleId>
              </a:tblPr>
              <a:tblGrid>
                <a:gridCol w="1467525"/>
                <a:gridCol w="8646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59"/>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Performance Management</a:t>
            </a:r>
            <a:endParaRPr/>
          </a:p>
        </p:txBody>
      </p:sp>
      <p:sp>
        <p:nvSpPr>
          <p:cNvPr id="576" name="Google Shape;576;p59"/>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577" name="Google Shape;577;p5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27</a:t>
            </a:fld>
            <a:endParaRPr/>
          </a:p>
        </p:txBody>
      </p:sp>
      <p:sp>
        <p:nvSpPr>
          <p:cNvPr id="578" name="Google Shape;578;p59"/>
          <p:cNvSpPr txBox="1">
            <a:spLocks noGrp="1"/>
          </p:cNvSpPr>
          <p:nvPr>
            <p:ph type="body" idx="1"/>
          </p:nvPr>
        </p:nvSpPr>
        <p:spPr>
          <a:xfrm>
            <a:off x="457200" y="923075"/>
            <a:ext cx="8121900" cy="1630800"/>
          </a:xfrm>
          <a:prstGeom prst="rect">
            <a:avLst/>
          </a:prstGeom>
        </p:spPr>
        <p:txBody>
          <a:bodyPr spcFirstLastPara="1" wrap="square" lIns="0" tIns="0" rIns="0" bIns="0" anchor="t" anchorCtr="0">
            <a:noAutofit/>
          </a:bodyPr>
          <a:lstStyle/>
          <a:p>
            <a:pPr marL="0" marR="0" lvl="0" indent="0" algn="l" rtl="0">
              <a:lnSpc>
                <a:spcPct val="100000"/>
              </a:lnSpc>
              <a:spcBef>
                <a:spcPts val="900"/>
              </a:spcBef>
              <a:spcAft>
                <a:spcPts val="0"/>
              </a:spcAft>
              <a:buNone/>
            </a:pPr>
            <a:r>
              <a:rPr lang="en-US" sz="1200" b="0"/>
              <a:t>Ensure performance meets or exceeds predefined baselines for the application and function level. Baselines must be measured in existing code. These baselines then serve as future baselines that new code will be measured against.</a:t>
            </a:r>
            <a:endParaRPr sz="1200" b="0"/>
          </a:p>
          <a:p>
            <a:pPr marL="0" marR="0" lvl="0" indent="0" algn="l" rtl="0">
              <a:lnSpc>
                <a:spcPct val="100000"/>
              </a:lnSpc>
              <a:spcBef>
                <a:spcPts val="900"/>
              </a:spcBef>
              <a:spcAft>
                <a:spcPts val="0"/>
              </a:spcAft>
              <a:buNone/>
            </a:pPr>
            <a:r>
              <a:rPr lang="en-US" sz="1200" b="0"/>
              <a:t>Voice of the Customer: Analyze customer inputs and develop plans to improve the customer experience; work with Verizon to prioritize improvements.</a:t>
            </a:r>
            <a:endParaRPr sz="1200"/>
          </a:p>
          <a:p>
            <a:pPr marL="0" lvl="0" indent="0" algn="l" rtl="0">
              <a:spcBef>
                <a:spcPts val="900"/>
              </a:spcBef>
              <a:spcAft>
                <a:spcPts val="0"/>
              </a:spcAft>
              <a:buNone/>
            </a:pPr>
            <a:endParaRPr sz="1200"/>
          </a:p>
        </p:txBody>
      </p:sp>
      <p:graphicFrame>
        <p:nvGraphicFramePr>
          <p:cNvPr id="579" name="Google Shape;579;p59"/>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 KTLO</a:t>
                      </a:r>
                      <a:endParaRPr b="1"/>
                    </a:p>
                  </a:txBody>
                  <a:tcPr marL="91425" marR="91425" marT="91425" marB="91425"/>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3"/>
        <p:cNvGrpSpPr/>
        <p:nvPr/>
      </p:nvGrpSpPr>
      <p:grpSpPr>
        <a:xfrm>
          <a:off x="0" y="0"/>
          <a:ext cx="0" cy="0"/>
          <a:chOff x="0" y="0"/>
          <a:chExt cx="0" cy="0"/>
        </a:xfrm>
      </p:grpSpPr>
      <p:sp>
        <p:nvSpPr>
          <p:cNvPr id="584" name="Google Shape;584;p60"/>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Application Optimization</a:t>
            </a:r>
            <a:endParaRPr/>
          </a:p>
        </p:txBody>
      </p:sp>
      <p:sp>
        <p:nvSpPr>
          <p:cNvPr id="585" name="Google Shape;585;p60"/>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586" name="Google Shape;586;p6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28</a:t>
            </a:fld>
            <a:endParaRPr/>
          </a:p>
        </p:txBody>
      </p:sp>
      <p:sp>
        <p:nvSpPr>
          <p:cNvPr id="587" name="Google Shape;587;p60"/>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b="0"/>
              <a:t>"Supplier shall perform activities to optimize the operational aspects of the In-Scope Applications (“Application Optimization”). At all times, Supplier will seek and implement actions to improve Application availability, performance and response times. Supplier’s responsibilities for Application Optimization include the following activities</a:t>
            </a:r>
            <a:r>
              <a:rPr lang="en-US" sz="1150" b="0">
                <a:highlight>
                  <a:srgbClr val="FFFFFF"/>
                </a:highlight>
                <a:latin typeface="Arial"/>
                <a:ea typeface="Arial"/>
                <a:cs typeface="Arial"/>
                <a:sym typeface="Arial"/>
              </a:rPr>
              <a:t>:</a:t>
            </a:r>
            <a:endParaRPr sz="1150" b="0">
              <a:highlight>
                <a:srgbClr val="FFFFFF"/>
              </a:highlight>
              <a:latin typeface="Arial"/>
              <a:ea typeface="Arial"/>
              <a:cs typeface="Arial"/>
              <a:sym typeface="Arial"/>
            </a:endParaRPr>
          </a:p>
          <a:p>
            <a:pPr marL="0" lvl="0" indent="0" algn="l" rtl="0">
              <a:spcBef>
                <a:spcPts val="900"/>
              </a:spcBef>
              <a:spcAft>
                <a:spcPts val="0"/>
              </a:spcAft>
              <a:buNone/>
            </a:pPr>
            <a:r>
              <a:rPr lang="en-US" sz="1150" b="0">
                <a:highlight>
                  <a:srgbClr val="FFFFFF"/>
                </a:highlight>
                <a:latin typeface="Arial"/>
                <a:ea typeface="Arial"/>
                <a:cs typeface="Arial"/>
                <a:sym typeface="Arial"/>
              </a:rPr>
              <a:t> </a:t>
            </a:r>
            <a:r>
              <a:rPr lang="en-US" sz="1000" b="0"/>
              <a:t>(i) continuous reviews of available and emerging technologies for potential usage in respect of the In-Scope Applications;</a:t>
            </a:r>
            <a:endParaRPr sz="1000" b="0"/>
          </a:p>
          <a:p>
            <a:pPr marL="0" lvl="0" indent="0" algn="l" rtl="0">
              <a:spcBef>
                <a:spcPts val="900"/>
              </a:spcBef>
              <a:spcAft>
                <a:spcPts val="0"/>
              </a:spcAft>
              <a:buNone/>
            </a:pPr>
            <a:r>
              <a:rPr lang="en-US" sz="1000" b="0"/>
              <a:t> (ii) gathering and analyzing availability and other performance data;</a:t>
            </a:r>
            <a:endParaRPr sz="1000" b="0"/>
          </a:p>
          <a:p>
            <a:pPr marL="0" lvl="0" indent="0" algn="l" rtl="0">
              <a:spcBef>
                <a:spcPts val="900"/>
              </a:spcBef>
              <a:spcAft>
                <a:spcPts val="0"/>
              </a:spcAft>
              <a:buNone/>
            </a:pPr>
            <a:r>
              <a:rPr lang="en-US" sz="1000" b="0"/>
              <a:t> (iii) conducting regular reviews of the In-Scope Applications and the In-Scope Application architecture seeking opportunities to consolidate systems and infrastructure; </a:t>
            </a:r>
            <a:endParaRPr sz="1000" b="0"/>
          </a:p>
          <a:p>
            <a:pPr marL="0" lvl="0" indent="0" algn="l" rtl="0">
              <a:spcBef>
                <a:spcPts val="900"/>
              </a:spcBef>
              <a:spcAft>
                <a:spcPts val="0"/>
              </a:spcAft>
              <a:buNone/>
            </a:pPr>
            <a:r>
              <a:rPr lang="en-US" sz="1000" b="0"/>
              <a:t> (iv) evaluating and recommending opportunities for software substitution where such substitutions may be better suited for Verizon’s requirements.</a:t>
            </a:r>
            <a:endParaRPr sz="1000" b="0"/>
          </a:p>
          <a:p>
            <a:pPr marL="0" lvl="0" indent="0" algn="l" rtl="0">
              <a:spcBef>
                <a:spcPts val="900"/>
              </a:spcBef>
              <a:spcAft>
                <a:spcPts val="0"/>
              </a:spcAft>
              <a:buNone/>
            </a:pPr>
            <a:r>
              <a:rPr lang="en-US" sz="1000" b="0"/>
              <a:t> (v) evaluating and recommending opportunities for software substitution where such substitutions may reduce Verizon’s spend on ISV or COTS software."</a:t>
            </a:r>
            <a:endParaRPr sz="1000" b="0"/>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graphicFrame>
        <p:nvGraphicFramePr>
          <p:cNvPr id="588" name="Google Shape;588;p60"/>
          <p:cNvGraphicFramePr/>
          <p:nvPr/>
        </p:nvGraphicFramePr>
        <p:xfrm>
          <a:off x="6705625" y="64800"/>
          <a:ext cx="3000000" cy="3000000"/>
        </p:xfrm>
        <a:graphic>
          <a:graphicData uri="http://schemas.openxmlformats.org/drawingml/2006/table">
            <a:tbl>
              <a:tblPr>
                <a:noFill/>
                <a:tableStyleId>{B160F1D3-B883-4AC0-8E5A-4BE9966CEF15}</a:tableStyleId>
              </a:tblPr>
              <a:tblGrid>
                <a:gridCol w="1467525"/>
                <a:gridCol w="8646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2"/>
        <p:cNvGrpSpPr/>
        <p:nvPr/>
      </p:nvGrpSpPr>
      <p:grpSpPr>
        <a:xfrm>
          <a:off x="0" y="0"/>
          <a:ext cx="0" cy="0"/>
          <a:chOff x="0" y="0"/>
          <a:chExt cx="0" cy="0"/>
        </a:xfrm>
      </p:grpSpPr>
      <p:sp>
        <p:nvSpPr>
          <p:cNvPr id="593" name="Google Shape;593;p61"/>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Capacity Management</a:t>
            </a:r>
            <a:endParaRPr/>
          </a:p>
        </p:txBody>
      </p:sp>
      <p:sp>
        <p:nvSpPr>
          <p:cNvPr id="594" name="Google Shape;594;p61"/>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595" name="Google Shape;595;p6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29</a:t>
            </a:fld>
            <a:endParaRPr/>
          </a:p>
        </p:txBody>
      </p:sp>
      <p:sp>
        <p:nvSpPr>
          <p:cNvPr id="596" name="Google Shape;596;p61"/>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a:highlight>
                  <a:srgbClr val="FFFFFF"/>
                </a:highlight>
                <a:latin typeface="Arial"/>
                <a:ea typeface="Arial"/>
                <a:cs typeface="Arial"/>
                <a:sym typeface="Arial"/>
              </a:rPr>
              <a:t>Capacity management Services are those Services related to ensuring that the capacity of the information technology Services matches the evolving demands of the business in the most cost-effective and timely manner. Capacity management Services involve providing advanced notification of application changes (e.g. new or modified applications) consuming resources on CPU, memory, and disk hardware as well. Supplier shall be responsible for the performance and capacity management of the In-Scope Applications, including the following:</a:t>
            </a:r>
            <a:endParaRPr sz="140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 Sizing, designing and configuring Verizon’s In-Scope Applications using standard Verizon or third party vendor sizing recommendations based on Verizon’s capacity needs;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(ii) Performing trend analysis to detect long term performance problems and to prevent performance degradation; using monitors and problem analyzers to identify the performance and capacity problems; determine the actions needed to be taken to resolve any performance or capacity problems (including by consolidating data, when necessary); creating and disseminating reports summarizing the performance and capacity utilization of the In-Scope Application systems;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(iii) Tuning the In-Scope Application for performance; configuring and implementing tunable parameters; monitoring performance adjustments for their effectiveness; performing profile modifications as required; adjusting memory management services as needed; managing workload balancing; controlling the work process environment; and making pro-active capacity recommendations (to prevent future bottlenecks); and</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(iv) Ensuring appropriate capacity to meet resource requirements the active capacity planning, including analyzing the workload (e.g., CPU usage, memory usage, disk usage, network, backup, facilities, reporting, throughput), estimating resource requirements (e.g., for memory, disk I/O, CPU, throughput), and defining future workload profile (e.g., for CPU, </a:t>
            </a:r>
            <a:r>
              <a:rPr lang="en-US" sz="1150" b="0">
                <a:highlight>
                  <a:srgbClr val="FFFFFF"/>
                </a:highlight>
                <a:latin typeface="Arial"/>
                <a:ea typeface="Arial"/>
                <a:cs typeface="Arial"/>
                <a:sym typeface="Arial"/>
              </a:rPr>
              <a:t>memory, storage)."</a:t>
            </a:r>
            <a:endParaRPr sz="1200" b="0">
              <a:highlight>
                <a:srgbClr val="FFFFFF"/>
              </a:highlight>
              <a:latin typeface="Arial"/>
              <a:ea typeface="Arial"/>
              <a:cs typeface="Arial"/>
              <a:sym typeface="Arial"/>
            </a:endParaRPr>
          </a:p>
        </p:txBody>
      </p:sp>
      <p:graphicFrame>
        <p:nvGraphicFramePr>
          <p:cNvPr id="597" name="Google Shape;597;p61"/>
          <p:cNvGraphicFramePr/>
          <p:nvPr/>
        </p:nvGraphicFramePr>
        <p:xfrm>
          <a:off x="6225600" y="64800"/>
          <a:ext cx="3000000" cy="3000000"/>
        </p:xfrm>
        <a:graphic>
          <a:graphicData uri="http://schemas.openxmlformats.org/drawingml/2006/table">
            <a:tbl>
              <a:tblPr>
                <a:noFill/>
                <a:tableStyleId>{B160F1D3-B883-4AC0-8E5A-4BE9966CEF15}</a:tableStyleId>
              </a:tblPr>
              <a:tblGrid>
                <a:gridCol w="2045050"/>
                <a:gridCol w="725075"/>
              </a:tblGrid>
              <a:tr h="30525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62"/>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Minor Enhancement Development </a:t>
            </a:r>
            <a:endParaRPr/>
          </a:p>
        </p:txBody>
      </p:sp>
      <p:sp>
        <p:nvSpPr>
          <p:cNvPr id="603" name="Google Shape;603;p62"/>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04" name="Google Shape;604;p6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30</a:t>
            </a:fld>
            <a:endParaRPr/>
          </a:p>
        </p:txBody>
      </p:sp>
      <p:sp>
        <p:nvSpPr>
          <p:cNvPr id="605" name="Google Shape;605;p62"/>
          <p:cNvSpPr txBox="1">
            <a:spLocks noGrp="1"/>
          </p:cNvSpPr>
          <p:nvPr>
            <p:ph type="body" idx="1"/>
          </p:nvPr>
        </p:nvSpPr>
        <p:spPr>
          <a:xfrm>
            <a:off x="457200" y="1053450"/>
            <a:ext cx="8121900" cy="29601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a:highlight>
                  <a:srgbClr val="FFFFFF"/>
                </a:highlight>
                <a:latin typeface="Arial"/>
                <a:ea typeface="Arial"/>
                <a:cs typeface="Arial"/>
                <a:sym typeface="Arial"/>
              </a:rPr>
              <a:t>A Minor Enhancement means a small, isolated or minor item of development work implemented in less than 120 Person Hours that is required to be performed as part of Application Maintenance as described in this AM SOW. Supplier shall perform Minor Enhancements, including:</a:t>
            </a: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 designing, developing and testing Minor Enhancements to In-Scope Applications, utilizing Software development processes and controls appropriate for such work; and</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 updating user, system, operations, and global service desk Documentation.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iii. In addition, Supplier shall provide warranty support for all Minor Enhancements in accordance with Section19.5 of the Master Agreement.</a:t>
            </a:r>
            <a:endParaRPr sz="1200" b="0">
              <a:highlight>
                <a:srgbClr val="FFFFFF"/>
              </a:highlight>
              <a:latin typeface="Arial"/>
              <a:ea typeface="Arial"/>
              <a:cs typeface="Arial"/>
              <a:sym typeface="Arial"/>
            </a:endParaRPr>
          </a:p>
        </p:txBody>
      </p:sp>
      <p:graphicFrame>
        <p:nvGraphicFramePr>
          <p:cNvPr id="606" name="Google Shape;606;p62"/>
          <p:cNvGraphicFramePr/>
          <p:nvPr/>
        </p:nvGraphicFramePr>
        <p:xfrm>
          <a:off x="6543400" y="-25425"/>
          <a:ext cx="3000000" cy="3000000"/>
        </p:xfrm>
        <a:graphic>
          <a:graphicData uri="http://schemas.openxmlformats.org/drawingml/2006/table">
            <a:tbl>
              <a:tblPr>
                <a:noFill/>
                <a:tableStyleId>{B160F1D3-B883-4AC0-8E5A-4BE9966CEF15}</a:tableStyleId>
              </a:tblPr>
              <a:tblGrid>
                <a:gridCol w="1457075"/>
                <a:gridCol w="1025925"/>
              </a:tblGrid>
              <a:tr h="3693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63"/>
          <p:cNvSpPr txBox="1">
            <a:spLocks noGrp="1"/>
          </p:cNvSpPr>
          <p:nvPr>
            <p:ph type="title"/>
          </p:nvPr>
        </p:nvSpPr>
        <p:spPr>
          <a:xfrm>
            <a:off x="457200" y="594350"/>
            <a:ext cx="5362500" cy="3693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Corrective &amp; Emergency Maintenance </a:t>
            </a:r>
            <a:endParaRPr/>
          </a:p>
        </p:txBody>
      </p:sp>
      <p:sp>
        <p:nvSpPr>
          <p:cNvPr id="612" name="Google Shape;612;p63"/>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13" name="Google Shape;613;p6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31</a:t>
            </a:fld>
            <a:endParaRPr/>
          </a:p>
        </p:txBody>
      </p:sp>
      <p:graphicFrame>
        <p:nvGraphicFramePr>
          <p:cNvPr id="614" name="Google Shape;614;p63"/>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
        <p:nvSpPr>
          <p:cNvPr id="615" name="Google Shape;615;p63"/>
          <p:cNvSpPr txBox="1">
            <a:spLocks noGrp="1"/>
          </p:cNvSpPr>
          <p:nvPr>
            <p:ph type="body" idx="1"/>
          </p:nvPr>
        </p:nvSpPr>
        <p:spPr>
          <a:xfrm>
            <a:off x="457200" y="1025675"/>
            <a:ext cx="8121900" cy="3138900"/>
          </a:xfrm>
          <a:prstGeom prst="rect">
            <a:avLst/>
          </a:prstGeom>
        </p:spPr>
        <p:txBody>
          <a:bodyPr spcFirstLastPara="1" wrap="square" lIns="0" tIns="0" rIns="0" bIns="0" anchor="t" anchorCtr="0">
            <a:noAutofit/>
          </a:bodyPr>
          <a:lstStyle/>
          <a:p>
            <a:pPr marL="457200" lvl="0" indent="0" algn="l" rtl="0">
              <a:spcBef>
                <a:spcPts val="900"/>
              </a:spcBef>
              <a:spcAft>
                <a:spcPts val="0"/>
              </a:spcAft>
              <a:buNone/>
            </a:pPr>
            <a:r>
              <a:rPr lang="en-US" b="0"/>
              <a:t>Corrective and emergency maintenance services are the Services associated with the repair of defects in in-scope Software. Corrective and emergency maintenance Services enable applications which are in production, to provide the required functionality. Full recovery of the application(s) is to be completed unless otherwise approved by Verizon</a:t>
            </a:r>
            <a:r>
              <a:rPr lang="en-US" sz="1150" b="0">
                <a:highlight>
                  <a:srgbClr val="FFFFFF"/>
                </a:highlight>
                <a:latin typeface="Arial"/>
                <a:ea typeface="Arial"/>
                <a:cs typeface="Arial"/>
                <a:sym typeface="Arial"/>
              </a:rPr>
              <a:t>.</a:t>
            </a:r>
            <a:endParaRPr sz="1150" b="0">
              <a:highlight>
                <a:srgbClr val="FFFFFF"/>
              </a:highlight>
              <a:latin typeface="Arial"/>
              <a:ea typeface="Arial"/>
              <a:cs typeface="Arial"/>
              <a:sym typeface="Arial"/>
            </a:endParaRPr>
          </a:p>
          <a:p>
            <a:pPr marL="457200" lvl="0" indent="-330200" algn="l" rtl="0">
              <a:spcBef>
                <a:spcPts val="900"/>
              </a:spcBef>
              <a:spcAft>
                <a:spcPts val="0"/>
              </a:spcAft>
              <a:buSzPts val="1600"/>
              <a:buChar char="-"/>
            </a:pPr>
            <a:r>
              <a:rPr lang="en-US" sz="1200" b="0"/>
              <a:t> (i) Resolving abnormal terminations and correcting errors or invalid data, including rescuing production systems and performing such Services as are necessary to resume functionality to clients (e.g., re-running jobs)</a:t>
            </a:r>
            <a:r>
              <a:rPr lang="en-US" sz="1150" b="0">
                <a:highlight>
                  <a:srgbClr val="FFFFFF"/>
                </a:highlight>
                <a:latin typeface="Arial"/>
                <a:ea typeface="Arial"/>
                <a:cs typeface="Arial"/>
                <a:sym typeface="Arial"/>
              </a:rPr>
              <a:t>;</a:t>
            </a:r>
            <a:endParaRPr sz="1150" b="0">
              <a:highlight>
                <a:srgbClr val="FFFFFF"/>
              </a:highlight>
              <a:latin typeface="Arial"/>
              <a:ea typeface="Arial"/>
              <a:cs typeface="Arial"/>
              <a:sym typeface="Arial"/>
            </a:endParaRPr>
          </a:p>
          <a:p>
            <a:pPr marL="457200" lvl="0" indent="-330200" algn="l" rtl="0">
              <a:spcBef>
                <a:spcPts val="0"/>
              </a:spcBef>
              <a:spcAft>
                <a:spcPts val="0"/>
              </a:spcAft>
              <a:buSzPts val="1600"/>
              <a:buChar char="-"/>
            </a:pPr>
            <a:r>
              <a:rPr lang="en-US" sz="1200" b="0"/>
              <a:t> (ii) Performing permanent fixes so that Incidents and/or Problems do not recur;</a:t>
            </a:r>
            <a:endParaRPr sz="1200" b="0"/>
          </a:p>
          <a:p>
            <a:pPr marL="457200" lvl="0" indent="-330200" algn="l" rtl="0">
              <a:spcBef>
                <a:spcPts val="0"/>
              </a:spcBef>
              <a:spcAft>
                <a:spcPts val="0"/>
              </a:spcAft>
              <a:buSzPts val="1600"/>
              <a:buChar char="-"/>
            </a:pPr>
            <a:r>
              <a:rPr lang="en-US" sz="1200" b="0"/>
              <a:t> (iii) Correcting Software defects or Problems that require Software or operational modific</a:t>
            </a:r>
            <a:endParaRPr sz="1200" b="0"/>
          </a:p>
          <a:p>
            <a:pPr marL="457200" lvl="0" indent="-330200" algn="l" rtl="0">
              <a:spcBef>
                <a:spcPts val="0"/>
              </a:spcBef>
              <a:spcAft>
                <a:spcPts val="0"/>
              </a:spcAft>
              <a:buSzPts val="1600"/>
              <a:buChar char="-"/>
            </a:pPr>
            <a:r>
              <a:rPr lang="en-US" sz="1200" b="0"/>
              <a:t>ation and tracking and retaining responsibility for such issues until they are resolved;</a:t>
            </a:r>
            <a:endParaRPr sz="1200" b="0"/>
          </a:p>
          <a:p>
            <a:pPr marL="457200" lvl="0" indent="0" algn="l" rtl="0">
              <a:spcBef>
                <a:spcPts val="900"/>
              </a:spcBef>
              <a:spcAft>
                <a:spcPts val="0"/>
              </a:spcAft>
              <a:buNone/>
            </a:pPr>
            <a:r>
              <a:rPr lang="en-US" sz="1200" b="0"/>
              <a:t> More Info - APPLICATION MANAGEMENT SERVICES 1.1 a) Corrective and Emergency Maintenance</a:t>
            </a:r>
            <a:endParaRPr/>
          </a:p>
          <a:p>
            <a:pPr marL="0" lvl="0" indent="0" algn="l" rtl="0">
              <a:spcBef>
                <a:spcPts val="900"/>
              </a:spcBef>
              <a:spcAft>
                <a:spcPts val="0"/>
              </a:spcAft>
              <a:buNone/>
            </a:pPr>
            <a:endParaRPr/>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64"/>
          <p:cNvSpPr txBox="1">
            <a:spLocks noGrp="1"/>
          </p:cNvSpPr>
          <p:nvPr>
            <p:ph type="title"/>
          </p:nvPr>
        </p:nvSpPr>
        <p:spPr>
          <a:xfrm>
            <a:off x="457200" y="594350"/>
            <a:ext cx="8229600" cy="3693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Preventive Maintenance</a:t>
            </a:r>
            <a:endParaRPr/>
          </a:p>
        </p:txBody>
      </p:sp>
      <p:sp>
        <p:nvSpPr>
          <p:cNvPr id="621" name="Google Shape;621;p64"/>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22" name="Google Shape;622;p6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32</a:t>
            </a:fld>
            <a:endParaRPr/>
          </a:p>
        </p:txBody>
      </p:sp>
      <p:sp>
        <p:nvSpPr>
          <p:cNvPr id="623" name="Google Shape;623;p64"/>
          <p:cNvSpPr txBox="1">
            <a:spLocks noGrp="1"/>
          </p:cNvSpPr>
          <p:nvPr>
            <p:ph type="body" idx="1"/>
          </p:nvPr>
        </p:nvSpPr>
        <p:spPr>
          <a:xfrm>
            <a:off x="457200" y="916463"/>
            <a:ext cx="8121900" cy="3248100"/>
          </a:xfrm>
          <a:prstGeom prst="rect">
            <a:avLst/>
          </a:prstGeom>
        </p:spPr>
        <p:txBody>
          <a:bodyPr spcFirstLastPara="1" wrap="square" lIns="0" tIns="0" rIns="0" bIns="0" anchor="t" anchorCtr="0">
            <a:noAutofit/>
          </a:bodyPr>
          <a:lstStyle/>
          <a:p>
            <a:pPr marL="457200" lvl="0" indent="0" algn="l" rtl="0">
              <a:spcBef>
                <a:spcPts val="900"/>
              </a:spcBef>
              <a:spcAft>
                <a:spcPts val="0"/>
              </a:spcAft>
              <a:buNone/>
            </a:pPr>
            <a:r>
              <a:rPr lang="en-US" sz="1200" b="0"/>
              <a:t> </a:t>
            </a:r>
            <a:r>
              <a:rPr lang="en-US" b="0"/>
              <a:t>"Preventive Maintenance. Supplier shall perform preventive maintenance, which includes resolution of issues which, if not addressed proactively, could impact applications in production, including:</a:t>
            </a:r>
            <a:endParaRPr sz="1150" b="0">
              <a:highlight>
                <a:srgbClr val="FFFFFF"/>
              </a:highlight>
              <a:latin typeface="Arial"/>
              <a:ea typeface="Arial"/>
              <a:cs typeface="Arial"/>
              <a:sym typeface="Arial"/>
            </a:endParaRPr>
          </a:p>
          <a:p>
            <a:pPr marL="457200" lvl="0" indent="0" algn="l" rtl="0">
              <a:spcBef>
                <a:spcPts val="900"/>
              </a:spcBef>
              <a:spcAft>
                <a:spcPts val="0"/>
              </a:spcAft>
              <a:buNone/>
            </a:pPr>
            <a:r>
              <a:rPr lang="en-US" sz="1000" b="0"/>
              <a:t> (i) Changing business volumes;</a:t>
            </a:r>
            <a:endParaRPr sz="1000" b="0"/>
          </a:p>
          <a:p>
            <a:pPr marL="457200" lvl="0" indent="0" algn="l" rtl="0">
              <a:spcBef>
                <a:spcPts val="900"/>
              </a:spcBef>
              <a:spcAft>
                <a:spcPts val="0"/>
              </a:spcAft>
              <a:buNone/>
            </a:pPr>
            <a:r>
              <a:rPr lang="en-US" sz="1000" b="0"/>
              <a:t> (ii) Staying on the most current release or as directed by Verizon;</a:t>
            </a:r>
            <a:endParaRPr sz="1000" b="0">
              <a:highlight>
                <a:srgbClr val="FFFFFF"/>
              </a:highlight>
              <a:latin typeface="Arial"/>
              <a:ea typeface="Arial"/>
              <a:cs typeface="Arial"/>
              <a:sym typeface="Arial"/>
            </a:endParaRPr>
          </a:p>
          <a:p>
            <a:pPr marL="457200" lvl="0" indent="0" algn="l" rtl="0">
              <a:spcBef>
                <a:spcPts val="900"/>
              </a:spcBef>
              <a:spcAft>
                <a:spcPts val="0"/>
              </a:spcAft>
              <a:buNone/>
            </a:pPr>
            <a:r>
              <a:rPr lang="en-US" sz="1000" b="0"/>
              <a:t> (iii) Proactive performance tuning;</a:t>
            </a:r>
            <a:endParaRPr sz="1000" b="0">
              <a:highlight>
                <a:srgbClr val="FFFFFF"/>
              </a:highlight>
              <a:latin typeface="Arial"/>
              <a:ea typeface="Arial"/>
              <a:cs typeface="Arial"/>
              <a:sym typeface="Arial"/>
            </a:endParaRPr>
          </a:p>
          <a:p>
            <a:pPr marL="457200" lvl="0" indent="0" algn="l" rtl="0">
              <a:spcBef>
                <a:spcPts val="900"/>
              </a:spcBef>
              <a:spcAft>
                <a:spcPts val="0"/>
              </a:spcAft>
              <a:buNone/>
            </a:pPr>
            <a:r>
              <a:rPr lang="en-US" sz="1000" b="0"/>
              <a:t> (iv) Proactive archiving</a:t>
            </a:r>
            <a:endParaRPr sz="1000" b="0"/>
          </a:p>
          <a:p>
            <a:pPr marL="457200" lvl="0" indent="0" algn="l" rtl="0">
              <a:spcBef>
                <a:spcPts val="900"/>
              </a:spcBef>
              <a:spcAft>
                <a:spcPts val="0"/>
              </a:spcAft>
              <a:buNone/>
            </a:pPr>
            <a:r>
              <a:rPr lang="en-US" sz="1000" b="0"/>
              <a:t> (v) Pre-production execution simulation</a:t>
            </a:r>
            <a:endParaRPr sz="1000" b="0"/>
          </a:p>
          <a:p>
            <a:pPr marL="457200" lvl="0" indent="0" algn="l" rtl="0">
              <a:spcBef>
                <a:spcPts val="900"/>
              </a:spcBef>
              <a:spcAft>
                <a:spcPts val="0"/>
              </a:spcAft>
              <a:buNone/>
            </a:pPr>
            <a:r>
              <a:rPr lang="en-US" sz="1000" b="0"/>
              <a:t> (vi) Manual production checklist for critical weekend, month-end and year-end production, including resetting counters or accumulators;</a:t>
            </a:r>
            <a:endParaRPr sz="1000" b="0"/>
          </a:p>
          <a:p>
            <a:pPr marL="457200" lvl="0" indent="0" algn="l" rtl="0">
              <a:spcBef>
                <a:spcPts val="900"/>
              </a:spcBef>
              <a:spcAft>
                <a:spcPts val="0"/>
              </a:spcAft>
              <a:buNone/>
            </a:pPr>
            <a:r>
              <a:rPr lang="en-US" sz="1000" b="0"/>
              <a:t> (vii) Heightened awareness scenario unique testing shall be carried out for events to include: </a:t>
            </a:r>
            <a:endParaRPr sz="1000" b="0"/>
          </a:p>
          <a:p>
            <a:pPr marL="457200" lvl="0" indent="0" algn="l" rtl="0">
              <a:spcBef>
                <a:spcPts val="900"/>
              </a:spcBef>
              <a:spcAft>
                <a:spcPts val="0"/>
              </a:spcAft>
              <a:buNone/>
            </a:pPr>
            <a:r>
              <a:rPr lang="en-US" sz="1000" b="0"/>
              <a:t> • End of financial year; • End of calendar year;  • Daylight savings time;  • Leap Year; </a:t>
            </a:r>
            <a:r>
              <a:rPr lang="en-US" sz="1000" b="0">
                <a:highlight>
                  <a:srgbClr val="FFFFFF"/>
                </a:highlight>
                <a:latin typeface="Arial"/>
                <a:ea typeface="Arial"/>
                <a:cs typeface="Arial"/>
                <a:sym typeface="Arial"/>
              </a:rPr>
              <a:t> • Iconic Launches • “System Freeze” periods."</a:t>
            </a:r>
            <a:endParaRPr sz="1000" b="0"/>
          </a:p>
          <a:p>
            <a:pPr marL="0" lvl="0" indent="0" algn="l" rtl="0">
              <a:spcBef>
                <a:spcPts val="900"/>
              </a:spcBef>
              <a:spcAft>
                <a:spcPts val="0"/>
              </a:spcAft>
              <a:buNone/>
            </a:pPr>
            <a:endParaRPr/>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graphicFrame>
        <p:nvGraphicFramePr>
          <p:cNvPr id="624" name="Google Shape;624;p64"/>
          <p:cNvGraphicFramePr/>
          <p:nvPr/>
        </p:nvGraphicFramePr>
        <p:xfrm>
          <a:off x="6685175" y="-11400"/>
          <a:ext cx="3000000" cy="3000000"/>
        </p:xfrm>
        <a:graphic>
          <a:graphicData uri="http://schemas.openxmlformats.org/drawingml/2006/table">
            <a:tbl>
              <a:tblPr>
                <a:noFill/>
                <a:tableStyleId>{B160F1D3-B883-4AC0-8E5A-4BE9966CEF15}</a:tableStyleId>
              </a:tblPr>
              <a:tblGrid>
                <a:gridCol w="1153725"/>
                <a:gridCol w="9394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28"/>
        <p:cNvGrpSpPr/>
        <p:nvPr/>
      </p:nvGrpSpPr>
      <p:grpSpPr>
        <a:xfrm>
          <a:off x="0" y="0"/>
          <a:ext cx="0" cy="0"/>
          <a:chOff x="0" y="0"/>
          <a:chExt cx="0" cy="0"/>
        </a:xfrm>
      </p:grpSpPr>
      <p:sp>
        <p:nvSpPr>
          <p:cNvPr id="629" name="Google Shape;629;p65"/>
          <p:cNvSpPr txBox="1">
            <a:spLocks noGrp="1"/>
          </p:cNvSpPr>
          <p:nvPr>
            <p:ph type="title"/>
          </p:nvPr>
        </p:nvSpPr>
        <p:spPr>
          <a:xfrm>
            <a:off x="457200" y="5943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Adaptive Maintenance</a:t>
            </a:r>
            <a:endParaRPr/>
          </a:p>
        </p:txBody>
      </p:sp>
      <p:sp>
        <p:nvSpPr>
          <p:cNvPr id="630" name="Google Shape;630;p65"/>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31" name="Google Shape;631;p6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33</a:t>
            </a:fld>
            <a:endParaRPr/>
          </a:p>
        </p:txBody>
      </p:sp>
      <p:sp>
        <p:nvSpPr>
          <p:cNvPr id="632" name="Google Shape;632;p65"/>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457200" lvl="0" indent="0" algn="l" rtl="0">
              <a:spcBef>
                <a:spcPts val="900"/>
              </a:spcBef>
              <a:spcAft>
                <a:spcPts val="0"/>
              </a:spcAft>
              <a:buNone/>
            </a:pPr>
            <a:r>
              <a:rPr lang="en-US" sz="1400" b="0"/>
              <a:t>"Adaptive Maintenance. As part of the KTLO Services for each cluster, Supplier shall perform adaptive maintenance, which includes ensuring that application performance is not affected by changes to interfacing applications, changes in the infrastructure that affect the In-Scope Applications, new applications or packages and technical environment changes, which, if not addressed proactively, could impact applications in production, including:</a:t>
            </a:r>
            <a:endParaRPr sz="1400" b="0">
              <a:highlight>
                <a:srgbClr val="FFFFFF"/>
              </a:highlight>
              <a:latin typeface="Arial"/>
              <a:ea typeface="Arial"/>
              <a:cs typeface="Arial"/>
              <a:sym typeface="Arial"/>
            </a:endParaRPr>
          </a:p>
          <a:p>
            <a:pPr marL="457200" lvl="0" indent="0" algn="l" rtl="0">
              <a:spcBef>
                <a:spcPts val="900"/>
              </a:spcBef>
              <a:spcAft>
                <a:spcPts val="0"/>
              </a:spcAft>
              <a:buNone/>
            </a:pPr>
            <a:r>
              <a:rPr lang="en-US" sz="1000" b="0"/>
              <a:t> (i) Upgrades of operating Software;</a:t>
            </a:r>
            <a:endParaRPr sz="1000" b="0"/>
          </a:p>
          <a:p>
            <a:pPr marL="457200" lvl="0" indent="0" algn="l" rtl="0">
              <a:spcBef>
                <a:spcPts val="900"/>
              </a:spcBef>
              <a:spcAft>
                <a:spcPts val="0"/>
              </a:spcAft>
              <a:buNone/>
            </a:pPr>
            <a:r>
              <a:rPr lang="en-US" sz="1000" b="0"/>
              <a:t> (ii) New/changed Equipment;</a:t>
            </a:r>
            <a:endParaRPr sz="1000" b="0"/>
          </a:p>
          <a:p>
            <a:pPr marL="457200" lvl="0" indent="0" algn="l" rtl="0">
              <a:spcBef>
                <a:spcPts val="900"/>
              </a:spcBef>
              <a:spcAft>
                <a:spcPts val="0"/>
              </a:spcAft>
              <a:buNone/>
            </a:pPr>
            <a:r>
              <a:rPr lang="en-US" sz="1000" b="0"/>
              <a:t> (iii) New/changed Software;</a:t>
            </a:r>
            <a:endParaRPr sz="1000" b="0"/>
          </a:p>
          <a:p>
            <a:pPr marL="457200" lvl="0" indent="0" algn="l" rtl="0">
              <a:spcBef>
                <a:spcPts val="900"/>
              </a:spcBef>
              <a:spcAft>
                <a:spcPts val="0"/>
              </a:spcAft>
              <a:buNone/>
            </a:pPr>
            <a:r>
              <a:rPr lang="en-US" sz="1000" b="0"/>
              <a:t> (iv) New/changed network Equipment (network and servers);</a:t>
            </a:r>
            <a:endParaRPr sz="1000" b="0"/>
          </a:p>
          <a:p>
            <a:pPr marL="457200" lvl="0" indent="0" algn="l" rtl="0">
              <a:spcBef>
                <a:spcPts val="900"/>
              </a:spcBef>
              <a:spcAft>
                <a:spcPts val="0"/>
              </a:spcAft>
              <a:buNone/>
            </a:pPr>
            <a:r>
              <a:rPr lang="en-US" sz="1000" b="0"/>
              <a:t> (v) New/changed policies;</a:t>
            </a:r>
            <a:endParaRPr sz="1000" b="0"/>
          </a:p>
          <a:p>
            <a:pPr marL="457200" lvl="0" indent="0" algn="l" rtl="0">
              <a:spcBef>
                <a:spcPts val="900"/>
              </a:spcBef>
              <a:spcAft>
                <a:spcPts val="0"/>
              </a:spcAft>
              <a:buNone/>
            </a:pPr>
            <a:r>
              <a:rPr lang="en-US" sz="1000" b="0"/>
              <a:t> (vi) Interface changes;</a:t>
            </a:r>
            <a:endParaRPr sz="1000" b="0"/>
          </a:p>
          <a:p>
            <a:pPr marL="457200" lvl="0" indent="0" algn="l" rtl="0">
              <a:spcBef>
                <a:spcPts val="900"/>
              </a:spcBef>
              <a:spcAft>
                <a:spcPts val="0"/>
              </a:spcAft>
              <a:buNone/>
            </a:pPr>
            <a:r>
              <a:rPr lang="en-US" sz="1000" b="0"/>
              <a:t> (vii) Infrastructure changes that affect In-Scope Applications, associated Tools and Software, or the Services generally;</a:t>
            </a:r>
            <a:endParaRPr sz="1000" b="0"/>
          </a:p>
          <a:p>
            <a:pPr marL="457200" lvl="0" indent="0" algn="l" rtl="0">
              <a:spcBef>
                <a:spcPts val="900"/>
              </a:spcBef>
              <a:spcAft>
                <a:spcPts val="0"/>
              </a:spcAft>
              <a:buNone/>
            </a:pPr>
            <a:r>
              <a:rPr lang="en-US" sz="1000" b="0"/>
              <a:t> (viii) Compliance to regulatory items; and exercises;</a:t>
            </a:r>
            <a:endParaRPr sz="1000" b="0"/>
          </a:p>
          <a:p>
            <a:pPr marL="457200" lvl="0" indent="0" algn="l" rtl="0">
              <a:spcBef>
                <a:spcPts val="900"/>
              </a:spcBef>
              <a:spcAft>
                <a:spcPts val="0"/>
              </a:spcAft>
              <a:buNone/>
            </a:pPr>
            <a:r>
              <a:rPr lang="en-US" sz="1000" b="0"/>
              <a:t> (ix) Inputs and assistance with any litigation based reviews, regulatory reviews, audits, compliance assessments and data gathering."</a:t>
            </a:r>
            <a:endParaRPr sz="1000" b="0"/>
          </a:p>
          <a:p>
            <a:pPr marL="0" lvl="0" indent="0" algn="l" rtl="0">
              <a:spcBef>
                <a:spcPts val="900"/>
              </a:spcBef>
              <a:spcAft>
                <a:spcPts val="0"/>
              </a:spcAft>
              <a:buNone/>
            </a:pPr>
            <a:endParaRPr/>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graphicFrame>
        <p:nvGraphicFramePr>
          <p:cNvPr id="633" name="Google Shape;633;p65"/>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66"/>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Perfective Maintenance </a:t>
            </a:r>
            <a:endParaRPr/>
          </a:p>
        </p:txBody>
      </p:sp>
      <p:sp>
        <p:nvSpPr>
          <p:cNvPr id="639" name="Google Shape;639;p66"/>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40" name="Google Shape;640;p6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34</a:t>
            </a:fld>
            <a:endParaRPr/>
          </a:p>
        </p:txBody>
      </p:sp>
      <p:sp>
        <p:nvSpPr>
          <p:cNvPr id="641" name="Google Shape;641;p66"/>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b="0"/>
              <a:t>"Perfective Maintenance. Supplier shall perform perfective maintenance, which includes performing Software tuning, code restructuring, and other efforts to improve the efficiency and reliability of Software thereby minimizing on-going maintenance and operational requirements. Perfective maintenance includes ensuring that applications operate at peak efficiency with particular focus on areas such as</a:t>
            </a:r>
            <a:r>
              <a:rPr lang="en-US" sz="1150" b="0">
                <a:highlight>
                  <a:srgbClr val="FFFFFF"/>
                </a:highlight>
                <a:latin typeface="Arial"/>
                <a:ea typeface="Arial"/>
                <a:cs typeface="Arial"/>
                <a:sym typeface="Arial"/>
              </a:rPr>
              <a:t>:</a:t>
            </a:r>
            <a:endParaRPr sz="1150" b="0">
              <a:highlight>
                <a:srgbClr val="FFFFFF"/>
              </a:highlight>
              <a:latin typeface="Arial"/>
              <a:ea typeface="Arial"/>
              <a:cs typeface="Arial"/>
              <a:sym typeface="Arial"/>
            </a:endParaRPr>
          </a:p>
          <a:p>
            <a:pPr marL="0" lvl="0" indent="0" algn="l" rtl="0">
              <a:spcBef>
                <a:spcPts val="900"/>
              </a:spcBef>
              <a:spcAft>
                <a:spcPts val="0"/>
              </a:spcAft>
              <a:buNone/>
            </a:pPr>
            <a:r>
              <a:rPr lang="en-US" sz="1000" b="0"/>
              <a:t> (i) System CPU hours; </a:t>
            </a:r>
            <a:endParaRPr sz="1000" b="0"/>
          </a:p>
          <a:p>
            <a:pPr marL="0" lvl="0" indent="0" algn="l" rtl="0">
              <a:spcBef>
                <a:spcPts val="900"/>
              </a:spcBef>
              <a:spcAft>
                <a:spcPts val="0"/>
              </a:spcAft>
              <a:buNone/>
            </a:pPr>
            <a:r>
              <a:rPr lang="en-US" sz="1000" b="0"/>
              <a:t> (ii) General performance tuning;</a:t>
            </a:r>
            <a:endParaRPr sz="1000" b="0"/>
          </a:p>
          <a:p>
            <a:pPr marL="0" lvl="0" indent="0" algn="l" rtl="0">
              <a:spcBef>
                <a:spcPts val="900"/>
              </a:spcBef>
              <a:spcAft>
                <a:spcPts val="0"/>
              </a:spcAft>
              <a:buNone/>
            </a:pPr>
            <a:r>
              <a:rPr lang="en-US" sz="1000" b="0"/>
              <a:t> (iii) Storage space;</a:t>
            </a:r>
            <a:endParaRPr sz="1000" b="0"/>
          </a:p>
          <a:p>
            <a:pPr marL="0" lvl="0" indent="0" algn="l" rtl="0">
              <a:spcBef>
                <a:spcPts val="900"/>
              </a:spcBef>
              <a:spcAft>
                <a:spcPts val="0"/>
              </a:spcAft>
              <a:buNone/>
            </a:pPr>
            <a:r>
              <a:rPr lang="en-US" sz="1000" b="0"/>
              <a:t> (iv) Response time;</a:t>
            </a:r>
            <a:endParaRPr sz="1000" b="0"/>
          </a:p>
          <a:p>
            <a:pPr marL="0" lvl="0" indent="0" algn="l" rtl="0">
              <a:spcBef>
                <a:spcPts val="900"/>
              </a:spcBef>
              <a:spcAft>
                <a:spcPts val="0"/>
              </a:spcAft>
              <a:buNone/>
            </a:pPr>
            <a:r>
              <a:rPr lang="en-US" sz="1000" b="0"/>
              <a:t> (v) Archiving;</a:t>
            </a:r>
            <a:endParaRPr sz="1000" b="0"/>
          </a:p>
          <a:p>
            <a:pPr marL="0" lvl="0" indent="0" algn="l" rtl="0">
              <a:spcBef>
                <a:spcPts val="900"/>
              </a:spcBef>
              <a:spcAft>
                <a:spcPts val="0"/>
              </a:spcAft>
              <a:buNone/>
            </a:pPr>
            <a:r>
              <a:rPr lang="en-US" sz="1000" b="0"/>
              <a:t> (vi) Maintainability;</a:t>
            </a:r>
            <a:endParaRPr sz="1000" b="0"/>
          </a:p>
          <a:p>
            <a:pPr marL="0" lvl="0" indent="0" algn="l" rtl="0">
              <a:spcBef>
                <a:spcPts val="900"/>
              </a:spcBef>
              <a:spcAft>
                <a:spcPts val="0"/>
              </a:spcAft>
              <a:buNone/>
            </a:pPr>
            <a:r>
              <a:rPr lang="en-US" sz="1000" b="0"/>
              <a:t> (vii) Availability;</a:t>
            </a:r>
            <a:endParaRPr sz="1000" b="0"/>
          </a:p>
          <a:p>
            <a:pPr marL="0" lvl="0" indent="0" algn="l" rtl="0">
              <a:spcBef>
                <a:spcPts val="900"/>
              </a:spcBef>
              <a:spcAft>
                <a:spcPts val="0"/>
              </a:spcAft>
              <a:buNone/>
            </a:pPr>
            <a:r>
              <a:rPr lang="en-US" sz="1000" b="0"/>
              <a:t> (viii) Program performance tuning; and</a:t>
            </a:r>
            <a:endParaRPr sz="1000" b="0"/>
          </a:p>
          <a:p>
            <a:pPr marL="0" lvl="0" indent="0" algn="l" rtl="0">
              <a:spcBef>
                <a:spcPts val="900"/>
              </a:spcBef>
              <a:spcAft>
                <a:spcPts val="0"/>
              </a:spcAft>
              <a:buNone/>
            </a:pPr>
            <a:r>
              <a:rPr lang="en-US" sz="1000" b="0"/>
              <a:t> (ix) Code complexity.</a:t>
            </a:r>
            <a:r>
              <a:rPr lang="en-US" sz="1150" b="0">
                <a:highlight>
                  <a:srgbClr val="FFFFFF"/>
                </a:highlight>
                <a:latin typeface="Arial"/>
                <a:ea typeface="Arial"/>
                <a:cs typeface="Arial"/>
                <a:sym typeface="Arial"/>
              </a:rPr>
              <a:t>"</a:t>
            </a:r>
            <a:endParaRPr sz="1000" b="0"/>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graphicFrame>
        <p:nvGraphicFramePr>
          <p:cNvPr id="642" name="Google Shape;642;p66"/>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67"/>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Application Optimization</a:t>
            </a:r>
            <a:endParaRPr/>
          </a:p>
        </p:txBody>
      </p:sp>
      <p:sp>
        <p:nvSpPr>
          <p:cNvPr id="648" name="Google Shape;648;p67"/>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49" name="Google Shape;649;p6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35</a:t>
            </a:fld>
            <a:endParaRPr/>
          </a:p>
        </p:txBody>
      </p:sp>
      <p:sp>
        <p:nvSpPr>
          <p:cNvPr id="650" name="Google Shape;650;p67"/>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b="0"/>
              <a:t>"Supplier shall perform activities to optimize the operational aspects of the In-Scope Applications (“Application Optimization”). At all times, Supplier will seek and implement actions to improve Application availability, performance and response times. Supplier’s responsibilities for Application Optimization include the following activities</a:t>
            </a:r>
            <a:r>
              <a:rPr lang="en-US" sz="1150" b="0">
                <a:highlight>
                  <a:srgbClr val="FFFFFF"/>
                </a:highlight>
                <a:latin typeface="Arial"/>
                <a:ea typeface="Arial"/>
                <a:cs typeface="Arial"/>
                <a:sym typeface="Arial"/>
              </a:rPr>
              <a:t>:</a:t>
            </a:r>
            <a:endParaRPr sz="1150" b="0">
              <a:highlight>
                <a:srgbClr val="FFFFFF"/>
              </a:highlight>
              <a:latin typeface="Arial"/>
              <a:ea typeface="Arial"/>
              <a:cs typeface="Arial"/>
              <a:sym typeface="Arial"/>
            </a:endParaRPr>
          </a:p>
          <a:p>
            <a:pPr marL="0" lvl="0" indent="0" algn="l" rtl="0">
              <a:spcBef>
                <a:spcPts val="900"/>
              </a:spcBef>
              <a:spcAft>
                <a:spcPts val="0"/>
              </a:spcAft>
              <a:buNone/>
            </a:pPr>
            <a:r>
              <a:rPr lang="en-US" sz="1150" b="0">
                <a:highlight>
                  <a:srgbClr val="FFFFFF"/>
                </a:highlight>
                <a:latin typeface="Arial"/>
                <a:ea typeface="Arial"/>
                <a:cs typeface="Arial"/>
                <a:sym typeface="Arial"/>
              </a:rPr>
              <a:t> </a:t>
            </a:r>
            <a:r>
              <a:rPr lang="en-US" sz="1000" b="0"/>
              <a:t>(i) continuous reviews of available and emerging technologies for potential usage in respect of the In-Scope Applications;</a:t>
            </a:r>
            <a:endParaRPr sz="1000" b="0"/>
          </a:p>
          <a:p>
            <a:pPr marL="0" lvl="0" indent="0" algn="l" rtl="0">
              <a:spcBef>
                <a:spcPts val="900"/>
              </a:spcBef>
              <a:spcAft>
                <a:spcPts val="0"/>
              </a:spcAft>
              <a:buNone/>
            </a:pPr>
            <a:r>
              <a:rPr lang="en-US" sz="1000" b="0"/>
              <a:t> (ii) gathering and analyzing availability and other performance data;</a:t>
            </a:r>
            <a:endParaRPr sz="1000" b="0"/>
          </a:p>
          <a:p>
            <a:pPr marL="0" lvl="0" indent="0" algn="l" rtl="0">
              <a:spcBef>
                <a:spcPts val="900"/>
              </a:spcBef>
              <a:spcAft>
                <a:spcPts val="0"/>
              </a:spcAft>
              <a:buNone/>
            </a:pPr>
            <a:r>
              <a:rPr lang="en-US" sz="1000" b="0"/>
              <a:t> (iii) conducting regular reviews of the In-Scope Applications and the In-Scope Application architecture seeking opportunities to consolidate systems and infrastructure; </a:t>
            </a:r>
            <a:endParaRPr sz="1000" b="0"/>
          </a:p>
          <a:p>
            <a:pPr marL="0" lvl="0" indent="0" algn="l" rtl="0">
              <a:spcBef>
                <a:spcPts val="900"/>
              </a:spcBef>
              <a:spcAft>
                <a:spcPts val="0"/>
              </a:spcAft>
              <a:buNone/>
            </a:pPr>
            <a:r>
              <a:rPr lang="en-US" sz="1000" b="0"/>
              <a:t> (iv) evaluating and recommending opportunities for software substitution where such substitutions may be better suited for Verizon’s requirements.</a:t>
            </a:r>
            <a:endParaRPr sz="1000" b="0"/>
          </a:p>
          <a:p>
            <a:pPr marL="0" lvl="0" indent="0" algn="l" rtl="0">
              <a:spcBef>
                <a:spcPts val="900"/>
              </a:spcBef>
              <a:spcAft>
                <a:spcPts val="0"/>
              </a:spcAft>
              <a:buNone/>
            </a:pPr>
            <a:r>
              <a:rPr lang="en-US" sz="1000" b="0"/>
              <a:t> (v) evaluating and recommending opportunities for software substitution where such substitutions may reduce Verizon’s spend on ISV or COTS software."</a:t>
            </a:r>
            <a:endParaRPr sz="1000" b="0"/>
          </a:p>
          <a:p>
            <a:pPr marL="0" lvl="0" indent="0" algn="l" rtl="0">
              <a:spcBef>
                <a:spcPts val="900"/>
              </a:spcBef>
              <a:spcAft>
                <a:spcPts val="0"/>
              </a:spcAft>
              <a:buClr>
                <a:schemeClr val="dk1"/>
              </a:buClr>
              <a:buSzPts val="1100"/>
              <a:buFont typeface="Arial"/>
              <a:buNone/>
            </a:pPr>
            <a:endParaRPr/>
          </a:p>
          <a:p>
            <a:pPr marL="0" lvl="0" indent="0" algn="l" rtl="0">
              <a:spcBef>
                <a:spcPts val="900"/>
              </a:spcBef>
              <a:spcAft>
                <a:spcPts val="0"/>
              </a:spcAft>
              <a:buNone/>
            </a:pPr>
            <a:endParaRPr/>
          </a:p>
        </p:txBody>
      </p:sp>
      <p:graphicFrame>
        <p:nvGraphicFramePr>
          <p:cNvPr id="651" name="Google Shape;651;p67"/>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68"/>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Security Management </a:t>
            </a:r>
            <a:endParaRPr/>
          </a:p>
        </p:txBody>
      </p:sp>
      <p:sp>
        <p:nvSpPr>
          <p:cNvPr id="657" name="Google Shape;657;p68"/>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58" name="Google Shape;658;p6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36</a:t>
            </a:fld>
            <a:endParaRPr/>
          </a:p>
        </p:txBody>
      </p:sp>
      <p:sp>
        <p:nvSpPr>
          <p:cNvPr id="659" name="Google Shape;659;p68"/>
          <p:cNvSpPr txBox="1">
            <a:spLocks noGrp="1"/>
          </p:cNvSpPr>
          <p:nvPr>
            <p:ph type="body" idx="1"/>
          </p:nvPr>
        </p:nvSpPr>
        <p:spPr>
          <a:xfrm>
            <a:off x="414025" y="1019975"/>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a:highlight>
                  <a:srgbClr val="FFFFFF"/>
                </a:highlight>
                <a:latin typeface="Arial"/>
                <a:ea typeface="Arial"/>
                <a:cs typeface="Arial"/>
                <a:sym typeface="Arial"/>
              </a:rPr>
              <a:t>Security management support Services mean the Services necessary to implement overall security plans and roles to manage the integrity of the In-Scope Applications. Security management support Services will be done in accordance with the Verizon policies and procedures. Security management support Services will include assistance with Verizon internal, external and Sarbannes-Oxley (SOX) audits.</a:t>
            </a:r>
            <a:endParaRPr sz="85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 Developing and maintaining the code to support In-Scope Application security roles;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 Support Verizon in the to testing the security of In-Scope Applications;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(iii) Support Verizon to verify compliance with Verizon security standards.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Including but not limited to:</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p:txBody>
      </p:sp>
      <p:graphicFrame>
        <p:nvGraphicFramePr>
          <p:cNvPr id="660" name="Google Shape;660;p68"/>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 Eligible</a:t>
                      </a:r>
                      <a:endParaRPr b="1"/>
                    </a:p>
                  </a:txBody>
                  <a:tcPr marL="91425" marR="91425" marT="91425" marB="91425"/>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69"/>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Security Management </a:t>
            </a:r>
            <a:endParaRPr/>
          </a:p>
        </p:txBody>
      </p:sp>
      <p:sp>
        <p:nvSpPr>
          <p:cNvPr id="666" name="Google Shape;666;p69"/>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67" name="Google Shape;667;p6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37</a:t>
            </a:fld>
            <a:endParaRPr/>
          </a:p>
        </p:txBody>
      </p:sp>
      <p:sp>
        <p:nvSpPr>
          <p:cNvPr id="668" name="Google Shape;668;p69"/>
          <p:cNvSpPr txBox="1">
            <a:spLocks noGrp="1"/>
          </p:cNvSpPr>
          <p:nvPr>
            <p:ph type="body" idx="1"/>
          </p:nvPr>
        </p:nvSpPr>
        <p:spPr>
          <a:xfrm>
            <a:off x="457200" y="1156650"/>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(iii) Support Verizon to verify compliance with Verizon security standards.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Including but not limited to:</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 Enforcing input and parameter validation and restriction where possible;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 Utilizing Verizon’s single sign-on authentication mechanism unless otherwise authorized by Verizon in writing;</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iii. Applying individual and least privileged role based access;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endParaRPr sz="1200" b="0">
              <a:highlight>
                <a:srgbClr val="FFFFFF"/>
              </a:highlight>
              <a:latin typeface="Arial"/>
              <a:ea typeface="Arial"/>
              <a:cs typeface="Arial"/>
              <a:sym typeface="Arial"/>
            </a:endParaRPr>
          </a:p>
        </p:txBody>
      </p:sp>
      <p:graphicFrame>
        <p:nvGraphicFramePr>
          <p:cNvPr id="669" name="Google Shape;669;p69"/>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 Eligible</a:t>
                      </a:r>
                      <a:endParaRPr b="1"/>
                    </a:p>
                  </a:txBody>
                  <a:tcPr marL="91425" marR="91425" marT="91425" marB="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70"/>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Security Management </a:t>
            </a:r>
            <a:endParaRPr/>
          </a:p>
        </p:txBody>
      </p:sp>
      <p:sp>
        <p:nvSpPr>
          <p:cNvPr id="675" name="Google Shape;675;p70"/>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76" name="Google Shape;676;p7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38</a:t>
            </a:fld>
            <a:endParaRPr/>
          </a:p>
        </p:txBody>
      </p:sp>
      <p:sp>
        <p:nvSpPr>
          <p:cNvPr id="677" name="Google Shape;677;p70"/>
          <p:cNvSpPr txBox="1">
            <a:spLocks noGrp="1"/>
          </p:cNvSpPr>
          <p:nvPr>
            <p:ph type="body" idx="1"/>
          </p:nvPr>
        </p:nvSpPr>
        <p:spPr>
          <a:xfrm>
            <a:off x="457200" y="1142250"/>
            <a:ext cx="8121900" cy="13323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 v. Facilitating individual user logging of transactions; and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vi. Implementing encrypted communication over open networks.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More Info - APPLICATION MANAGEMENT SERVICES 1.3 g. Security Management</a:t>
            </a:r>
            <a:endParaRPr sz="1200" b="0">
              <a:highlight>
                <a:srgbClr val="FFFFFF"/>
              </a:highlight>
              <a:latin typeface="Arial"/>
              <a:ea typeface="Arial"/>
              <a:cs typeface="Arial"/>
              <a:sym typeface="Arial"/>
            </a:endParaRPr>
          </a:p>
        </p:txBody>
      </p:sp>
      <p:graphicFrame>
        <p:nvGraphicFramePr>
          <p:cNvPr id="678" name="Google Shape;678;p70"/>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 Eligible</a:t>
                      </a:r>
                      <a:endParaRPr b="1"/>
                    </a:p>
                  </a:txBody>
                  <a:tcPr marL="91425" marR="91425" marT="91425" marB="91425"/>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71"/>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Availability Management </a:t>
            </a:r>
            <a:endParaRPr/>
          </a:p>
        </p:txBody>
      </p:sp>
      <p:sp>
        <p:nvSpPr>
          <p:cNvPr id="684" name="Google Shape;684;p71"/>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85" name="Google Shape;685;p7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39</a:t>
            </a:fld>
            <a:endParaRPr/>
          </a:p>
        </p:txBody>
      </p:sp>
      <p:sp>
        <p:nvSpPr>
          <p:cNvPr id="686" name="Google Shape;686;p71"/>
          <p:cNvSpPr txBox="1">
            <a:spLocks noGrp="1"/>
          </p:cNvSpPr>
          <p:nvPr>
            <p:ph type="body" idx="1"/>
          </p:nvPr>
        </p:nvSpPr>
        <p:spPr>
          <a:xfrm>
            <a:off x="457200" y="1113475"/>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i. determining availability requirements by collecting input from the Service Level management organization;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 determining vital business Services by collecting input from the business continuity management organization;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iii. analyzing the impact on the business (where the relevant business information is available) of potential increases and decreases in availability of the business process;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iv. defining availability objectives (other than Service Levels);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v. monitoring availability (where permitted and technically feasible) and conducting trend analysis;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p:txBody>
      </p:sp>
      <p:graphicFrame>
        <p:nvGraphicFramePr>
          <p:cNvPr id="687" name="Google Shape;687;p71"/>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 Eligible</a:t>
                      </a:r>
                      <a:endParaRPr b="1"/>
                    </a:p>
                  </a:txBody>
                  <a:tcPr marL="91425" marR="91425" marT="91425" marB="91425"/>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692" name="Google Shape;692;p72"/>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Availability Management </a:t>
            </a:r>
            <a:endParaRPr/>
          </a:p>
        </p:txBody>
      </p:sp>
      <p:sp>
        <p:nvSpPr>
          <p:cNvPr id="693" name="Google Shape;693;p72"/>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694" name="Google Shape;694;p7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40</a:t>
            </a:fld>
            <a:endParaRPr/>
          </a:p>
        </p:txBody>
      </p:sp>
      <p:sp>
        <p:nvSpPr>
          <p:cNvPr id="695" name="Google Shape;695;p72"/>
          <p:cNvSpPr txBox="1">
            <a:spLocks noGrp="1"/>
          </p:cNvSpPr>
          <p:nvPr>
            <p:ph type="body" idx="1"/>
          </p:nvPr>
        </p:nvSpPr>
        <p:spPr>
          <a:xfrm>
            <a:off x="457200" y="1171025"/>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 vi. reviewing and auditing scheduled downtime and unscheduled downtime;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vii. conducting root cause analysis of low availability in conjunction with the Problem management organization;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viii. Adopt and comply with an availability plan provided by Verizon;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ix. supporting planning and implementation of the applicable IT-BCP; and</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x. working closely with Verizon’s processing platforms partner(s) to ensure the on-going availability of the In-Scope Applications and suitability of all the environments.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More Info - APPLICATION MANAGEMENT SERVICES 1.3 h) Availability Management</a:t>
            </a:r>
            <a:endParaRPr sz="120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p:txBody>
      </p:sp>
      <p:graphicFrame>
        <p:nvGraphicFramePr>
          <p:cNvPr id="696" name="Google Shape;696;p72"/>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 Eligible</a:t>
                      </a:r>
                      <a:endParaRPr b="1"/>
                    </a:p>
                  </a:txBody>
                  <a:tcPr marL="91425" marR="91425" marT="91425" marB="91425"/>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00"/>
        <p:cNvGrpSpPr/>
        <p:nvPr/>
      </p:nvGrpSpPr>
      <p:grpSpPr>
        <a:xfrm>
          <a:off x="0" y="0"/>
          <a:ext cx="0" cy="0"/>
          <a:chOff x="0" y="0"/>
          <a:chExt cx="0" cy="0"/>
        </a:xfrm>
      </p:grpSpPr>
      <p:sp>
        <p:nvSpPr>
          <p:cNvPr id="701" name="Google Shape;701;p73"/>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Business Resiliency/Disaster Recovery</a:t>
            </a:r>
            <a:endParaRPr/>
          </a:p>
        </p:txBody>
      </p:sp>
      <p:sp>
        <p:nvSpPr>
          <p:cNvPr id="702" name="Google Shape;702;p73"/>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03" name="Google Shape;703;p7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41</a:t>
            </a:fld>
            <a:endParaRPr/>
          </a:p>
        </p:txBody>
      </p:sp>
      <p:sp>
        <p:nvSpPr>
          <p:cNvPr id="704" name="Google Shape;704;p73"/>
          <p:cNvSpPr txBox="1">
            <a:spLocks noGrp="1"/>
          </p:cNvSpPr>
          <p:nvPr>
            <p:ph type="body" idx="1"/>
          </p:nvPr>
        </p:nvSpPr>
        <p:spPr>
          <a:xfrm>
            <a:off x="457200" y="943125"/>
            <a:ext cx="8121900" cy="34236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b="0"/>
              <a:t>Conduct RRaaS testing at the application level. </a:t>
            </a:r>
            <a:endParaRPr sz="1400" b="0"/>
          </a:p>
          <a:p>
            <a:pPr marL="0" lvl="0" indent="0" algn="l" rtl="0">
              <a:spcBef>
                <a:spcPts val="900"/>
              </a:spcBef>
              <a:spcAft>
                <a:spcPts val="0"/>
              </a:spcAft>
              <a:buNone/>
            </a:pPr>
            <a:r>
              <a:rPr lang="en-US" sz="1400" b="0"/>
              <a:t>Utilize existing Verizon scripted fault injections to gauge application tolerance to these faults. Create new scripted fault injections as needed to ensure resilience coverage and contribute these back to the overall Verizon RRaaS effort.</a:t>
            </a:r>
            <a:endParaRPr sz="1400" b="0"/>
          </a:p>
          <a:p>
            <a:pPr marL="0" lvl="0" indent="0" algn="l" rtl="0">
              <a:spcBef>
                <a:spcPts val="900"/>
              </a:spcBef>
              <a:spcAft>
                <a:spcPts val="0"/>
              </a:spcAft>
              <a:buNone/>
            </a:pPr>
            <a:r>
              <a:rPr lang="en-US" sz="1400" b="0"/>
              <a:t> Measure fault recovery against pre-defined SLA objectives.</a:t>
            </a:r>
            <a:endParaRPr sz="1400" b="0"/>
          </a:p>
          <a:p>
            <a:pPr marL="0" lvl="0" indent="0" algn="l" rtl="0">
              <a:spcBef>
                <a:spcPts val="900"/>
              </a:spcBef>
              <a:spcAft>
                <a:spcPts val="0"/>
              </a:spcAft>
              <a:buNone/>
            </a:pPr>
            <a:r>
              <a:rPr lang="en-US" sz="1150" b="0">
                <a:highlight>
                  <a:srgbClr val="FFFFFF"/>
                </a:highlight>
                <a:latin typeface="Arial"/>
                <a:ea typeface="Arial"/>
                <a:cs typeface="Arial"/>
                <a:sym typeface="Arial"/>
              </a:rPr>
              <a:t> </a:t>
            </a:r>
            <a:r>
              <a:rPr lang="en-US" sz="1000" b="0">
                <a:highlight>
                  <a:srgbClr val="FFFFFF"/>
                </a:highlight>
                <a:latin typeface="Arial"/>
                <a:ea typeface="Arial"/>
                <a:cs typeface="Arial"/>
                <a:sym typeface="Arial"/>
              </a:rPr>
              <a:t>In the event of failed fault recovery, create and contribute Resilience Plans in the order of preference:</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1) Expedited, optimized manual remediation.  2) Application architecture recommendations  3) No-Touch operations as the engagement evolves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These plans must control initial blast radius from fault injection and facilitate rapid, low-to-no touch, and complete recoveries. Verizon reserves the right to review these plans as needed.</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Participate in Verizon directed datacenter failover testing activities on a yearly basis, at minimum. Remediate any identified discrepancies associated with the Services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Participate in DR business flow testing comprised of multiple applications delivery specific business functionality (e.g. generate a bill, etc.). Remediate any identified discrepancies associated with the Services</a:t>
            </a:r>
            <a:endParaRPr sz="1000" b="0">
              <a:highlight>
                <a:srgbClr val="FFFFFF"/>
              </a:highlight>
              <a:latin typeface="Arial"/>
              <a:ea typeface="Arial"/>
              <a:cs typeface="Arial"/>
              <a:sym typeface="Arial"/>
            </a:endParaRPr>
          </a:p>
          <a:p>
            <a:pPr marL="0" lvl="0" indent="0" algn="l" rtl="0">
              <a:spcBef>
                <a:spcPts val="900"/>
              </a:spcBef>
              <a:spcAft>
                <a:spcPts val="0"/>
              </a:spcAft>
              <a:buNone/>
            </a:pPr>
            <a:endParaRPr sz="1000" b="0"/>
          </a:p>
        </p:txBody>
      </p:sp>
      <p:graphicFrame>
        <p:nvGraphicFramePr>
          <p:cNvPr id="705" name="Google Shape;705;p73"/>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74"/>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Business Resiliency/Disaster Recovery</a:t>
            </a:r>
            <a:endParaRPr/>
          </a:p>
        </p:txBody>
      </p:sp>
      <p:sp>
        <p:nvSpPr>
          <p:cNvPr id="711" name="Google Shape;711;p74"/>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12" name="Google Shape;712;p7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42</a:t>
            </a:fld>
            <a:endParaRPr/>
          </a:p>
        </p:txBody>
      </p:sp>
      <p:sp>
        <p:nvSpPr>
          <p:cNvPr id="713" name="Google Shape;713;p74"/>
          <p:cNvSpPr txBox="1">
            <a:spLocks noGrp="1"/>
          </p:cNvSpPr>
          <p:nvPr>
            <p:ph type="body" idx="1"/>
          </p:nvPr>
        </p:nvSpPr>
        <p:spPr>
          <a:xfrm>
            <a:off x="457200" y="1015050"/>
            <a:ext cx="8121900" cy="34236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000" b="0">
                <a:highlight>
                  <a:srgbClr val="FFFFFF"/>
                </a:highlight>
                <a:latin typeface="Arial"/>
                <a:ea typeface="Arial"/>
                <a:cs typeface="Arial"/>
                <a:sym typeface="Arial"/>
              </a:rPr>
              <a:t> </a:t>
            </a:r>
            <a:r>
              <a:rPr lang="en-US" sz="1200" b="0">
                <a:highlight>
                  <a:srgbClr val="FFFFFF"/>
                </a:highlight>
                <a:latin typeface="Arial"/>
                <a:ea typeface="Arial"/>
                <a:cs typeface="Arial"/>
                <a:sym typeface="Arial"/>
              </a:rPr>
              <a:t>Participating in “Raise the Bar” DR testing/remediation. The goal of this effort is to improve the usability of Verizon DR capabilities. This involves: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1) Improving application DR failover and failback times to 1 hour  2) Staying in the DR configuration for 1 week with no functionality interruption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3) Testing the capability once a month.</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This objective is an override to SLAs defined in Exhibit G (Business Continuity and Disaster Recovery). Induction is identified by recovery deficiencies observed during normal operation.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Schedule system stability tests and results for reporting purposes, interfacing with existing Verizon processes.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Implement new DR Strategies based on the results from the Verizon Business Impact Analysis (BIA) process conducted at a minimum biennially or as required based on changes in the business. The BIA highlights the Recovery Time Objective expectation.</a:t>
            </a:r>
            <a:endParaRPr sz="1200" b="0"/>
          </a:p>
        </p:txBody>
      </p:sp>
      <p:graphicFrame>
        <p:nvGraphicFramePr>
          <p:cNvPr id="714" name="Google Shape;714;p74"/>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18"/>
        <p:cNvGrpSpPr/>
        <p:nvPr/>
      </p:nvGrpSpPr>
      <p:grpSpPr>
        <a:xfrm>
          <a:off x="0" y="0"/>
          <a:ext cx="0" cy="0"/>
          <a:chOff x="0" y="0"/>
          <a:chExt cx="0" cy="0"/>
        </a:xfrm>
      </p:grpSpPr>
      <p:sp>
        <p:nvSpPr>
          <p:cNvPr id="719" name="Google Shape;719;p75"/>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Monitoring</a:t>
            </a:r>
            <a:endParaRPr/>
          </a:p>
        </p:txBody>
      </p:sp>
      <p:sp>
        <p:nvSpPr>
          <p:cNvPr id="720" name="Google Shape;720;p75"/>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21" name="Google Shape;721;p7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43</a:t>
            </a:fld>
            <a:endParaRPr/>
          </a:p>
        </p:txBody>
      </p:sp>
      <p:sp>
        <p:nvSpPr>
          <p:cNvPr id="722" name="Google Shape;722;p75"/>
          <p:cNvSpPr txBox="1">
            <a:spLocks noGrp="1"/>
          </p:cNvSpPr>
          <p:nvPr>
            <p:ph type="body" idx="1"/>
          </p:nvPr>
        </p:nvSpPr>
        <p:spPr>
          <a:xfrm>
            <a:off x="457200" y="928725"/>
            <a:ext cx="8121900" cy="34236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 </a:t>
            </a:r>
            <a:r>
              <a:rPr lang="en-US" sz="1200" b="0"/>
              <a:t>Supplier will provide the following functions for Verizon production and pre-production, environments as requested at application level. This support is required to ensure both global surveillance level monitoring and application by application monitoring is identifying potential problems quickly, at their root, to prevent customer or business partner impacting outages.</a:t>
            </a:r>
            <a:endParaRPr sz="1200" b="0"/>
          </a:p>
          <a:p>
            <a:pPr marL="0" lvl="0" indent="0" algn="l" rtl="0">
              <a:spcBef>
                <a:spcPts val="900"/>
              </a:spcBef>
              <a:spcAft>
                <a:spcPts val="0"/>
              </a:spcAft>
              <a:buNone/>
            </a:pPr>
            <a:r>
              <a:rPr lang="en-US" sz="1200" b="0"/>
              <a:t> Monitor for outages and degradations in customer experience using synthetic tools, Log Analysis Tools, and APM based tools.</a:t>
            </a:r>
            <a:endParaRPr sz="1200" b="0"/>
          </a:p>
          <a:p>
            <a:pPr marL="0" lvl="0" indent="0" algn="l" rtl="0">
              <a:spcBef>
                <a:spcPts val="900"/>
              </a:spcBef>
              <a:spcAft>
                <a:spcPts val="0"/>
              </a:spcAft>
              <a:buNone/>
            </a:pPr>
            <a:r>
              <a:rPr lang="en-US" sz="1200" b="0"/>
              <a:t> Monitor for outages and degradations at the application level using synthetic tools, Log Analysis Tools, and APM based tools. Resolve issues related to monitoring</a:t>
            </a:r>
            <a:endParaRPr sz="1200" b="0"/>
          </a:p>
          <a:p>
            <a:pPr marL="0" lvl="0" indent="0" algn="l" rtl="0">
              <a:spcBef>
                <a:spcPts val="900"/>
              </a:spcBef>
              <a:spcAft>
                <a:spcPts val="0"/>
              </a:spcAft>
              <a:buNone/>
            </a:pPr>
            <a:r>
              <a:rPr lang="en-US" sz="1200" b="0"/>
              <a:t> Monitor for outages and degradations at the infrastructure level using APM based tools and infrastructure related tools</a:t>
            </a:r>
            <a:endParaRPr sz="1200" b="0"/>
          </a:p>
          <a:p>
            <a:pPr marL="0" lvl="0" indent="0" algn="l" rtl="0">
              <a:spcBef>
                <a:spcPts val="900"/>
              </a:spcBef>
              <a:spcAft>
                <a:spcPts val="0"/>
              </a:spcAft>
              <a:buNone/>
            </a:pPr>
            <a:r>
              <a:rPr lang="en-US" sz="1200" b="0"/>
              <a:t> Monitor for outages and degradations at the interface level using APM based tools.</a:t>
            </a:r>
            <a:endParaRPr sz="1200" b="0"/>
          </a:p>
          <a:p>
            <a:pPr marL="0" lvl="0" indent="0" algn="l" rtl="0">
              <a:spcBef>
                <a:spcPts val="900"/>
              </a:spcBef>
              <a:spcAft>
                <a:spcPts val="0"/>
              </a:spcAft>
              <a:buNone/>
            </a:pPr>
            <a:r>
              <a:rPr lang="en-US" sz="1200" b="0"/>
              <a:t> The outcome of all monitoring should be attainment of Verizon stability SLAs.</a:t>
            </a:r>
            <a:endParaRPr sz="1200" b="0"/>
          </a:p>
          <a:p>
            <a:pPr marL="0" lvl="0" indent="0" algn="l" rtl="0">
              <a:spcBef>
                <a:spcPts val="900"/>
              </a:spcBef>
              <a:spcAft>
                <a:spcPts val="0"/>
              </a:spcAft>
              <a:buNone/>
            </a:pPr>
            <a:r>
              <a:rPr lang="en-US" sz="1200" b="0"/>
              <a:t> Provide API based interface (where pre-existing and develop through the life of the Agreement) to overall monitoring of Verizon Surveillance capabilities</a:t>
            </a:r>
            <a:endParaRPr sz="1200" b="0">
              <a:highlight>
                <a:srgbClr val="FFFFFF"/>
              </a:highlight>
              <a:latin typeface="Arial"/>
              <a:ea typeface="Arial"/>
              <a:cs typeface="Arial"/>
              <a:sym typeface="Arial"/>
            </a:endParaRPr>
          </a:p>
        </p:txBody>
      </p:sp>
      <p:graphicFrame>
        <p:nvGraphicFramePr>
          <p:cNvPr id="723" name="Google Shape;723;p75"/>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27"/>
        <p:cNvGrpSpPr/>
        <p:nvPr/>
      </p:nvGrpSpPr>
      <p:grpSpPr>
        <a:xfrm>
          <a:off x="0" y="0"/>
          <a:ext cx="0" cy="0"/>
          <a:chOff x="0" y="0"/>
          <a:chExt cx="0" cy="0"/>
        </a:xfrm>
      </p:grpSpPr>
      <p:sp>
        <p:nvSpPr>
          <p:cNvPr id="728" name="Google Shape;728;p76"/>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Special Services</a:t>
            </a:r>
            <a:endParaRPr/>
          </a:p>
        </p:txBody>
      </p:sp>
      <p:sp>
        <p:nvSpPr>
          <p:cNvPr id="729" name="Google Shape;729;p76"/>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30" name="Google Shape;730;p7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44</a:t>
            </a:fld>
            <a:endParaRPr/>
          </a:p>
        </p:txBody>
      </p:sp>
      <p:sp>
        <p:nvSpPr>
          <p:cNvPr id="731" name="Google Shape;731;p76"/>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b="0"/>
              <a:t>Supplier will provide the following functions for Verizon production environments. This support is required to enable provision of unique services outside of standard operations. Provision of the following special services is in-scope.</a:t>
            </a:r>
            <a:endParaRPr sz="1400" b="0"/>
          </a:p>
          <a:p>
            <a:pPr marL="0" lvl="0" indent="0" algn="l" rtl="0">
              <a:spcBef>
                <a:spcPts val="900"/>
              </a:spcBef>
              <a:spcAft>
                <a:spcPts val="0"/>
              </a:spcAft>
              <a:buNone/>
            </a:pPr>
            <a:r>
              <a:rPr lang="en-US" sz="1000" b="0"/>
              <a:t>User Support/Ticket Management</a:t>
            </a:r>
            <a:endParaRPr sz="1000" b="0"/>
          </a:p>
          <a:p>
            <a:pPr marL="0" lvl="0" indent="0" algn="l" rtl="0">
              <a:spcBef>
                <a:spcPts val="900"/>
              </a:spcBef>
              <a:spcAft>
                <a:spcPts val="0"/>
              </a:spcAft>
              <a:buNone/>
            </a:pPr>
            <a:r>
              <a:rPr lang="en-US" sz="1000" b="0"/>
              <a:t> Research and resolve complex customer issues involving multiple applications, business rules, and data analysis</a:t>
            </a:r>
            <a:endParaRPr sz="1000" b="0"/>
          </a:p>
          <a:p>
            <a:pPr marL="0" lvl="0" indent="0" algn="l" rtl="0">
              <a:spcBef>
                <a:spcPts val="900"/>
              </a:spcBef>
              <a:spcAft>
                <a:spcPts val="0"/>
              </a:spcAft>
              <a:buNone/>
            </a:pPr>
            <a:r>
              <a:rPr lang="en-US" sz="1000" b="0"/>
              <a:t> Provide users with guidance on how to improve the customer experience</a:t>
            </a:r>
            <a:endParaRPr sz="1000" b="0"/>
          </a:p>
          <a:p>
            <a:pPr marL="0" lvl="0" indent="0" algn="l" rtl="0">
              <a:spcBef>
                <a:spcPts val="900"/>
              </a:spcBef>
              <a:spcAft>
                <a:spcPts val="0"/>
              </a:spcAft>
              <a:buNone/>
            </a:pPr>
            <a:r>
              <a:rPr lang="en-US" sz="1000" b="0"/>
              <a:t> Perform work around solutions that accomplish user requirements in lieu of complex development efforts based on SME knowledge of the application</a:t>
            </a:r>
            <a:endParaRPr sz="1000" b="0"/>
          </a:p>
          <a:p>
            <a:pPr marL="0" lvl="0" indent="0" algn="l" rtl="0">
              <a:spcBef>
                <a:spcPts val="900"/>
              </a:spcBef>
              <a:spcAft>
                <a:spcPts val="0"/>
              </a:spcAft>
              <a:buNone/>
            </a:pPr>
            <a:r>
              <a:rPr lang="en-US" sz="1000" b="0"/>
              <a:t> Data Archive / Cleanup</a:t>
            </a:r>
            <a:endParaRPr sz="1000" b="0"/>
          </a:p>
          <a:p>
            <a:pPr marL="0" lvl="0" indent="0" algn="l" rtl="0">
              <a:spcBef>
                <a:spcPts val="900"/>
              </a:spcBef>
              <a:spcAft>
                <a:spcPts val="0"/>
              </a:spcAft>
              <a:buNone/>
            </a:pPr>
            <a:r>
              <a:rPr lang="en-US" sz="1000" b="0"/>
              <a:t> Provide inputs for ticket initiated maintenance activities (data loads, reference data management</a:t>
            </a:r>
            <a:endParaRPr sz="1000" b="0"/>
          </a:p>
          <a:p>
            <a:pPr marL="0" lvl="0" indent="0" algn="l" rtl="0">
              <a:spcBef>
                <a:spcPts val="900"/>
              </a:spcBef>
              <a:spcAft>
                <a:spcPts val="0"/>
              </a:spcAft>
              <a:buNone/>
            </a:pPr>
            <a:r>
              <a:rPr lang="en-US" sz="1000" b="0"/>
              <a:t> Perform ticket initiated maintenance activities (data loads, reference data management, etc.)</a:t>
            </a:r>
            <a:endParaRPr sz="1000" b="0"/>
          </a:p>
          <a:p>
            <a:pPr marL="0" lvl="0" indent="0" algn="l" rtl="0">
              <a:spcBef>
                <a:spcPts val="900"/>
              </a:spcBef>
              <a:spcAft>
                <a:spcPts val="0"/>
              </a:spcAft>
              <a:buNone/>
            </a:pPr>
            <a:r>
              <a:rPr lang="en-US" sz="1000" b="0"/>
              <a:t> Provide Verizon approved/tested scripts for performing ad-hoc data correction in application tables</a:t>
            </a:r>
            <a:endParaRPr sz="1000" b="0"/>
          </a:p>
          <a:p>
            <a:pPr marL="0" lvl="0" indent="0" algn="l" rtl="0">
              <a:spcBef>
                <a:spcPts val="900"/>
              </a:spcBef>
              <a:spcAft>
                <a:spcPts val="0"/>
              </a:spcAft>
              <a:buNone/>
            </a:pPr>
            <a:r>
              <a:rPr lang="en-US" sz="1000" b="0"/>
              <a:t> Perform ad-hoc data corrections via Verizon approved/tested script or application tables</a:t>
            </a:r>
            <a:endParaRPr sz="1000" b="0"/>
          </a:p>
          <a:p>
            <a:pPr marL="0" lvl="0" indent="0" algn="l" rtl="0">
              <a:spcBef>
                <a:spcPts val="900"/>
              </a:spcBef>
              <a:spcAft>
                <a:spcPts val="0"/>
              </a:spcAft>
              <a:buNone/>
            </a:pPr>
            <a:r>
              <a:rPr lang="en-US" sz="1000" b="0"/>
              <a:t> Provide inputs for data archives to Verizon approved destinations/methods.</a:t>
            </a:r>
            <a:endParaRPr sz="1000" b="0"/>
          </a:p>
          <a:p>
            <a:pPr marL="0" lvl="0" indent="0" algn="l" rtl="0">
              <a:spcBef>
                <a:spcPts val="900"/>
              </a:spcBef>
              <a:spcAft>
                <a:spcPts val="0"/>
              </a:spcAft>
              <a:buNone/>
            </a:pPr>
            <a:r>
              <a:rPr lang="en-US" sz="1000" b="0"/>
              <a:t> </a:t>
            </a:r>
            <a:endParaRPr/>
          </a:p>
        </p:txBody>
      </p:sp>
      <p:graphicFrame>
        <p:nvGraphicFramePr>
          <p:cNvPr id="732" name="Google Shape;732;p76"/>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77"/>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Special Services </a:t>
            </a:r>
            <a:endParaRPr/>
          </a:p>
        </p:txBody>
      </p:sp>
      <p:sp>
        <p:nvSpPr>
          <p:cNvPr id="738" name="Google Shape;738;p77"/>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39" name="Google Shape;739;p7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45</a:t>
            </a:fld>
            <a:endParaRPr/>
          </a:p>
        </p:txBody>
      </p:sp>
      <p:sp>
        <p:nvSpPr>
          <p:cNvPr id="740" name="Google Shape;740;p77"/>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t>Perform data archives </a:t>
            </a:r>
            <a:endParaRPr sz="1200" b="0"/>
          </a:p>
          <a:p>
            <a:pPr marL="0" lvl="0" indent="0" algn="l" rtl="0">
              <a:spcBef>
                <a:spcPts val="900"/>
              </a:spcBef>
              <a:spcAft>
                <a:spcPts val="0"/>
              </a:spcAft>
              <a:buNone/>
            </a:pPr>
            <a:r>
              <a:rPr lang="en-US" sz="1200" b="0"/>
              <a:t>Configuration Management</a:t>
            </a:r>
            <a:endParaRPr sz="1200" b="0"/>
          </a:p>
          <a:p>
            <a:pPr marL="0" lvl="0" indent="0" algn="l" rtl="0">
              <a:spcBef>
                <a:spcPts val="900"/>
              </a:spcBef>
              <a:spcAft>
                <a:spcPts val="0"/>
              </a:spcAft>
              <a:buNone/>
            </a:pPr>
            <a:r>
              <a:rPr lang="en-US" sz="1200" b="0"/>
              <a:t>Code migrations within non-production environments and package validation</a:t>
            </a:r>
            <a:endParaRPr sz="1200" b="0"/>
          </a:p>
          <a:p>
            <a:pPr marL="0" lvl="0" indent="0" algn="l" rtl="0">
              <a:spcBef>
                <a:spcPts val="900"/>
              </a:spcBef>
              <a:spcAft>
                <a:spcPts val="0"/>
              </a:spcAft>
              <a:buNone/>
            </a:pPr>
            <a:r>
              <a:rPr lang="en-US" sz="1200" b="0"/>
              <a:t>Code migrations within -production environments and package validation</a:t>
            </a:r>
            <a:endParaRPr sz="1200" b="0"/>
          </a:p>
          <a:p>
            <a:pPr marL="0" lvl="0" indent="0" algn="l" rtl="0">
              <a:spcBef>
                <a:spcPts val="900"/>
              </a:spcBef>
              <a:spcAft>
                <a:spcPts val="0"/>
              </a:spcAft>
              <a:buNone/>
            </a:pPr>
            <a:r>
              <a:rPr lang="en-US" sz="1200" b="0"/>
              <a:t>Assist Verizon with SOX compliance</a:t>
            </a:r>
            <a:endParaRPr sz="1200" b="0"/>
          </a:p>
          <a:p>
            <a:pPr marL="0" marR="0" lvl="0" indent="0" algn="l" rtl="0">
              <a:lnSpc>
                <a:spcPct val="100000"/>
              </a:lnSpc>
              <a:spcBef>
                <a:spcPts val="900"/>
              </a:spcBef>
              <a:spcAft>
                <a:spcPts val="0"/>
              </a:spcAft>
              <a:buNone/>
            </a:pPr>
            <a:r>
              <a:rPr lang="en-US" sz="1150">
                <a:highlight>
                  <a:srgbClr val="FFFFFF"/>
                </a:highlight>
                <a:latin typeface="Arial"/>
                <a:ea typeface="Arial"/>
                <a:cs typeface="Arial"/>
                <a:sym typeface="Arial"/>
              </a:rPr>
              <a:t>More info - APPLICATION MANAGEMENT SERVICES 1.2 c) Special Services</a:t>
            </a:r>
            <a:endParaRPr/>
          </a:p>
          <a:p>
            <a:pPr marL="0" lvl="0" indent="0" algn="l" rtl="0">
              <a:spcBef>
                <a:spcPts val="900"/>
              </a:spcBef>
              <a:spcAft>
                <a:spcPts val="0"/>
              </a:spcAft>
              <a:buNone/>
            </a:pPr>
            <a:endParaRPr/>
          </a:p>
        </p:txBody>
      </p:sp>
      <p:graphicFrame>
        <p:nvGraphicFramePr>
          <p:cNvPr id="741" name="Google Shape;741;p77"/>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78"/>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Special Services -   Performance Management</a:t>
            </a:r>
            <a:endParaRPr/>
          </a:p>
        </p:txBody>
      </p:sp>
      <p:sp>
        <p:nvSpPr>
          <p:cNvPr id="747" name="Google Shape;747;p78"/>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48" name="Google Shape;748;p7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46</a:t>
            </a:fld>
            <a:endParaRPr/>
          </a:p>
        </p:txBody>
      </p:sp>
      <p:sp>
        <p:nvSpPr>
          <p:cNvPr id="749" name="Google Shape;749;p78"/>
          <p:cNvSpPr txBox="1">
            <a:spLocks noGrp="1"/>
          </p:cNvSpPr>
          <p:nvPr>
            <p:ph type="body" idx="1"/>
          </p:nvPr>
        </p:nvSpPr>
        <p:spPr>
          <a:xfrm>
            <a:off x="457200" y="923075"/>
            <a:ext cx="8121900" cy="1630800"/>
          </a:xfrm>
          <a:prstGeom prst="rect">
            <a:avLst/>
          </a:prstGeom>
        </p:spPr>
        <p:txBody>
          <a:bodyPr spcFirstLastPara="1" wrap="square" lIns="0" tIns="0" rIns="0" bIns="0" anchor="t" anchorCtr="0">
            <a:noAutofit/>
          </a:bodyPr>
          <a:lstStyle/>
          <a:p>
            <a:pPr marL="0" marR="0" lvl="0" indent="0" algn="l" rtl="0">
              <a:lnSpc>
                <a:spcPct val="100000"/>
              </a:lnSpc>
              <a:spcBef>
                <a:spcPts val="900"/>
              </a:spcBef>
              <a:spcAft>
                <a:spcPts val="0"/>
              </a:spcAft>
              <a:buNone/>
            </a:pPr>
            <a:r>
              <a:rPr lang="en-US" sz="1200" b="0"/>
              <a:t>Ensure performance meets or exceeds predefined baselines for the application and function level. Baselines must be measured in existing code. These baselines then serve as future baselines that new code will be measured against.</a:t>
            </a:r>
            <a:endParaRPr sz="1200" b="0"/>
          </a:p>
          <a:p>
            <a:pPr marL="0" marR="0" lvl="0" indent="0" algn="l" rtl="0">
              <a:lnSpc>
                <a:spcPct val="100000"/>
              </a:lnSpc>
              <a:spcBef>
                <a:spcPts val="900"/>
              </a:spcBef>
              <a:spcAft>
                <a:spcPts val="0"/>
              </a:spcAft>
              <a:buNone/>
            </a:pPr>
            <a:r>
              <a:rPr lang="en-US" sz="1200" b="0"/>
              <a:t>Voice of the Customer: Analyze customer inputs and develop plans to improve the customer experience; work with Verizon to prioritize improvements.</a:t>
            </a:r>
            <a:endParaRPr sz="1200"/>
          </a:p>
          <a:p>
            <a:pPr marL="0" lvl="0" indent="0" algn="l" rtl="0">
              <a:spcBef>
                <a:spcPts val="900"/>
              </a:spcBef>
              <a:spcAft>
                <a:spcPts val="0"/>
              </a:spcAft>
              <a:buNone/>
            </a:pPr>
            <a:endParaRPr sz="1200"/>
          </a:p>
        </p:txBody>
      </p:sp>
      <p:graphicFrame>
        <p:nvGraphicFramePr>
          <p:cNvPr id="750" name="Google Shape;750;p78"/>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 KTLO</a:t>
                      </a:r>
                      <a:endParaRPr b="1"/>
                    </a:p>
                  </a:txBody>
                  <a:tcPr marL="91425" marR="91425" marT="91425" marB="91425"/>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79"/>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Production Database Support</a:t>
            </a:r>
            <a:endParaRPr/>
          </a:p>
        </p:txBody>
      </p:sp>
      <p:sp>
        <p:nvSpPr>
          <p:cNvPr id="756" name="Google Shape;756;p79"/>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57" name="Google Shape;757;p7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47</a:t>
            </a:fld>
            <a:endParaRPr/>
          </a:p>
        </p:txBody>
      </p:sp>
      <p:sp>
        <p:nvSpPr>
          <p:cNvPr id="758" name="Google Shape;758;p79"/>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7 x 24 x 365 Crisis Management Desk (CMD) Support</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Respond within 5 minutes after CMD notification issued</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Join CMD bridge and corresponding CMD chat room to determine impacted applications/databases/servers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Use Database Monitoring tool to detect possible database issues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If database issue detected or CMD team requests database support, send CMD notification to application’s on-call Database Administrator (DBA) via page out within 1 minute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Once on-call DBA announces presence on CMD bridge, invite on-call DBA to CMD chat room to allow DBA to participate in technical discussions and post database details as needed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Document issue and at regular intervals, send emails with CMD Crisis Record (CR) status to applicable DBA groups and DBA management until issue is fully resolved and CMD bridge is closed</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Once issue is fully resolved, send email to applicable DBA groups and DBA management with final CR details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7 x 24 x 365 Database Alerts and Notifications Support</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Respond within 5 minutes to production database alert and notification scripts and Crisis Management Interface System (CMIS) tickets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150" b="0">
                <a:highlight>
                  <a:srgbClr val="FFFFFF"/>
                </a:highlight>
                <a:latin typeface="Arial"/>
                <a:ea typeface="Arial"/>
                <a:cs typeface="Arial"/>
                <a:sym typeface="Arial"/>
              </a:rPr>
              <a:t> </a:t>
            </a:r>
            <a:r>
              <a:rPr lang="en-US" sz="1000" b="0"/>
              <a:t> </a:t>
            </a:r>
            <a:endParaRPr/>
          </a:p>
        </p:txBody>
      </p:sp>
      <p:graphicFrame>
        <p:nvGraphicFramePr>
          <p:cNvPr id="759" name="Google Shape;759;p79"/>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63"/>
        <p:cNvGrpSpPr/>
        <p:nvPr/>
      </p:nvGrpSpPr>
      <p:grpSpPr>
        <a:xfrm>
          <a:off x="0" y="0"/>
          <a:ext cx="0" cy="0"/>
          <a:chOff x="0" y="0"/>
          <a:chExt cx="0" cy="0"/>
        </a:xfrm>
      </p:grpSpPr>
      <p:sp>
        <p:nvSpPr>
          <p:cNvPr id="764" name="Google Shape;764;p80"/>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Production Database Support</a:t>
            </a:r>
            <a:endParaRPr/>
          </a:p>
        </p:txBody>
      </p:sp>
      <p:sp>
        <p:nvSpPr>
          <p:cNvPr id="765" name="Google Shape;765;p80"/>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66" name="Google Shape;766;p8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48</a:t>
            </a:fld>
            <a:endParaRPr/>
          </a:p>
        </p:txBody>
      </p:sp>
      <p:sp>
        <p:nvSpPr>
          <p:cNvPr id="767" name="Google Shape;767;p80"/>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 Analyze health checks for impacted databases using monitoring tools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If database issue detected, send notification to application’s on-call Database Administrator (DBA) via page out within 1 minute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If required, invite application on-call DBA to technical support chat room to allow DBA to participate in technical discussions and post database details as needed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Document issue and at regular intervals, send emails with status to applicable DBA groups and DBA management until issue is fully resolved</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Once issue is fully resolved, sent email to applicable DBA groups and DBA management with details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Change Activity Support</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As requested, execute prepared production database scripts documented in Change Activities (CAs) in support of approved coordinated changes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Post-Release Health Monitoring</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Gather details for all databases included in major production environment releases, including Change Activity (CA) number, CA time frame, and primary DBA contact information.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150" b="0">
                <a:highlight>
                  <a:srgbClr val="FFFFFF"/>
                </a:highlight>
                <a:latin typeface="Arial"/>
                <a:ea typeface="Arial"/>
                <a:cs typeface="Arial"/>
                <a:sym typeface="Arial"/>
              </a:rPr>
              <a:t> </a:t>
            </a:r>
            <a:r>
              <a:rPr lang="en-US" sz="1000" b="0"/>
              <a:t> </a:t>
            </a:r>
            <a:endParaRPr/>
          </a:p>
        </p:txBody>
      </p:sp>
      <p:graphicFrame>
        <p:nvGraphicFramePr>
          <p:cNvPr id="768" name="Google Shape;768;p80"/>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81"/>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Production Database Support</a:t>
            </a:r>
            <a:endParaRPr/>
          </a:p>
        </p:txBody>
      </p:sp>
      <p:sp>
        <p:nvSpPr>
          <p:cNvPr id="774" name="Google Shape;774;p81"/>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75" name="Google Shape;775;p8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49</a:t>
            </a:fld>
            <a:endParaRPr/>
          </a:p>
        </p:txBody>
      </p:sp>
      <p:sp>
        <p:nvSpPr>
          <p:cNvPr id="776" name="Google Shape;776;p81"/>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150" b="0">
                <a:highlight>
                  <a:srgbClr val="FFFFFF"/>
                </a:highlight>
                <a:latin typeface="Arial"/>
                <a:ea typeface="Arial"/>
                <a:cs typeface="Arial"/>
                <a:sym typeface="Arial"/>
              </a:rPr>
              <a:t>On the Monday following major production releases, use Database Monitoring tool to detect possible database issues </a:t>
            </a:r>
            <a:endParaRPr sz="1150" b="0">
              <a:highlight>
                <a:srgbClr val="FFFFFF"/>
              </a:highlight>
              <a:latin typeface="Arial"/>
              <a:ea typeface="Arial"/>
              <a:cs typeface="Arial"/>
              <a:sym typeface="Arial"/>
            </a:endParaRPr>
          </a:p>
          <a:p>
            <a:pPr marL="0" lvl="0" indent="0" algn="l" rtl="0">
              <a:spcBef>
                <a:spcPts val="900"/>
              </a:spcBef>
              <a:spcAft>
                <a:spcPts val="0"/>
              </a:spcAft>
              <a:buNone/>
            </a:pPr>
            <a:r>
              <a:rPr lang="en-US" sz="1150" b="0">
                <a:highlight>
                  <a:srgbClr val="FFFFFF"/>
                </a:highlight>
                <a:latin typeface="Arial"/>
                <a:ea typeface="Arial"/>
                <a:cs typeface="Arial"/>
                <a:sym typeface="Arial"/>
              </a:rPr>
              <a:t> If database issue detected, contact primary Database Administrator (DBA) for impacted application(s) via page out, instant message and/or email within 1 minute</a:t>
            </a:r>
            <a:endParaRPr sz="1150" b="0">
              <a:highlight>
                <a:srgbClr val="FFFFFF"/>
              </a:highlight>
              <a:latin typeface="Arial"/>
              <a:ea typeface="Arial"/>
              <a:cs typeface="Arial"/>
              <a:sym typeface="Arial"/>
            </a:endParaRPr>
          </a:p>
          <a:p>
            <a:pPr marL="0" lvl="0" indent="0" algn="l" rtl="0">
              <a:spcBef>
                <a:spcPts val="900"/>
              </a:spcBef>
              <a:spcAft>
                <a:spcPts val="0"/>
              </a:spcAft>
              <a:buNone/>
            </a:pPr>
            <a:r>
              <a:rPr lang="en-US" sz="1150" b="0">
                <a:highlight>
                  <a:srgbClr val="FFFFFF"/>
                </a:highlight>
                <a:latin typeface="Arial"/>
                <a:ea typeface="Arial"/>
                <a:cs typeface="Arial"/>
                <a:sym typeface="Arial"/>
              </a:rPr>
              <a:t> Send email to applicable DBA and DBA management teams with database health check details for all impacted applications</a:t>
            </a:r>
            <a:endParaRPr sz="1150" b="0">
              <a:highlight>
                <a:srgbClr val="FFFFFF"/>
              </a:highlight>
              <a:latin typeface="Arial"/>
              <a:ea typeface="Arial"/>
              <a:cs typeface="Arial"/>
              <a:sym typeface="Arial"/>
            </a:endParaRPr>
          </a:p>
          <a:p>
            <a:pPr marL="0" lvl="0" indent="0" algn="l" rtl="0">
              <a:spcBef>
                <a:spcPts val="900"/>
              </a:spcBef>
              <a:spcAft>
                <a:spcPts val="0"/>
              </a:spcAft>
              <a:buNone/>
            </a:pPr>
            <a:r>
              <a:rPr lang="en-US" sz="1150" b="0">
                <a:highlight>
                  <a:srgbClr val="FFFFFF"/>
                </a:highlight>
                <a:latin typeface="Arial"/>
                <a:ea typeface="Arial"/>
                <a:cs typeface="Arial"/>
                <a:sym typeface="Arial"/>
              </a:rPr>
              <a:t> More Info - APPLICATION MANAGEMENT SERVICES 1.2 d) Application Database Support</a:t>
            </a:r>
            <a:endParaRPr sz="1400" b="0"/>
          </a:p>
          <a:p>
            <a:pPr marL="0" lvl="0" indent="0" algn="l" rtl="0">
              <a:spcBef>
                <a:spcPts val="900"/>
              </a:spcBef>
              <a:spcAft>
                <a:spcPts val="0"/>
              </a:spcAft>
              <a:buNone/>
            </a:pPr>
            <a:r>
              <a:rPr lang="en-US" sz="1000" b="0"/>
              <a:t> </a:t>
            </a:r>
            <a:endParaRPr/>
          </a:p>
        </p:txBody>
      </p:sp>
      <p:graphicFrame>
        <p:nvGraphicFramePr>
          <p:cNvPr id="777" name="Google Shape;777;p81"/>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p82"/>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Operational Support Services </a:t>
            </a:r>
            <a:endParaRPr/>
          </a:p>
        </p:txBody>
      </p:sp>
      <p:sp>
        <p:nvSpPr>
          <p:cNvPr id="783" name="Google Shape;783;p82"/>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84" name="Google Shape;784;p8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50</a:t>
            </a:fld>
            <a:endParaRPr/>
          </a:p>
        </p:txBody>
      </p:sp>
      <p:sp>
        <p:nvSpPr>
          <p:cNvPr id="785" name="Google Shape;785;p82"/>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a. Operational Support Services are the Services associated with providing an IT environment that effectively and efficiently performs the functional and operation procedures associated with the In-Scope Applications.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Recommend operations policies and procedures, operational Documentation requirements.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Utilize Verizon’s enterprise system management tools and processes that monitor the IT environment and workload and manage work through these systems.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Manage Software, and Services to meet the Service Levels and other performance requirements and minimize Verizon resource requirements.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Provide scheduling rules for managing/automating job execution, job workflow processes, file exchange functions and print management.</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Propose operations policies and procedures and operational Documentation requirements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Review and approve operations policies and procedures and operational Documentation requirements.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Support production activities in accordance with Verizon’s operational and production control policies and procedures. This includes special file handling that comes due to client, vendor, regulator or supplier needs.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Develop operational Documentation in compliance with operational Documentation requirements approved by Verizon.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15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p:txBody>
      </p:sp>
      <p:graphicFrame>
        <p:nvGraphicFramePr>
          <p:cNvPr id="786" name="Google Shape;786;p82"/>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90"/>
        <p:cNvGrpSpPr/>
        <p:nvPr/>
      </p:nvGrpSpPr>
      <p:grpSpPr>
        <a:xfrm>
          <a:off x="0" y="0"/>
          <a:ext cx="0" cy="0"/>
          <a:chOff x="0" y="0"/>
          <a:chExt cx="0" cy="0"/>
        </a:xfrm>
      </p:grpSpPr>
      <p:sp>
        <p:nvSpPr>
          <p:cNvPr id="791" name="Google Shape;791;p83"/>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Operational Support Services </a:t>
            </a:r>
            <a:endParaRPr/>
          </a:p>
        </p:txBody>
      </p:sp>
      <p:sp>
        <p:nvSpPr>
          <p:cNvPr id="792" name="Google Shape;792;p83"/>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793" name="Google Shape;793;p8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51</a:t>
            </a:fld>
            <a:endParaRPr/>
          </a:p>
        </p:txBody>
      </p:sp>
      <p:sp>
        <p:nvSpPr>
          <p:cNvPr id="794" name="Google Shape;794;p83"/>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150" b="0">
                <a:highlight>
                  <a:srgbClr val="FFFFFF"/>
                </a:highlight>
                <a:latin typeface="Arial"/>
                <a:ea typeface="Arial"/>
                <a:cs typeface="Arial"/>
                <a:sym typeface="Arial"/>
              </a:rPr>
              <a:t> </a:t>
            </a:r>
            <a:r>
              <a:rPr lang="en-US" sz="1200" b="0">
                <a:highlight>
                  <a:srgbClr val="FFFFFF"/>
                </a:highlight>
                <a:latin typeface="Arial"/>
                <a:ea typeface="Arial"/>
                <a:cs typeface="Arial"/>
                <a:sym typeface="Arial"/>
              </a:rPr>
              <a:t>Enable and prepare data migration (load) from existing systems to new systems, by electronic methods to the extent deemed to be included as Minor Enhancements Services.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Perform routine tasks, verifications, file transfers, special requests that conform to processes and procedures that are supporting business operations.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Coordinate with Verizon infrastructure to perform those Services necessary to promote code from non-production environments to production environments and, as requested by Verizon on an ad hoc basis, to other non-production environments, including by coordinating with Verizon infrastructure, application maintenance and development teams as necessary.</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Provide support of the code/configuration management tools (recommending roles, controls, configuration, and associated processes).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More Info: 1.3 a) APPLICATION MANAGEMENT SERVICES - Operational Support Services</a:t>
            </a:r>
            <a:endParaRPr sz="1200" b="0">
              <a:highlight>
                <a:srgbClr val="FFFFFF"/>
              </a:highlight>
              <a:latin typeface="Arial"/>
              <a:ea typeface="Arial"/>
              <a:cs typeface="Arial"/>
              <a:sym typeface="Arial"/>
            </a:endParaRPr>
          </a:p>
        </p:txBody>
      </p:sp>
      <p:graphicFrame>
        <p:nvGraphicFramePr>
          <p:cNvPr id="795" name="Google Shape;795;p83"/>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84"/>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Capacity Management</a:t>
            </a:r>
            <a:endParaRPr/>
          </a:p>
        </p:txBody>
      </p:sp>
      <p:sp>
        <p:nvSpPr>
          <p:cNvPr id="801" name="Google Shape;801;p84"/>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02" name="Google Shape;802;p8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52</a:t>
            </a:fld>
            <a:endParaRPr/>
          </a:p>
        </p:txBody>
      </p:sp>
      <p:sp>
        <p:nvSpPr>
          <p:cNvPr id="803" name="Google Shape;803;p84"/>
          <p:cNvSpPr txBox="1">
            <a:spLocks noGrp="1"/>
          </p:cNvSpPr>
          <p:nvPr>
            <p:ph type="body" idx="1"/>
          </p:nvPr>
        </p:nvSpPr>
        <p:spPr>
          <a:xfrm>
            <a:off x="457200" y="923075"/>
            <a:ext cx="8121900" cy="3777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a:highlight>
                  <a:srgbClr val="FFFFFF"/>
                </a:highlight>
                <a:latin typeface="Arial"/>
                <a:ea typeface="Arial"/>
                <a:cs typeface="Arial"/>
                <a:sym typeface="Arial"/>
              </a:rPr>
              <a:t>Capacity management Services are those Services related to ensuring that the capacity of the information technology Services matches the evolving demands of the business in the most cost-effective and timely manner. Capacity management Services involve providing advanced notification of application changes (e.g. new or modified applications) consuming resources on CPU, memory, and disk hardware as well. Supplier shall be responsible for the performance and capacity management of the In-Scope Applications, including the following:</a:t>
            </a:r>
            <a:endParaRPr sz="140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 Sizing, designing and configuring Verizon’s In-Scope Applications using standard Verizon or third party vendor sizing recommendations based on Verizon’s capacity needs;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(ii) Performing trend analysis to detect long term performance problems and to prevent performance degradation; using monitors and problem analyzers to identify the performance and capacity problems; determine the actions needed to be taken to resolve any performance or capacity problems (including by consolidating data, when necessary); creating and disseminating reports summarizing the performance and capacity utilization of the In-Scope Application systems;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(iii) Tuning the In-Scope Application for performance; configuring and implementing tunable parameters; monitoring performance adjustments for their effectiveness; performing profile modifications as required; adjusting memory management services as needed; managing workload balancing; controlling the work process environment; and making pro-active capacity recommendations (to prevent future bottlenecks); and</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(iv) Ensuring appropriate capacity to meet resource requirements the active capacity planning, including analyzing the workload (e.g., CPU usage, memory usage, disk usage, network, backup, facilities, reporting, throughput), estimating resource requirements (e.g., for memory, disk I/O, CPU, throughput), and defining future workload profile (e.g., for CPU, </a:t>
            </a:r>
            <a:r>
              <a:rPr lang="en-US" sz="1150" b="0">
                <a:highlight>
                  <a:srgbClr val="FFFFFF"/>
                </a:highlight>
                <a:latin typeface="Arial"/>
                <a:ea typeface="Arial"/>
                <a:cs typeface="Arial"/>
                <a:sym typeface="Arial"/>
              </a:rPr>
              <a:t>memory, storage)."</a:t>
            </a:r>
            <a:endParaRPr sz="1200" b="0">
              <a:highlight>
                <a:srgbClr val="FFFFFF"/>
              </a:highlight>
              <a:latin typeface="Arial"/>
              <a:ea typeface="Arial"/>
              <a:cs typeface="Arial"/>
              <a:sym typeface="Arial"/>
            </a:endParaRPr>
          </a:p>
        </p:txBody>
      </p:sp>
      <p:graphicFrame>
        <p:nvGraphicFramePr>
          <p:cNvPr id="804" name="Google Shape;804;p84"/>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85"/>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Application Operations Incident Management </a:t>
            </a:r>
            <a:endParaRPr/>
          </a:p>
        </p:txBody>
      </p:sp>
      <p:sp>
        <p:nvSpPr>
          <p:cNvPr id="810" name="Google Shape;810;p85"/>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11" name="Google Shape;811;p85"/>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53</a:t>
            </a:fld>
            <a:endParaRPr/>
          </a:p>
        </p:txBody>
      </p:sp>
      <p:sp>
        <p:nvSpPr>
          <p:cNvPr id="812" name="Google Shape;812;p85"/>
          <p:cNvSpPr txBox="1">
            <a:spLocks noGrp="1"/>
          </p:cNvSpPr>
          <p:nvPr>
            <p:ph type="body" idx="1"/>
          </p:nvPr>
        </p:nvSpPr>
        <p:spPr>
          <a:xfrm>
            <a:off x="457200" y="959950"/>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a:highlight>
                  <a:srgbClr val="FFFFFF"/>
                </a:highlight>
                <a:latin typeface="Arial"/>
                <a:ea typeface="Arial"/>
                <a:cs typeface="Arial"/>
                <a:sym typeface="Arial"/>
              </a:rPr>
              <a:t>The objective of the Incident Management lifecycle is to restore the service as quickly as possible to meet Service Level Agreements. The process is primarily aimed at the user level. The Major Incident Management (MIM) Process is for Verizon IT Operation outages (or potential outages) for mission critical, system critical, and business critical systems, and applications including non-critical applications in the BR/DR program (Critical Systems). </a:t>
            </a:r>
            <a:endParaRPr sz="1400">
              <a:highlight>
                <a:srgbClr val="FFFFFF"/>
              </a:highlight>
              <a:latin typeface="Arial"/>
              <a:ea typeface="Arial"/>
              <a:cs typeface="Arial"/>
              <a:sym typeface="Arial"/>
            </a:endParaRPr>
          </a:p>
          <a:p>
            <a:pPr marL="0" lvl="0" indent="0" algn="l" rtl="0">
              <a:spcBef>
                <a:spcPts val="900"/>
              </a:spcBef>
              <a:spcAft>
                <a:spcPts val="0"/>
              </a:spcAft>
              <a:buNone/>
            </a:pPr>
            <a:r>
              <a:rPr lang="en-US" sz="1400">
                <a:highlight>
                  <a:srgbClr val="FFFFFF"/>
                </a:highlight>
                <a:latin typeface="Arial"/>
                <a:ea typeface="Arial"/>
                <a:cs typeface="Arial"/>
                <a:sym typeface="Arial"/>
              </a:rPr>
              <a:t> Provide 7 x 24 x 365 Level 2 and 3 Major Incident Management services; consisting of / application / interface monitoring, crisis response, evaluation for escalation, application recovery/repair, co-ordination with 3rd party vendors as applicable, and status reporting for supported Applications as per obligations in Managed Services Schedule </a:t>
            </a:r>
            <a:r>
              <a:rPr lang="en-US" sz="1150" b="0">
                <a:highlight>
                  <a:srgbClr val="FFFFFF"/>
                </a:highlight>
                <a:latin typeface="Arial"/>
                <a:ea typeface="Arial"/>
                <a:cs typeface="Arial"/>
                <a:sym typeface="Arial"/>
              </a:rPr>
              <a:t>X</a:t>
            </a:r>
            <a:endParaRPr sz="115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Assist and share knowledge support.</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Track, report, and resolve Incidents pursuant to this Statement of Work and in support of Verizon.</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Maintain primary and secondary technical contacts, supplier contacts, and Supplier management escalation contacts. Coordinate Supplier escalations. Ensure this information remains current in Verizon CMD tools.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Comply with all of the Major Incident Management processes </a:t>
            </a:r>
            <a:endParaRPr sz="1000" b="0">
              <a:highlight>
                <a:srgbClr val="FFFFFF"/>
              </a:highlight>
              <a:latin typeface="Arial"/>
              <a:ea typeface="Arial"/>
              <a:cs typeface="Arial"/>
              <a:sym typeface="Arial"/>
            </a:endParaRPr>
          </a:p>
          <a:p>
            <a:pPr marL="0" lvl="0" indent="0" algn="l" rtl="0">
              <a:spcBef>
                <a:spcPts val="900"/>
              </a:spcBef>
              <a:spcAft>
                <a:spcPts val="0"/>
              </a:spcAft>
              <a:buNone/>
            </a:pPr>
            <a:endParaRPr sz="1000" b="0">
              <a:highlight>
                <a:srgbClr val="FFFFFF"/>
              </a:highlight>
              <a:latin typeface="Arial"/>
              <a:ea typeface="Arial"/>
              <a:cs typeface="Arial"/>
              <a:sym typeface="Arial"/>
            </a:endParaRPr>
          </a:p>
        </p:txBody>
      </p:sp>
      <p:graphicFrame>
        <p:nvGraphicFramePr>
          <p:cNvPr id="813" name="Google Shape;813;p85"/>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86"/>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Application Operations Incident Management</a:t>
            </a:r>
            <a:endParaRPr/>
          </a:p>
        </p:txBody>
      </p:sp>
      <p:sp>
        <p:nvSpPr>
          <p:cNvPr id="819" name="Google Shape;819;p86"/>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20" name="Google Shape;820;p86"/>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54</a:t>
            </a:fld>
            <a:endParaRPr/>
          </a:p>
        </p:txBody>
      </p:sp>
      <p:sp>
        <p:nvSpPr>
          <p:cNvPr id="821" name="Google Shape;821;p86"/>
          <p:cNvSpPr txBox="1">
            <a:spLocks noGrp="1"/>
          </p:cNvSpPr>
          <p:nvPr>
            <p:ph type="body" idx="1"/>
          </p:nvPr>
        </p:nvSpPr>
        <p:spPr>
          <a:xfrm>
            <a:off x="457200" y="1108563"/>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000" b="0">
                <a:highlight>
                  <a:srgbClr val="FFFFFF"/>
                </a:highlight>
                <a:latin typeface="Arial"/>
                <a:ea typeface="Arial"/>
                <a:cs typeface="Arial"/>
                <a:sym typeface="Arial"/>
              </a:rPr>
              <a:t> Utilize Verizon’s Crisis ticket management systems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Coordinate Verizon and 3rd party support groups according to established procedures until the incident is resolved per the Incident Management Process </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In the event that a crisis results from a Verizon managed service or Verizon application defect or failure, or any cause apart from a failure of Supplier provided equipment, Supplier provided service or of Supplier Software, Supplier shall report such defect or failure of which Supplier is aware to Verizon and provide such additional information or assistance with resolving the Incident as may be requested by Verizon in accordance with the Change Control Procedures as set out in Exhibit B (Governance) </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Track, report defects in 3rd Party Equipment or Software, and work with commercial vendors to repair Equipment and Software defects revealed through Major Incident and Incident tracking for Systems. Supplier should work with Verizon teams to coordinate repair and change activity (e.g. access to datacenter floor for Equipment diagnosis and repair, Software updates affecting systems, etc.)</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Document all crisis information in repository identified by Verizon with timeline of events. Communicate with Verizon in order to assist in the resolution of Major Incidents and Incidents. </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Participate in all Severity Incidents via a Verizon Bridge Call with recording capability.</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Utilize Verizon dashboards and chats in order to provide timely updates of the Major Incident and/or Incident.</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Maintain complete incident related details to recovery steps and utilize full architecture flow diagrams existing as of the Effective Date.</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a:t>
            </a:r>
            <a:endParaRPr sz="1000" b="0">
              <a:highlight>
                <a:srgbClr val="FFFFFF"/>
              </a:highlight>
              <a:latin typeface="Arial"/>
              <a:ea typeface="Arial"/>
              <a:cs typeface="Arial"/>
              <a:sym typeface="Arial"/>
            </a:endParaRPr>
          </a:p>
        </p:txBody>
      </p:sp>
      <p:graphicFrame>
        <p:nvGraphicFramePr>
          <p:cNvPr id="822" name="Google Shape;822;p86"/>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87"/>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Application Operations Incident Management </a:t>
            </a:r>
            <a:endParaRPr/>
          </a:p>
        </p:txBody>
      </p:sp>
      <p:sp>
        <p:nvSpPr>
          <p:cNvPr id="828" name="Google Shape;828;p87"/>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29" name="Google Shape;829;p87"/>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55</a:t>
            </a:fld>
            <a:endParaRPr/>
          </a:p>
        </p:txBody>
      </p:sp>
      <p:sp>
        <p:nvSpPr>
          <p:cNvPr id="830" name="Google Shape;830;p87"/>
          <p:cNvSpPr txBox="1">
            <a:spLocks noGrp="1"/>
          </p:cNvSpPr>
          <p:nvPr>
            <p:ph type="body" idx="1"/>
          </p:nvPr>
        </p:nvSpPr>
        <p:spPr>
          <a:xfrm>
            <a:off x="457200" y="1110438"/>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000" b="0">
                <a:highlight>
                  <a:srgbClr val="FFFFFF"/>
                </a:highlight>
                <a:latin typeface="Arial"/>
                <a:ea typeface="Arial"/>
                <a:cs typeface="Arial"/>
                <a:sym typeface="Arial"/>
              </a:rPr>
              <a:t> Initializes the Crisis Bridge as needed.</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Supplier identifies applicable Third Party service providers.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Engage Verizon approved Third Party support promptly.</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Communicate with service providers to drive resolution.</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Communicates any requests for management/escalation bridges.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Technical Resolution:</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Restores the system back to normal operation</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Notify Verizon upon and during issue resolution</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Coordinates recovery plan steps with technical support including any third party vendors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Verifies success of the recovery plan and provide feedback to Verizon’s BR/DR personnel and any other staff of Verizon and Supplier who are essential to the services..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Assist in the resolution of Incidents arising from Verizon-owned, managed, or licensed Software or other non-Supplier causes revealed through Major Incident and/or Incident tracking</a:t>
            </a:r>
            <a:endParaRPr sz="1000" b="0">
              <a:highlight>
                <a:srgbClr val="FFFFFF"/>
              </a:highlight>
              <a:latin typeface="Arial"/>
              <a:ea typeface="Arial"/>
              <a:cs typeface="Arial"/>
              <a:sym typeface="Arial"/>
            </a:endParaRPr>
          </a:p>
          <a:p>
            <a:pPr marL="0" lvl="0" indent="0" algn="l" rtl="0">
              <a:spcBef>
                <a:spcPts val="900"/>
              </a:spcBef>
              <a:spcAft>
                <a:spcPts val="0"/>
              </a:spcAft>
              <a:buNone/>
            </a:pPr>
            <a:endParaRPr sz="1000" b="0">
              <a:highlight>
                <a:srgbClr val="FFFFFF"/>
              </a:highlight>
              <a:latin typeface="Arial"/>
              <a:ea typeface="Arial"/>
              <a:cs typeface="Arial"/>
              <a:sym typeface="Arial"/>
            </a:endParaRPr>
          </a:p>
        </p:txBody>
      </p:sp>
      <p:graphicFrame>
        <p:nvGraphicFramePr>
          <p:cNvPr id="831" name="Google Shape;831;p87"/>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p88"/>
          <p:cNvSpPr txBox="1">
            <a:spLocks noGrp="1"/>
          </p:cNvSpPr>
          <p:nvPr>
            <p:ph type="title"/>
          </p:nvPr>
        </p:nvSpPr>
        <p:spPr>
          <a:xfrm>
            <a:off x="457200" y="590550"/>
            <a:ext cx="8229600" cy="3693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Application Operations Incident Management </a:t>
            </a:r>
            <a:endParaRPr/>
          </a:p>
        </p:txBody>
      </p:sp>
      <p:sp>
        <p:nvSpPr>
          <p:cNvPr id="837" name="Google Shape;837;p88"/>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38" name="Google Shape;838;p88"/>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56</a:t>
            </a:fld>
            <a:endParaRPr/>
          </a:p>
        </p:txBody>
      </p:sp>
      <p:sp>
        <p:nvSpPr>
          <p:cNvPr id="839" name="Google Shape;839;p88"/>
          <p:cNvSpPr txBox="1">
            <a:spLocks noGrp="1"/>
          </p:cNvSpPr>
          <p:nvPr>
            <p:ph type="body" idx="1"/>
          </p:nvPr>
        </p:nvSpPr>
        <p:spPr>
          <a:xfrm>
            <a:off x="457200" y="1017372"/>
            <a:ext cx="8121900" cy="2650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000" b="0">
                <a:highlight>
                  <a:srgbClr val="FFFFFF"/>
                </a:highlight>
                <a:latin typeface="Arial"/>
                <a:ea typeface="Arial"/>
                <a:cs typeface="Arial"/>
                <a:sym typeface="Arial"/>
              </a:rPr>
              <a:t>Business Recovery:</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Gather/Document impact information related to the Services.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Provide Root Cause Analysis for Applications.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Track, follow-up and report findings for Root Cause Analyses performed by Third Party vendors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All actions taken toward recovery are performed and communicated real time on the MIM working bridge and in the MIM chats to help all parties remain in sync.</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Remain engaged until problem has been declared resolved by Verizon.</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Identifies and implements workaround, temporary fix or fix (i.e. - failovers, recycles, re-points).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Identifies and implements permanent fixes (i.e. – code changes/updates).</a:t>
            </a:r>
            <a:endParaRPr sz="1000" b="0">
              <a:highlight>
                <a:srgbClr val="FFFFFF"/>
              </a:highlight>
              <a:latin typeface="Arial"/>
              <a:ea typeface="Arial"/>
              <a:cs typeface="Arial"/>
              <a:sym typeface="Arial"/>
            </a:endParaRPr>
          </a:p>
          <a:p>
            <a:pPr marL="0" lvl="0" indent="0" algn="l" rtl="0">
              <a:spcBef>
                <a:spcPts val="900"/>
              </a:spcBef>
              <a:spcAft>
                <a:spcPts val="0"/>
              </a:spcAft>
              <a:buNone/>
            </a:pPr>
            <a:r>
              <a:rPr lang="en-US" sz="1000" b="0">
                <a:highlight>
                  <a:srgbClr val="FFFFFF"/>
                </a:highlight>
                <a:latin typeface="Arial"/>
                <a:ea typeface="Arial"/>
                <a:cs typeface="Arial"/>
                <a:sym typeface="Arial"/>
              </a:rPr>
              <a:t> More Info - More Info - APPLICATION MANAGEMENT SERVICES 1.3 c) Application Operations Incident Management.</a:t>
            </a:r>
            <a:endParaRPr sz="1000" b="0">
              <a:highlight>
                <a:srgbClr val="FFFFFF"/>
              </a:highlight>
              <a:latin typeface="Arial"/>
              <a:ea typeface="Arial"/>
              <a:cs typeface="Arial"/>
              <a:sym typeface="Arial"/>
            </a:endParaRPr>
          </a:p>
        </p:txBody>
      </p:sp>
      <p:graphicFrame>
        <p:nvGraphicFramePr>
          <p:cNvPr id="840" name="Google Shape;840;p88"/>
          <p:cNvGraphicFramePr/>
          <p:nvPr/>
        </p:nvGraphicFramePr>
        <p:xfrm>
          <a:off x="5538250" y="0"/>
          <a:ext cx="3000000" cy="3000000"/>
        </p:xfrm>
        <a:graphic>
          <a:graphicData uri="http://schemas.openxmlformats.org/drawingml/2006/table">
            <a:tbl>
              <a:tblPr>
                <a:noFill/>
                <a:tableStyleId>{B160F1D3-B883-4AC0-8E5A-4BE9966CEF15}</a:tableStyleId>
              </a:tblPr>
              <a:tblGrid>
                <a:gridCol w="1119550"/>
                <a:gridCol w="2348125"/>
              </a:tblGrid>
              <a:tr h="369300">
                <a:tc>
                  <a:txBody>
                    <a:bodyPr/>
                    <a:lstStyle/>
                    <a:p>
                      <a:pPr marL="0" lvl="0" indent="0" algn="l" rtl="0">
                        <a:spcBef>
                          <a:spcPts val="0"/>
                        </a:spcBef>
                        <a:spcAft>
                          <a:spcPts val="0"/>
                        </a:spcAft>
                        <a:buNone/>
                      </a:pPr>
                      <a:r>
                        <a:rPr lang="en-US" b="1"/>
                        <a:t>Effort Type</a:t>
                      </a:r>
                      <a:endParaRPr b="1"/>
                    </a:p>
                  </a:txBody>
                  <a:tcPr marL="91425" marR="91425" marT="91425" marB="91425">
                    <a:solidFill>
                      <a:srgbClr val="FFFFFF"/>
                    </a:solidFill>
                  </a:tcPr>
                </a:tc>
                <a:tc>
                  <a:txBody>
                    <a:bodyPr/>
                    <a:lstStyle/>
                    <a:p>
                      <a:pPr marL="0" lvl="0" indent="0" algn="l" rtl="0">
                        <a:spcBef>
                          <a:spcPts val="0"/>
                        </a:spcBef>
                        <a:spcAft>
                          <a:spcPts val="0"/>
                        </a:spcAft>
                        <a:buNone/>
                      </a:pPr>
                      <a:r>
                        <a:rPr lang="en-US" b="1"/>
                        <a:t>Application Maintenance</a:t>
                      </a:r>
                      <a:endParaRPr b="1"/>
                    </a:p>
                  </a:txBody>
                  <a:tcPr marL="91425" marR="91425" marT="91425" marB="91425">
                    <a:solidFill>
                      <a:srgbClr val="FFFFFF"/>
                    </a:solidFill>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844"/>
        <p:cNvGrpSpPr/>
        <p:nvPr/>
      </p:nvGrpSpPr>
      <p:grpSpPr>
        <a:xfrm>
          <a:off x="0" y="0"/>
          <a:ext cx="0" cy="0"/>
          <a:chOff x="0" y="0"/>
          <a:chExt cx="0" cy="0"/>
        </a:xfrm>
      </p:grpSpPr>
      <p:sp>
        <p:nvSpPr>
          <p:cNvPr id="845" name="Google Shape;845;p89"/>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Service Request &amp; Trouble Ticket Management Application Operations Incident Management</a:t>
            </a:r>
            <a:endParaRPr/>
          </a:p>
        </p:txBody>
      </p:sp>
      <p:sp>
        <p:nvSpPr>
          <p:cNvPr id="846" name="Google Shape;846;p89"/>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47" name="Google Shape;847;p89"/>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57</a:t>
            </a:fld>
            <a:endParaRPr/>
          </a:p>
        </p:txBody>
      </p:sp>
      <p:sp>
        <p:nvSpPr>
          <p:cNvPr id="848" name="Google Shape;848;p89"/>
          <p:cNvSpPr txBox="1">
            <a:spLocks noGrp="1"/>
          </p:cNvSpPr>
          <p:nvPr>
            <p:ph type="body" idx="1"/>
          </p:nvPr>
        </p:nvSpPr>
        <p:spPr>
          <a:xfrm>
            <a:off x="457200" y="1276350"/>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b="0">
                <a:highlight>
                  <a:srgbClr val="FFFFFF"/>
                </a:highlight>
                <a:latin typeface="Arial"/>
                <a:ea typeface="Arial"/>
                <a:cs typeface="Arial"/>
                <a:sym typeface="Arial"/>
              </a:rPr>
              <a:t>Supplier shall perform service request and trouble ticket management Services, which are those Services associated with tracking and managing to resolution all inquiries, service requests, Incidents and Problems, including escalation to second-level specialists (e.g., Supplier resources, Verizon resources, or other third parties) through a well-defined process, including restoring normal service operation in a manner that minimizes adverse impact on business operations as a result of Incidents and Problems (including Incidents and Problems caused by errors in the IT Infrastructure). Supplier shall also perform Incident and Problem management Services, which also include Services associated with preventing the recurrence of Incidents, including by performing root cause analysis of Incidents and initiating actions to improve or correct the situation.</a:t>
            </a:r>
            <a:endParaRPr sz="1400" b="0">
              <a:highlight>
                <a:srgbClr val="FFFFFF"/>
              </a:highlight>
              <a:latin typeface="Arial"/>
              <a:ea typeface="Arial"/>
              <a:cs typeface="Arial"/>
              <a:sym typeface="Arial"/>
            </a:endParaRPr>
          </a:p>
          <a:p>
            <a:pPr marL="0" lvl="0" indent="0" algn="l" rtl="0">
              <a:spcBef>
                <a:spcPts val="900"/>
              </a:spcBef>
              <a:spcAft>
                <a:spcPts val="0"/>
              </a:spcAft>
              <a:buNone/>
            </a:pPr>
            <a:r>
              <a:rPr lang="en-US" sz="1400" b="0">
                <a:highlight>
                  <a:srgbClr val="FFFFFF"/>
                </a:highlight>
                <a:latin typeface="Arial"/>
                <a:ea typeface="Arial"/>
                <a:cs typeface="Arial"/>
                <a:sym typeface="Arial"/>
              </a:rPr>
              <a:t> Root Cause Analysis. Supplier will develop, implement, and maintain a root cause analysis process and perform the activities required to diagnose, analyze, recommend, and take corrective measures to prevent recurring Incidents, Problems, inquiries or requests. Root cause analysis process exists to prevent recurring Problems/trends and continually improve the Services and operations at Verizon. Supplier’s root cause analysis responsibilities will include</a:t>
            </a:r>
            <a:r>
              <a:rPr lang="en-US" sz="850" b="0">
                <a:highlight>
                  <a:srgbClr val="FFFFFF"/>
                </a:highlight>
                <a:latin typeface="Arial"/>
                <a:ea typeface="Arial"/>
                <a:cs typeface="Arial"/>
                <a:sym typeface="Arial"/>
              </a:rPr>
              <a:t>:</a:t>
            </a:r>
            <a:endParaRPr sz="850" b="0">
              <a:highlight>
                <a:srgbClr val="FFFFFF"/>
              </a:highlight>
              <a:latin typeface="Arial"/>
              <a:ea typeface="Arial"/>
              <a:cs typeface="Arial"/>
              <a:sym typeface="Arial"/>
            </a:endParaRPr>
          </a:p>
          <a:p>
            <a:pPr marL="0" lvl="0" indent="0" algn="l" rtl="0">
              <a:spcBef>
                <a:spcPts val="900"/>
              </a:spcBef>
              <a:spcAft>
                <a:spcPts val="0"/>
              </a:spcAft>
              <a:buNone/>
            </a:pPr>
            <a:r>
              <a:rPr lang="en-US" sz="850" b="0">
                <a:highlight>
                  <a:srgbClr val="FFFFFF"/>
                </a:highlight>
                <a:latin typeface="Arial"/>
                <a:ea typeface="Arial"/>
                <a:cs typeface="Arial"/>
                <a:sym typeface="Arial"/>
              </a:rPr>
              <a:t> </a:t>
            </a:r>
            <a:endParaRPr sz="850" b="0">
              <a:highlight>
                <a:srgbClr val="FFFFFF"/>
              </a:highlight>
              <a:latin typeface="Arial"/>
              <a:ea typeface="Arial"/>
              <a:cs typeface="Arial"/>
              <a:sym typeface="Arial"/>
            </a:endParaRPr>
          </a:p>
          <a:p>
            <a:pPr marL="0" lvl="0" indent="0" algn="l" rtl="0">
              <a:spcBef>
                <a:spcPts val="900"/>
              </a:spcBef>
              <a:spcAft>
                <a:spcPts val="0"/>
              </a:spcAft>
              <a:buNone/>
            </a:pPr>
            <a:r>
              <a:rPr lang="en-US" sz="850" b="0">
                <a:highlight>
                  <a:srgbClr val="FFFFFF"/>
                </a:highlight>
                <a:latin typeface="Arial"/>
                <a:ea typeface="Arial"/>
                <a:cs typeface="Arial"/>
                <a:sym typeface="Arial"/>
              </a:rPr>
              <a:t> </a:t>
            </a:r>
            <a:endParaRPr sz="1000" b="0">
              <a:highlight>
                <a:srgbClr val="FFFFFF"/>
              </a:highlight>
              <a:latin typeface="Arial"/>
              <a:ea typeface="Arial"/>
              <a:cs typeface="Arial"/>
              <a:sym typeface="Arial"/>
            </a:endParaRPr>
          </a:p>
        </p:txBody>
      </p:sp>
      <p:graphicFrame>
        <p:nvGraphicFramePr>
          <p:cNvPr id="849" name="Google Shape;849;p89"/>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90"/>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Service Request &amp; Trouble Ticket Management </a:t>
            </a:r>
            <a:endParaRPr/>
          </a:p>
        </p:txBody>
      </p:sp>
      <p:sp>
        <p:nvSpPr>
          <p:cNvPr id="855" name="Google Shape;855;p90"/>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56" name="Google Shape;856;p90"/>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58</a:t>
            </a:fld>
            <a:endParaRPr/>
          </a:p>
        </p:txBody>
      </p:sp>
      <p:sp>
        <p:nvSpPr>
          <p:cNvPr id="857" name="Google Shape;857;p90"/>
          <p:cNvSpPr txBox="1">
            <a:spLocks noGrp="1"/>
          </p:cNvSpPr>
          <p:nvPr>
            <p:ph type="body" idx="1"/>
          </p:nvPr>
        </p:nvSpPr>
        <p:spPr>
          <a:xfrm>
            <a:off x="457200" y="1053450"/>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850" b="0">
                <a:highlight>
                  <a:srgbClr val="FFFFFF"/>
                </a:highlight>
                <a:latin typeface="Arial"/>
                <a:ea typeface="Arial"/>
                <a:cs typeface="Arial"/>
                <a:sym typeface="Arial"/>
              </a:rPr>
              <a:t> </a:t>
            </a:r>
            <a:r>
              <a:rPr lang="en-US" sz="1200" b="0">
                <a:highlight>
                  <a:srgbClr val="FFFFFF"/>
                </a:highlight>
                <a:latin typeface="Arial"/>
                <a:ea typeface="Arial"/>
                <a:cs typeface="Arial"/>
                <a:sym typeface="Arial"/>
              </a:rPr>
              <a:t>(i) Identifying the root cause of each Incident or Problem;</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(ii) Developing action plans that permanently eliminate the recurring Problem or Incident;</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(iii) Ensuring appropriate resources are assigned as may be necessary to identify and remedy the Problem or Incident, and track and report on any consequences of the Problem or Incident;</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(iv) Providing root cause reports to Verizon that detail the cause of, the time-to-resolve, and the actions required to eliminate such Incidents or Problems;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(v) Substantiating to Verizon that all reasonable actions have been taken to prevent recurrence of such Problem or Incident; and</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(vi) Identifying the root cause of such Incidents Problems or failures, where possible.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Perform root cause analysis for all Incidents and Problems identified by Verizon as requiring root cause analysis.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Perform root cause analysis for all for a Performance Failure with respect to a CPI or KPI or for any Major Incident ; recommend appropriate resolution actions, where/whenever possible</a:t>
            </a:r>
            <a:endParaRPr sz="1200" b="0">
              <a:highlight>
                <a:srgbClr val="FFFFFF"/>
              </a:highlight>
              <a:latin typeface="Arial"/>
              <a:ea typeface="Arial"/>
              <a:cs typeface="Arial"/>
              <a:sym typeface="Arial"/>
            </a:endParaRPr>
          </a:p>
          <a:p>
            <a:pPr marL="0" lvl="0" indent="0" algn="l" rtl="0">
              <a:spcBef>
                <a:spcPts val="900"/>
              </a:spcBef>
              <a:spcAft>
                <a:spcPts val="0"/>
              </a:spcAft>
              <a:buNone/>
            </a:pPr>
            <a:endParaRPr sz="1000" b="0">
              <a:highlight>
                <a:srgbClr val="FFFFFF"/>
              </a:highlight>
              <a:latin typeface="Arial"/>
              <a:ea typeface="Arial"/>
              <a:cs typeface="Arial"/>
              <a:sym typeface="Arial"/>
            </a:endParaRPr>
          </a:p>
        </p:txBody>
      </p:sp>
      <p:graphicFrame>
        <p:nvGraphicFramePr>
          <p:cNvPr id="858" name="Google Shape;858;p90"/>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p91"/>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Service Request &amp; Trouble Ticket Management </a:t>
            </a:r>
            <a:endParaRPr/>
          </a:p>
        </p:txBody>
      </p:sp>
      <p:sp>
        <p:nvSpPr>
          <p:cNvPr id="864" name="Google Shape;864;p91"/>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65" name="Google Shape;865;p91"/>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59</a:t>
            </a:fld>
            <a:endParaRPr/>
          </a:p>
        </p:txBody>
      </p:sp>
      <p:sp>
        <p:nvSpPr>
          <p:cNvPr id="866" name="Google Shape;866;p91"/>
          <p:cNvSpPr txBox="1">
            <a:spLocks noGrp="1"/>
          </p:cNvSpPr>
          <p:nvPr>
            <p:ph type="body" idx="1"/>
          </p:nvPr>
        </p:nvSpPr>
        <p:spPr>
          <a:xfrm>
            <a:off x="457200" y="1053450"/>
            <a:ext cx="8121900" cy="19320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Track and report onto the Knowledge Management System progress of all root cause analysis efforts to confirm that root cause analysis is performed and reported on (Incident reports/trouble tickets to remain open until root cause analysis report is completed and submitted) and report that all reasonable actions have been taken to prevent future recurrence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Provide Verizon with a written report detailing the cause of and procedure for correcting such failure; provide updates on a monthly basis until closure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Document to Verizon that all reasonable actions have been taken to prevent recurrence of such failure.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More information 1.3 d) Service Request and Trouble Ticket Management</a:t>
            </a:r>
            <a:endParaRPr sz="1200" b="0">
              <a:highlight>
                <a:srgbClr val="FFFFFF"/>
              </a:highlight>
              <a:latin typeface="Arial"/>
              <a:ea typeface="Arial"/>
              <a:cs typeface="Arial"/>
              <a:sym typeface="Arial"/>
            </a:endParaRPr>
          </a:p>
          <a:p>
            <a:pPr marL="0" lvl="0" indent="0" algn="l" rtl="0">
              <a:spcBef>
                <a:spcPts val="900"/>
              </a:spcBef>
              <a:spcAft>
                <a:spcPts val="0"/>
              </a:spcAft>
              <a:buNone/>
            </a:pPr>
            <a:endParaRPr sz="1000" b="0">
              <a:highlight>
                <a:srgbClr val="FFFFFF"/>
              </a:highlight>
              <a:latin typeface="Arial"/>
              <a:ea typeface="Arial"/>
              <a:cs typeface="Arial"/>
              <a:sym typeface="Arial"/>
            </a:endParaRPr>
          </a:p>
        </p:txBody>
      </p:sp>
      <p:graphicFrame>
        <p:nvGraphicFramePr>
          <p:cNvPr id="867" name="Google Shape;867;p91"/>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92"/>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Minor Enhancement Development </a:t>
            </a:r>
            <a:endParaRPr/>
          </a:p>
        </p:txBody>
      </p:sp>
      <p:sp>
        <p:nvSpPr>
          <p:cNvPr id="873" name="Google Shape;873;p92"/>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74" name="Google Shape;874;p92"/>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60</a:t>
            </a:fld>
            <a:endParaRPr/>
          </a:p>
        </p:txBody>
      </p:sp>
      <p:sp>
        <p:nvSpPr>
          <p:cNvPr id="875" name="Google Shape;875;p92"/>
          <p:cNvSpPr txBox="1">
            <a:spLocks noGrp="1"/>
          </p:cNvSpPr>
          <p:nvPr>
            <p:ph type="body" idx="1"/>
          </p:nvPr>
        </p:nvSpPr>
        <p:spPr>
          <a:xfrm>
            <a:off x="457200" y="1053450"/>
            <a:ext cx="8121900" cy="29601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400">
                <a:highlight>
                  <a:srgbClr val="FFFFFF"/>
                </a:highlight>
                <a:latin typeface="Arial"/>
                <a:ea typeface="Arial"/>
                <a:cs typeface="Arial"/>
                <a:sym typeface="Arial"/>
              </a:rPr>
              <a:t>A Minor Enhancement means a small, isolated or minor item of development work implemented in less than 120 Person Hours that is required to be performed as part of Application Maintenance as described in this AM SOW. Supplier shall perform Minor Enhancements, including:</a:t>
            </a: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 designing, developing and testing Minor Enhancements to In-Scope Applications, utilizing Software development processes and controls appropriate for such work; and</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 updating user, system, operations, and global service desk Documentation.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iii. In addition, Supplier shall provide warranty support for all Minor Enhancements in accordance with Section19.5 of the Master Agreement.</a:t>
            </a:r>
            <a:endParaRPr sz="1200" b="0">
              <a:highlight>
                <a:srgbClr val="FFFFFF"/>
              </a:highlight>
              <a:latin typeface="Arial"/>
              <a:ea typeface="Arial"/>
              <a:cs typeface="Arial"/>
              <a:sym typeface="Arial"/>
            </a:endParaRPr>
          </a:p>
        </p:txBody>
      </p:sp>
      <p:graphicFrame>
        <p:nvGraphicFramePr>
          <p:cNvPr id="876" name="Google Shape;876;p92"/>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KTLO</a:t>
                      </a:r>
                      <a:endParaRPr b="1"/>
                    </a:p>
                  </a:txBody>
                  <a:tcPr marL="91425" marR="91425" marT="91425" marB="91425"/>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93"/>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Security &amp; Compliance Maintenance </a:t>
            </a:r>
            <a:endParaRPr/>
          </a:p>
        </p:txBody>
      </p:sp>
      <p:sp>
        <p:nvSpPr>
          <p:cNvPr id="882" name="Google Shape;882;p93"/>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83" name="Google Shape;883;p93"/>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61</a:t>
            </a:fld>
            <a:endParaRPr/>
          </a:p>
        </p:txBody>
      </p:sp>
      <p:sp>
        <p:nvSpPr>
          <p:cNvPr id="884" name="Google Shape;884;p93"/>
          <p:cNvSpPr txBox="1">
            <a:spLocks noGrp="1"/>
          </p:cNvSpPr>
          <p:nvPr>
            <p:ph type="body" idx="1"/>
          </p:nvPr>
        </p:nvSpPr>
        <p:spPr>
          <a:xfrm>
            <a:off x="457200" y="1019975"/>
            <a:ext cx="8121900" cy="33852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 Adopt and comply global health checking processes and procedures for Service delivery.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Coordinate closure of Application related vulnerabilities with Verizon.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Proactively manage security certificates prior to expire. Request, install, and validate the deployment of new certificates prior to expire as defined by Verizon Governance.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Coordinate with Verizon and middleware support to ensure patching schedules do not adversely impact functional deployments.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Supplier will notify Verizon where security related issues are identified as part of ongoing monitoring activities.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Adhere to Verizon standards for security advisory severity and resolve.</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For applicable security advisories, related to application code, from Verizon follow Change and/or Problem Management process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Support security audit activities (e.g. Pen Test, etc.) for in-scope applications and complete any application remediations, as determined by Verizon,that are required to meet overall security requirements.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p:txBody>
      </p:sp>
      <p:graphicFrame>
        <p:nvGraphicFramePr>
          <p:cNvPr id="885" name="Google Shape;885;p93"/>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889"/>
        <p:cNvGrpSpPr/>
        <p:nvPr/>
      </p:nvGrpSpPr>
      <p:grpSpPr>
        <a:xfrm>
          <a:off x="0" y="0"/>
          <a:ext cx="0" cy="0"/>
          <a:chOff x="0" y="0"/>
          <a:chExt cx="0" cy="0"/>
        </a:xfrm>
      </p:grpSpPr>
      <p:sp>
        <p:nvSpPr>
          <p:cNvPr id="890" name="Google Shape;890;p94"/>
          <p:cNvSpPr txBox="1">
            <a:spLocks noGrp="1"/>
          </p:cNvSpPr>
          <p:nvPr>
            <p:ph type="title"/>
          </p:nvPr>
        </p:nvSpPr>
        <p:spPr>
          <a:xfrm>
            <a:off x="457200" y="590550"/>
            <a:ext cx="8229600" cy="685800"/>
          </a:xfrm>
          <a:prstGeom prst="rect">
            <a:avLst/>
          </a:prstGeom>
          <a:noFill/>
          <a:ln>
            <a:noFill/>
          </a:ln>
        </p:spPr>
        <p:txBody>
          <a:bodyPr spcFirstLastPara="1" wrap="square" lIns="0" tIns="0" rIns="0" bIns="0" anchor="t" anchorCtr="0">
            <a:noAutofit/>
          </a:bodyPr>
          <a:lstStyle/>
          <a:p>
            <a:pPr marL="0" lvl="0" indent="0" algn="l" rtl="0">
              <a:lnSpc>
                <a:spcPct val="80000"/>
              </a:lnSpc>
              <a:spcBef>
                <a:spcPts val="0"/>
              </a:spcBef>
              <a:spcAft>
                <a:spcPts val="0"/>
              </a:spcAft>
              <a:buClr>
                <a:schemeClr val="dk1"/>
              </a:buClr>
              <a:buSzPts val="2400"/>
              <a:buFont typeface="Verizon NHG DS"/>
              <a:buNone/>
            </a:pPr>
            <a:r>
              <a:rPr lang="en-US"/>
              <a:t>Security &amp; Compliance Maintenance </a:t>
            </a:r>
            <a:endParaRPr/>
          </a:p>
        </p:txBody>
      </p:sp>
      <p:sp>
        <p:nvSpPr>
          <p:cNvPr id="891" name="Google Shape;891;p94"/>
          <p:cNvSpPr txBox="1"/>
          <p:nvPr/>
        </p:nvSpPr>
        <p:spPr>
          <a:xfrm>
            <a:off x="2304288" y="3084576"/>
            <a:ext cx="184800" cy="369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Verizon NHG TX"/>
              <a:ea typeface="Verizon NHG TX"/>
              <a:cs typeface="Verizon NHG TX"/>
              <a:sym typeface="Verizon NHG TX"/>
            </a:endParaRPr>
          </a:p>
        </p:txBody>
      </p:sp>
      <p:sp>
        <p:nvSpPr>
          <p:cNvPr id="892" name="Google Shape;892;p94"/>
          <p:cNvSpPr txBox="1">
            <a:spLocks noGrp="1"/>
          </p:cNvSpPr>
          <p:nvPr>
            <p:ph type="sldNum" idx="12"/>
          </p:nvPr>
        </p:nvSpPr>
        <p:spPr>
          <a:xfrm>
            <a:off x="8458200" y="4700016"/>
            <a:ext cx="2286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Clr>
                <a:srgbClr val="000000"/>
              </a:buClr>
              <a:buSzPts val="700"/>
              <a:buFont typeface="Arial"/>
              <a:buNone/>
            </a:pPr>
            <a:fld id="{00000000-1234-1234-1234-123412341234}" type="slidenum">
              <a:rPr lang="en-US"/>
              <a:t>62</a:t>
            </a:fld>
            <a:endParaRPr/>
          </a:p>
        </p:txBody>
      </p:sp>
      <p:sp>
        <p:nvSpPr>
          <p:cNvPr id="893" name="Google Shape;893;p94"/>
          <p:cNvSpPr txBox="1">
            <a:spLocks noGrp="1"/>
          </p:cNvSpPr>
          <p:nvPr>
            <p:ph type="body" idx="1"/>
          </p:nvPr>
        </p:nvSpPr>
        <p:spPr>
          <a:xfrm>
            <a:off x="457200" y="1053450"/>
            <a:ext cx="8121900" cy="2554800"/>
          </a:xfrm>
          <a:prstGeom prst="rect">
            <a:avLst/>
          </a:prstGeom>
        </p:spPr>
        <p:txBody>
          <a:bodyPr spcFirstLastPara="1" wrap="square" lIns="0" tIns="0" rIns="0" bIns="0" anchor="t" anchorCtr="0">
            <a:noAutofit/>
          </a:bodyPr>
          <a:lstStyle/>
          <a:p>
            <a:pPr marL="0" lvl="0" indent="0" algn="l" rtl="0">
              <a:spcBef>
                <a:spcPts val="900"/>
              </a:spcBef>
              <a:spcAft>
                <a:spcPts val="0"/>
              </a:spcAft>
              <a:buNone/>
            </a:pPr>
            <a:r>
              <a:rPr lang="en-US" sz="1200" b="0">
                <a:highlight>
                  <a:srgbClr val="FFFFFF"/>
                </a:highlight>
                <a:latin typeface="Arial"/>
                <a:ea typeface="Arial"/>
                <a:cs typeface="Arial"/>
                <a:sym typeface="Arial"/>
              </a:rPr>
              <a:t> Provide support for any Verizon mandated global security remediations. (e.g. Netgroups, etc.)</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Adopt global health checking processes and procedures for Service delivery. </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Immediate notification by Supplier user ID deletion requirements per Verizon procedure including personnel leaving the project or the Supplier.</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Supplier will notify Verizon where compliance related issues are identified as part of ongoing monitoring activities.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Maintain applicable operational processes and procedures as defined by Verizon</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Support compliance audit activities (e.g. SOX, etc.) for in-scope applications, services under this agreement and complete any remediations, as determined by Verizon, that are required to meet overall compliance policies.</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Provide support for any Verizon mandated global compliance remediations. (e.g. TLS 1.2, etc.)</a:t>
            </a:r>
            <a:endParaRPr sz="1200" b="0">
              <a:highlight>
                <a:srgbClr val="FFFFFF"/>
              </a:highlight>
              <a:latin typeface="Arial"/>
              <a:ea typeface="Arial"/>
              <a:cs typeface="Arial"/>
              <a:sym typeface="Arial"/>
            </a:endParaRPr>
          </a:p>
          <a:p>
            <a:pPr marL="0" lvl="0" indent="0" algn="l" rtl="0">
              <a:spcBef>
                <a:spcPts val="900"/>
              </a:spcBef>
              <a:spcAft>
                <a:spcPts val="0"/>
              </a:spcAft>
              <a:buNone/>
            </a:pPr>
            <a:r>
              <a:rPr lang="en-US" sz="1200" b="0">
                <a:highlight>
                  <a:srgbClr val="FFFFFF"/>
                </a:highlight>
                <a:latin typeface="Arial"/>
                <a:ea typeface="Arial"/>
                <a:cs typeface="Arial"/>
                <a:sym typeface="Arial"/>
              </a:rPr>
              <a:t> </a:t>
            </a:r>
            <a:endParaRPr sz="1200" b="0">
              <a:highlight>
                <a:srgbClr val="FFFFFF"/>
              </a:highlight>
              <a:latin typeface="Arial"/>
              <a:ea typeface="Arial"/>
              <a:cs typeface="Arial"/>
              <a:sym typeface="Arial"/>
            </a:endParaRPr>
          </a:p>
        </p:txBody>
      </p:sp>
      <p:graphicFrame>
        <p:nvGraphicFramePr>
          <p:cNvPr id="894" name="Google Shape;894;p94"/>
          <p:cNvGraphicFramePr/>
          <p:nvPr/>
        </p:nvGraphicFramePr>
        <p:xfrm>
          <a:off x="5566550" y="-11400"/>
          <a:ext cx="3000000" cy="3000000"/>
        </p:xfrm>
        <a:graphic>
          <a:graphicData uri="http://schemas.openxmlformats.org/drawingml/2006/table">
            <a:tbl>
              <a:tblPr>
                <a:noFill/>
                <a:tableStyleId>{B160F1D3-B883-4AC0-8E5A-4BE9966CEF15}</a:tableStyleId>
              </a:tblPr>
              <a:tblGrid>
                <a:gridCol w="1124125"/>
                <a:gridCol w="2357725"/>
              </a:tblGrid>
              <a:tr h="381000">
                <a:tc>
                  <a:txBody>
                    <a:bodyPr/>
                    <a:lstStyle/>
                    <a:p>
                      <a:pPr marL="0" lvl="0" indent="0" algn="l" rtl="0">
                        <a:spcBef>
                          <a:spcPts val="0"/>
                        </a:spcBef>
                        <a:spcAft>
                          <a:spcPts val="0"/>
                        </a:spcAft>
                        <a:buNone/>
                      </a:pPr>
                      <a:r>
                        <a:rPr lang="en-US" b="1"/>
                        <a:t>Effort Type</a:t>
                      </a:r>
                      <a:endParaRPr b="1"/>
                    </a:p>
                  </a:txBody>
                  <a:tcPr marL="91425" marR="91425" marT="91425" marB="91425"/>
                </a:tc>
                <a:tc>
                  <a:txBody>
                    <a:bodyPr/>
                    <a:lstStyle/>
                    <a:p>
                      <a:pPr marL="0" lvl="0" indent="0" algn="l" rtl="0">
                        <a:spcBef>
                          <a:spcPts val="0"/>
                        </a:spcBef>
                        <a:spcAft>
                          <a:spcPts val="0"/>
                        </a:spcAft>
                        <a:buNone/>
                      </a:pPr>
                      <a:r>
                        <a:rPr lang="en-US" b="1"/>
                        <a:t>Application Maintenance</a:t>
                      </a:r>
                      <a:endParaRPr b="1"/>
                    </a:p>
                  </a:txBody>
                  <a:tcPr marL="91425" marR="91425" marT="91425" marB="91425"/>
                </a:tc>
              </a:tr>
            </a:tbl>
          </a:graphicData>
        </a:graphic>
      </p:graphicFrame>
    </p:spTree>
  </p:cSld>
  <p:clrMapOvr>
    <a:masterClrMapping/>
  </p:clrMapOvr>
</p:sld>
</file>

<file path=ppt/theme/theme1.xml><?xml version="1.0" encoding="utf-8"?>
<a:theme xmlns:a="http://schemas.openxmlformats.org/drawingml/2006/main" name="Verizon PowerPoint 2017">
  <a:themeElements>
    <a:clrScheme name="Custom 3">
      <a:dk1>
        <a:srgbClr val="000000"/>
      </a:dk1>
      <a:lt1>
        <a:srgbClr val="FFFFFF"/>
      </a:lt1>
      <a:dk2>
        <a:srgbClr val="000000"/>
      </a:dk2>
      <a:lt2>
        <a:srgbClr val="FFFFFF"/>
      </a:lt2>
      <a:accent1>
        <a:srgbClr val="D52B1E"/>
      </a:accent1>
      <a:accent2>
        <a:srgbClr val="D8DADA"/>
      </a:accent2>
      <a:accent3>
        <a:srgbClr val="FFBC3D"/>
      </a:accent3>
      <a:accent4>
        <a:srgbClr val="ED7000"/>
      </a:accent4>
      <a:accent5>
        <a:srgbClr val="00AC3E"/>
      </a:accent5>
      <a:accent6>
        <a:srgbClr val="0088CE"/>
      </a:accent6>
      <a:hlink>
        <a:srgbClr val="000000"/>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Verizon PowerPoint 2017">
  <a:themeElements>
    <a:clrScheme name="Custom 3">
      <a:dk1>
        <a:srgbClr val="000000"/>
      </a:dk1>
      <a:lt1>
        <a:srgbClr val="FFFFFF"/>
      </a:lt1>
      <a:dk2>
        <a:srgbClr val="000000"/>
      </a:dk2>
      <a:lt2>
        <a:srgbClr val="FFFFFF"/>
      </a:lt2>
      <a:accent1>
        <a:srgbClr val="D52B1E"/>
      </a:accent1>
      <a:accent2>
        <a:srgbClr val="D8DADA"/>
      </a:accent2>
      <a:accent3>
        <a:srgbClr val="FFBC3D"/>
      </a:accent3>
      <a:accent4>
        <a:srgbClr val="ED7000"/>
      </a:accent4>
      <a:accent5>
        <a:srgbClr val="00AC3E"/>
      </a:accent5>
      <a:accent6>
        <a:srgbClr val="0088CE"/>
      </a:accent6>
      <a:hlink>
        <a:srgbClr val="000000"/>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8499</Words>
  <Application>Microsoft Office PowerPoint</Application>
  <PresentationFormat>On-screen Show (16:9)</PresentationFormat>
  <Paragraphs>843</Paragraphs>
  <Slides>62</Slides>
  <Notes>62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62</vt:i4>
      </vt:variant>
    </vt:vector>
  </HeadingPairs>
  <TitlesOfParts>
    <vt:vector size="69" baseType="lpstr">
      <vt:lpstr>Arial</vt:lpstr>
      <vt:lpstr>Verizon NHG DS</vt:lpstr>
      <vt:lpstr>Verizon NHG TX</vt:lpstr>
      <vt:lpstr>Neue Haas Grotesk Text Std</vt:lpstr>
      <vt:lpstr>Calibri</vt:lpstr>
      <vt:lpstr>Verizon PowerPoint 2017</vt:lpstr>
      <vt:lpstr>Verizon PowerPoint 2017</vt:lpstr>
      <vt:lpstr>KTLO  Definition, Workflow &amp; Examples  February 12, 2020</vt:lpstr>
      <vt:lpstr>Application Maintenance / SOW2 Effort categories</vt:lpstr>
      <vt:lpstr>Contracted KTLO efforts for Cluster D -  SOW 2</vt:lpstr>
      <vt:lpstr>Major Sections in SOW2</vt:lpstr>
      <vt:lpstr>Sources for KTLO</vt:lpstr>
      <vt:lpstr>PowerPoint Presentation</vt:lpstr>
      <vt:lpstr>KTLO Activities - Definition, Examples</vt:lpstr>
      <vt:lpstr>Adaptive Maintenance    </vt:lpstr>
      <vt:lpstr>Preventive Maintenance </vt:lpstr>
      <vt:lpstr>Perfective Maintenance</vt:lpstr>
      <vt:lpstr>Capacity Management</vt:lpstr>
      <vt:lpstr>Performance Management</vt:lpstr>
      <vt:lpstr>Application Optimization    </vt:lpstr>
      <vt:lpstr>Minor Enhancements</vt:lpstr>
      <vt:lpstr>Security Management &amp; Availability Management - KTLO Eligible</vt:lpstr>
      <vt:lpstr>Security &amp; Compliance Maintenance</vt:lpstr>
      <vt:lpstr>Unacceptable Entries </vt:lpstr>
      <vt:lpstr>Unacceptable Entries </vt:lpstr>
      <vt:lpstr>Workstream wise budget &amp; FAQs </vt:lpstr>
      <vt:lpstr>KTLO - Suggested Utilization by Workstreams</vt:lpstr>
      <vt:lpstr>FAQs</vt:lpstr>
      <vt:lpstr>Appendix</vt:lpstr>
      <vt:lpstr>Approved KTLO Hours</vt:lpstr>
      <vt:lpstr>Adaptive Maintenance</vt:lpstr>
      <vt:lpstr>Perfective Maintenance </vt:lpstr>
      <vt:lpstr>Preventive Maintenance</vt:lpstr>
      <vt:lpstr>Performance Management</vt:lpstr>
      <vt:lpstr>Application Optimization</vt:lpstr>
      <vt:lpstr>Capacity Management</vt:lpstr>
      <vt:lpstr>Minor Enhancement Development </vt:lpstr>
      <vt:lpstr>Corrective &amp; Emergency Maintenance </vt:lpstr>
      <vt:lpstr>Preventive Maintenance</vt:lpstr>
      <vt:lpstr>Adaptive Maintenance</vt:lpstr>
      <vt:lpstr>Perfective Maintenance </vt:lpstr>
      <vt:lpstr>Application Optimization</vt:lpstr>
      <vt:lpstr>Security Management </vt:lpstr>
      <vt:lpstr>Security Management </vt:lpstr>
      <vt:lpstr>Security Management </vt:lpstr>
      <vt:lpstr>Availability Management </vt:lpstr>
      <vt:lpstr>Availability Management </vt:lpstr>
      <vt:lpstr>Business Resiliency/Disaster Recovery</vt:lpstr>
      <vt:lpstr>Business Resiliency/Disaster Recovery</vt:lpstr>
      <vt:lpstr>Monitoring</vt:lpstr>
      <vt:lpstr>Special Services</vt:lpstr>
      <vt:lpstr>Special Services </vt:lpstr>
      <vt:lpstr>Special Services -   Performance Management</vt:lpstr>
      <vt:lpstr>Production Database Support</vt:lpstr>
      <vt:lpstr>Production Database Support</vt:lpstr>
      <vt:lpstr>Production Database Support</vt:lpstr>
      <vt:lpstr>Operational Support Services </vt:lpstr>
      <vt:lpstr>Operational Support Services </vt:lpstr>
      <vt:lpstr>Capacity Management</vt:lpstr>
      <vt:lpstr>Application Operations Incident Management </vt:lpstr>
      <vt:lpstr>Application Operations Incident Management</vt:lpstr>
      <vt:lpstr>Application Operations Incident Management </vt:lpstr>
      <vt:lpstr>Application Operations Incident Management </vt:lpstr>
      <vt:lpstr>Service Request &amp; Trouble Ticket Management Application Operations Incident Management</vt:lpstr>
      <vt:lpstr>Service Request &amp; Trouble Ticket Management </vt:lpstr>
      <vt:lpstr>Service Request &amp; Trouble Ticket Management </vt:lpstr>
      <vt:lpstr>Minor Enhancement Development </vt:lpstr>
      <vt:lpstr>Security &amp; Compliance Maintenance </vt:lpstr>
      <vt:lpstr>Security &amp; Compliance Maintenance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KTLO  Definition, Workflow &amp; Examples  February 12, 2020</dc:title>
  <dc:creator>Perez-Armesto, Ignacio</dc:creator>
  <cp:lastModifiedBy>Perez-Armesto, Ignacio</cp:lastModifiedBy>
  <cp:revision>1</cp:revision>
  <dcterms:modified xsi:type="dcterms:W3CDTF">2020-04-15T14:09:03Z</dcterms:modified>
</cp:coreProperties>
</file>