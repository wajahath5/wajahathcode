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79" r:id="rId2"/>
    <p:sldId id="314" r:id="rId3"/>
    <p:sldId id="315" r:id="rId4"/>
    <p:sldId id="316" r:id="rId5"/>
    <p:sldId id="311" r:id="rId6"/>
    <p:sldId id="312" r:id="rId7"/>
    <p:sldId id="313" r:id="rId8"/>
    <p:sldId id="308" r:id="rId9"/>
    <p:sldId id="309" r:id="rId10"/>
    <p:sldId id="310" r:id="rId11"/>
    <p:sldId id="293" r:id="rId12"/>
    <p:sldId id="295" r:id="rId13"/>
    <p:sldId id="294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29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4660"/>
  </p:normalViewPr>
  <p:slideViewPr>
    <p:cSldViewPr snapToGrid="0">
      <p:cViewPr varScale="1">
        <p:scale>
          <a:sx n="81" d="100"/>
          <a:sy n="81" d="100"/>
        </p:scale>
        <p:origin x="-1026" y="-84"/>
      </p:cViewPr>
      <p:guideLst>
        <p:guide orient="horz" pos="2161"/>
        <p:guide orient="horz" pos="4120"/>
        <p:guide orient="horz" pos="504"/>
        <p:guide orient="horz" pos="385"/>
        <p:guide orient="horz" pos="787"/>
        <p:guide pos="288"/>
        <p:guide pos="5474"/>
        <p:guide pos="1926"/>
        <p:guide pos="38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B0D54-3DD0-43CD-9087-7072A5B4A392}" type="datetime4">
              <a:rPr lang="en-US" smtClean="0"/>
              <a:pPr/>
              <a:t>May 15, 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C631C-078A-4987-B0CD-9ADE9B4425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248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B2772-4E8E-45F5-98E8-217A419B487D}" type="datetime4">
              <a:rPr lang="en-US" smtClean="0"/>
              <a:pPr/>
              <a:t>May 15, 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15AFE-CDDE-4CAB-B321-50B3BF2639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428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a_pc_PPT_rgb_12c_a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27" name="Picture 3" descr="D:\aa_ppt_elements\aa_aa_tm_hrz_1cp_grd_pos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504688" y="495300"/>
            <a:ext cx="3195302" cy="484632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57199" y="2043404"/>
            <a:ext cx="8232775" cy="970384"/>
          </a:xfrm>
        </p:spPr>
        <p:txBody>
          <a:bodyPr anchor="b" anchorCtr="0">
            <a:noAutofit/>
          </a:bodyPr>
          <a:lstStyle>
            <a:lvl1pPr>
              <a:lnSpc>
                <a:spcPts val="3300"/>
              </a:lnSpc>
              <a:spcBef>
                <a:spcPts val="0"/>
              </a:spcBef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cover slide title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457199" y="1801368"/>
            <a:ext cx="2825496" cy="219456"/>
          </a:xfrm>
        </p:spPr>
        <p:txBody>
          <a:bodyPr/>
          <a:lstStyle>
            <a:lvl1pPr algn="l">
              <a:defRPr sz="1600"/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pic>
        <p:nvPicPr>
          <p:cNvPr id="1026" name="Picture 2" descr="D:\aa_ppt_elements\aa_aa_tm_hrz_rgb_grd_pos.png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hidden">
          <a:xfrm>
            <a:off x="5504688" y="493776"/>
            <a:ext cx="3195302" cy="484632"/>
          </a:xfrm>
          <a:prstGeom prst="rect">
            <a:avLst/>
          </a:prstGeom>
          <a:noFill/>
        </p:spPr>
      </p:pic>
      <p:pic>
        <p:nvPicPr>
          <p:cNvPr id="12" name="Picture 3" descr="D:\Oneworld_rgb_Logo.png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8245435" y="6040370"/>
            <a:ext cx="420687" cy="42068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/>
          <p:cNvSpPr>
            <a:spLocks noGrp="1"/>
          </p:cNvSpPr>
          <p:nvPr>
            <p:ph sz="quarter" idx="15"/>
          </p:nvPr>
        </p:nvSpPr>
        <p:spPr>
          <a:xfrm>
            <a:off x="457200" y="914400"/>
            <a:ext cx="8232775" cy="5614416"/>
          </a:xfrm>
        </p:spPr>
        <p:txBody>
          <a:bodyPr/>
          <a:lstStyle>
            <a:lvl1pPr marL="457200" indent="-457200">
              <a:buClr>
                <a:schemeClr val="tx2"/>
              </a:buClr>
              <a:buFont typeface="+mj-lt"/>
              <a:buAutoNum type="arabicPeriod"/>
              <a:defRPr/>
            </a:lvl1pPr>
            <a:lvl2pPr marL="688975" indent="-231775">
              <a:buClr>
                <a:schemeClr val="tx2"/>
              </a:buClr>
              <a:defRPr/>
            </a:lvl2pPr>
            <a:lvl3pPr marL="914400" indent="-225425">
              <a:buClr>
                <a:schemeClr val="tx2"/>
              </a:buClr>
              <a:tabLst/>
              <a:defRPr/>
            </a:lvl3pPr>
            <a:lvl4pPr marL="1146175" indent="-231775">
              <a:buClr>
                <a:schemeClr val="tx2"/>
              </a:buClr>
              <a:defRPr/>
            </a:lvl4pPr>
            <a:lvl5pPr marL="1371600" indent="-225425">
              <a:buClr>
                <a:schemeClr val="tx2"/>
              </a:buClr>
              <a:defRPr/>
            </a:lvl5pPr>
            <a:lvl6pPr marL="1371600" indent="-225425">
              <a:buClr>
                <a:schemeClr val="tx2"/>
              </a:buClr>
              <a:defRPr/>
            </a:lvl6pPr>
            <a:lvl7pPr marL="1371600" indent="-225425">
              <a:buClr>
                <a:schemeClr val="tx2"/>
              </a:buClr>
              <a:defRPr/>
            </a:lvl7pPr>
            <a:lvl8pPr marL="1371600" indent="-225425">
              <a:buClr>
                <a:schemeClr val="tx2"/>
              </a:buClr>
              <a:defRPr/>
            </a:lvl8pPr>
            <a:lvl9pPr marL="1371600" indent="-225425"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914400"/>
            <a:ext cx="8232775" cy="56144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1371600"/>
            <a:ext cx="8232775" cy="51572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Blue Top Aligned Quotes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Blue Top Aligned Quotes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Medium Gray Top Aligned Quotes 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Red Top Aligned Quotes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Blue Center Aligned Quotes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Blue Center Aligned Quotes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Gray Center Aligned Quotes 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Red Center Aligned Quotes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Two-thirds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879592" y="914400"/>
            <a:ext cx="2807208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5"/>
          </p:nvPr>
        </p:nvSpPr>
        <p:spPr>
          <a:xfrm>
            <a:off x="457200" y="914400"/>
            <a:ext cx="515721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Two-thirds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879592" y="1371600"/>
            <a:ext cx="2807208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5"/>
          </p:nvPr>
        </p:nvSpPr>
        <p:spPr>
          <a:xfrm>
            <a:off x="457200" y="1371600"/>
            <a:ext cx="515721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One-thir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3529584" y="914399"/>
            <a:ext cx="515721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914399"/>
            <a:ext cx="2807208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One-thir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3529584" y="1371600"/>
            <a:ext cx="515721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1371600"/>
            <a:ext cx="2807208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Half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5"/>
          </p:nvPr>
        </p:nvSpPr>
        <p:spPr>
          <a:xfrm>
            <a:off x="4718304" y="914399"/>
            <a:ext cx="396849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6"/>
          </p:nvPr>
        </p:nvSpPr>
        <p:spPr>
          <a:xfrm>
            <a:off x="457200" y="914399"/>
            <a:ext cx="396849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Half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5"/>
          </p:nvPr>
        </p:nvSpPr>
        <p:spPr>
          <a:xfrm>
            <a:off x="4718304" y="1371600"/>
            <a:ext cx="396849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6"/>
          </p:nvPr>
        </p:nvSpPr>
        <p:spPr>
          <a:xfrm>
            <a:off x="457200" y="1371600"/>
            <a:ext cx="396849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Image on To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3886200"/>
            <a:ext cx="8232775" cy="26426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6"/>
          </p:nvPr>
        </p:nvSpPr>
        <p:spPr>
          <a:xfrm>
            <a:off x="457200" y="914400"/>
            <a:ext cx="8232775" cy="2898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Image on To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8232775" cy="21854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6"/>
          </p:nvPr>
        </p:nvSpPr>
        <p:spPr>
          <a:xfrm>
            <a:off x="457200" y="1371600"/>
            <a:ext cx="8232775" cy="2894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Multiple Images with Ca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image with caption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57199" y="2940999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457200" y="914400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3200400" y="2940999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21"/>
          </p:nvPr>
        </p:nvSpPr>
        <p:spPr bwMode="gray">
          <a:xfrm>
            <a:off x="3200400" y="914400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5943600" y="2940999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5943600" y="914400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24"/>
          </p:nvPr>
        </p:nvSpPr>
        <p:spPr bwMode="gray">
          <a:xfrm>
            <a:off x="457199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sz="half" idx="25"/>
          </p:nvPr>
        </p:nvSpPr>
        <p:spPr bwMode="gray">
          <a:xfrm>
            <a:off x="457200" y="3718239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sz="half" idx="26"/>
          </p:nvPr>
        </p:nvSpPr>
        <p:spPr bwMode="gray">
          <a:xfrm>
            <a:off x="32004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27"/>
          </p:nvPr>
        </p:nvSpPr>
        <p:spPr bwMode="gray">
          <a:xfrm>
            <a:off x="3200400" y="3718239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sz="half" idx="28"/>
          </p:nvPr>
        </p:nvSpPr>
        <p:spPr bwMode="gray">
          <a:xfrm>
            <a:off x="59436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sz="half" idx="29"/>
          </p:nvPr>
        </p:nvSpPr>
        <p:spPr bwMode="gray">
          <a:xfrm>
            <a:off x="5943600" y="3718239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Multiple Images with Ca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image with caption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57199" y="3175375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457200" y="1371598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3200400" y="3175375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21"/>
          </p:nvPr>
        </p:nvSpPr>
        <p:spPr bwMode="gray">
          <a:xfrm>
            <a:off x="3200400" y="1371598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5943600" y="3175375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5943600" y="1371598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24"/>
          </p:nvPr>
        </p:nvSpPr>
        <p:spPr bwMode="gray">
          <a:xfrm>
            <a:off x="457199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sz="half" idx="25"/>
          </p:nvPr>
        </p:nvSpPr>
        <p:spPr bwMode="gray">
          <a:xfrm>
            <a:off x="457200" y="3952615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sz="half" idx="26"/>
          </p:nvPr>
        </p:nvSpPr>
        <p:spPr bwMode="gray">
          <a:xfrm>
            <a:off x="32004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27"/>
          </p:nvPr>
        </p:nvSpPr>
        <p:spPr bwMode="gray">
          <a:xfrm>
            <a:off x="3200400" y="3952615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sz="half" idx="28"/>
          </p:nvPr>
        </p:nvSpPr>
        <p:spPr bwMode="gray">
          <a:xfrm>
            <a:off x="59436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sz="half" idx="29"/>
          </p:nvPr>
        </p:nvSpPr>
        <p:spPr bwMode="gray">
          <a:xfrm>
            <a:off x="5943600" y="3952615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Multiple Images and Call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1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3044952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19"/>
          </p:nvPr>
        </p:nvSpPr>
        <p:spPr bwMode="gray">
          <a:xfrm>
            <a:off x="6099048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1" y="2286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21"/>
          </p:nvPr>
        </p:nvSpPr>
        <p:spPr bwMode="gray">
          <a:xfrm>
            <a:off x="3044952" y="2286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6099048" y="2286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1" y="4572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24"/>
          </p:nvPr>
        </p:nvSpPr>
        <p:spPr bwMode="gray">
          <a:xfrm>
            <a:off x="3044952" y="4572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5"/>
          </p:nvPr>
        </p:nvSpPr>
        <p:spPr bwMode="gray">
          <a:xfrm>
            <a:off x="6099048" y="4572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8696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629951"/>
            <a:ext cx="3886200" cy="128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62950" y="6629950"/>
            <a:ext cx="323850" cy="1365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4572000" y="6629951"/>
            <a:ext cx="2286000" cy="128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0" indent="0"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51572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93" r:id="rId2"/>
    <p:sldLayoutId id="2147483694" r:id="rId3"/>
    <p:sldLayoutId id="2147483701" r:id="rId4"/>
    <p:sldLayoutId id="2147483679" r:id="rId5"/>
    <p:sldLayoutId id="2147483682" r:id="rId6"/>
    <p:sldLayoutId id="2147483681" r:id="rId7"/>
    <p:sldLayoutId id="2147483680" r:id="rId8"/>
    <p:sldLayoutId id="2147483684" r:id="rId9"/>
    <p:sldLayoutId id="2147483685" r:id="rId10"/>
    <p:sldLayoutId id="2147483686" r:id="rId11"/>
    <p:sldLayoutId id="2147483688" r:id="rId12"/>
    <p:sldLayoutId id="2147483689" r:id="rId13"/>
    <p:sldLayoutId id="2147483700" r:id="rId14"/>
    <p:sldLayoutId id="2147483690" r:id="rId15"/>
    <p:sldLayoutId id="2147483699" r:id="rId16"/>
    <p:sldLayoutId id="2147483691" r:id="rId17"/>
    <p:sldLayoutId id="2147483698" r:id="rId18"/>
    <p:sldLayoutId id="2147483695" r:id="rId19"/>
    <p:sldLayoutId id="2147483697" r:id="rId20"/>
    <p:sldLayoutId id="2147483692" r:id="rId21"/>
    <p:sldLayoutId id="2147483696" r:id="rId22"/>
    <p:sldLayoutId id="2147483667" r:id="rId2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itchFamily="34" charset="0"/>
        <a:buNone/>
        <a:tabLst/>
        <a:defRPr sz="2000" kern="1200" baseline="0">
          <a:solidFill>
            <a:schemeClr val="tx1"/>
          </a:solidFill>
          <a:latin typeface="+mj-lt"/>
          <a:ea typeface="+mn-ea"/>
          <a:cs typeface="+mn-cs"/>
        </a:defRPr>
      </a:lvl1pPr>
      <a:lvl2pPr marL="112713" marR="0" indent="-11271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itchFamily="34" charset="0"/>
        <a:buChar char="•"/>
        <a:tabLst/>
        <a:defRPr sz="1600" kern="1200">
          <a:solidFill>
            <a:schemeClr val="tx1"/>
          </a:solidFill>
          <a:latin typeface="+mj-lt"/>
          <a:ea typeface="+mn-ea"/>
          <a:cs typeface="+mn-cs"/>
        </a:defRPr>
      </a:lvl2pPr>
      <a:lvl3pPr marL="401638" marR="0" indent="-1698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itchFamily="34" charset="0"/>
        <a:buChar char="–"/>
        <a:tabLst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625475" marR="0" indent="-168275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80000"/>
        <a:buFont typeface="Wingdings" pitchFamily="2" charset="2"/>
        <a:buChar char="Ø"/>
        <a:tabLst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58838" marR="0" indent="-1698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100000"/>
        <a:buFont typeface="Arial" pitchFamily="34" charset="0"/>
        <a:buChar char="♦"/>
        <a:tabLst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2292350"/>
            <a:ext cx="8232775" cy="721438"/>
          </a:xfrm>
        </p:spPr>
        <p:txBody>
          <a:bodyPr/>
          <a:lstStyle/>
          <a:p>
            <a:r>
              <a:rPr lang="en-US" dirty="0" smtClean="0"/>
              <a:t>SSM eCloud Meeting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8923" y="4314092"/>
            <a:ext cx="4243754" cy="13247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Revision </a:t>
            </a:r>
            <a:r>
              <a:rPr lang="en-US" dirty="0" smtClean="0"/>
              <a:t>1.0</a:t>
            </a:r>
            <a:endParaRPr lang="en-US" dirty="0"/>
          </a:p>
          <a:p>
            <a:r>
              <a:rPr lang="en-US" dirty="0" smtClean="0"/>
              <a:t>Date: 16th </a:t>
            </a:r>
            <a:r>
              <a:rPr lang="en-US" dirty="0"/>
              <a:t>May 2013</a:t>
            </a:r>
          </a:p>
          <a:p>
            <a:r>
              <a:rPr lang="en-US" dirty="0" smtClean="0"/>
              <a:t>By: Wajahath </a:t>
            </a:r>
            <a:r>
              <a:rPr lang="en-US" dirty="0"/>
              <a:t>Quraishi, Agile Project Lead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Goals &amp; Objective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57200" y="1371600"/>
            <a:ext cx="8232775" cy="3575538"/>
          </a:xfrm>
        </p:spPr>
        <p:txBody>
          <a:bodyPr/>
          <a:lstStyle/>
          <a:p>
            <a:pPr lvl="0"/>
            <a:endParaRPr lang="en-US" dirty="0" smtClean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</a:rPr>
              <a:t>Data </a:t>
            </a:r>
            <a:r>
              <a:rPr lang="en-US" sz="2400" dirty="0">
                <a:solidFill>
                  <a:schemeClr val="tx2"/>
                </a:solidFill>
              </a:rPr>
              <a:t>Center Migration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Upgrade from WAS 6.0 to 8.0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Database Migration Oracle to Postgres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</a:rPr>
              <a:t>Reporting data Migration from  </a:t>
            </a:r>
            <a:r>
              <a:rPr lang="en-US" sz="2400" dirty="0">
                <a:solidFill>
                  <a:schemeClr val="tx2"/>
                </a:solidFill>
              </a:rPr>
              <a:t>SSM </a:t>
            </a:r>
            <a:r>
              <a:rPr lang="en-US" sz="2400" smtClean="0">
                <a:solidFill>
                  <a:schemeClr val="tx2"/>
                </a:solidFill>
              </a:rPr>
              <a:t>(Target: </a:t>
            </a:r>
            <a:r>
              <a:rPr lang="en-US" sz="2400" dirty="0">
                <a:solidFill>
                  <a:schemeClr val="tx2"/>
                </a:solidFill>
              </a:rPr>
              <a:t>Mosaic)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Decommission database </a:t>
            </a:r>
            <a:r>
              <a:rPr lang="en-US" sz="2400" dirty="0" smtClean="0">
                <a:solidFill>
                  <a:schemeClr val="tx2"/>
                </a:solidFill>
              </a:rPr>
              <a:t>Replication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555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Center Migration	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0"/>
            <a:r>
              <a:rPr lang="en-US" sz="2400" b="1" dirty="0">
                <a:solidFill>
                  <a:schemeClr val="tx2"/>
                </a:solidFill>
              </a:rPr>
              <a:t>Data Center Migration</a:t>
            </a:r>
            <a:r>
              <a:rPr lang="en-US" sz="2400" b="1" dirty="0" smtClean="0">
                <a:solidFill>
                  <a:schemeClr val="tx2"/>
                </a:solidFill>
              </a:rPr>
              <a:t>:</a:t>
            </a:r>
          </a:p>
          <a:p>
            <a:pPr lvl="0"/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PDC Plano data center-HP/VBZ – Moved to Terramark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</a:rPr>
              <a:t>CDC Cherokee </a:t>
            </a:r>
            <a:r>
              <a:rPr lang="en-US" sz="2400" dirty="0">
                <a:solidFill>
                  <a:schemeClr val="tx2"/>
                </a:solidFill>
              </a:rPr>
              <a:t>Data Center HP/VBZ – Moved to </a:t>
            </a:r>
            <a:r>
              <a:rPr lang="en-US" sz="2400" dirty="0" smtClean="0">
                <a:solidFill>
                  <a:schemeClr val="tx2"/>
                </a:solidFill>
              </a:rPr>
              <a:t>VBlock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</a:rPr>
              <a:t>VBlock operational and sunset CDC Cherokee D. C.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 </a:t>
            </a:r>
          </a:p>
          <a:p>
            <a:r>
              <a:rPr lang="en-US" sz="2400" dirty="0">
                <a:solidFill>
                  <a:schemeClr val="tx2"/>
                </a:solidFill>
              </a:rPr>
              <a:t>VZB </a:t>
            </a:r>
            <a:r>
              <a:rPr lang="en-US" sz="2400" dirty="0" smtClean="0">
                <a:solidFill>
                  <a:schemeClr val="tx2"/>
                </a:solidFill>
              </a:rPr>
              <a:t>–</a:t>
            </a:r>
          </a:p>
          <a:p>
            <a:r>
              <a:rPr lang="en-US" sz="2400" dirty="0" smtClean="0">
                <a:solidFill>
                  <a:schemeClr val="tx2"/>
                </a:solidFill>
              </a:rPr>
              <a:t>Verizon </a:t>
            </a:r>
            <a:r>
              <a:rPr lang="en-US" sz="2400" dirty="0">
                <a:solidFill>
                  <a:schemeClr val="tx2"/>
                </a:solidFill>
              </a:rPr>
              <a:t>Business SJC </a:t>
            </a:r>
            <a:r>
              <a:rPr lang="en-US" sz="2400" dirty="0" smtClean="0">
                <a:solidFill>
                  <a:schemeClr val="tx2"/>
                </a:solidFill>
              </a:rPr>
              <a:t>(San </a:t>
            </a:r>
            <a:r>
              <a:rPr lang="en-US" sz="2400" dirty="0">
                <a:solidFill>
                  <a:schemeClr val="tx2"/>
                </a:solidFill>
              </a:rPr>
              <a:t>Jose) and </a:t>
            </a:r>
            <a:r>
              <a:rPr lang="en-US" sz="2400" dirty="0" smtClean="0">
                <a:solidFill>
                  <a:schemeClr val="tx2"/>
                </a:solidFill>
              </a:rPr>
              <a:t>second location TBD</a:t>
            </a: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 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Reasons:</a:t>
            </a: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Hardware end of life – Hardware refresh 2014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55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1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5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5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1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5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5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1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1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2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5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5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5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1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5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5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1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5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5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1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5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5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1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pic>
        <p:nvPicPr>
          <p:cNvPr id="5" name="Picture 4" descr="https://encrypted-tbn1.gstatic.com/images?q=tbn:ANd9GcTXRqLwQatjX8PbjewgcA4taroqVYt3zZOILk-v06tUFDjzTVomw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868" y="1599385"/>
            <a:ext cx="2705618" cy="282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813416" y="4844143"/>
            <a:ext cx="5791200" cy="838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2400" dirty="0" smtClean="0"/>
              <a:t>Thank You !!!!!! 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35991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a_ppt_4x3_v2-08">
  <a:themeElements>
    <a:clrScheme name="aa_ppt_color_theme_130308a">
      <a:dk1>
        <a:srgbClr val="36495A"/>
      </a:dk1>
      <a:lt1>
        <a:sysClr val="window" lastClr="FFFFFF"/>
      </a:lt1>
      <a:dk2>
        <a:srgbClr val="0078D2"/>
      </a:dk2>
      <a:lt2>
        <a:srgbClr val="6E8999"/>
      </a:lt2>
      <a:accent1>
        <a:srgbClr val="00467F"/>
      </a:accent1>
      <a:accent2>
        <a:srgbClr val="F52305"/>
      </a:accent2>
      <a:accent3>
        <a:srgbClr val="0078D2"/>
      </a:accent3>
      <a:accent4>
        <a:srgbClr val="6E8999"/>
      </a:accent4>
      <a:accent5>
        <a:srgbClr val="C30019"/>
      </a:accent5>
      <a:accent6>
        <a:srgbClr val="D0DAE0"/>
      </a:accent6>
      <a:hlink>
        <a:srgbClr val="0078D2"/>
      </a:hlink>
      <a:folHlink>
        <a:srgbClr val="C3001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aa_ppt_4x3_v2-08</Template>
  <TotalTime>10351</TotalTime>
  <Words>113</Words>
  <Application>Microsoft Office PowerPoint</Application>
  <PresentationFormat>On-screen Show (4:3)</PresentationFormat>
  <Paragraphs>51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aa_ppt_4x3_v2-08</vt:lpstr>
      <vt:lpstr>SSM eCloud Meeting </vt:lpstr>
      <vt:lpstr>Goals &amp; Objective</vt:lpstr>
      <vt:lpstr>Data Center Migration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AMR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Mileage Multiplier</dc:title>
  <dc:creator>Perra, Arthur</dc:creator>
  <cp:lastModifiedBy>Saida</cp:lastModifiedBy>
  <cp:revision>42</cp:revision>
  <dcterms:created xsi:type="dcterms:W3CDTF">2013-03-29T18:41:42Z</dcterms:created>
  <dcterms:modified xsi:type="dcterms:W3CDTF">2013-05-15T19:27:54Z</dcterms:modified>
</cp:coreProperties>
</file>