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25"/>
  </p:notesMasterIdLst>
  <p:handoutMasterIdLst>
    <p:handoutMasterId r:id="rId26"/>
  </p:handoutMasterIdLst>
  <p:sldIdLst>
    <p:sldId id="289" r:id="rId5"/>
    <p:sldId id="290" r:id="rId6"/>
    <p:sldId id="291" r:id="rId7"/>
    <p:sldId id="292" r:id="rId8"/>
    <p:sldId id="293" r:id="rId9"/>
    <p:sldId id="294" r:id="rId10"/>
    <p:sldId id="295" r:id="rId11"/>
    <p:sldId id="262" r:id="rId12"/>
    <p:sldId id="307" r:id="rId13"/>
    <p:sldId id="308" r:id="rId14"/>
    <p:sldId id="296" r:id="rId15"/>
    <p:sldId id="298" r:id="rId16"/>
    <p:sldId id="299" r:id="rId17"/>
    <p:sldId id="306" r:id="rId18"/>
    <p:sldId id="300" r:id="rId19"/>
    <p:sldId id="301" r:id="rId20"/>
    <p:sldId id="302" r:id="rId21"/>
    <p:sldId id="303" r:id="rId22"/>
    <p:sldId id="304" r:id="rId23"/>
    <p:sldId id="30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E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26" autoAdjust="0"/>
    <p:restoredTop sz="90783" autoAdjust="0"/>
  </p:normalViewPr>
  <p:slideViewPr>
    <p:cSldViewPr>
      <p:cViewPr>
        <p:scale>
          <a:sx n="90" d="100"/>
          <a:sy n="90" d="100"/>
        </p:scale>
        <p:origin x="-936"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66F6E7E-AA88-4AF1-97A4-F5616BE409F9}" type="datetimeFigureOut">
              <a:rPr lang="en-US" smtClean="0"/>
              <a:pPr/>
              <a:t>7/25/2013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A39BA5-9F7E-4C63-B3D4-CE80B3E8F109}" type="slidenum">
              <a:rPr lang="en-US" smtClean="0"/>
              <a:pPr/>
              <a:t>‹#›</a:t>
            </a:fld>
            <a:endParaRPr lang="en-US"/>
          </a:p>
        </p:txBody>
      </p:sp>
    </p:spTree>
    <p:extLst>
      <p:ext uri="{BB962C8B-B14F-4D97-AF65-F5344CB8AC3E}">
        <p14:creationId xmlns:p14="http://schemas.microsoft.com/office/powerpoint/2010/main" val="30928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C5FAB5-5E70-4216-8C9D-CDF4ACA69E13}" type="datetimeFigureOut">
              <a:rPr lang="en-US" smtClean="0"/>
              <a:pPr/>
              <a:t>7/25/2013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844A57-9F6E-433A-8503-0DFC02DFA7E0}" type="slidenum">
              <a:rPr lang="en-US" smtClean="0"/>
              <a:pPr/>
              <a:t>‹#›</a:t>
            </a:fld>
            <a:endParaRPr lang="en-US"/>
          </a:p>
        </p:txBody>
      </p:sp>
    </p:spTree>
    <p:extLst>
      <p:ext uri="{BB962C8B-B14F-4D97-AF65-F5344CB8AC3E}">
        <p14:creationId xmlns:p14="http://schemas.microsoft.com/office/powerpoint/2010/main" val="38515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a:t>
            </a:r>
            <a:r>
              <a:rPr lang="en-US" baseline="0" smtClean="0"/>
              <a:t>.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8</a:t>
            </a:fld>
            <a:endParaRPr lang="en-US"/>
          </a:p>
        </p:txBody>
      </p:sp>
    </p:spTree>
    <p:extLst>
      <p:ext uri="{BB962C8B-B14F-4D97-AF65-F5344CB8AC3E}">
        <p14:creationId xmlns:p14="http://schemas.microsoft.com/office/powerpoint/2010/main" val="26908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a:t>
            </a:r>
            <a:r>
              <a:rPr lang="en-US" baseline="0" smtClean="0"/>
              <a:t>.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9</a:t>
            </a:fld>
            <a:endParaRPr lang="en-US"/>
          </a:p>
        </p:txBody>
      </p:sp>
    </p:spTree>
    <p:extLst>
      <p:ext uri="{BB962C8B-B14F-4D97-AF65-F5344CB8AC3E}">
        <p14:creationId xmlns:p14="http://schemas.microsoft.com/office/powerpoint/2010/main" val="2690872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a:t>
            </a:r>
            <a:r>
              <a:rPr lang="en-US" baseline="0" smtClean="0"/>
              <a:t>.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10</a:t>
            </a:fld>
            <a:endParaRPr lang="en-US"/>
          </a:p>
        </p:txBody>
      </p:sp>
    </p:spTree>
    <p:extLst>
      <p:ext uri="{BB962C8B-B14F-4D97-AF65-F5344CB8AC3E}">
        <p14:creationId xmlns:p14="http://schemas.microsoft.com/office/powerpoint/2010/main" val="26908727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1027" name="Picture 3" descr="D:\aa_ppt_elements\aa_aa_tm_hrz_1cp_grd_pos.png"/>
          <p:cNvPicPr>
            <a:picLocks noChangeAspect="1" noChangeArrowheads="1"/>
          </p:cNvPicPr>
          <p:nvPr/>
        </p:nvPicPr>
        <p:blipFill>
          <a:blip r:embed="rId2" cstate="print"/>
          <a:srcRect/>
          <a:stretch>
            <a:fillRect/>
          </a:stretch>
        </p:blipFill>
        <p:spPr bwMode="auto">
          <a:xfrm>
            <a:off x="5504688" y="495300"/>
            <a:ext cx="3195302" cy="484632"/>
          </a:xfrm>
          <a:prstGeom prst="rect">
            <a:avLst/>
          </a:prstGeom>
          <a:noFill/>
        </p:spPr>
      </p:pic>
      <p:pic>
        <p:nvPicPr>
          <p:cNvPr id="10" name="Picture 9" descr="aa_clda_PPT_rgb_23g.jpg"/>
          <p:cNvPicPr>
            <a:picLocks noChangeAspect="1"/>
          </p:cNvPicPr>
          <p:nvPr/>
        </p:nvPicPr>
        <p:blipFill>
          <a:blip r:embed="rId3" cstate="print"/>
          <a:stretch>
            <a:fillRect/>
          </a:stretch>
        </p:blipFill>
        <p:spPr bwMode="hidden">
          <a:xfrm>
            <a:off x="0" y="0"/>
            <a:ext cx="9144000" cy="6858000"/>
          </a:xfrm>
          <a:prstGeom prst="rect">
            <a:avLst/>
          </a:prstGeom>
        </p:spPr>
      </p:pic>
      <p:sp>
        <p:nvSpPr>
          <p:cNvPr id="2" name="Title 1"/>
          <p:cNvSpPr>
            <a:spLocks noGrp="1"/>
          </p:cNvSpPr>
          <p:nvPr>
            <p:ph type="ctrTitle" hasCustomPrompt="1"/>
          </p:nvPr>
        </p:nvSpPr>
        <p:spPr>
          <a:xfrm>
            <a:off x="457199" y="2043404"/>
            <a:ext cx="8232775" cy="970384"/>
          </a:xfrm>
        </p:spPr>
        <p:txBody>
          <a:bodyPr anchor="b" anchorCtr="0">
            <a:noAutofit/>
          </a:bodyPr>
          <a:lstStyle>
            <a:lvl1pPr>
              <a:lnSpc>
                <a:spcPts val="3200"/>
              </a:lnSpc>
              <a:defRPr>
                <a:solidFill>
                  <a:schemeClr val="tx2"/>
                </a:solidFill>
              </a:defRPr>
            </a:lvl1pPr>
          </a:lstStyle>
          <a:p>
            <a:r>
              <a:rPr lang="en-US" dirty="0" smtClean="0"/>
              <a:t>Click to edit cover slide title</a:t>
            </a:r>
            <a:endParaRPr lang="en-US" dirty="0"/>
          </a:p>
        </p:txBody>
      </p:sp>
      <p:sp>
        <p:nvSpPr>
          <p:cNvPr id="3" name="Subtitle 2"/>
          <p:cNvSpPr>
            <a:spLocks noGrp="1"/>
          </p:cNvSpPr>
          <p:nvPr>
            <p:ph type="subTitle" idx="1" hasCustomPrompt="1"/>
          </p:nvPr>
        </p:nvSpPr>
        <p:spPr>
          <a:xfrm>
            <a:off x="457199" y="3130422"/>
            <a:ext cx="8232775" cy="914400"/>
          </a:xfrm>
          <a:prstGeom prst="rect">
            <a:avLst/>
          </a:prstGeom>
        </p:spPr>
        <p:txBody>
          <a:bodyPr/>
          <a:lstStyle>
            <a:lvl1pPr marL="0" indent="0" algn="l">
              <a:lnSpc>
                <a:spcPts val="2000"/>
              </a:lnSpc>
              <a:spcBef>
                <a:spcPts val="0"/>
              </a:spcBef>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cover slide subtitle</a:t>
            </a:r>
            <a:endParaRPr lang="en-US" dirty="0"/>
          </a:p>
        </p:txBody>
      </p:sp>
      <p:sp>
        <p:nvSpPr>
          <p:cNvPr id="8" name="Date Placeholder 7"/>
          <p:cNvSpPr>
            <a:spLocks noGrp="1"/>
          </p:cNvSpPr>
          <p:nvPr>
            <p:ph type="dt" sz="half" idx="10"/>
          </p:nvPr>
        </p:nvSpPr>
        <p:spPr>
          <a:xfrm>
            <a:off x="457200" y="1801368"/>
            <a:ext cx="2825496" cy="219456"/>
          </a:xfrm>
        </p:spPr>
        <p:txBody>
          <a:bodyPr/>
          <a:lstStyle>
            <a:lvl1pPr algn="l">
              <a:defRPr sz="1600"/>
            </a:lvl1pPr>
          </a:lstStyle>
          <a:p>
            <a:endParaRPr lang="en-US" dirty="0"/>
          </a:p>
        </p:txBody>
      </p:sp>
      <p:pic>
        <p:nvPicPr>
          <p:cNvPr id="1026" name="Picture 2" descr="D:\aa_ppt_elements\aa_aa_tm_hrz_rgb_grd_pos.png"/>
          <p:cNvPicPr>
            <a:picLocks noChangeAspect="1" noChangeArrowheads="1"/>
          </p:cNvPicPr>
          <p:nvPr/>
        </p:nvPicPr>
        <p:blipFill>
          <a:blip r:embed="rId4" cstate="print"/>
          <a:srcRect/>
          <a:stretch>
            <a:fillRect/>
          </a:stretch>
        </p:blipFill>
        <p:spPr bwMode="hidden">
          <a:xfrm>
            <a:off x="5504688" y="493776"/>
            <a:ext cx="3195302" cy="484632"/>
          </a:xfrm>
          <a:prstGeom prst="rect">
            <a:avLst/>
          </a:prstGeom>
          <a:noFill/>
        </p:spPr>
      </p:pic>
      <p:pic>
        <p:nvPicPr>
          <p:cNvPr id="12" name="Picture 3" descr="D:\Oneworld_rgb_Logo.png"/>
          <p:cNvPicPr>
            <a:picLocks noChangeAspect="1" noChangeArrowheads="1"/>
          </p:cNvPicPr>
          <p:nvPr/>
        </p:nvPicPr>
        <p:blipFill>
          <a:blip r:embed="rId5" cstate="print"/>
          <a:srcRect/>
          <a:stretch>
            <a:fillRect/>
          </a:stretch>
        </p:blipFill>
        <p:spPr bwMode="auto">
          <a:xfrm>
            <a:off x="8245435" y="6040370"/>
            <a:ext cx="420687" cy="42068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text slide title</a:t>
            </a:r>
            <a:endParaRPr lang="en-US" dirty="0"/>
          </a:p>
        </p:txBody>
      </p:sp>
      <p:sp>
        <p:nvSpPr>
          <p:cNvPr id="5" name="Footer Placeholder 4"/>
          <p:cNvSpPr>
            <a:spLocks noGrp="1"/>
          </p:cNvSpPr>
          <p:nvPr>
            <p:ph type="ftr" sz="quarter" idx="11"/>
          </p:nvPr>
        </p:nvSpPr>
        <p:spPr/>
        <p:txBody>
          <a:bodyPr/>
          <a:lstStyle/>
          <a:p>
            <a:r>
              <a:rPr lang="en-US" smtClean="0"/>
              <a:t>Release [N] v[x.x]</a:t>
            </a: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6" name="Date Placeholder 15"/>
          <p:cNvSpPr>
            <a:spLocks noGrp="1"/>
          </p:cNvSpPr>
          <p:nvPr>
            <p:ph type="dt" sz="half" idx="14"/>
          </p:nvPr>
        </p:nvSpPr>
        <p:spPr/>
        <p:txBody>
          <a:bodyPr/>
          <a:lstStyle/>
          <a:p>
            <a:endParaRPr lang="en-US" dirty="0"/>
          </a:p>
        </p:txBody>
      </p:sp>
      <p:sp>
        <p:nvSpPr>
          <p:cNvPr id="12" name="Content Placeholder 10"/>
          <p:cNvSpPr>
            <a:spLocks noGrp="1"/>
          </p:cNvSpPr>
          <p:nvPr>
            <p:ph sz="quarter" idx="15"/>
          </p:nvPr>
        </p:nvSpPr>
        <p:spPr>
          <a:xfrm>
            <a:off x="457200" y="1184564"/>
            <a:ext cx="8232775" cy="4958542"/>
          </a:xfrm>
        </p:spPr>
        <p:txBody>
          <a:bodyPr/>
          <a:lstStyle>
            <a:lvl1pPr>
              <a:defRPr sz="2000" b="1"/>
            </a:lvl1pPr>
            <a:lvl2pPr>
              <a:buFont typeface="Wingdings" pitchFamily="2" charset="2"/>
              <a:buChar char="§"/>
              <a:defRPr sz="2000"/>
            </a:lvl2pPr>
            <a:lvl3pPr>
              <a:defRPr sz="1800"/>
            </a:lvl3pPr>
            <a:lvl4pPr>
              <a:buFont typeface="Courier New" pitchFamily="49" charset="0"/>
              <a:buChar char="o"/>
              <a:defRPr sz="1600"/>
            </a:lvl4pPr>
            <a:lvl5pPr>
              <a:buFont typeface="Courier New" pitchFamily="49" charset="0"/>
              <a:buChar char="o"/>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 Slide">
    <p:spTree>
      <p:nvGrpSpPr>
        <p:cNvPr id="1" name=""/>
        <p:cNvGrpSpPr/>
        <p:nvPr/>
      </p:nvGrpSpPr>
      <p:grpSpPr>
        <a:xfrm>
          <a:off x="0" y="0"/>
          <a:ext cx="0" cy="0"/>
          <a:chOff x="0" y="0"/>
          <a:chExt cx="0" cy="0"/>
        </a:xfrm>
      </p:grpSpPr>
      <p:pic>
        <p:nvPicPr>
          <p:cNvPr id="8" name="Picture 7" descr="aa_pc_PPT_rgb_23c_b.jpg"/>
          <p:cNvPicPr>
            <a:picLocks noChangeAspect="1"/>
          </p:cNvPicPr>
          <p:nvPr/>
        </p:nvPicPr>
        <p:blipFill>
          <a:blip r:embed="rId2" cstate="print"/>
          <a:stretch>
            <a:fillRect/>
          </a:stretch>
        </p:blipFill>
        <p:spPr bwMode="hidden">
          <a:xfrm>
            <a:off x="0" y="0"/>
            <a:ext cx="9144000" cy="6858000"/>
          </a:xfrm>
          <a:prstGeom prst="rect">
            <a:avLst/>
          </a:prstGeom>
        </p:spPr>
      </p:pic>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11" name="Title 1"/>
          <p:cNvSpPr>
            <a:spLocks noGrp="1"/>
          </p:cNvSpPr>
          <p:nvPr>
            <p:ph type="title" hasCustomPrompt="1"/>
          </p:nvPr>
        </p:nvSpPr>
        <p:spPr>
          <a:xfrm>
            <a:off x="447869" y="739492"/>
            <a:ext cx="8242106" cy="1552857"/>
          </a:xfrm>
        </p:spPr>
        <p:txBody>
          <a:bodyPr anchor="t"/>
          <a:lstStyle>
            <a:lvl1pPr>
              <a:defRPr/>
            </a:lvl1pPr>
          </a:lstStyle>
          <a:p>
            <a:r>
              <a:rPr lang="en-US" dirty="0" smtClean="0"/>
              <a:t>Click to edit text slide title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 Blu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A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A Light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A Yellow Green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A Red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thirds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5" name="Content Placeholder 14"/>
          <p:cNvSpPr>
            <a:spLocks noGrp="1"/>
          </p:cNvSpPr>
          <p:nvPr>
            <p:ph sz="quarter" idx="14"/>
          </p:nvPr>
        </p:nvSpPr>
        <p:spPr>
          <a:xfrm>
            <a:off x="5879592" y="1194955"/>
            <a:ext cx="2807208"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5"/>
          </p:nvPr>
        </p:nvSpPr>
        <p:spPr>
          <a:xfrm>
            <a:off x="457200" y="1194956"/>
            <a:ext cx="5157216" cy="48810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6"/>
          </p:nvPr>
        </p:nvSpPr>
        <p:spPr/>
        <p:txBody>
          <a:bodyPr/>
          <a:lstStyle/>
          <a:p>
            <a:endParaRPr lang="en-US" dirty="0"/>
          </a:p>
        </p:txBody>
      </p:sp>
      <p:sp>
        <p:nvSpPr>
          <p:cNvPr id="11" name="Slide Number Placeholder 10"/>
          <p:cNvSpPr>
            <a:spLocks noGrp="1"/>
          </p:cNvSpPr>
          <p:nvPr>
            <p:ph type="sldNum" sz="quarter" idx="17"/>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6" name="Footer Placeholder 15"/>
          <p:cNvSpPr>
            <a:spLocks noGrp="1"/>
          </p:cNvSpPr>
          <p:nvPr>
            <p:ph type="ftr" sz="quarter" idx="18"/>
          </p:nvPr>
        </p:nvSpPr>
        <p:spPr/>
        <p:txBody>
          <a:bodyPr/>
          <a:lstStyle/>
          <a:p>
            <a:r>
              <a:rPr lang="en-US" smtClean="0"/>
              <a:t>Release [N] v[x.x]</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third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[N] v[x.x]</a:t>
            </a:r>
            <a:endParaRPr lang="en-US" dirty="0"/>
          </a:p>
        </p:txBody>
      </p:sp>
      <p:sp>
        <p:nvSpPr>
          <p:cNvPr id="15" name="Content Placeholder 14"/>
          <p:cNvSpPr>
            <a:spLocks noGrp="1"/>
          </p:cNvSpPr>
          <p:nvPr>
            <p:ph sz="quarter" idx="13"/>
          </p:nvPr>
        </p:nvSpPr>
        <p:spPr>
          <a:xfrm>
            <a:off x="3529584" y="1184564"/>
            <a:ext cx="5157216" cy="48961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4"/>
          </p:nvPr>
        </p:nvSpPr>
        <p:spPr>
          <a:xfrm>
            <a:off x="457200" y="1174173"/>
            <a:ext cx="2807208" cy="4906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alf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[N] v[x.x]</a:t>
            </a:r>
            <a:endParaRPr lang="en-US" dirty="0"/>
          </a:p>
        </p:txBody>
      </p:sp>
      <p:sp>
        <p:nvSpPr>
          <p:cNvPr id="15" name="Content Placeholder 14"/>
          <p:cNvSpPr>
            <a:spLocks noGrp="1"/>
          </p:cNvSpPr>
          <p:nvPr>
            <p:ph sz="quarter" idx="15"/>
          </p:nvPr>
        </p:nvSpPr>
        <p:spPr>
          <a:xfrm>
            <a:off x="4718304" y="1205345"/>
            <a:ext cx="3995928" cy="48754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6"/>
          </p:nvPr>
        </p:nvSpPr>
        <p:spPr>
          <a:xfrm>
            <a:off x="457200" y="1194955"/>
            <a:ext cx="3968496"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ple Images with Caption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image with caption slide title</a:t>
            </a:r>
            <a:endParaRPr lang="en-US" dirty="0"/>
          </a:p>
        </p:txBody>
      </p:sp>
      <p:sp>
        <p:nvSpPr>
          <p:cNvPr id="3" name="Content Placeholder 2"/>
          <p:cNvSpPr>
            <a:spLocks noGrp="1"/>
          </p:cNvSpPr>
          <p:nvPr>
            <p:ph sz="half" idx="1"/>
          </p:nvPr>
        </p:nvSpPr>
        <p:spPr bwMode="gray">
          <a:xfrm>
            <a:off x="457199"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5946775"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6" name="Footer Placeholder 5"/>
          <p:cNvSpPr>
            <a:spLocks noGrp="1"/>
          </p:cNvSpPr>
          <p:nvPr>
            <p:ph type="ftr" sz="quarter" idx="11"/>
          </p:nvPr>
        </p:nvSpPr>
        <p:spPr/>
        <p:txBody>
          <a:bodyPr/>
          <a:lstStyle/>
          <a:p>
            <a:r>
              <a:rPr lang="en-US" smtClean="0"/>
              <a:t>Release [N] v[x.x]</a:t>
            </a: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1" name="Content Placeholder 2"/>
          <p:cNvSpPr>
            <a:spLocks noGrp="1"/>
          </p:cNvSpPr>
          <p:nvPr>
            <p:ph sz="half" idx="13"/>
          </p:nvPr>
        </p:nvSpPr>
        <p:spPr bwMode="gray">
          <a:xfrm>
            <a:off x="3201988"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200400" y="3124200"/>
            <a:ext cx="2743200" cy="777240"/>
          </a:xfrm>
          <a:prstGeom prst="rect">
            <a:avLst/>
          </a:prstGeom>
          <a:solidFill>
            <a:schemeClr val="tx2"/>
          </a:solidFill>
          <a:ln>
            <a:noFill/>
          </a:ln>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200400" y="1730373"/>
            <a:ext cx="2743200" cy="1389888"/>
          </a:xfrm>
          <a:prstGeom prst="rect">
            <a:avLst/>
          </a:prstGeom>
          <a:solidFill>
            <a:schemeClr val="bg1"/>
          </a:solidFill>
          <a:ln>
            <a:noFill/>
          </a:ln>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2004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457200"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5946775"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7" name="Date Placeholder 16"/>
          <p:cNvSpPr>
            <a:spLocks noGrp="1"/>
          </p:cNvSpPr>
          <p:nvPr>
            <p:ph type="dt" sz="half" idx="19"/>
          </p:nvPr>
        </p:nvSpPr>
        <p:spPr/>
        <p:txBody>
          <a:bodyPr/>
          <a:lstStyle/>
          <a:p>
            <a:endParaRPr lang="en-US" dirty="0"/>
          </a:p>
        </p:txBody>
      </p:sp>
      <p:sp>
        <p:nvSpPr>
          <p:cNvPr id="18" name="Content Placeholder 2"/>
          <p:cNvSpPr>
            <a:spLocks noGrp="1"/>
          </p:cNvSpPr>
          <p:nvPr>
            <p:ph sz="half" idx="20"/>
          </p:nvPr>
        </p:nvSpPr>
        <p:spPr bwMode="gray">
          <a:xfrm>
            <a:off x="457200"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9" name="Content Placeholder 3"/>
          <p:cNvSpPr>
            <a:spLocks noGrp="1"/>
          </p:cNvSpPr>
          <p:nvPr>
            <p:ph sz="half" idx="21"/>
          </p:nvPr>
        </p:nvSpPr>
        <p:spPr bwMode="gray">
          <a:xfrm>
            <a:off x="5946775"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4572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5946775"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bleed Multiple Images and Callout Slide">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610076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036950" y="2286642"/>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036951" y="0"/>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036951" y="4573284"/>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610076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610076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7869" y="384313"/>
            <a:ext cx="8242106" cy="56126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5" name="Footer Placeholder 4"/>
          <p:cNvSpPr>
            <a:spLocks noGrp="1"/>
          </p:cNvSpPr>
          <p:nvPr>
            <p:ph type="ftr" sz="quarter" idx="3"/>
          </p:nvPr>
        </p:nvSpPr>
        <p:spPr>
          <a:xfrm>
            <a:off x="457200" y="6629951"/>
            <a:ext cx="3886200" cy="128016"/>
          </a:xfrm>
          <a:prstGeom prst="rect">
            <a:avLst/>
          </a:prstGeom>
        </p:spPr>
        <p:txBody>
          <a:bodyPr vert="horz" lIns="0" tIns="0" rIns="0" bIns="0" rtlCol="0" anchor="t" anchorCtr="0"/>
          <a:lstStyle>
            <a:lvl1pPr algn="l">
              <a:defRPr sz="800">
                <a:solidFill>
                  <a:schemeClr val="bg2"/>
                </a:solidFill>
              </a:defRPr>
            </a:lvl1pPr>
          </a:lstStyle>
          <a:p>
            <a:r>
              <a:rPr lang="en-US" smtClean="0"/>
              <a:t>Release [N] v[x.x]</a:t>
            </a:r>
            <a:endParaRPr lang="en-US" dirty="0"/>
          </a:p>
        </p:txBody>
      </p:sp>
      <p:sp>
        <p:nvSpPr>
          <p:cNvPr id="6" name="Slide Number Placeholder 5"/>
          <p:cNvSpPr>
            <a:spLocks noGrp="1"/>
          </p:cNvSpPr>
          <p:nvPr>
            <p:ph type="sldNum" sz="quarter" idx="4"/>
          </p:nvPr>
        </p:nvSpPr>
        <p:spPr>
          <a:xfrm>
            <a:off x="8362950" y="6629950"/>
            <a:ext cx="323850" cy="136525"/>
          </a:xfrm>
          <a:prstGeom prst="rect">
            <a:avLst/>
          </a:prstGeom>
        </p:spPr>
        <p:txBody>
          <a:bodyPr vert="horz" lIns="0" tIns="0" rIns="0" bIns="0" rtlCol="0" anchor="t" anchorCtr="0"/>
          <a:lstStyle>
            <a:lvl1pPr algn="r">
              <a:defRPr sz="800">
                <a:solidFill>
                  <a:schemeClr val="bg2"/>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7" name="Date Placeholder 6"/>
          <p:cNvSpPr>
            <a:spLocks noGrp="1"/>
          </p:cNvSpPr>
          <p:nvPr>
            <p:ph type="dt" sz="half" idx="2"/>
          </p:nvPr>
        </p:nvSpPr>
        <p:spPr>
          <a:xfrm>
            <a:off x="4572000" y="6629951"/>
            <a:ext cx="2286000" cy="128016"/>
          </a:xfrm>
          <a:prstGeom prst="rect">
            <a:avLst/>
          </a:prstGeom>
        </p:spPr>
        <p:txBody>
          <a:bodyPr vert="horz" lIns="0" tIns="0" rIns="0" bIns="0" rtlCol="0" anchor="t" anchorCtr="0"/>
          <a:lstStyle>
            <a:lvl1pPr marL="0" indent="0" algn="l">
              <a:defRPr sz="800">
                <a:solidFill>
                  <a:schemeClr val="bg2"/>
                </a:solidFill>
              </a:defRPr>
            </a:lvl1pPr>
          </a:lstStyle>
          <a:p>
            <a:endParaRPr lang="en-US" dirty="0"/>
          </a:p>
        </p:txBody>
      </p:sp>
      <p:sp>
        <p:nvSpPr>
          <p:cNvPr id="11" name="Text Placeholder 10"/>
          <p:cNvSpPr>
            <a:spLocks noGrp="1"/>
          </p:cNvSpPr>
          <p:nvPr>
            <p:ph type="body" idx="1"/>
          </p:nvPr>
        </p:nvSpPr>
        <p:spPr>
          <a:xfrm>
            <a:off x="457200" y="1184564"/>
            <a:ext cx="8229600" cy="489619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5613" y="1061674"/>
            <a:ext cx="8232775" cy="1588"/>
          </a:xfrm>
          <a:prstGeom prst="line">
            <a:avLst/>
          </a:prstGeom>
          <a:ln w="6350">
            <a:solidFill>
              <a:srgbClr val="0078D2"/>
            </a:solidFill>
          </a:ln>
        </p:spPr>
        <p:style>
          <a:lnRef idx="1">
            <a:schemeClr val="accent1"/>
          </a:lnRef>
          <a:fillRef idx="0">
            <a:schemeClr val="accent1"/>
          </a:fillRef>
          <a:effectRef idx="0">
            <a:schemeClr val="accent1"/>
          </a:effectRef>
          <a:fontRef idx="minor">
            <a:schemeClr val="tx1"/>
          </a:fontRef>
        </p:style>
      </p:cxnSp>
      <p:pic>
        <p:nvPicPr>
          <p:cNvPr id="9" name="Picture 8" descr="PPBar3woneworld.jpg"/>
          <p:cNvPicPr>
            <a:picLocks noChangeAspect="1"/>
          </p:cNvPicPr>
          <p:nvPr userDrawn="1"/>
        </p:nvPicPr>
        <p:blipFill>
          <a:blip r:embed="rId15" cstate="print"/>
          <a:stretch>
            <a:fillRect/>
          </a:stretch>
        </p:blipFill>
        <p:spPr>
          <a:xfrm>
            <a:off x="0" y="6162040"/>
            <a:ext cx="9144000" cy="365760"/>
          </a:xfrm>
          <a:prstGeom prst="rect">
            <a:avLst/>
          </a:prstGeom>
        </p:spPr>
      </p:pic>
      <p:sp>
        <p:nvSpPr>
          <p:cNvPr id="10" name="Rectangle 25"/>
          <p:cNvSpPr>
            <a:spLocks noChangeArrowheads="1"/>
          </p:cNvSpPr>
          <p:nvPr userDrawn="1"/>
        </p:nvSpPr>
        <p:spPr bwMode="auto">
          <a:xfrm>
            <a:off x="1841500" y="6565900"/>
            <a:ext cx="5435600" cy="241300"/>
          </a:xfrm>
          <a:prstGeom prst="rect">
            <a:avLst/>
          </a:prstGeom>
          <a:noFill/>
          <a:ln w="9525">
            <a:noFill/>
            <a:miter lim="800000"/>
            <a:headEnd/>
            <a:tailEnd/>
          </a:ln>
          <a:effectLst/>
        </p:spPr>
        <p:txBody>
          <a:bodyPr wrap="none" lIns="92075" tIns="46038" rIns="92075" bIns="46038" anchor="ctr"/>
          <a:lstStyle/>
          <a:p>
            <a:pPr algn="ctr" eaLnBrk="0" fontAlgn="base" hangingPunct="0">
              <a:spcBef>
                <a:spcPct val="0"/>
              </a:spcBef>
              <a:spcAft>
                <a:spcPct val="0"/>
              </a:spcAft>
              <a:defRPr/>
            </a:pPr>
            <a:r>
              <a:rPr lang="en-US" sz="1100" dirty="0">
                <a:solidFill>
                  <a:srgbClr val="7F7F7F"/>
                </a:solidFill>
                <a:latin typeface="Arial" charset="0"/>
              </a:rPr>
              <a:t>American Airlines confidential document.  Do not copy or distribute.</a:t>
            </a:r>
            <a:endParaRPr kumimoji="1" lang="en-US" sz="1100" dirty="0">
              <a:solidFill>
                <a:srgbClr val="7F7F7F"/>
              </a:solidFill>
              <a:latin typeface="Arial" charset="0"/>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dt="0"/>
  <p:txStyles>
    <p:titleStyle>
      <a:lvl1pPr algn="l" defTabSz="914400" rtl="0" eaLnBrk="1" latinLnBrk="0" hangingPunct="1">
        <a:spcBef>
          <a:spcPct val="0"/>
        </a:spcBef>
        <a:buNone/>
        <a:defRPr sz="2800" kern="1200" baseline="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Release Plan</a:t>
            </a:r>
            <a:endParaRPr lang="en-US" dirty="0"/>
          </a:p>
        </p:txBody>
      </p:sp>
      <p:sp>
        <p:nvSpPr>
          <p:cNvPr id="5" name="Content Placeholder 4"/>
          <p:cNvSpPr>
            <a:spLocks noGrp="1"/>
          </p:cNvSpPr>
          <p:nvPr>
            <p:ph sz="quarter" idx="15"/>
          </p:nvPr>
        </p:nvSpPr>
        <p:spPr/>
        <p:txBody>
          <a:bodyPr/>
          <a:lstStyle/>
          <a:p>
            <a:r>
              <a:rPr lang="en-US" dirty="0" smtClean="0"/>
              <a:t>Introduction</a:t>
            </a:r>
          </a:p>
          <a:p>
            <a:endParaRPr lang="en-US" dirty="0" smtClean="0"/>
          </a:p>
          <a:p>
            <a:pPr lvl="1"/>
            <a:r>
              <a:rPr lang="en-US" dirty="0" smtClean="0"/>
              <a:t>Purpose:</a:t>
            </a:r>
          </a:p>
          <a:p>
            <a:pPr lvl="2"/>
            <a:r>
              <a:rPr lang="en-US" dirty="0" smtClean="0"/>
              <a:t>Provide communication to stakeholders throughout the project cycle as the project team continues to respond to feedback from business/Product Owner</a:t>
            </a:r>
          </a:p>
          <a:p>
            <a:pPr lvl="2"/>
            <a:r>
              <a:rPr lang="en-US" dirty="0" smtClean="0"/>
              <a:t>The goal is to communicate a detailed view of features/functions</a:t>
            </a:r>
          </a:p>
          <a:p>
            <a:pPr lvl="2"/>
            <a:r>
              <a:rPr lang="en-US" dirty="0" smtClean="0"/>
              <a:t>The intent is to maintain a collaborative effort that keeps the process more transparent</a:t>
            </a:r>
          </a:p>
          <a:p>
            <a:pPr lvl="2"/>
            <a:endParaRPr lang="en-US" dirty="0" smtClean="0"/>
          </a:p>
          <a:p>
            <a:pPr lvl="1"/>
            <a:r>
              <a:rPr lang="en-US" dirty="0" smtClean="0"/>
              <a:t>Ownership:</a:t>
            </a:r>
          </a:p>
          <a:p>
            <a:pPr lvl="2"/>
            <a:r>
              <a:rPr lang="en-US" dirty="0" smtClean="0"/>
              <a:t>The </a:t>
            </a:r>
            <a:r>
              <a:rPr lang="en-US" b="1" dirty="0" smtClean="0"/>
              <a:t>Agile Project Lead </a:t>
            </a:r>
            <a:r>
              <a:rPr lang="en-US" dirty="0" smtClean="0"/>
              <a:t>is responsible for </a:t>
            </a:r>
            <a:r>
              <a:rPr lang="en-US" b="1" dirty="0" smtClean="0"/>
              <a:t>creating and main</a:t>
            </a:r>
            <a:r>
              <a:rPr lang="en-US" dirty="0" smtClean="0"/>
              <a:t>taining the Release Plan in collaboration with the project team as the project progresses through completion</a:t>
            </a:r>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a:t>
            </a:fld>
            <a:endParaRPr lang="en-US" dirty="0">
              <a:solidFill>
                <a:srgbClr val="7F7F7F"/>
              </a:solidFill>
            </a:endParaRPr>
          </a:p>
        </p:txBody>
      </p:sp>
      <p:sp>
        <p:nvSpPr>
          <p:cNvPr id="7" name="Footer Placeholder 6"/>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2</a:t>
            </a:fld>
            <a:endParaRPr lang="en-US" dirty="0">
              <a:solidFill>
                <a:srgbClr val="7F7F7F"/>
              </a:solidFill>
            </a:endParaRPr>
          </a:p>
        </p:txBody>
      </p:sp>
      <p:sp>
        <p:nvSpPr>
          <p:cNvPr id="4" name="Content Placeholder 3"/>
          <p:cNvSpPr>
            <a:spLocks noGrp="1"/>
          </p:cNvSpPr>
          <p:nvPr>
            <p:ph sz="quarter" idx="15"/>
          </p:nvPr>
        </p:nvSpPr>
        <p:spPr/>
        <p:txBody>
          <a:bodyPr/>
          <a:lstStyle/>
          <a:p>
            <a:r>
              <a:rPr lang="en-US" dirty="0" smtClean="0"/>
              <a:t>Maintenance</a:t>
            </a:r>
          </a:p>
          <a:p>
            <a:endParaRPr lang="en-US" dirty="0" smtClean="0"/>
          </a:p>
          <a:p>
            <a:pPr lvl="1"/>
            <a:r>
              <a:rPr lang="en-US" dirty="0" smtClean="0"/>
              <a:t>Start and complete this document during Iteration 0 for the first Release</a:t>
            </a:r>
          </a:p>
          <a:p>
            <a:pPr lvl="1"/>
            <a:endParaRPr lang="en-US" dirty="0" smtClean="0"/>
          </a:p>
          <a:p>
            <a:pPr lvl="1"/>
            <a:r>
              <a:rPr lang="en-US" dirty="0" smtClean="0"/>
              <a:t>Review and update the document after every Iteration planning session, as required</a:t>
            </a:r>
          </a:p>
          <a:p>
            <a:pPr lvl="1"/>
            <a:endParaRPr lang="en-US" dirty="0" smtClean="0"/>
          </a:p>
          <a:p>
            <a:pPr lvl="1"/>
            <a:r>
              <a:rPr lang="en-US" dirty="0" smtClean="0"/>
              <a:t>Changes to the Vision and Roadmap may also be necessary to ensure they remain consistent with this Release Plan</a:t>
            </a:r>
            <a:endParaRPr lang="en-US" dirty="0"/>
          </a:p>
        </p:txBody>
      </p:sp>
      <p:sp>
        <p:nvSpPr>
          <p:cNvPr id="5" name="Footer Placeholder 4"/>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3</a:t>
            </a:fld>
            <a:endParaRPr lang="en-US" dirty="0">
              <a:solidFill>
                <a:srgbClr val="7F7F7F"/>
              </a:solidFill>
            </a:endParaRPr>
          </a:p>
        </p:txBody>
      </p:sp>
      <p:sp>
        <p:nvSpPr>
          <p:cNvPr id="4" name="Content Placeholder 3"/>
          <p:cNvSpPr>
            <a:spLocks noGrp="1"/>
          </p:cNvSpPr>
          <p:nvPr>
            <p:ph sz="quarter" idx="15"/>
          </p:nvPr>
        </p:nvSpPr>
        <p:spPr/>
        <p:txBody>
          <a:bodyPr/>
          <a:lstStyle/>
          <a:p>
            <a:r>
              <a:rPr lang="en-US" dirty="0" smtClean="0"/>
              <a:t>Instructions</a:t>
            </a:r>
          </a:p>
          <a:p>
            <a:endParaRPr lang="en-US" dirty="0" smtClean="0"/>
          </a:p>
          <a:p>
            <a:pPr lvl="1"/>
            <a:r>
              <a:rPr lang="en-US" dirty="0" smtClean="0"/>
              <a:t>Create a copy of this template to use as your Release Plan document</a:t>
            </a:r>
          </a:p>
          <a:p>
            <a:pPr lvl="1"/>
            <a:r>
              <a:rPr lang="en-US" dirty="0" smtClean="0"/>
              <a:t>Delete the first three slides: (Introduction, Maintenance, Instructions)</a:t>
            </a:r>
          </a:p>
          <a:p>
            <a:pPr lvl="1"/>
            <a:r>
              <a:rPr lang="en-US" dirty="0" smtClean="0"/>
              <a:t>Replace the [bracketed] items on each page with information from your project</a:t>
            </a:r>
          </a:p>
          <a:p>
            <a:pPr lvl="1"/>
            <a:r>
              <a:rPr lang="en-US" dirty="0" smtClean="0"/>
              <a:t>Include your document version number in the footer</a:t>
            </a:r>
          </a:p>
          <a:p>
            <a:pPr lvl="1"/>
            <a:endParaRPr lang="en-US" dirty="0" smtClean="0"/>
          </a:p>
          <a:p>
            <a:pPr lvl="1"/>
            <a:r>
              <a:rPr lang="en-US" dirty="0" smtClean="0"/>
              <a:t>Additional instructions and guidance can be found in the Notes section of the individual slides. (Optionally, the notes may be deleted to make room for talking points specific to your project)</a:t>
            </a:r>
          </a:p>
          <a:p>
            <a:pPr lvl="1"/>
            <a:endParaRPr lang="en-US" dirty="0" smtClean="0"/>
          </a:p>
          <a:p>
            <a:pPr lvl="1"/>
            <a:r>
              <a:rPr lang="en-US" dirty="0" smtClean="0"/>
              <a:t>When needed, copy and insert a ‘pre-formatted’ slide into the presentation if an additional page is needed to communicate an overflow of information</a:t>
            </a:r>
          </a:p>
        </p:txBody>
      </p:sp>
      <p:sp>
        <p:nvSpPr>
          <p:cNvPr id="5" name="Footer Placeholder 4"/>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SSM SDFCS</a:t>
            </a:r>
            <a:endParaRPr lang="en-US" dirty="0"/>
          </a:p>
        </p:txBody>
      </p:sp>
      <p:sp>
        <p:nvSpPr>
          <p:cNvPr id="6" name="Subtitle 5"/>
          <p:cNvSpPr>
            <a:spLocks noGrp="1"/>
          </p:cNvSpPr>
          <p:nvPr>
            <p:ph type="subTitle" idx="1"/>
          </p:nvPr>
        </p:nvSpPr>
        <p:spPr/>
        <p:txBody>
          <a:bodyPr/>
          <a:lstStyle/>
          <a:p>
            <a:r>
              <a:rPr lang="en-US" dirty="0" smtClean="0"/>
              <a:t>Release 1B</a:t>
            </a:r>
            <a:endParaRPr lang="en-US" dirty="0"/>
          </a:p>
        </p:txBody>
      </p:sp>
      <p:sp>
        <p:nvSpPr>
          <p:cNvPr id="7" name="TextBox 6"/>
          <p:cNvSpPr txBox="1"/>
          <p:nvPr/>
        </p:nvSpPr>
        <p:spPr>
          <a:xfrm>
            <a:off x="914399" y="4343400"/>
            <a:ext cx="4949371" cy="1015663"/>
          </a:xfrm>
          <a:prstGeom prst="rect">
            <a:avLst/>
          </a:prstGeom>
          <a:noFill/>
        </p:spPr>
        <p:txBody>
          <a:bodyPr wrap="square" rtlCol="0">
            <a:spAutoFit/>
          </a:bodyPr>
          <a:lstStyle/>
          <a:p>
            <a:r>
              <a:rPr lang="en-US" sz="2000" dirty="0" smtClean="0">
                <a:solidFill>
                  <a:srgbClr val="002060"/>
                </a:solidFill>
                <a:latin typeface="+mj-lt"/>
              </a:rPr>
              <a:t>Revision 1.1</a:t>
            </a:r>
          </a:p>
          <a:p>
            <a:r>
              <a:rPr lang="en-US" sz="2000" dirty="0" smtClean="0">
                <a:solidFill>
                  <a:srgbClr val="002060"/>
                </a:solidFill>
                <a:latin typeface="+mj-lt"/>
              </a:rPr>
              <a:t>3/1/2013</a:t>
            </a:r>
          </a:p>
          <a:p>
            <a:r>
              <a:rPr lang="en-US" sz="2000" dirty="0" smtClean="0">
                <a:solidFill>
                  <a:srgbClr val="002060"/>
                </a:solidFill>
                <a:latin typeface="+mj-lt"/>
              </a:rPr>
              <a:t>Wajahath Quraishi, Agile Project Lead </a:t>
            </a:r>
            <a:endParaRPr lang="en-US" sz="2000" dirty="0">
              <a:solidFill>
                <a:srgbClr val="002060"/>
              </a:solidFill>
              <a:latin typeface="+mj-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5</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Projected Scope:</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Timeline</a:t>
            </a:r>
          </a:p>
          <a:p>
            <a:pPr lvl="1"/>
            <a:r>
              <a:rPr lang="en-US" dirty="0" smtClean="0"/>
              <a:t>Release Completion Date: </a:t>
            </a:r>
            <a:r>
              <a:rPr lang="en-US" dirty="0"/>
              <a:t>July </a:t>
            </a:r>
            <a:r>
              <a:rPr lang="en-US" dirty="0" smtClean="0"/>
              <a:t>25th</a:t>
            </a:r>
          </a:p>
          <a:p>
            <a:pPr lvl="1"/>
            <a:r>
              <a:rPr lang="en-US" dirty="0" smtClean="0"/>
              <a:t>Production Release Date: July 25th</a:t>
            </a:r>
          </a:p>
          <a:p>
            <a:pPr lvl="1"/>
            <a:r>
              <a:rPr lang="en-US" dirty="0" smtClean="0"/>
              <a:t>Iteration Length: 2 weeks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612506176"/>
              </p:ext>
            </p:extLst>
          </p:nvPr>
        </p:nvGraphicFramePr>
        <p:xfrm>
          <a:off x="457200" y="1524000"/>
          <a:ext cx="8229600" cy="2026920"/>
        </p:xfrm>
        <a:graphic>
          <a:graphicData uri="http://schemas.openxmlformats.org/drawingml/2006/table">
            <a:tbl>
              <a:tblPr firstRow="1" bandRow="1">
                <a:tableStyleId>{00A15C55-8517-42AA-B614-E9B94910E393}</a:tableStyleId>
              </a:tblPr>
              <a:tblGrid>
                <a:gridCol w="8229600"/>
              </a:tblGrid>
              <a:tr h="370840">
                <a:tc>
                  <a:txBody>
                    <a:bodyPr/>
                    <a:lstStyle/>
                    <a:p>
                      <a:r>
                        <a:rPr lang="en-US" dirty="0" smtClean="0"/>
                        <a:t>Key Features</a:t>
                      </a:r>
                      <a:endParaRPr lang="en-US" dirty="0"/>
                    </a:p>
                  </a:txBody>
                  <a:tcPr/>
                </a:tc>
              </a:tr>
              <a:tr h="370840">
                <a:tc>
                  <a:txBody>
                    <a:bodyPr/>
                    <a:lstStyle/>
                    <a:p>
                      <a:r>
                        <a:rPr lang="en-US" dirty="0" smtClean="0"/>
                        <a:t>Accommodate and process Same</a:t>
                      </a:r>
                      <a:r>
                        <a:rPr lang="en-US" baseline="0" dirty="0" smtClean="0"/>
                        <a:t> Day Standby data in SSM - (SDS)</a:t>
                      </a:r>
                      <a:endParaRPr lang="en-US" dirty="0"/>
                    </a:p>
                  </a:txBody>
                  <a:tcPr/>
                </a:tc>
              </a:tr>
              <a:tr h="370840">
                <a:tc>
                  <a:txBody>
                    <a:bodyPr/>
                    <a:lstStyle/>
                    <a:p>
                      <a:r>
                        <a:rPr lang="en-US" dirty="0" smtClean="0"/>
                        <a:t>Accommodate and process Alternate</a:t>
                      </a:r>
                      <a:r>
                        <a:rPr lang="en-US" baseline="0" dirty="0" smtClean="0"/>
                        <a:t> Standby data in SSM  -(AS)</a:t>
                      </a:r>
                      <a:endParaRPr lang="en-US" dirty="0"/>
                    </a:p>
                  </a:txBody>
                  <a:tcPr/>
                </a:tc>
              </a:tr>
              <a:tr h="370840">
                <a:tc>
                  <a:txBody>
                    <a:bodyPr/>
                    <a:lstStyle/>
                    <a:p>
                      <a:r>
                        <a:rPr lang="en-US" dirty="0" smtClean="0"/>
                        <a:t>Accommodate and process Alternate</a:t>
                      </a:r>
                      <a:r>
                        <a:rPr lang="en-US" baseline="0" dirty="0" smtClean="0"/>
                        <a:t> Flight Change  in SSM - (AFC)</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Accommodate and process Alternate</a:t>
                      </a:r>
                      <a:r>
                        <a:rPr lang="en-US" baseline="0" dirty="0" smtClean="0"/>
                        <a:t> Flight Change First Class in SSM-(AFCF)</a:t>
                      </a:r>
                      <a:endParaRPr lang="en-US" dirty="0" smtClean="0"/>
                    </a:p>
                    <a:p>
                      <a:endParaRPr lang="en-US" dirty="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Readiness Activities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6</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Key Business project milestones to ensure product success</a:t>
            </a:r>
          </a:p>
          <a:p>
            <a:pPr lvl="1"/>
            <a:endParaRPr lang="en-US" dirty="0" smtClean="0"/>
          </a:p>
          <a:p>
            <a:pPr lvl="1"/>
            <a:r>
              <a:rPr lang="en-US" dirty="0" smtClean="0"/>
              <a:t>Provide the SDS, SDFC, AS, AFC and AFCS products from the Catalog</a:t>
            </a:r>
          </a:p>
          <a:p>
            <a:pPr marL="184150" lvl="2" indent="0">
              <a:buNone/>
            </a:pPr>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Case</a:t>
            </a:r>
            <a:endParaRPr lang="en-US" dirty="0"/>
          </a:p>
        </p:txBody>
      </p:sp>
      <p:sp>
        <p:nvSpPr>
          <p:cNvPr id="3" name="Footer Placeholder 2"/>
          <p:cNvSpPr>
            <a:spLocks noGrp="1"/>
          </p:cNvSpPr>
          <p:nvPr>
            <p:ph type="ftr" sz="quarter" idx="11"/>
          </p:nvPr>
        </p:nvSpPr>
        <p:spPr/>
        <p:txBody>
          <a:bodyPr/>
          <a:lstStyle/>
          <a:p>
            <a:r>
              <a:rPr lang="en-US" dirty="0" smtClean="0"/>
              <a:t>Release [N] v[</a:t>
            </a:r>
            <a:r>
              <a:rPr lang="en-US" dirty="0" err="1" smtClean="0"/>
              <a:t>x.x</a:t>
            </a:r>
            <a:r>
              <a:rPr lang="en-US" dirty="0" smtClean="0"/>
              <a:t>]</a:t>
            </a:r>
            <a:endParaRPr 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7</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The features in this Release will help to realize these business benefits:</a:t>
            </a:r>
          </a:p>
          <a:p>
            <a:endParaRPr lang="en-US" dirty="0" smtClean="0"/>
          </a:p>
          <a:p>
            <a:pPr lvl="1"/>
            <a:r>
              <a:rPr lang="en-US" dirty="0" smtClean="0"/>
              <a:t>Revenue Generation: [details]</a:t>
            </a:r>
          </a:p>
          <a:p>
            <a:pPr lvl="1"/>
            <a:endParaRPr lang="en-US" dirty="0" smtClean="0"/>
          </a:p>
          <a:p>
            <a:pPr lvl="1"/>
            <a:r>
              <a:rPr lang="en-US" dirty="0" smtClean="0"/>
              <a:t>Cost Savings: [details]</a:t>
            </a:r>
          </a:p>
          <a:p>
            <a:pPr lvl="1"/>
            <a:endParaRPr lang="en-US" dirty="0" smtClean="0"/>
          </a:p>
          <a:p>
            <a:pPr lvl="1"/>
            <a:r>
              <a:rPr lang="en-US" dirty="0" smtClean="0"/>
              <a:t>Other Benefits: [details]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Delivery Plan: page 1 of [N]</a:t>
            </a:r>
            <a:endParaRPr lang="en-US" sz="2800"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8</a:t>
            </a:fld>
            <a:endParaRPr lang="en-US"/>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val="4177730687"/>
              </p:ext>
            </p:extLst>
          </p:nvPr>
        </p:nvGraphicFramePr>
        <p:xfrm>
          <a:off x="304800" y="624168"/>
          <a:ext cx="8686800" cy="6005232"/>
        </p:xfrm>
        <a:graphic>
          <a:graphicData uri="http://schemas.openxmlformats.org/drawingml/2006/table">
            <a:tbl>
              <a:tblPr/>
              <a:tblGrid>
                <a:gridCol w="1447800"/>
                <a:gridCol w="3124200"/>
                <a:gridCol w="1828800"/>
                <a:gridCol w="2286000"/>
              </a:tblGrid>
              <a:tr h="273225">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16</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17</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18</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[02/26]</a:t>
                      </a:r>
                      <a:r>
                        <a:rPr lang="en-US" sz="1400" dirty="0" smtClean="0">
                          <a:solidFill>
                            <a:srgbClr val="000000"/>
                          </a:solidFill>
                          <a:latin typeface="+mn-lt"/>
                        </a:rPr>
                        <a:t> – [03/11]</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[03/12]</a:t>
                      </a:r>
                      <a:r>
                        <a:rPr lang="en-US" sz="1400" dirty="0" smtClean="0">
                          <a:solidFill>
                            <a:srgbClr val="000000"/>
                          </a:solidFill>
                          <a:latin typeface="+mn-lt"/>
                        </a:rPr>
                        <a:t> – [03/25]</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[03/26]</a:t>
                      </a:r>
                      <a:r>
                        <a:rPr lang="en-US" sz="1400" dirty="0" smtClean="0">
                          <a:solidFill>
                            <a:srgbClr val="000000"/>
                          </a:solidFill>
                          <a:latin typeface="+mn-lt"/>
                        </a:rPr>
                        <a:t> – [04/08]</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en-US" sz="1200" b="0" i="0" u="none" strike="noStrike" dirty="0" smtClean="0">
                          <a:solidFill>
                            <a:srgbClr val="000000"/>
                          </a:solidFill>
                          <a:latin typeface="+mn-lt"/>
                        </a:rPr>
                        <a:t>18 Points</a:t>
                      </a:r>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latin typeface="+mn-lt"/>
                        </a:rPr>
                        <a:t>7</a:t>
                      </a:r>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baseline="0" dirty="0" smtClean="0">
                          <a:solidFill>
                            <a:srgbClr val="000000"/>
                          </a:solidFill>
                          <a:latin typeface="+mn-lt"/>
                        </a:rPr>
                        <a:t>7</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106495 - Split PNR for SDS  - 3Points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72554  - Process SDS payment thru </a:t>
                      </a:r>
                      <a:r>
                        <a:rPr lang="en-US" sz="1000" b="0" i="0" u="none" strike="noStrike" dirty="0" err="1" smtClean="0">
                          <a:solidFill>
                            <a:srgbClr val="000000"/>
                          </a:solidFill>
                          <a:latin typeface="+mn-lt"/>
                        </a:rPr>
                        <a:t>iTKTs</a:t>
                      </a:r>
                      <a:r>
                        <a:rPr lang="en-US" sz="1000" b="0" i="0" u="none" strike="noStrike" dirty="0" smtClean="0">
                          <a:solidFill>
                            <a:srgbClr val="000000"/>
                          </a:solidFill>
                          <a:latin typeface="+mn-lt"/>
                        </a:rPr>
                        <a:t> </a:t>
                      </a:r>
                      <a:r>
                        <a:rPr lang="en-US" sz="1000" b="0" i="0" u="none" strike="noStrike" baseline="0" dirty="0" smtClean="0">
                          <a:solidFill>
                            <a:srgbClr val="000000"/>
                          </a:solidFill>
                          <a:latin typeface="+mn-lt"/>
                        </a:rPr>
                        <a:t>-  3 Points</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71025 - Offer SDS payments out</a:t>
                      </a:r>
                      <a:r>
                        <a:rPr lang="en-US" sz="1000" b="0" i="0" u="none" strike="noStrike" baseline="0" dirty="0" smtClean="0">
                          <a:solidFill>
                            <a:srgbClr val="000000"/>
                          </a:solidFill>
                          <a:latin typeface="+mn-lt"/>
                        </a:rPr>
                        <a:t> of Caribbean </a:t>
                      </a:r>
                      <a:r>
                        <a:rPr lang="en-US" sz="1000" b="0" i="0" u="none" strike="noStrike" dirty="0" smtClean="0">
                          <a:solidFill>
                            <a:srgbClr val="000000"/>
                          </a:solidFill>
                          <a:latin typeface="+mn-lt"/>
                        </a:rPr>
                        <a:t>and fulfillment  thru </a:t>
                      </a:r>
                      <a:r>
                        <a:rPr lang="en-US" sz="1000" b="0" i="0" u="none" strike="noStrike" dirty="0" err="1" smtClean="0">
                          <a:solidFill>
                            <a:srgbClr val="000000"/>
                          </a:solidFill>
                          <a:latin typeface="+mn-lt"/>
                        </a:rPr>
                        <a:t>iTKTs</a:t>
                      </a:r>
                      <a:r>
                        <a:rPr lang="en-US" sz="1000" b="0" i="0" u="none" strike="noStrike" dirty="0" smtClean="0">
                          <a:solidFill>
                            <a:srgbClr val="000000"/>
                          </a:solidFill>
                          <a:latin typeface="+mn-lt"/>
                        </a:rPr>
                        <a:t> </a:t>
                      </a:r>
                      <a:r>
                        <a:rPr lang="en-US" sz="1000" b="0" i="0" u="none" strike="noStrike" baseline="0" dirty="0" smtClean="0">
                          <a:solidFill>
                            <a:srgbClr val="000000"/>
                          </a:solidFill>
                          <a:latin typeface="+mn-lt"/>
                        </a:rPr>
                        <a:t>-  3 Points</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104754 Process SDFC payment and fulfillment  thru </a:t>
                      </a:r>
                      <a:r>
                        <a:rPr lang="en-US" sz="1000" b="0" i="0" u="none" strike="noStrike" dirty="0" err="1" smtClean="0">
                          <a:solidFill>
                            <a:srgbClr val="000000"/>
                          </a:solidFill>
                          <a:latin typeface="+mn-lt"/>
                        </a:rPr>
                        <a:t>iTKTs</a:t>
                      </a:r>
                      <a:r>
                        <a:rPr lang="en-US" sz="1000" b="0" i="0" u="none" strike="noStrike" baseline="0" dirty="0" smtClean="0">
                          <a:solidFill>
                            <a:srgbClr val="000000"/>
                          </a:solidFill>
                          <a:latin typeface="+mn-lt"/>
                        </a:rPr>
                        <a:t> for </a:t>
                      </a:r>
                      <a:r>
                        <a:rPr lang="en-US" sz="1000" b="0" i="0" u="none" strike="noStrike" baseline="0" dirty="0" err="1" smtClean="0">
                          <a:solidFill>
                            <a:srgbClr val="000000"/>
                          </a:solidFill>
                          <a:latin typeface="+mn-lt"/>
                        </a:rPr>
                        <a:t>Gateside</a:t>
                      </a:r>
                      <a:r>
                        <a:rPr lang="en-US" sz="1000" b="0" i="0" u="none" strike="noStrike" baseline="0" dirty="0" smtClean="0">
                          <a:solidFill>
                            <a:srgbClr val="000000"/>
                          </a:solidFill>
                          <a:latin typeface="+mn-lt"/>
                        </a:rPr>
                        <a:t> (non elites)  -  3 Points</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baseline="0"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55184</a:t>
                      </a:r>
                      <a:r>
                        <a:rPr lang="en-US" sz="1000" b="0" i="0" u="none" strike="noStrike" baseline="0" dirty="0" smtClean="0">
                          <a:solidFill>
                            <a:srgbClr val="000000"/>
                          </a:solidFill>
                          <a:latin typeface="+mn-lt"/>
                        </a:rPr>
                        <a:t>  -Standby receipt for SSM - 3 Points</a:t>
                      </a: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baseline="0" dirty="0" smtClean="0">
                          <a:solidFill>
                            <a:srgbClr val="000000"/>
                          </a:solidFill>
                          <a:latin typeface="+mn-lt"/>
                        </a:rPr>
                        <a:t>72553 -Print one SDS per customer/transaction  - 3 Points</a:t>
                      </a: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baseline="0" dirty="0" smtClean="0">
                          <a:solidFill>
                            <a:srgbClr val="000000"/>
                          </a:solidFill>
                          <a:latin typeface="+mn-lt"/>
                        </a:rPr>
                        <a:t> </a:t>
                      </a:r>
                      <a:r>
                        <a:rPr lang="en-US" sz="1000" b="0" i="1" u="none" strike="noStrike" baseline="0" dirty="0" smtClean="0">
                          <a:solidFill>
                            <a:srgbClr val="000000"/>
                          </a:solidFill>
                          <a:latin typeface="+mn-lt"/>
                        </a:rPr>
                        <a:t>[user story not completed in iteration]</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106612 shop</a:t>
                      </a:r>
                      <a:r>
                        <a:rPr lang="en-US" sz="1000" b="0" i="0" u="none" strike="noStrike" baseline="0" dirty="0" smtClean="0">
                          <a:solidFill>
                            <a:srgbClr val="000000"/>
                          </a:solidFill>
                          <a:latin typeface="+mn-lt"/>
                        </a:rPr>
                        <a:t> for SDS on </a:t>
                      </a:r>
                      <a:r>
                        <a:rPr lang="en-US" sz="1000" b="0" i="0" u="none" strike="noStrike" baseline="0" dirty="0" err="1" smtClean="0">
                          <a:solidFill>
                            <a:srgbClr val="000000"/>
                          </a:solidFill>
                          <a:latin typeface="+mn-lt"/>
                        </a:rPr>
                        <a:t>Gateside</a:t>
                      </a:r>
                      <a:r>
                        <a:rPr lang="en-US" sz="1000" b="0" i="0" u="none" strike="noStrike" baseline="0" dirty="0" smtClean="0">
                          <a:solidFill>
                            <a:srgbClr val="000000"/>
                          </a:solidFill>
                          <a:latin typeface="+mn-lt"/>
                        </a:rPr>
                        <a:t>  and fulfillment for non elites -  3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endParaRPr lang="en-US" sz="1000" b="0" i="0" u="none" strike="noStrike" baseline="0"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baseline="0" dirty="0" smtClean="0">
                          <a:solidFill>
                            <a:srgbClr val="000000"/>
                          </a:solidFill>
                          <a:latin typeface="+mn-lt"/>
                        </a:rPr>
                        <a:t>100759 Customer shop for AS - 2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endParaRPr lang="en-US" sz="1000" b="0" i="0" u="none" strike="noStrike" baseline="0" dirty="0" smtClean="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baseline="0" dirty="0" smtClean="0">
                          <a:solidFill>
                            <a:srgbClr val="000000"/>
                          </a:solidFill>
                          <a:latin typeface="+mn-lt"/>
                        </a:rPr>
                        <a:t>100756  AS Standby Popup – 2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12305  Offer</a:t>
                      </a:r>
                      <a:r>
                        <a:rPr lang="en-US" sz="1000" b="0" i="0" u="none" strike="noStrike" baseline="0" dirty="0" smtClean="0">
                          <a:solidFill>
                            <a:srgbClr val="000000"/>
                          </a:solidFill>
                          <a:latin typeface="+mn-lt"/>
                        </a:rPr>
                        <a:t> Alternate standby out of Caribbean  (elite) - 2</a:t>
                      </a:r>
                    </a:p>
                    <a:p>
                      <a:pPr marL="171450" indent="-171450" algn="l" fontAlgn="b">
                        <a:buFont typeface="Arial" pitchFamily="34" charset="0"/>
                        <a:buChar char="•"/>
                      </a:pPr>
                      <a:endParaRPr lang="en-US" sz="1000" b="0" i="0" u="none" strike="noStrike" baseline="0" dirty="0" smtClean="0">
                        <a:solidFill>
                          <a:srgbClr val="000000"/>
                        </a:solidFill>
                        <a:latin typeface="+mn-lt"/>
                      </a:endParaRPr>
                    </a:p>
                    <a:p>
                      <a:pPr marL="171450" indent="-171450" algn="l" fontAlgn="b">
                        <a:buFont typeface="Arial" pitchFamily="34" charset="0"/>
                        <a:buChar char="•"/>
                      </a:pPr>
                      <a:r>
                        <a:rPr lang="en-US" sz="1000" b="0" i="0" u="none" strike="noStrike" baseline="0" dirty="0" smtClean="0">
                          <a:solidFill>
                            <a:srgbClr val="000000"/>
                          </a:solidFill>
                          <a:latin typeface="+mn-lt"/>
                        </a:rPr>
                        <a:t>102316 :Offerings &amp; Fulfillment: Display alternate flights on – 2 Points</a:t>
                      </a:r>
                    </a:p>
                    <a:p>
                      <a:pPr marL="171450" indent="-171450" algn="l" fontAlgn="b">
                        <a:buFont typeface="Arial" pitchFamily="34" charset="0"/>
                        <a:buChar char="•"/>
                      </a:pPr>
                      <a:endParaRPr lang="en-US" sz="1000" b="0" i="0" u="none" strike="noStrike" baseline="0" dirty="0" smtClean="0">
                        <a:solidFill>
                          <a:srgbClr val="000000"/>
                        </a:solidFill>
                        <a:latin typeface="+mn-lt"/>
                      </a:endParaRPr>
                    </a:p>
                    <a:p>
                      <a:pPr marL="171450" indent="-171450" algn="l" fontAlgn="b">
                        <a:buFont typeface="Arial" pitchFamily="34" charset="0"/>
                        <a:buChar char="•"/>
                      </a:pPr>
                      <a:r>
                        <a:rPr lang="en-US" sz="1000" b="0" i="0" u="none" strike="noStrike" baseline="0" dirty="0" err="1" smtClean="0">
                          <a:solidFill>
                            <a:srgbClr val="000000"/>
                          </a:solidFill>
                          <a:latin typeface="+mn-lt"/>
                        </a:rPr>
                        <a:t>Gateside</a:t>
                      </a:r>
                      <a:r>
                        <a:rPr lang="en-US" sz="1000" b="0" i="0" u="none" strike="noStrike" baseline="0" dirty="0" smtClean="0">
                          <a:solidFill>
                            <a:srgbClr val="000000"/>
                          </a:solidFill>
                          <a:latin typeface="+mn-lt"/>
                        </a:rPr>
                        <a:t>  and Payment fulfillment AFC (elite)  - 3 Points</a:t>
                      </a:r>
                    </a:p>
                    <a:p>
                      <a:pPr marL="171450" indent="-171450" algn="l" fontAlgn="b">
                        <a:buFont typeface="Arial" pitchFamily="34" charset="0"/>
                        <a:buChar char="•"/>
                      </a:pP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baseline="0" dirty="0" smtClean="0">
                          <a:solidFill>
                            <a:srgbClr val="000000"/>
                          </a:solidFill>
                          <a:latin typeface="+mn-lt"/>
                        </a:rPr>
                        <a:t> Detailed covered in  issue Mgmt.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PVC information</a:t>
                      </a:r>
                      <a:r>
                        <a:rPr lang="en-US" sz="1000" b="0" i="0" u="none" strike="noStrike" baseline="0" dirty="0" smtClean="0">
                          <a:solidFill>
                            <a:srgbClr val="000000"/>
                          </a:solidFill>
                          <a:latin typeface="+mn-lt"/>
                        </a:rPr>
                        <a:t> from </a:t>
                      </a:r>
                      <a:r>
                        <a:rPr lang="en-US" sz="1000" b="0" i="0" u="none" strike="noStrike" baseline="0" dirty="0" err="1" smtClean="0">
                          <a:solidFill>
                            <a:srgbClr val="000000"/>
                          </a:solidFill>
                          <a:latin typeface="+mn-lt"/>
                        </a:rPr>
                        <a:t>iTKTs</a:t>
                      </a:r>
                      <a:endParaRPr lang="en-US" sz="1000" b="0" i="0" u="none" strike="noStrike"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2853">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Footer Placeholder 2"/>
          <p:cNvSpPr>
            <a:spLocks noGrp="1"/>
          </p:cNvSpPr>
          <p:nvPr>
            <p:ph type="ftr" sz="quarter" idx="11"/>
          </p:nvPr>
        </p:nvSpPr>
        <p:spPr>
          <a:xfrm>
            <a:off x="457200" y="6629951"/>
            <a:ext cx="3886200" cy="128016"/>
          </a:xfrm>
        </p:spPr>
        <p:txBody>
          <a:bodyPr/>
          <a:lstStyle/>
          <a:p>
            <a:r>
              <a:rPr lang="en-US" dirty="0" smtClean="0"/>
              <a:t>Release [N] v[</a:t>
            </a:r>
            <a:r>
              <a:rPr lang="en-US" dirty="0" err="1" smtClean="0"/>
              <a:t>x.x</a:t>
            </a:r>
            <a:r>
              <a:rPr lang="en-US" dirty="0" smtClean="0"/>
              <a: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Delivery Plan: page 1 of [N]</a:t>
            </a:r>
            <a:endParaRPr lang="en-US" sz="2800"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9</a:t>
            </a:fld>
            <a:endParaRPr lang="en-US"/>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val="3093559432"/>
              </p:ext>
            </p:extLst>
          </p:nvPr>
        </p:nvGraphicFramePr>
        <p:xfrm>
          <a:off x="152400" y="304800"/>
          <a:ext cx="8686800" cy="5565039"/>
        </p:xfrm>
        <a:graphic>
          <a:graphicData uri="http://schemas.openxmlformats.org/drawingml/2006/table">
            <a:tbl>
              <a:tblPr/>
              <a:tblGrid>
                <a:gridCol w="1447800"/>
                <a:gridCol w="3124200"/>
                <a:gridCol w="1828800"/>
                <a:gridCol w="2286000"/>
              </a:tblGrid>
              <a:tr h="290232">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19</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20</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21</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[04/09]</a:t>
                      </a:r>
                      <a:r>
                        <a:rPr lang="en-US" sz="1400" dirty="0" smtClean="0">
                          <a:solidFill>
                            <a:srgbClr val="000000"/>
                          </a:solidFill>
                          <a:latin typeface="+mn-lt"/>
                        </a:rPr>
                        <a:t> – [04/22]</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[04/23]</a:t>
                      </a:r>
                      <a:r>
                        <a:rPr lang="en-US" sz="1400" dirty="0" smtClean="0">
                          <a:solidFill>
                            <a:srgbClr val="000000"/>
                          </a:solidFill>
                          <a:latin typeface="+mn-lt"/>
                        </a:rPr>
                        <a:t> – [05/06]</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[05/07]</a:t>
                      </a:r>
                      <a:r>
                        <a:rPr lang="en-US" sz="1400" dirty="0" smtClean="0">
                          <a:solidFill>
                            <a:srgbClr val="000000"/>
                          </a:solidFill>
                          <a:latin typeface="+mn-lt"/>
                        </a:rPr>
                        <a:t> – [05/20]</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en-US" sz="1200" b="0" i="0" u="none" strike="noStrike" baseline="0" dirty="0" smtClean="0">
                          <a:solidFill>
                            <a:srgbClr val="000000"/>
                          </a:solidFill>
                          <a:latin typeface="+mn-lt"/>
                        </a:rPr>
                        <a:t>5</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baseline="0" dirty="0" smtClean="0">
                          <a:solidFill>
                            <a:srgbClr val="000000"/>
                          </a:solidFill>
                          <a:latin typeface="+mn-lt"/>
                        </a:rPr>
                        <a:t>5</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effectLst/>
                          <a:latin typeface="Calibri"/>
                        </a:rPr>
                        <a:t> US98261  -  5 Points</a:t>
                      </a:r>
                    </a:p>
                    <a:p>
                      <a:pPr marL="171450" indent="-171450" algn="l" fontAlgn="b">
                        <a:buFont typeface="Arial" pitchFamily="34" charset="0"/>
                        <a:buChar char="•"/>
                      </a:pPr>
                      <a:endParaRPr lang="en-US" sz="1000" b="0" i="0" u="none" strike="noStrike" dirty="0" smtClean="0">
                        <a:solidFill>
                          <a:srgbClr val="000000"/>
                        </a:solidFill>
                        <a:effectLst/>
                        <a:latin typeface="Calibri"/>
                      </a:endParaRPr>
                    </a:p>
                    <a:p>
                      <a:pPr marL="171450" indent="-171450" algn="l" fontAlgn="b">
                        <a:buFont typeface="Arial" pitchFamily="34" charset="0"/>
                        <a:buChar char="•"/>
                      </a:pPr>
                      <a:r>
                        <a:rPr lang="en-US" sz="1000" b="0" i="0" u="none" strike="noStrike" dirty="0" smtClean="0">
                          <a:solidFill>
                            <a:srgbClr val="000000"/>
                          </a:solidFill>
                          <a:effectLst/>
                          <a:latin typeface="Calibri"/>
                        </a:rPr>
                        <a:t>US98261 Testing for  customer eligibility for products like SDFC(234), AFC(AFC), AFCF(AFF) and AF (New RFISC codes) for SSM</a:t>
                      </a:r>
                      <a:endParaRPr lang="en-US" sz="1000" b="0" i="1" u="none" strike="noStrike" baseline="0" dirty="0" smtClean="0">
                        <a:solidFill>
                          <a:srgbClr val="000000"/>
                        </a:solidFill>
                        <a:latin typeface="+mn-lt"/>
                      </a:endParaRPr>
                    </a:p>
                    <a:p>
                      <a:pPr marL="171450" indent="-171450" algn="l" fontAlgn="b">
                        <a:buFont typeface="Arial" pitchFamily="34" charset="0"/>
                        <a:buChar char="•"/>
                      </a:pPr>
                      <a:endParaRPr lang="en-US" sz="1000" b="0" i="1"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 5 Points</a:t>
                      </a: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dirty="0" smtClean="0">
                          <a:solidFill>
                            <a:srgbClr val="000000"/>
                          </a:solidFill>
                          <a:latin typeface="+mn-lt"/>
                        </a:rPr>
                        <a:t>109954 Testing for  customer eligibility for products like SDFC(234), AFC(AFC), AFCF(AFF) and AF (New RFISC codes) for </a:t>
                      </a:r>
                      <a:r>
                        <a:rPr lang="en-US" sz="1000" b="0" i="0" u="none" strike="noStrike" dirty="0" err="1" smtClean="0">
                          <a:solidFill>
                            <a:srgbClr val="000000"/>
                          </a:solidFill>
                          <a:latin typeface="+mn-lt"/>
                        </a:rPr>
                        <a:t>Gateside</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endParaRPr lang="en-US" sz="1000" dirty="0" smtClean="0"/>
                    </a:p>
                    <a:p>
                      <a:pPr marL="171450" indent="-171450" algn="l" fontAlgn="b">
                        <a:buFont typeface="Arial" pitchFamily="34" charset="0"/>
                        <a:buChar char="•"/>
                      </a:pPr>
                      <a:r>
                        <a:rPr lang="en-US" sz="1000" dirty="0" smtClean="0"/>
                        <a:t>109953 SPIKE -</a:t>
                      </a:r>
                      <a:r>
                        <a:rPr lang="en-US" sz="1000" dirty="0" err="1" smtClean="0"/>
                        <a:t>Gateside</a:t>
                      </a:r>
                      <a:r>
                        <a:rPr lang="en-US" sz="1000" dirty="0" smtClean="0"/>
                        <a:t> code merge integration</a:t>
                      </a:r>
                    </a:p>
                    <a:p>
                      <a:pPr marL="0" indent="0" algn="l" fontAlgn="b">
                        <a:buFont typeface="Arial" pitchFamily="34" charset="0"/>
                        <a:buNone/>
                      </a:pPr>
                      <a:endParaRPr lang="en-US" sz="1000" dirty="0" smtClean="0"/>
                    </a:p>
                    <a:p>
                      <a:pPr marL="171450" indent="-171450" algn="l" fontAlgn="b">
                        <a:buFont typeface="Arial" pitchFamily="34" charset="0"/>
                        <a:buChar char="•"/>
                      </a:pPr>
                      <a:r>
                        <a:rPr lang="en-US" sz="1000" dirty="0" smtClean="0"/>
                        <a:t>US 85870  SPIKE O/D</a:t>
                      </a:r>
                      <a:r>
                        <a:rPr lang="en-US" sz="1000" baseline="0" dirty="0" smtClean="0"/>
                        <a:t> city and class of service of boarding card</a:t>
                      </a:r>
                    </a:p>
                    <a:p>
                      <a:pPr marL="171450" indent="-171450" algn="l" fontAlgn="b">
                        <a:buFont typeface="Arial" pitchFamily="34" charset="0"/>
                        <a:buChar char="•"/>
                      </a:pPr>
                      <a:endParaRPr lang="en-US" sz="1000" dirty="0" smtClean="0"/>
                    </a:p>
                    <a:p>
                      <a:pPr marL="171450" indent="-171450" algn="l" fontAlgn="b">
                        <a:buFont typeface="Arial" pitchFamily="34" charset="0"/>
                        <a:buChar char="•"/>
                      </a:pPr>
                      <a:r>
                        <a:rPr lang="en-US" sz="1000" dirty="0" smtClean="0"/>
                        <a:t>US106430  SPIKE -Multi segment to provide SDS offer when any segment does not have E - inventory available</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baseline="0" dirty="0" smtClean="0">
                          <a:solidFill>
                            <a:srgbClr val="000000"/>
                          </a:solidFill>
                          <a:latin typeface="+mn-lt"/>
                        </a:rPr>
                        <a:t> Detailed covered in  issue Mgmt.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endParaRPr lang="en-US" sz="1000" b="0" i="0" u="none" strike="noStrike"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01153">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Footer Placeholder 2"/>
          <p:cNvSpPr>
            <a:spLocks noGrp="1"/>
          </p:cNvSpPr>
          <p:nvPr>
            <p:ph type="ftr" sz="quarter" idx="11"/>
          </p:nvPr>
        </p:nvSpPr>
        <p:spPr>
          <a:xfrm>
            <a:off x="457200" y="6629951"/>
            <a:ext cx="3886200" cy="128016"/>
          </a:xfrm>
        </p:spPr>
        <p:txBody>
          <a:bodyPr/>
          <a:lstStyle/>
          <a:p>
            <a:r>
              <a:rPr lang="en-US" dirty="0" smtClean="0"/>
              <a:t>Release [N] v[</a:t>
            </a:r>
            <a:r>
              <a:rPr lang="en-US" dirty="0" err="1" smtClean="0"/>
              <a:t>x.x</a:t>
            </a:r>
            <a:r>
              <a:rPr lang="en-US" dirty="0" smtClean="0"/>
              <a:t>]</a:t>
            </a:r>
            <a:endParaRPr lang="en-US" dirty="0"/>
          </a:p>
        </p:txBody>
      </p:sp>
    </p:spTree>
    <p:extLst>
      <p:ext uri="{BB962C8B-B14F-4D97-AF65-F5344CB8AC3E}">
        <p14:creationId xmlns:p14="http://schemas.microsoft.com/office/powerpoint/2010/main" val="20674750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Delivery Plan: page 1 of [N]</a:t>
            </a:r>
            <a:endParaRPr lang="en-US" sz="2800"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10</a:t>
            </a:fld>
            <a:endParaRPr lang="en-US"/>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val="213790943"/>
              </p:ext>
            </p:extLst>
          </p:nvPr>
        </p:nvGraphicFramePr>
        <p:xfrm>
          <a:off x="152400" y="304800"/>
          <a:ext cx="8686800" cy="4813647"/>
        </p:xfrm>
        <a:graphic>
          <a:graphicData uri="http://schemas.openxmlformats.org/drawingml/2006/table">
            <a:tbl>
              <a:tblPr/>
              <a:tblGrid>
                <a:gridCol w="1447800"/>
                <a:gridCol w="3124200"/>
                <a:gridCol w="1828800"/>
                <a:gridCol w="2286000"/>
              </a:tblGrid>
              <a:tr h="290232">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22</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23</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24/25/26/</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[05/21]</a:t>
                      </a:r>
                      <a:r>
                        <a:rPr lang="en-US" sz="1400" dirty="0" smtClean="0">
                          <a:solidFill>
                            <a:srgbClr val="000000"/>
                          </a:solidFill>
                          <a:latin typeface="+mn-lt"/>
                        </a:rPr>
                        <a:t> – [06/03]</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[06/04]</a:t>
                      </a:r>
                      <a:r>
                        <a:rPr lang="en-US" sz="1400" dirty="0" smtClean="0">
                          <a:solidFill>
                            <a:srgbClr val="000000"/>
                          </a:solidFill>
                          <a:latin typeface="+mn-lt"/>
                        </a:rPr>
                        <a:t> – [06/17]</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[05/07]</a:t>
                      </a:r>
                      <a:r>
                        <a:rPr lang="en-US" sz="1400" dirty="0" smtClean="0">
                          <a:solidFill>
                            <a:srgbClr val="000000"/>
                          </a:solidFill>
                          <a:latin typeface="+mn-lt"/>
                        </a:rPr>
                        <a:t> – [05/20]</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200" b="0" i="0" u="none" strike="noStrike" baseline="0" dirty="0" smtClean="0">
                        <a:solidFill>
                          <a:srgbClr val="000000"/>
                        </a:solidFill>
                        <a:latin typeface="+mn-lt"/>
                      </a:endParaRP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baseline="0" dirty="0" smtClean="0">
                          <a:solidFill>
                            <a:srgbClr val="000000"/>
                          </a:solidFill>
                          <a:latin typeface="+mn-lt"/>
                        </a:rPr>
                        <a:t>5</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effectLst/>
                          <a:latin typeface="Calibri"/>
                        </a:rPr>
                        <a:t> Integration</a:t>
                      </a:r>
                      <a:r>
                        <a:rPr lang="en-US" sz="1000" b="0" i="0" u="none" strike="noStrike" baseline="0" dirty="0" smtClean="0">
                          <a:solidFill>
                            <a:srgbClr val="000000"/>
                          </a:solidFill>
                          <a:effectLst/>
                          <a:latin typeface="Calibri"/>
                        </a:rPr>
                        <a:t> testing and unit testing</a:t>
                      </a:r>
                      <a:endParaRPr lang="en-US" sz="1000" b="0" i="0" u="none" strike="noStrike" dirty="0" smtClean="0">
                        <a:solidFill>
                          <a:srgbClr val="000000"/>
                        </a:solidFill>
                        <a:effectLst/>
                        <a:latin typeface="Calibri"/>
                      </a:endParaRPr>
                    </a:p>
                    <a:p>
                      <a:pPr marL="171450" indent="-171450" algn="l" fontAlgn="b">
                        <a:buFont typeface="Arial" pitchFamily="34" charset="0"/>
                        <a:buChar char="•"/>
                      </a:pPr>
                      <a:endParaRPr lang="en-US" sz="1000" b="0" i="0" u="none" strike="noStrike" dirty="0" smtClean="0">
                        <a:solidFill>
                          <a:srgbClr val="000000"/>
                        </a:solidFill>
                        <a:effectLst/>
                        <a:latin typeface="Calibri"/>
                      </a:endParaRPr>
                    </a:p>
                    <a:p>
                      <a:pPr marL="171450" indent="-171450" algn="l" fontAlgn="b">
                        <a:buFont typeface="Arial" pitchFamily="34" charset="0"/>
                        <a:buChar char="•"/>
                      </a:pPr>
                      <a:r>
                        <a:rPr lang="en-US" sz="1000" b="0" i="0" u="none" strike="noStrike" dirty="0" smtClean="0">
                          <a:solidFill>
                            <a:srgbClr val="000000"/>
                          </a:solidFill>
                          <a:effectLst/>
                          <a:latin typeface="Calibri"/>
                        </a:rPr>
                        <a:t>Automation QA and defect fixes </a:t>
                      </a:r>
                      <a:endParaRPr lang="en-US" sz="1000" b="0" i="1"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 Integration</a:t>
                      </a:r>
                      <a:r>
                        <a:rPr lang="en-US" sz="1000" b="0" i="0" u="none" strike="noStrike" baseline="0" dirty="0" smtClean="0">
                          <a:solidFill>
                            <a:srgbClr val="000000"/>
                          </a:solidFill>
                          <a:latin typeface="+mn-lt"/>
                        </a:rPr>
                        <a:t> testing</a:t>
                      </a:r>
                      <a:endParaRPr lang="en-US" sz="1000" b="0" i="0" u="none" strike="noStrike" dirty="0" smtClean="0">
                        <a:solidFill>
                          <a:srgbClr val="000000"/>
                        </a:solidFill>
                        <a:latin typeface="+mn-lt"/>
                      </a:endParaRPr>
                    </a:p>
                    <a:p>
                      <a:pPr marL="171450" indent="-171450" algn="l" fontAlgn="b">
                        <a:buFont typeface="Arial" pitchFamily="34" charset="0"/>
                        <a:buChar char="•"/>
                      </a:pPr>
                      <a:endParaRPr lang="en-US" sz="1000" b="0" i="0" u="none" strike="noStrike" dirty="0" smtClean="0">
                        <a:solidFill>
                          <a:srgbClr val="000000"/>
                        </a:solidFill>
                        <a:latin typeface="+mn-lt"/>
                      </a:endParaRPr>
                    </a:p>
                    <a:p>
                      <a:pPr marL="171450" indent="-171450" algn="l" fontAlgn="b">
                        <a:buFont typeface="Arial" pitchFamily="34" charset="0"/>
                        <a:buChar char="•"/>
                      </a:pPr>
                      <a:r>
                        <a:rPr lang="en-US" sz="1000" b="0" i="0" u="none" strike="noStrike" dirty="0" smtClean="0">
                          <a:solidFill>
                            <a:srgbClr val="000000"/>
                          </a:solidFill>
                          <a:latin typeface="+mn-lt"/>
                        </a:rPr>
                        <a:t>Automation QA and defect fixes</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 Code Freeze date</a:t>
                      </a:r>
                      <a:r>
                        <a:rPr lang="en-US" sz="1000" b="0" i="0" u="none" strike="noStrike" baseline="0" dirty="0" smtClean="0">
                          <a:solidFill>
                            <a:srgbClr val="000000"/>
                          </a:solidFill>
                          <a:latin typeface="+mn-lt"/>
                        </a:rPr>
                        <a:t> June 20</a:t>
                      </a:r>
                      <a:r>
                        <a:rPr lang="en-US" sz="1000" b="0" i="0" u="none" strike="noStrike" baseline="30000" dirty="0" smtClean="0">
                          <a:solidFill>
                            <a:srgbClr val="000000"/>
                          </a:solidFill>
                          <a:latin typeface="+mn-lt"/>
                        </a:rPr>
                        <a:t>th</a:t>
                      </a:r>
                      <a:r>
                        <a:rPr lang="en-US" sz="1000" b="0" i="0" u="none" strike="noStrike" baseline="0" dirty="0" smtClean="0">
                          <a:solidFill>
                            <a:srgbClr val="000000"/>
                          </a:solidFill>
                          <a:latin typeface="+mn-lt"/>
                        </a:rPr>
                        <a:t> </a:t>
                      </a:r>
                    </a:p>
                    <a:p>
                      <a:pPr marL="171450" indent="-171450" algn="l" fontAlgn="b">
                        <a:buFont typeface="Arial" pitchFamily="34" charset="0"/>
                        <a:buChar char="•"/>
                      </a:pPr>
                      <a:r>
                        <a:rPr lang="en-US" sz="1000" b="0" i="0" u="none" strike="noStrike" baseline="0" dirty="0" smtClean="0">
                          <a:solidFill>
                            <a:srgbClr val="000000"/>
                          </a:solidFill>
                          <a:latin typeface="+mn-lt"/>
                        </a:rPr>
                        <a:t>Integrated QA ( IQA) 6 weeks period until July 25</a:t>
                      </a:r>
                      <a:r>
                        <a:rPr lang="en-US" sz="1000" b="0" i="0" u="none" strike="noStrike" baseline="30000" dirty="0" smtClean="0">
                          <a:solidFill>
                            <a:srgbClr val="000000"/>
                          </a:solidFill>
                          <a:latin typeface="+mn-lt"/>
                        </a:rPr>
                        <a:t>th</a:t>
                      </a:r>
                      <a:r>
                        <a:rPr lang="en-US" sz="1000" b="0" i="0" u="none" strike="noStrike" baseline="0" dirty="0" smtClean="0">
                          <a:solidFill>
                            <a:srgbClr val="000000"/>
                          </a:solidFill>
                          <a:latin typeface="+mn-lt"/>
                        </a:rPr>
                        <a:t> Production.</a:t>
                      </a:r>
                    </a:p>
                    <a:p>
                      <a:pPr marL="171450" indent="-171450" algn="l" fontAlgn="b">
                        <a:buFont typeface="Arial" pitchFamily="34" charset="0"/>
                        <a:buChar char="•"/>
                      </a:pPr>
                      <a:endParaRPr lang="en-US" sz="1000" dirty="0" smtClean="0"/>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baseline="0" dirty="0" smtClean="0">
                          <a:solidFill>
                            <a:srgbClr val="000000"/>
                          </a:solidFill>
                          <a:latin typeface="+mn-lt"/>
                        </a:rPr>
                        <a:t> Detailed covered in  issue Mgmt.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endParaRPr lang="en-US" sz="1000" b="0" i="0" u="none" strike="noStrike"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01153">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Footer Placeholder 2"/>
          <p:cNvSpPr>
            <a:spLocks noGrp="1"/>
          </p:cNvSpPr>
          <p:nvPr>
            <p:ph type="ftr" sz="quarter" idx="11"/>
          </p:nvPr>
        </p:nvSpPr>
        <p:spPr>
          <a:xfrm>
            <a:off x="457200" y="6629951"/>
            <a:ext cx="3886200" cy="128016"/>
          </a:xfrm>
        </p:spPr>
        <p:txBody>
          <a:bodyPr/>
          <a:lstStyle/>
          <a:p>
            <a:r>
              <a:rPr lang="en-US" dirty="0" smtClean="0"/>
              <a:t>Release [N] v[</a:t>
            </a:r>
            <a:r>
              <a:rPr lang="en-US" dirty="0" err="1" smtClean="0"/>
              <a:t>x.x</a:t>
            </a:r>
            <a:r>
              <a:rPr lang="en-US" dirty="0" smtClean="0"/>
              <a:t>]</a:t>
            </a:r>
            <a:endParaRPr lang="en-US" dirty="0"/>
          </a:p>
        </p:txBody>
      </p:sp>
    </p:spTree>
    <p:extLst>
      <p:ext uri="{BB962C8B-B14F-4D97-AF65-F5344CB8AC3E}">
        <p14:creationId xmlns:p14="http://schemas.microsoft.com/office/powerpoint/2010/main" val="29141982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11</a:t>
            </a:fld>
            <a:endParaRPr lang="en-US" dirty="0">
              <a:solidFill>
                <a:srgbClr val="7F7F7F"/>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965543897"/>
              </p:ext>
            </p:extLst>
          </p:nvPr>
        </p:nvGraphicFramePr>
        <p:xfrm>
          <a:off x="457200" y="1397000"/>
          <a:ext cx="8458200" cy="4577080"/>
        </p:xfrm>
        <a:graphic>
          <a:graphicData uri="http://schemas.openxmlformats.org/drawingml/2006/table">
            <a:tbl>
              <a:tblPr firstRow="1" bandRow="1">
                <a:tableStyleId>{00A15C55-8517-42AA-B614-E9B94910E393}</a:tableStyleId>
              </a:tblPr>
              <a:tblGrid>
                <a:gridCol w="2362200"/>
                <a:gridCol w="1143000"/>
                <a:gridCol w="1981200"/>
                <a:gridCol w="762000"/>
                <a:gridCol w="1066800"/>
                <a:gridCol w="1143000"/>
              </a:tblGrid>
              <a:tr h="370840">
                <a:tc>
                  <a:txBody>
                    <a:bodyPr/>
                    <a:lstStyle/>
                    <a:p>
                      <a:r>
                        <a:rPr lang="en-US" dirty="0" smtClean="0"/>
                        <a:t>Risk</a:t>
                      </a:r>
                      <a:endParaRPr lang="en-US" dirty="0"/>
                    </a:p>
                  </a:txBody>
                  <a:tcPr/>
                </a:tc>
                <a:tc>
                  <a:txBody>
                    <a:bodyPr/>
                    <a:lstStyle/>
                    <a:p>
                      <a:r>
                        <a:rPr lang="en-US" dirty="0" smtClean="0"/>
                        <a:t>Iteration</a:t>
                      </a:r>
                      <a:endParaRPr lang="en-US" dirty="0"/>
                    </a:p>
                  </a:txBody>
                  <a:tcPr/>
                </a:tc>
                <a:tc>
                  <a:txBody>
                    <a:bodyPr/>
                    <a:lstStyle/>
                    <a:p>
                      <a:r>
                        <a:rPr lang="en-US" dirty="0" smtClean="0"/>
                        <a:t>Related</a:t>
                      </a:r>
                      <a:r>
                        <a:rPr lang="en-US" baseline="0" dirty="0" smtClean="0"/>
                        <a:t> Story</a:t>
                      </a:r>
                      <a:endParaRPr lang="en-US" dirty="0"/>
                    </a:p>
                  </a:txBody>
                  <a:tcPr/>
                </a:tc>
                <a:tc>
                  <a:txBody>
                    <a:bodyPr/>
                    <a:lstStyle/>
                    <a:p>
                      <a:r>
                        <a:rPr lang="en-US" dirty="0" smtClean="0"/>
                        <a:t>State</a:t>
                      </a:r>
                      <a:endParaRPr lang="en-US" dirty="0"/>
                    </a:p>
                  </a:txBody>
                  <a:tcPr/>
                </a:tc>
                <a:tc>
                  <a:txBody>
                    <a:bodyPr/>
                    <a:lstStyle/>
                    <a:p>
                      <a:r>
                        <a:rPr lang="en-US" dirty="0" err="1" smtClean="0"/>
                        <a:t>Prob</a:t>
                      </a:r>
                      <a:endParaRPr lang="en-US" dirty="0"/>
                    </a:p>
                  </a:txBody>
                  <a:tcPr/>
                </a:tc>
                <a:tc>
                  <a:txBody>
                    <a:bodyPr/>
                    <a:lstStyle/>
                    <a:p>
                      <a:r>
                        <a:rPr lang="en-US" dirty="0" smtClean="0"/>
                        <a:t>Impact</a:t>
                      </a:r>
                      <a:endParaRPr lang="en-US" dirty="0"/>
                    </a:p>
                  </a:txBody>
                  <a:tcPr/>
                </a:tc>
              </a:tr>
              <a:tr h="370840">
                <a:tc>
                  <a:txBody>
                    <a:bodyPr/>
                    <a:lstStyle/>
                    <a:p>
                      <a:r>
                        <a:rPr lang="en-US" sz="1400" dirty="0" smtClean="0"/>
                        <a:t>(CS version 13.0.1. Catalog version 12) CS sending the correct</a:t>
                      </a:r>
                      <a:r>
                        <a:rPr lang="en-US" sz="1400" baseline="0" dirty="0" smtClean="0"/>
                        <a:t> </a:t>
                      </a:r>
                      <a:r>
                        <a:rPr lang="en-US" sz="1400" dirty="0" smtClean="0"/>
                        <a:t>Catalog offers based on the business</a:t>
                      </a:r>
                      <a:r>
                        <a:rPr lang="en-US" sz="1400" baseline="0" dirty="0" smtClean="0"/>
                        <a:t> rules.</a:t>
                      </a:r>
                      <a:endParaRPr lang="en-US" sz="1400" dirty="0"/>
                    </a:p>
                  </a:txBody>
                  <a:tcPr/>
                </a:tc>
                <a:tc>
                  <a:txBody>
                    <a:bodyPr/>
                    <a:lstStyle/>
                    <a:p>
                      <a:r>
                        <a:rPr lang="en-US" dirty="0" smtClean="0"/>
                        <a:t>16- 23</a:t>
                      </a:r>
                      <a:endParaRPr lang="en-US" dirty="0"/>
                    </a:p>
                  </a:txBody>
                  <a:tcPr/>
                </a:tc>
                <a:tc>
                  <a:txBody>
                    <a:bodyPr/>
                    <a:lstStyle/>
                    <a:p>
                      <a:r>
                        <a:rPr lang="en-US" dirty="0" smtClean="0"/>
                        <a:t>102305,102316, 106430,98261,100759,106612</a:t>
                      </a:r>
                      <a:endParaRPr lang="en-US" dirty="0"/>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370840">
                <a:tc>
                  <a:txBody>
                    <a:bodyPr/>
                    <a:lstStyle/>
                    <a:p>
                      <a:r>
                        <a:rPr lang="en-US" sz="1400" dirty="0" err="1" smtClean="0"/>
                        <a:t>eTDS</a:t>
                      </a:r>
                      <a:r>
                        <a:rPr lang="en-US" sz="1400" baseline="0" dirty="0" smtClean="0"/>
                        <a:t> performs the fulfillment /payment for SSM requests. </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16- 23</a:t>
                      </a:r>
                    </a:p>
                    <a:p>
                      <a:endParaRPr lang="en-US" dirty="0"/>
                    </a:p>
                  </a:txBody>
                  <a:tcPr/>
                </a:tc>
                <a:tc>
                  <a:txBody>
                    <a:bodyPr/>
                    <a:lstStyle/>
                    <a:p>
                      <a:r>
                        <a:rPr lang="en-US" dirty="0" smtClean="0"/>
                        <a:t>108348,106612,</a:t>
                      </a:r>
                    </a:p>
                    <a:p>
                      <a:r>
                        <a:rPr lang="en-US" dirty="0" smtClean="0"/>
                        <a:t>98261</a:t>
                      </a:r>
                      <a:endParaRPr lang="en-US" dirty="0"/>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370840">
                <a:tc>
                  <a:txBody>
                    <a:bodyPr/>
                    <a:lstStyle/>
                    <a:p>
                      <a:r>
                        <a:rPr lang="en-US" sz="1400" dirty="0" err="1" smtClean="0"/>
                        <a:t>Ecloud</a:t>
                      </a:r>
                      <a:r>
                        <a:rPr lang="en-US" sz="1400" baseline="0" dirty="0" smtClean="0"/>
                        <a:t> </a:t>
                      </a:r>
                      <a:r>
                        <a:rPr lang="en-US" sz="1400" baseline="0" smtClean="0"/>
                        <a:t>project </a:t>
                      </a:r>
                      <a:r>
                        <a:rPr lang="en-US" sz="1400" smtClean="0"/>
                        <a:t>go-live </a:t>
                      </a:r>
                      <a:r>
                        <a:rPr lang="en-US" sz="1400" dirty="0" smtClean="0"/>
                        <a:t>dates are critical</a:t>
                      </a:r>
                      <a:r>
                        <a:rPr lang="en-US" sz="1400" baseline="0" dirty="0" smtClean="0"/>
                        <a:t> and its schedule affects SSM launch</a:t>
                      </a:r>
                      <a:endParaRPr lang="en-US" sz="1400" dirty="0"/>
                    </a:p>
                  </a:txBody>
                  <a:tcPr/>
                </a:tc>
                <a:tc>
                  <a:txBody>
                    <a:bodyPr/>
                    <a:lstStyle/>
                    <a:p>
                      <a:endParaRPr lang="en-US" dirty="0"/>
                    </a:p>
                  </a:txBody>
                  <a:tcPr/>
                </a:tc>
                <a:tc>
                  <a:txBody>
                    <a:bodyPr/>
                    <a:lstStyle/>
                    <a:p>
                      <a:endParaRPr lang="en-US"/>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9245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dirty="0" smtClean="0"/>
                        <a:t>SSM receives all the needed responses from </a:t>
                      </a:r>
                      <a:r>
                        <a:rPr lang="en-US" sz="1400" baseline="0" dirty="0" err="1" smtClean="0"/>
                        <a:t>iTKTs</a:t>
                      </a:r>
                      <a:r>
                        <a:rPr lang="en-US" sz="1400" baseline="0" dirty="0" smtClean="0"/>
                        <a:t>.</a:t>
                      </a:r>
                      <a:endParaRPr lang="en-US" sz="1400" dirty="0" smtClean="0"/>
                    </a:p>
                    <a:p>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16- 23</a:t>
                      </a:r>
                    </a:p>
                    <a:p>
                      <a:endParaRPr lang="en-US" dirty="0"/>
                    </a:p>
                  </a:txBody>
                  <a:tcPr/>
                </a:tc>
                <a:tc>
                  <a:txBody>
                    <a:bodyPr/>
                    <a:lstStyle/>
                    <a:p>
                      <a:r>
                        <a:rPr lang="en-US" dirty="0" smtClean="0"/>
                        <a:t>108348,106612,</a:t>
                      </a:r>
                    </a:p>
                    <a:p>
                      <a:r>
                        <a:rPr lang="en-US" dirty="0" smtClean="0"/>
                        <a:t>98261</a:t>
                      </a:r>
                    </a:p>
                    <a:p>
                      <a:endParaRPr lang="en-US" dirty="0"/>
                    </a:p>
                  </a:txBody>
                  <a:tcPr/>
                </a:tc>
                <a:tc>
                  <a:txBody>
                    <a:bodyPr/>
                    <a:lstStyle/>
                    <a:p>
                      <a:r>
                        <a:rPr lang="en-US" dirty="0" smtClean="0"/>
                        <a:t>Open</a:t>
                      </a:r>
                      <a:endParaRPr lang="en-US" dirty="0"/>
                    </a:p>
                  </a:txBody>
                  <a:tcPr/>
                </a:tc>
                <a:tc>
                  <a:txBody>
                    <a:bodyPr/>
                    <a:lstStyle/>
                    <a:p>
                      <a:r>
                        <a:rPr lang="en-US" dirty="0" smtClean="0"/>
                        <a:t>High</a:t>
                      </a:r>
                      <a:endParaRPr lang="en-US" dirty="0"/>
                    </a:p>
                  </a:txBody>
                  <a:tcPr/>
                </a:tc>
                <a:tc>
                  <a:txBody>
                    <a:bodyPr/>
                    <a:lstStyle/>
                    <a:p>
                      <a:r>
                        <a:rPr lang="en-US" dirty="0" smtClean="0"/>
                        <a:t>High</a:t>
                      </a:r>
                      <a:endParaRPr lang="en-US" dirty="0"/>
                    </a:p>
                  </a:txBody>
                  <a:tcPr/>
                </a:tc>
              </a:tr>
              <a:tr h="370840">
                <a:tc>
                  <a:txBody>
                    <a:bodyPr/>
                    <a:lstStyle/>
                    <a:p>
                      <a:r>
                        <a:rPr lang="en-US" sz="1400" dirty="0" smtClean="0"/>
                        <a:t>Code merge issues with </a:t>
                      </a:r>
                      <a:r>
                        <a:rPr lang="en-US" sz="1400" dirty="0" err="1" smtClean="0"/>
                        <a:t>Gateside</a:t>
                      </a:r>
                      <a:r>
                        <a:rPr lang="en-US" sz="1400" dirty="0" smtClean="0"/>
                        <a:t> code</a:t>
                      </a:r>
                      <a:endParaRPr lang="en-US" sz="1400" dirty="0"/>
                    </a:p>
                  </a:txBody>
                  <a:tcPr/>
                </a:tc>
                <a:tc>
                  <a:txBody>
                    <a:bodyPr/>
                    <a:lstStyle/>
                    <a:p>
                      <a:r>
                        <a:rPr lang="en-US" dirty="0" smtClean="0"/>
                        <a:t>Iteration 20</a:t>
                      </a:r>
                      <a:endParaRPr lang="en-US" dirty="0"/>
                    </a:p>
                  </a:txBody>
                  <a:tcPr/>
                </a:tc>
                <a:tc>
                  <a:txBody>
                    <a:bodyPr/>
                    <a:lstStyle/>
                    <a:p>
                      <a:r>
                        <a:rPr lang="en-US" smtClean="0"/>
                        <a:t>106612,102316,</a:t>
                      </a:r>
                    </a:p>
                    <a:p>
                      <a:r>
                        <a:rPr lang="en-US" smtClean="0"/>
                        <a:t>109954</a:t>
                      </a:r>
                      <a:endParaRPr lang="en-US" dirty="0"/>
                    </a:p>
                  </a:txBody>
                  <a:tcPr/>
                </a:tc>
                <a:tc>
                  <a:txBody>
                    <a:bodyPr/>
                    <a:lstStyle/>
                    <a:p>
                      <a:r>
                        <a:rPr lang="en-US" dirty="0" smtClean="0"/>
                        <a:t>Open</a:t>
                      </a:r>
                      <a:endParaRPr lang="en-US" dirty="0"/>
                    </a:p>
                  </a:txBody>
                  <a:tcPr/>
                </a:tc>
                <a:tc>
                  <a:txBody>
                    <a:bodyPr/>
                    <a:lstStyle/>
                    <a:p>
                      <a:r>
                        <a:rPr lang="en-US" dirty="0" smtClean="0"/>
                        <a:t>Medium</a:t>
                      </a:r>
                      <a:endParaRPr lang="en-US" dirty="0"/>
                    </a:p>
                  </a:txBody>
                  <a:tcPr/>
                </a:tc>
                <a:tc>
                  <a:txBody>
                    <a:bodyPr/>
                    <a:lstStyle/>
                    <a:p>
                      <a:r>
                        <a:rPr lang="en-US" dirty="0" smtClean="0"/>
                        <a:t>Medium</a:t>
                      </a:r>
                      <a:endParaRPr lang="en-US"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Dependencies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12</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Gives</a:t>
            </a:r>
          </a:p>
        </p:txBody>
      </p:sp>
      <p:graphicFrame>
        <p:nvGraphicFramePr>
          <p:cNvPr id="6" name="Table 5"/>
          <p:cNvGraphicFramePr>
            <a:graphicFrameLocks noGrp="1"/>
          </p:cNvGraphicFramePr>
          <p:nvPr>
            <p:extLst>
              <p:ext uri="{D42A27DB-BD31-4B8C-83A1-F6EECF244321}">
                <p14:modId xmlns:p14="http://schemas.microsoft.com/office/powerpoint/2010/main" val="3491653853"/>
              </p:ext>
            </p:extLst>
          </p:nvPr>
        </p:nvGraphicFramePr>
        <p:xfrm>
          <a:off x="457200" y="1524000"/>
          <a:ext cx="8229600" cy="4118610"/>
        </p:xfrm>
        <a:graphic>
          <a:graphicData uri="http://schemas.openxmlformats.org/drawingml/2006/table">
            <a:tbl>
              <a:tblPr firstRow="1" bandRow="1">
                <a:tableStyleId>{00A15C55-8517-42AA-B614-E9B94910E393}</a:tableStyleId>
              </a:tblPr>
              <a:tblGrid>
                <a:gridCol w="1645920"/>
                <a:gridCol w="1325880"/>
                <a:gridCol w="1965960"/>
                <a:gridCol w="1645920"/>
                <a:gridCol w="1645920"/>
              </a:tblGrid>
              <a:tr h="370840">
                <a:tc>
                  <a:txBody>
                    <a:bodyPr/>
                    <a:lstStyle/>
                    <a:p>
                      <a:r>
                        <a:rPr lang="en-US" dirty="0" smtClean="0"/>
                        <a:t>Item</a:t>
                      </a:r>
                      <a:endParaRPr lang="en-US" dirty="0"/>
                    </a:p>
                  </a:txBody>
                  <a:tcPr/>
                </a:tc>
                <a:tc>
                  <a:txBody>
                    <a:bodyPr/>
                    <a:lstStyle/>
                    <a:p>
                      <a:r>
                        <a:rPr lang="en-US" dirty="0" smtClean="0"/>
                        <a:t>To</a:t>
                      </a:r>
                      <a:endParaRPr lang="en-US" dirty="0"/>
                    </a:p>
                  </a:txBody>
                  <a:tcPr/>
                </a:tc>
                <a:tc>
                  <a:txBody>
                    <a:bodyPr/>
                    <a:lstStyle/>
                    <a:p>
                      <a:r>
                        <a:rPr lang="en-US" dirty="0" smtClean="0"/>
                        <a:t>Iteration</a:t>
                      </a:r>
                      <a:endParaRPr lang="en-US" dirty="0"/>
                    </a:p>
                  </a:txBody>
                  <a:tcPr/>
                </a:tc>
                <a:tc>
                  <a:txBody>
                    <a:bodyPr/>
                    <a:lstStyle/>
                    <a:p>
                      <a:r>
                        <a:rPr lang="en-US" dirty="0" smtClean="0"/>
                        <a:t>Story</a:t>
                      </a:r>
                      <a:endParaRPr lang="en-US" dirty="0"/>
                    </a:p>
                  </a:txBody>
                  <a:tcPr/>
                </a:tc>
                <a:tc>
                  <a:txBody>
                    <a:bodyPr/>
                    <a:lstStyle/>
                    <a:p>
                      <a:r>
                        <a:rPr lang="en-US" dirty="0" smtClean="0"/>
                        <a:t>Notes</a:t>
                      </a:r>
                      <a:endParaRPr lang="en-US" dirty="0"/>
                    </a:p>
                  </a:txBody>
                  <a:tcPr/>
                </a:tc>
              </a:tr>
              <a:tr h="370840">
                <a:tc>
                  <a:txBody>
                    <a:bodyPr/>
                    <a:lstStyle/>
                    <a:p>
                      <a:r>
                        <a:rPr lang="en-US" dirty="0" smtClean="0"/>
                        <a:t>CS Merch</a:t>
                      </a:r>
                    </a:p>
                    <a:p>
                      <a:r>
                        <a:rPr lang="en-US" dirty="0" smtClean="0"/>
                        <a:t>(CS version 13.0.1. Catalog version 12) </a:t>
                      </a:r>
                      <a:endParaRPr lang="en-US" dirty="0"/>
                    </a:p>
                  </a:txBody>
                  <a:tcPr/>
                </a:tc>
                <a:tc>
                  <a:txBody>
                    <a:bodyPr/>
                    <a:lstStyle/>
                    <a:p>
                      <a:r>
                        <a:rPr lang="en-US" dirty="0" smtClean="0"/>
                        <a:t>Common services</a:t>
                      </a:r>
                      <a:endParaRPr lang="en-US" dirty="0"/>
                    </a:p>
                  </a:txBody>
                  <a:tcPr/>
                </a:tc>
                <a:tc>
                  <a:txBody>
                    <a:bodyPr/>
                    <a:lstStyle/>
                    <a:p>
                      <a:r>
                        <a:rPr lang="en-US" dirty="0" smtClean="0"/>
                        <a:t>1</a:t>
                      </a:r>
                      <a:r>
                        <a:rPr lang="en-US" baseline="0" dirty="0" smtClean="0"/>
                        <a:t> </a:t>
                      </a:r>
                      <a:r>
                        <a:rPr lang="en-US" baseline="0" dirty="0" smtClean="0"/>
                        <a:t>to </a:t>
                      </a:r>
                      <a:r>
                        <a:rPr lang="en-US" dirty="0" smtClean="0"/>
                        <a:t>28</a:t>
                      </a:r>
                      <a:endParaRPr lang="en-US" dirty="0"/>
                    </a:p>
                  </a:txBody>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effectLst/>
                          <a:latin typeface="Calibri"/>
                        </a:rPr>
                        <a:t>US109195, US108348, US106612, US100759, US109205, US100756, US102305, US102316, US85870, US98261, US106430</a:t>
                      </a:r>
                    </a:p>
                    <a:p>
                      <a:pPr marL="0" marR="0" indent="0" algn="l" defTabSz="914400" rtl="0" eaLnBrk="1" fontAlgn="b" latinLnBrk="0" hangingPunct="1">
                        <a:lnSpc>
                          <a:spcPct val="100000"/>
                        </a:lnSpc>
                        <a:spcBef>
                          <a:spcPts val="0"/>
                        </a:spcBef>
                        <a:spcAft>
                          <a:spcPts val="0"/>
                        </a:spcAft>
                        <a:buClrTx/>
                        <a:buSzTx/>
                        <a:buFontTx/>
                        <a:buNone/>
                        <a:tabLst/>
                        <a:defRPr/>
                      </a:pPr>
                      <a:endParaRPr lang="en-US" sz="1100" b="0" i="0" u="none" strike="noStrike" dirty="0" smtClean="0">
                        <a:solidFill>
                          <a:srgbClr val="000000"/>
                        </a:solidFill>
                        <a:effectLst/>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100" b="0" i="0" u="none" strike="noStrike" dirty="0" smtClean="0">
                        <a:solidFill>
                          <a:srgbClr val="000000"/>
                        </a:solidFill>
                        <a:effectLst/>
                        <a:latin typeface="Calibri"/>
                      </a:endParaRPr>
                    </a:p>
                    <a:p>
                      <a:pPr algn="l" fontAlgn="b"/>
                      <a:endParaRPr lang="en-US" sz="1100" b="0" i="0" u="none" strike="noStrike" dirty="0">
                        <a:solidFill>
                          <a:srgbClr val="000000"/>
                        </a:solidFill>
                        <a:effectLst/>
                        <a:latin typeface="Calibri"/>
                      </a:endParaRPr>
                    </a:p>
                  </a:txBody>
                  <a:tcPr marL="9525" marR="9525" marT="9525" marB="0" anchor="b"/>
                </a:tc>
                <a:tc>
                  <a:txBody>
                    <a:bodyPr/>
                    <a:lstStyle/>
                    <a:p>
                      <a:r>
                        <a:rPr lang="en-US" dirty="0" smtClean="0"/>
                        <a:t>[notes]</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CS</a:t>
                      </a:r>
                      <a:r>
                        <a:rPr lang="en-US" baseline="0" dirty="0" smtClean="0"/>
                        <a:t> Merch</a:t>
                      </a:r>
                      <a:endParaRPr lang="en-US" dirty="0" smtClean="0"/>
                    </a:p>
                    <a:p>
                      <a:endParaRPr lang="en-US" dirty="0"/>
                    </a:p>
                  </a:txBody>
                  <a:tcPr/>
                </a:tc>
                <a:tc>
                  <a:txBody>
                    <a:bodyPr/>
                    <a:lstStyle/>
                    <a:p>
                      <a:r>
                        <a:rPr lang="en-US" dirty="0" smtClean="0"/>
                        <a:t>Catalog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a:t>
                      </a:r>
                      <a:r>
                        <a:rPr lang="en-US" baseline="0" dirty="0" smtClean="0"/>
                        <a:t> </a:t>
                      </a:r>
                      <a:r>
                        <a:rPr lang="en-US" baseline="0" dirty="0" smtClean="0"/>
                        <a:t>to </a:t>
                      </a:r>
                      <a:r>
                        <a:rPr lang="en-US" dirty="0" smtClean="0"/>
                        <a:t>28</a:t>
                      </a:r>
                      <a:endParaRPr lang="en-US" dirty="0" smtClean="0"/>
                    </a:p>
                    <a:p>
                      <a:endParaRPr lang="en-US" dirty="0"/>
                    </a:p>
                  </a:txBody>
                  <a:tcPr/>
                </a:tc>
                <a:tc>
                  <a:txBody>
                    <a:bodyPr/>
                    <a:lstStyle/>
                    <a:p>
                      <a:r>
                        <a:rPr lang="en-US" sz="1100" dirty="0" smtClean="0"/>
                        <a:t> US102305,US102316,  US106430,</a:t>
                      </a:r>
                    </a:p>
                    <a:p>
                      <a:r>
                        <a:rPr lang="en-US" sz="1100" dirty="0" smtClean="0"/>
                        <a:t>US98261, US100759, US106612</a:t>
                      </a:r>
                    </a:p>
                    <a:p>
                      <a:pPr algn="l" fontAlgn="b"/>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r h="370840">
                <a:tc>
                  <a:txBody>
                    <a:bodyPr/>
                    <a:lstStyle/>
                    <a:p>
                      <a:r>
                        <a:rPr lang="en-US" dirty="0" err="1" smtClean="0"/>
                        <a:t>iTKTs</a:t>
                      </a:r>
                      <a:endParaRPr lang="en-US" dirty="0"/>
                    </a:p>
                  </a:txBody>
                  <a:tcPr/>
                </a:tc>
                <a:tc>
                  <a:txBody>
                    <a:bodyPr/>
                    <a:lstStyle/>
                    <a:p>
                      <a:r>
                        <a:rPr lang="en-US" dirty="0" err="1" smtClean="0"/>
                        <a:t>eTDS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a:t>
                      </a:r>
                      <a:r>
                        <a:rPr lang="en-US" baseline="0" dirty="0" smtClean="0"/>
                        <a:t> </a:t>
                      </a:r>
                      <a:r>
                        <a:rPr lang="en-US" baseline="0" dirty="0" smtClean="0"/>
                        <a:t>to </a:t>
                      </a:r>
                      <a:r>
                        <a:rPr lang="en-US" dirty="0" smtClean="0"/>
                        <a:t>28</a:t>
                      </a:r>
                      <a:endParaRPr lang="en-US" dirty="0" smtClean="0"/>
                    </a:p>
                    <a:p>
                      <a:endParaRPr lang="en-US" dirty="0"/>
                    </a:p>
                  </a:txBody>
                  <a:tcPr/>
                </a:tc>
                <a:tc>
                  <a:txBody>
                    <a:bodyPr/>
                    <a:lstStyle/>
                    <a:p>
                      <a:r>
                        <a:rPr lang="en-US" sz="1100" b="0" i="0" u="none" strike="noStrike" dirty="0" smtClean="0">
                          <a:solidFill>
                            <a:srgbClr val="000000"/>
                          </a:solidFill>
                          <a:effectLst/>
                          <a:latin typeface="Calibri"/>
                        </a:rPr>
                        <a:t>US</a:t>
                      </a:r>
                      <a:r>
                        <a:rPr lang="en-US" sz="1100" dirty="0" smtClean="0"/>
                        <a:t>108348,106612,98261</a:t>
                      </a:r>
                    </a:p>
                    <a:p>
                      <a:pPr marL="0" marR="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smtClean="0">
                          <a:solidFill>
                            <a:srgbClr val="000000"/>
                          </a:solidFill>
                          <a:effectLst/>
                          <a:latin typeface="Calibri"/>
                        </a:rPr>
                        <a:t>US109195, US108348, US106612, US100759</a:t>
                      </a:r>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r h="370840">
                <a:tc>
                  <a:txBody>
                    <a:bodyPr/>
                    <a:lstStyle/>
                    <a:p>
                      <a:r>
                        <a:rPr lang="en-US" dirty="0" smtClean="0"/>
                        <a:t>App Support</a:t>
                      </a:r>
                      <a:endParaRPr lang="en-US" dirty="0"/>
                    </a:p>
                  </a:txBody>
                  <a:tcPr/>
                </a:tc>
                <a:tc>
                  <a:txBody>
                    <a:bodyPr/>
                    <a:lstStyle/>
                    <a:p>
                      <a:r>
                        <a:rPr lang="en-US" dirty="0" smtClean="0"/>
                        <a:t>Testing</a:t>
                      </a:r>
                      <a:endParaRPr lang="en-US" dirty="0"/>
                    </a:p>
                  </a:txBody>
                  <a:tcPr/>
                </a:tc>
                <a:tc>
                  <a:txBody>
                    <a:bodyPr/>
                    <a:lstStyle/>
                    <a:p>
                      <a:r>
                        <a:rPr lang="en-US" dirty="0" smtClean="0"/>
                        <a:t>1- 28</a:t>
                      </a:r>
                      <a:endParaRPr lang="en-US" dirty="0"/>
                    </a:p>
                  </a:txBody>
                  <a:tcPr/>
                </a:tc>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pPr algn="l" fontAlgn="b"/>
                      <a:endParaRPr lang="en-US" sz="1100" b="0" i="0" u="none" strike="noStrike" dirty="0">
                        <a:solidFill>
                          <a:srgbClr val="000000"/>
                        </a:solidFill>
                        <a:effectLst/>
                        <a:latin typeface="Calibri"/>
                      </a:endParaRPr>
                    </a:p>
                  </a:txBody>
                  <a:tcPr marL="9525" marR="9525" marT="9525" marB="0" anchor="b"/>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13</a:t>
            </a:fld>
            <a:endParaRPr lang="en-US" dirty="0">
              <a:solidFill>
                <a:srgbClr val="7F7F7F"/>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4246316599"/>
              </p:ext>
            </p:extLst>
          </p:nvPr>
        </p:nvGraphicFramePr>
        <p:xfrm>
          <a:off x="457200" y="1397000"/>
          <a:ext cx="8229600" cy="44958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756</a:t>
                      </a:r>
                      <a:endParaRPr lang="en-US" dirty="0"/>
                    </a:p>
                  </a:txBody>
                  <a:tcPr/>
                </a:tc>
                <a:tc>
                  <a:txBody>
                    <a:bodyPr/>
                    <a:lstStyle/>
                    <a:p>
                      <a:r>
                        <a:rPr lang="en-US" dirty="0" smtClean="0"/>
                        <a:t>OPEN</a:t>
                      </a:r>
                      <a:endParaRPr lang="en-US" dirty="0"/>
                    </a:p>
                  </a:txBody>
                  <a:tcPr/>
                </a:tc>
                <a:tc>
                  <a:txBody>
                    <a:bodyPr/>
                    <a:lstStyle/>
                    <a:p>
                      <a:r>
                        <a:rPr lang="en-US" dirty="0" smtClean="0"/>
                        <a:t>In a multi-segment any </a:t>
                      </a:r>
                      <a:r>
                        <a:rPr lang="en-US" baseline="0" dirty="0" smtClean="0"/>
                        <a:t>segment offer SDS</a:t>
                      </a:r>
                      <a:endParaRPr lang="en-US" dirty="0"/>
                    </a:p>
                  </a:txBody>
                  <a:tcPr/>
                </a:tc>
              </a:tr>
              <a:tr h="370840">
                <a:tc>
                  <a:txBody>
                    <a:bodyPr/>
                    <a:lstStyle/>
                    <a:p>
                      <a:r>
                        <a:rPr lang="en-US" dirty="0" smtClean="0"/>
                        <a:t>??</a:t>
                      </a:r>
                      <a:endParaRPr lang="en-US" dirty="0"/>
                    </a:p>
                  </a:txBody>
                  <a:tcPr/>
                </a:tc>
                <a:tc>
                  <a:txBody>
                    <a:bodyPr/>
                    <a:lstStyle/>
                    <a:p>
                      <a:r>
                        <a:rPr lang="en-US" dirty="0" smtClean="0"/>
                        <a:t>OPEN</a:t>
                      </a:r>
                      <a:endParaRPr lang="en-US" dirty="0"/>
                    </a:p>
                  </a:txBody>
                  <a:tcPr/>
                </a:tc>
                <a:tc>
                  <a:txBody>
                    <a:bodyPr/>
                    <a:lstStyle/>
                    <a:p>
                      <a:r>
                        <a:rPr lang="en-US" dirty="0" smtClean="0"/>
                        <a:t>**Catalog is returning two standby offers for elite passengers </a:t>
                      </a:r>
                      <a:endParaRPr lang="en-US" dirty="0"/>
                    </a:p>
                  </a:txBody>
                  <a:tcPr/>
                </a:tc>
              </a:tr>
              <a:tr h="370840">
                <a:tc>
                  <a:txBody>
                    <a:bodyPr/>
                    <a:lstStyle/>
                    <a:p>
                      <a:r>
                        <a:rPr lang="en-US" dirty="0" smtClean="0"/>
                        <a:t>757</a:t>
                      </a:r>
                      <a:endParaRPr lang="en-US" dirty="0"/>
                    </a:p>
                  </a:txBody>
                  <a:tcPr/>
                </a:tc>
                <a:tc>
                  <a:txBody>
                    <a:bodyPr/>
                    <a:lstStyle/>
                    <a:p>
                      <a:r>
                        <a:rPr lang="en-US" dirty="0" smtClean="0"/>
                        <a:t>OPEN</a:t>
                      </a:r>
                      <a:endParaRPr lang="en-US" dirty="0"/>
                    </a:p>
                  </a:txBody>
                  <a:tcPr/>
                </a:tc>
                <a:tc>
                  <a:txBody>
                    <a:bodyPr/>
                    <a:lstStyle/>
                    <a:p>
                      <a:r>
                        <a:rPr lang="en-US" sz="1800" kern="1200" dirty="0" smtClean="0">
                          <a:solidFill>
                            <a:schemeClr val="dk1"/>
                          </a:solidFill>
                          <a:effectLst/>
                          <a:latin typeface="+mn-lt"/>
                          <a:ea typeface="+mn-ea"/>
                          <a:cs typeface="+mn-cs"/>
                        </a:rPr>
                        <a:t>offer SDFC or SDS to Mexico</a:t>
                      </a:r>
                      <a:endParaRPr lang="en-US" dirty="0"/>
                    </a:p>
                  </a:txBody>
                  <a:tcPr/>
                </a:tc>
              </a:tr>
              <a:tr h="370840">
                <a:tc>
                  <a:txBody>
                    <a:bodyPr/>
                    <a:lstStyle/>
                    <a:p>
                      <a:r>
                        <a:rPr lang="en-US" dirty="0" smtClean="0"/>
                        <a:t>730</a:t>
                      </a:r>
                      <a:endParaRPr lang="en-US" dirty="0"/>
                    </a:p>
                  </a:txBody>
                  <a:tcPr/>
                </a:tc>
                <a:tc>
                  <a:txBody>
                    <a:bodyPr/>
                    <a:lstStyle/>
                    <a:p>
                      <a:r>
                        <a:rPr lang="en-US" dirty="0" smtClean="0"/>
                        <a:t>OPEN</a:t>
                      </a:r>
                      <a:endParaRPr lang="en-US" dirty="0"/>
                    </a:p>
                  </a:txBody>
                  <a:tcPr/>
                </a:tc>
                <a:tc>
                  <a:txBody>
                    <a:bodyPr/>
                    <a:lstStyle/>
                    <a:p>
                      <a:r>
                        <a:rPr lang="en-US" dirty="0" smtClean="0"/>
                        <a:t>Unable to display Alternate Flights if </a:t>
                      </a:r>
                      <a:r>
                        <a:rPr lang="en-US" dirty="0" err="1" smtClean="0"/>
                        <a:t>psgr</a:t>
                      </a:r>
                      <a:r>
                        <a:rPr lang="en-US" dirty="0" smtClean="0"/>
                        <a:t> has previously confirmed a flight change</a:t>
                      </a:r>
                      <a:endParaRPr lang="en-US" dirty="0"/>
                    </a:p>
                  </a:txBody>
                  <a:tcPr/>
                </a:tc>
              </a:tr>
              <a:tr h="370840">
                <a:tc>
                  <a:txBody>
                    <a:bodyPr/>
                    <a:lstStyle/>
                    <a:p>
                      <a:r>
                        <a:rPr lang="en-US" dirty="0" smtClean="0"/>
                        <a:t>**</a:t>
                      </a:r>
                      <a:r>
                        <a:rPr lang="en-US" baseline="0" dirty="0" smtClean="0"/>
                        <a:t> Pl refer the next slide:</a:t>
                      </a:r>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 Contd.. Expected results / Actual results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14</a:t>
            </a:fld>
            <a:endParaRPr lang="en-US" dirty="0">
              <a:solidFill>
                <a:srgbClr val="7F7F7F"/>
              </a:solidFill>
            </a:endParaRPr>
          </a:p>
        </p:txBody>
      </p:sp>
      <p:graphicFrame>
        <p:nvGraphicFramePr>
          <p:cNvPr id="6" name="Content Placeholder 5"/>
          <p:cNvGraphicFramePr>
            <a:graphicFrameLocks noGrp="1"/>
          </p:cNvGraphicFramePr>
          <p:nvPr>
            <p:ph sz="quarter" idx="15"/>
            <p:extLst>
              <p:ext uri="{D42A27DB-BD31-4B8C-83A1-F6EECF244321}">
                <p14:modId xmlns:p14="http://schemas.microsoft.com/office/powerpoint/2010/main" val="1288803231"/>
              </p:ext>
            </p:extLst>
          </p:nvPr>
        </p:nvGraphicFramePr>
        <p:xfrm>
          <a:off x="1219200" y="1142999"/>
          <a:ext cx="6705599" cy="3977640"/>
        </p:xfrm>
        <a:graphic>
          <a:graphicData uri="http://schemas.openxmlformats.org/drawingml/2006/table">
            <a:tbl>
              <a:tblPr firstRow="1" firstCol="1" bandRow="1">
                <a:tableStyleId>{5C22544A-7EE6-4342-B048-85BDC9FD1C3A}</a:tableStyleId>
              </a:tblPr>
              <a:tblGrid>
                <a:gridCol w="1295400"/>
                <a:gridCol w="3697958"/>
                <a:gridCol w="1712241"/>
              </a:tblGrid>
              <a:tr h="1219200">
                <a:tc>
                  <a:txBody>
                    <a:bodyPr/>
                    <a:lstStyle/>
                    <a:p>
                      <a:pPr marL="0" marR="0">
                        <a:spcBef>
                          <a:spcPts val="0"/>
                        </a:spcBef>
                        <a:spcAft>
                          <a:spcPts val="0"/>
                        </a:spcAft>
                      </a:pPr>
                      <a:r>
                        <a:rPr lang="en-US" sz="900" dirty="0">
                          <a:solidFill>
                            <a:schemeClr val="tx1"/>
                          </a:solidFill>
                          <a:effectLst/>
                        </a:rPr>
                        <a:t>Elite single segment</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with price if not on full fare or bundle 2 and one SDS offer without price depending on the eligibility. Per rule 640: </a:t>
                      </a:r>
                      <a:r>
                        <a:rPr lang="en-US" sz="700" dirty="0">
                          <a:solidFill>
                            <a:schemeClr val="tx1"/>
                          </a:solidFill>
                          <a:effectLst/>
                          <a:highlight>
                            <a:srgbClr val="FFFFFF"/>
                          </a:highlight>
                        </a:rPr>
                        <a:t>Elite Passengers are eligible for both AS and SDFC offers at the same time and are exempt from AS fees</a:t>
                      </a:r>
                      <a:r>
                        <a:rPr lang="en-US" sz="700" dirty="0">
                          <a:solidFill>
                            <a:schemeClr val="tx1"/>
                          </a:solidFill>
                          <a:effectLst/>
                        </a:rPr>
                        <a:t>. </a:t>
                      </a:r>
                      <a:r>
                        <a:rPr lang="en-US" sz="1050" dirty="0">
                          <a:solidFill>
                            <a:schemeClr val="tx1"/>
                          </a:solidFill>
                          <a:effectLst/>
                        </a:rPr>
                        <a:t>The response should include SDFC offers (if available) and the Alternate Standby offer for $0.  It would not include SDS offers. If both SDFC and AS are offered, the same flights could be in both.</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as expected and two SDS offers with RFISC codes “091” and “AS0” (both without price) A defect will be logged for this. Estimated fix will depend on priority factoring in not just SDFC, but other product releases.</a:t>
                      </a:r>
                      <a:endParaRPr lang="en-US" sz="900" dirty="0">
                        <a:solidFill>
                          <a:schemeClr val="tx1"/>
                        </a:solidFill>
                        <a:effectLst/>
                        <a:latin typeface="Calibri"/>
                        <a:ea typeface="Calibri"/>
                        <a:cs typeface="Times New Roman"/>
                      </a:endParaRPr>
                    </a:p>
                  </a:txBody>
                  <a:tcPr marL="64500" marR="64500" marT="0" marB="0"/>
                </a:tc>
              </a:tr>
              <a:tr h="2528552">
                <a:tc>
                  <a:txBody>
                    <a:bodyPr/>
                    <a:lstStyle/>
                    <a:p>
                      <a:pPr marL="0" marR="0">
                        <a:spcBef>
                          <a:spcPts val="0"/>
                        </a:spcBef>
                        <a:spcAft>
                          <a:spcPts val="0"/>
                        </a:spcAft>
                      </a:pPr>
                      <a:r>
                        <a:rPr lang="en-US" sz="900" dirty="0">
                          <a:solidFill>
                            <a:schemeClr val="tx1"/>
                          </a:solidFill>
                          <a:effectLst/>
                        </a:rPr>
                        <a:t>Elite multi segment</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with price if not on full fare or bundle 2 and one SDS offer without price in paired format depending on the eligibility Same comment as above.</a:t>
                      </a:r>
                      <a:endParaRPr lang="en-US" sz="900" dirty="0">
                        <a:solidFill>
                          <a:schemeClr val="tx1"/>
                        </a:solidFill>
                        <a:effectLst/>
                        <a:latin typeface="Calibri"/>
                        <a:ea typeface="Calibri"/>
                        <a:cs typeface="Times New Roman"/>
                      </a:endParaRPr>
                    </a:p>
                  </a:txBody>
                  <a:tcPr marL="64500" marR="64500" marT="0" marB="0"/>
                </a:tc>
                <a:tc>
                  <a:txBody>
                    <a:bodyPr/>
                    <a:lstStyle/>
                    <a:p>
                      <a:pPr marL="0" marR="0">
                        <a:spcBef>
                          <a:spcPts val="0"/>
                        </a:spcBef>
                        <a:spcAft>
                          <a:spcPts val="0"/>
                        </a:spcAft>
                      </a:pPr>
                      <a:r>
                        <a:rPr lang="en-US" sz="900" dirty="0">
                          <a:solidFill>
                            <a:schemeClr val="tx1"/>
                          </a:solidFill>
                          <a:effectLst/>
                        </a:rPr>
                        <a:t>One SDFC offer as expected and three SDS offers(for two segment PNR) as below.</a:t>
                      </a:r>
                    </a:p>
                    <a:p>
                      <a:pPr marL="457200" marR="0" indent="-228600">
                        <a:spcBef>
                          <a:spcPts val="0"/>
                        </a:spcBef>
                        <a:spcAft>
                          <a:spcPts val="0"/>
                        </a:spcAft>
                      </a:pPr>
                      <a:r>
                        <a:rPr lang="en-US" sz="900" dirty="0">
                          <a:solidFill>
                            <a:schemeClr val="tx1"/>
                          </a:solidFill>
                          <a:effectLst/>
                        </a:rPr>
                        <a:t>1.</a:t>
                      </a:r>
                      <a:r>
                        <a:rPr lang="en-US" sz="600" dirty="0">
                          <a:solidFill>
                            <a:schemeClr val="tx1"/>
                          </a:solidFill>
                          <a:effectLst/>
                        </a:rPr>
                        <a:t>       </a:t>
                      </a:r>
                      <a:r>
                        <a:rPr lang="en-US" sz="900" dirty="0">
                          <a:solidFill>
                            <a:schemeClr val="tx1"/>
                          </a:solidFill>
                          <a:effectLst/>
                        </a:rPr>
                        <a:t>One with RFISC “091” without price and segments in paired format Defect – should not be in the response.</a:t>
                      </a:r>
                    </a:p>
                    <a:p>
                      <a:pPr marL="457200" marR="0" indent="-228600">
                        <a:spcBef>
                          <a:spcPts val="0"/>
                        </a:spcBef>
                        <a:spcAft>
                          <a:spcPts val="0"/>
                        </a:spcAft>
                      </a:pPr>
                      <a:r>
                        <a:rPr lang="en-US" sz="900" dirty="0">
                          <a:solidFill>
                            <a:schemeClr val="tx1"/>
                          </a:solidFill>
                          <a:effectLst/>
                        </a:rPr>
                        <a:t>2.</a:t>
                      </a:r>
                      <a:r>
                        <a:rPr lang="en-US" sz="600" dirty="0">
                          <a:solidFill>
                            <a:schemeClr val="tx1"/>
                          </a:solidFill>
                          <a:effectLst/>
                        </a:rPr>
                        <a:t>       </a:t>
                      </a:r>
                      <a:r>
                        <a:rPr lang="en-US" sz="900" dirty="0">
                          <a:solidFill>
                            <a:schemeClr val="tx1"/>
                          </a:solidFill>
                          <a:effectLst/>
                        </a:rPr>
                        <a:t>One with RFISC “AS0” without price and flights for first segment only.</a:t>
                      </a:r>
                    </a:p>
                    <a:p>
                      <a:pPr marL="457200" marR="0" indent="-228600">
                        <a:spcBef>
                          <a:spcPts val="0"/>
                        </a:spcBef>
                        <a:spcAft>
                          <a:spcPts val="0"/>
                        </a:spcAft>
                      </a:pPr>
                      <a:r>
                        <a:rPr lang="en-US" sz="900" dirty="0">
                          <a:solidFill>
                            <a:schemeClr val="tx1"/>
                          </a:solidFill>
                          <a:effectLst/>
                        </a:rPr>
                        <a:t>3.</a:t>
                      </a:r>
                      <a:r>
                        <a:rPr lang="en-US" sz="600" dirty="0">
                          <a:solidFill>
                            <a:schemeClr val="tx1"/>
                          </a:solidFill>
                          <a:effectLst/>
                        </a:rPr>
                        <a:t>       </a:t>
                      </a:r>
                      <a:r>
                        <a:rPr lang="en-US" sz="900" dirty="0">
                          <a:solidFill>
                            <a:schemeClr val="tx1"/>
                          </a:solidFill>
                          <a:effectLst/>
                        </a:rPr>
                        <a:t> One with RFISC “AS0” without price and flights for second segment only.</a:t>
                      </a:r>
                    </a:p>
                    <a:p>
                      <a:pPr marL="0" marR="0">
                        <a:spcBef>
                          <a:spcPts val="0"/>
                        </a:spcBef>
                        <a:spcAft>
                          <a:spcPts val="0"/>
                        </a:spcAft>
                      </a:pPr>
                      <a:r>
                        <a:rPr lang="en-US" sz="900" dirty="0">
                          <a:solidFill>
                            <a:schemeClr val="tx1"/>
                          </a:solidFill>
                          <a:effectLst/>
                        </a:rPr>
                        <a:t>I would need to see the PNR to determine if this should be considered 1 or 2 slices/O&amp;D. </a:t>
                      </a:r>
                      <a:endParaRPr lang="en-US" sz="900" dirty="0">
                        <a:solidFill>
                          <a:schemeClr val="tx1"/>
                        </a:solidFill>
                        <a:effectLst/>
                        <a:latin typeface="Calibri"/>
                        <a:ea typeface="Calibri"/>
                        <a:cs typeface="Times New Roman"/>
                      </a:endParaRPr>
                    </a:p>
                  </a:txBody>
                  <a:tcPr marL="64500" marR="64500" marT="0" marB="0"/>
                </a:tc>
              </a:tr>
            </a:tbl>
          </a:graphicData>
        </a:graphic>
      </p:graphicFrame>
    </p:spTree>
    <p:extLst>
      <p:ext uri="{BB962C8B-B14F-4D97-AF65-F5344CB8AC3E}">
        <p14:creationId xmlns:p14="http://schemas.microsoft.com/office/powerpoint/2010/main" val="1626595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Management</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15</a:t>
            </a:fld>
            <a:endParaRPr lang="en-US" dirty="0">
              <a:solidFill>
                <a:srgbClr val="7F7F7F"/>
              </a:solidFill>
            </a:endParaRPr>
          </a:p>
        </p:txBody>
      </p:sp>
      <p:graphicFrame>
        <p:nvGraphicFramePr>
          <p:cNvPr id="6" name="Table 5"/>
          <p:cNvGraphicFramePr>
            <a:graphicFrameLocks noGrp="1"/>
          </p:cNvGraphicFramePr>
          <p:nvPr/>
        </p:nvGraphicFramePr>
        <p:xfrm>
          <a:off x="457200" y="1397000"/>
          <a:ext cx="8229600" cy="37084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Change Request</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[change]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Governance and Escalation</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16</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Project Decisions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Product Decisions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70383167"/>
              </p:ext>
            </p:extLst>
          </p:nvPr>
        </p:nvGraphicFramePr>
        <p:xfrm>
          <a:off x="457200" y="152400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dirty="0" smtClean="0"/>
                        <a:t>1 day</a:t>
                      </a:r>
                      <a:endParaRPr lang="en-US" dirty="0"/>
                    </a:p>
                  </a:txBody>
                  <a:tcPr/>
                </a:tc>
                <a:tc>
                  <a:txBody>
                    <a:bodyPr/>
                    <a:lstStyle/>
                    <a:p>
                      <a:r>
                        <a:rPr lang="en-US" dirty="0" smtClean="0"/>
                        <a:t>Wajahath Quraishi</a:t>
                      </a:r>
                      <a:endParaRPr lang="en-US" dirty="0"/>
                    </a:p>
                  </a:txBody>
                  <a:tcPr/>
                </a:tc>
                <a:tc>
                  <a:txBody>
                    <a:bodyPr/>
                    <a:lstStyle/>
                    <a:p>
                      <a:r>
                        <a:rPr lang="en-US" dirty="0" smtClean="0"/>
                        <a:t>Agile Project Lead</a:t>
                      </a:r>
                      <a:endParaRPr lang="en-US" dirty="0"/>
                    </a:p>
                  </a:txBody>
                  <a:tcPr/>
                </a:tc>
              </a:tr>
              <a:tr h="370840">
                <a:tc>
                  <a:txBody>
                    <a:bodyPr/>
                    <a:lstStyle/>
                    <a:p>
                      <a:r>
                        <a:rPr lang="en-US" dirty="0" smtClean="0"/>
                        <a:t>Level Two</a:t>
                      </a:r>
                      <a:endParaRPr lang="en-US" dirty="0"/>
                    </a:p>
                  </a:txBody>
                  <a:tcPr/>
                </a:tc>
                <a:tc>
                  <a:txBody>
                    <a:bodyPr/>
                    <a:lstStyle/>
                    <a:p>
                      <a:r>
                        <a:rPr lang="en-US" dirty="0" smtClean="0"/>
                        <a:t>2 days</a:t>
                      </a:r>
                      <a:endParaRPr lang="en-US" dirty="0"/>
                    </a:p>
                  </a:txBody>
                  <a:tcPr/>
                </a:tc>
                <a:tc>
                  <a:txBody>
                    <a:bodyPr/>
                    <a:lstStyle/>
                    <a:p>
                      <a:r>
                        <a:rPr lang="en-US" dirty="0" smtClean="0"/>
                        <a:t>Art </a:t>
                      </a:r>
                      <a:r>
                        <a:rPr lang="en-US" dirty="0" err="1" smtClean="0"/>
                        <a:t>Perra</a:t>
                      </a:r>
                      <a:endParaRPr lang="en-US" dirty="0"/>
                    </a:p>
                  </a:txBody>
                  <a:tcPr/>
                </a:tc>
                <a:tc>
                  <a:txBody>
                    <a:bodyPr/>
                    <a:lstStyle/>
                    <a:p>
                      <a:r>
                        <a:rPr lang="en-US" dirty="0" smtClean="0"/>
                        <a:t>Sr. Project Manager</a:t>
                      </a:r>
                      <a:endParaRPr lang="en-US" dirty="0"/>
                    </a:p>
                  </a:txBody>
                  <a:tcPr/>
                </a:tc>
              </a:tr>
              <a:tr h="370840">
                <a:tc>
                  <a:txBody>
                    <a:bodyPr/>
                    <a:lstStyle/>
                    <a:p>
                      <a:r>
                        <a:rPr lang="en-US" dirty="0" smtClean="0"/>
                        <a:t>Level Three – MD or Steering Committee</a:t>
                      </a:r>
                      <a:endParaRPr lang="en-US" dirty="0"/>
                    </a:p>
                  </a:txBody>
                  <a:tcPr/>
                </a:tc>
                <a:tc>
                  <a:txBody>
                    <a:bodyPr/>
                    <a:lstStyle/>
                    <a:p>
                      <a:r>
                        <a:rPr lang="en-US" dirty="0" smtClean="0"/>
                        <a:t>4 days</a:t>
                      </a:r>
                      <a:endParaRPr lang="en-US" dirty="0"/>
                    </a:p>
                  </a:txBody>
                  <a:tcPr/>
                </a:tc>
                <a:tc>
                  <a:txBody>
                    <a:bodyPr/>
                    <a:lstStyle/>
                    <a:p>
                      <a:r>
                        <a:rPr lang="en-US" dirty="0" smtClean="0"/>
                        <a:t>James Barker</a:t>
                      </a:r>
                      <a:endParaRPr lang="en-US" dirty="0"/>
                    </a:p>
                  </a:txBody>
                  <a:tcPr/>
                </a:tc>
                <a:tc>
                  <a:txBody>
                    <a:bodyPr/>
                    <a:lstStyle/>
                    <a:p>
                      <a:r>
                        <a:rPr lang="en-US" dirty="0" smtClean="0"/>
                        <a:t>Manager</a:t>
                      </a:r>
                      <a:r>
                        <a:rPr lang="en-US" baseline="0" dirty="0" smtClean="0"/>
                        <a:t> </a:t>
                      </a:r>
                      <a:endParaRPr lang="en-US" dirty="0"/>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820299182"/>
              </p:ext>
            </p:extLst>
          </p:nvPr>
        </p:nvGraphicFramePr>
        <p:xfrm>
          <a:off x="457200" y="399288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baseline="0" dirty="0" smtClean="0"/>
                        <a:t>1 day</a:t>
                      </a:r>
                      <a:endParaRPr lang="en-US" dirty="0"/>
                    </a:p>
                  </a:txBody>
                  <a:tcPr/>
                </a:tc>
                <a:tc>
                  <a:txBody>
                    <a:bodyPr/>
                    <a:lstStyle/>
                    <a:p>
                      <a:r>
                        <a:rPr lang="en-US" dirty="0" smtClean="0"/>
                        <a:t>Jill Curry</a:t>
                      </a:r>
                      <a:endParaRPr lang="en-US" dirty="0"/>
                    </a:p>
                  </a:txBody>
                  <a:tcPr/>
                </a:tc>
                <a:tc>
                  <a:txBody>
                    <a:bodyPr/>
                    <a:lstStyle/>
                    <a:p>
                      <a:r>
                        <a:rPr lang="en-US" dirty="0" smtClean="0"/>
                        <a:t>Product Owner</a:t>
                      </a:r>
                      <a:endParaRPr lang="en-US" dirty="0"/>
                    </a:p>
                  </a:txBody>
                  <a:tcPr/>
                </a:tc>
              </a:tr>
              <a:tr h="370840">
                <a:tc>
                  <a:txBody>
                    <a:bodyPr/>
                    <a:lstStyle/>
                    <a:p>
                      <a:r>
                        <a:rPr lang="en-US" dirty="0" smtClean="0"/>
                        <a:t>Level Two</a:t>
                      </a:r>
                      <a:endParaRPr lang="en-US" dirty="0"/>
                    </a:p>
                  </a:txBody>
                  <a:tcPr/>
                </a:tc>
                <a:tc>
                  <a:txBody>
                    <a:bodyPr/>
                    <a:lstStyle/>
                    <a:p>
                      <a:r>
                        <a:rPr lang="en-US" dirty="0" smtClean="0"/>
                        <a:t>2 days</a:t>
                      </a:r>
                      <a:endParaRPr lang="en-US" dirty="0"/>
                    </a:p>
                  </a:txBody>
                  <a:tcPr/>
                </a:tc>
                <a:tc>
                  <a:txBody>
                    <a:bodyPr/>
                    <a:lstStyle/>
                    <a:p>
                      <a:r>
                        <a:rPr lang="en-US" dirty="0" err="1" smtClean="0"/>
                        <a:t>Micheal</a:t>
                      </a:r>
                      <a:r>
                        <a:rPr lang="en-US" dirty="0" smtClean="0"/>
                        <a:t> </a:t>
                      </a:r>
                      <a:r>
                        <a:rPr lang="en-US" sz="1800" kern="1200" dirty="0" err="1" smtClean="0">
                          <a:solidFill>
                            <a:schemeClr val="dk1"/>
                          </a:solidFill>
                          <a:effectLst/>
                          <a:latin typeface="+mn-lt"/>
                          <a:ea typeface="+mn-ea"/>
                          <a:cs typeface="+mn-cs"/>
                        </a:rPr>
                        <a:t>Bottaro</a:t>
                      </a:r>
                      <a:endParaRPr lang="en-US" dirty="0"/>
                    </a:p>
                  </a:txBody>
                  <a:tcPr/>
                </a:tc>
                <a:tc>
                  <a:txBody>
                    <a:bodyPr/>
                    <a:lstStyle/>
                    <a:p>
                      <a:r>
                        <a:rPr lang="en-US" dirty="0" smtClean="0"/>
                        <a:t>Manager</a:t>
                      </a:r>
                      <a:endParaRPr lang="en-US" dirty="0"/>
                    </a:p>
                  </a:txBody>
                  <a:tcPr/>
                </a:tc>
              </a:tr>
              <a:tr h="370840">
                <a:tc>
                  <a:txBody>
                    <a:bodyPr/>
                    <a:lstStyle/>
                    <a:p>
                      <a:r>
                        <a:rPr lang="en-US" dirty="0" smtClean="0"/>
                        <a:t>Level Three – MD or Steering</a:t>
                      </a:r>
                      <a:r>
                        <a:rPr lang="en-US" baseline="0" dirty="0" smtClean="0"/>
                        <a:t> Committee</a:t>
                      </a:r>
                      <a:endParaRPr lang="en-US" dirty="0"/>
                    </a:p>
                  </a:txBody>
                  <a:tcPr/>
                </a:tc>
                <a:tc>
                  <a:txBody>
                    <a:bodyPr/>
                    <a:lstStyle/>
                    <a:p>
                      <a:r>
                        <a:rPr lang="en-US" dirty="0" smtClean="0"/>
                        <a:t>4 Days</a:t>
                      </a:r>
                      <a:endParaRPr lang="en-US" dirty="0"/>
                    </a:p>
                  </a:txBody>
                  <a:tcPr/>
                </a:tc>
                <a:tc>
                  <a:txBody>
                    <a:bodyPr/>
                    <a:lstStyle/>
                    <a:p>
                      <a:r>
                        <a:rPr lang="en-US" dirty="0" smtClean="0"/>
                        <a:t>Paul</a:t>
                      </a:r>
                      <a:r>
                        <a:rPr lang="en-US" baseline="0" dirty="0" smtClean="0"/>
                        <a:t> </a:t>
                      </a:r>
                      <a:r>
                        <a:rPr lang="en-US" baseline="0" dirty="0" err="1" smtClean="0"/>
                        <a:t>Stumbo</a:t>
                      </a:r>
                      <a:endParaRPr lang="en-US" dirty="0"/>
                    </a:p>
                  </a:txBody>
                  <a:tcPr/>
                </a:tc>
                <a:tc>
                  <a:txBody>
                    <a:bodyPr/>
                    <a:lstStyle/>
                    <a:p>
                      <a:r>
                        <a:rPr lang="en-US" dirty="0" smtClean="0"/>
                        <a:t>MD</a:t>
                      </a:r>
                      <a:endParaRPr lang="en-US" dirty="0"/>
                    </a:p>
                  </a:txBody>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Plan</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17</a:t>
            </a:fld>
            <a:endParaRPr lang="en-US" dirty="0">
              <a:solidFill>
                <a:srgbClr val="7F7F7F"/>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14431815"/>
              </p:ext>
            </p:extLst>
          </p:nvPr>
        </p:nvGraphicFramePr>
        <p:xfrm>
          <a:off x="457200" y="838200"/>
          <a:ext cx="8229600" cy="5185454"/>
        </p:xfrm>
        <a:graphic>
          <a:graphicData uri="http://schemas.openxmlformats.org/drawingml/2006/table">
            <a:tbl>
              <a:tblPr firstRow="1" bandRow="1">
                <a:tableStyleId>{00A15C55-8517-42AA-B614-E9B94910E393}</a:tableStyleId>
              </a:tblPr>
              <a:tblGrid>
                <a:gridCol w="2057400"/>
                <a:gridCol w="2286000"/>
                <a:gridCol w="1219200"/>
                <a:gridCol w="1447800"/>
                <a:gridCol w="1219200"/>
              </a:tblGrid>
              <a:tr h="261346">
                <a:tc>
                  <a:txBody>
                    <a:bodyPr/>
                    <a:lstStyle/>
                    <a:p>
                      <a:r>
                        <a:rPr lang="en-US" sz="1000" dirty="0" smtClean="0"/>
                        <a:t>Item</a:t>
                      </a:r>
                      <a:endParaRPr lang="en-US" sz="1000" dirty="0"/>
                    </a:p>
                  </a:txBody>
                  <a:tcPr/>
                </a:tc>
                <a:tc>
                  <a:txBody>
                    <a:bodyPr/>
                    <a:lstStyle/>
                    <a:p>
                      <a:r>
                        <a:rPr lang="en-US" sz="1000" dirty="0" smtClean="0"/>
                        <a:t>Objective</a:t>
                      </a:r>
                      <a:endParaRPr lang="en-US" sz="1000" dirty="0"/>
                    </a:p>
                  </a:txBody>
                  <a:tcPr/>
                </a:tc>
                <a:tc>
                  <a:txBody>
                    <a:bodyPr/>
                    <a:lstStyle/>
                    <a:p>
                      <a:r>
                        <a:rPr lang="en-US" sz="1000" dirty="0" smtClean="0"/>
                        <a:t>Audience</a:t>
                      </a:r>
                      <a:endParaRPr lang="en-US" sz="1000" dirty="0"/>
                    </a:p>
                  </a:txBody>
                  <a:tcPr/>
                </a:tc>
                <a:tc>
                  <a:txBody>
                    <a:bodyPr/>
                    <a:lstStyle/>
                    <a:p>
                      <a:r>
                        <a:rPr lang="en-US" sz="1000" dirty="0" smtClean="0"/>
                        <a:t>Frequency</a:t>
                      </a:r>
                      <a:endParaRPr lang="en-US" sz="1000" dirty="0"/>
                    </a:p>
                  </a:txBody>
                  <a:tcPr/>
                </a:tc>
                <a:tc>
                  <a:txBody>
                    <a:bodyPr/>
                    <a:lstStyle/>
                    <a:p>
                      <a:r>
                        <a:rPr lang="en-US" sz="1000" dirty="0" smtClean="0"/>
                        <a:t>Notes</a:t>
                      </a:r>
                      <a:endParaRPr lang="en-US" sz="1000" dirty="0"/>
                    </a:p>
                  </a:txBody>
                  <a:tcPr/>
                </a:tc>
              </a:tr>
              <a:tr h="397464">
                <a:tc>
                  <a:txBody>
                    <a:bodyPr/>
                    <a:lstStyle/>
                    <a:p>
                      <a:endParaRPr lang="en-US" sz="10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r>
              <a:tr h="588030">
                <a:tc>
                  <a:txBody>
                    <a:bodyPr/>
                    <a:lstStyle/>
                    <a:p>
                      <a:r>
                        <a:rPr lang="en-US" sz="1000" dirty="0" smtClean="0"/>
                        <a:t>Daily Standup</a:t>
                      </a:r>
                      <a:endParaRPr 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t>Update on progress and identify roadblocks</a:t>
                      </a:r>
                    </a:p>
                    <a:p>
                      <a:endParaRPr lang="en-US" sz="1000" dirty="0"/>
                    </a:p>
                  </a:txBody>
                  <a:tcPr/>
                </a:tc>
                <a:tc>
                  <a:txBody>
                    <a:bodyPr/>
                    <a:lstStyle/>
                    <a:p>
                      <a:r>
                        <a:rPr lang="en-US" sz="1000" dirty="0" smtClean="0"/>
                        <a:t>Team</a:t>
                      </a:r>
                      <a:endParaRPr lang="en-US" sz="1000" dirty="0"/>
                    </a:p>
                  </a:txBody>
                  <a:tcPr/>
                </a:tc>
                <a:tc>
                  <a:txBody>
                    <a:bodyPr/>
                    <a:lstStyle/>
                    <a:p>
                      <a:r>
                        <a:rPr lang="en-US" sz="1000" dirty="0" smtClean="0"/>
                        <a:t>Everyday</a:t>
                      </a:r>
                      <a:endParaRPr lang="en-US" sz="1000" dirty="0"/>
                    </a:p>
                  </a:txBody>
                  <a:tcPr/>
                </a:tc>
                <a:tc>
                  <a:txBody>
                    <a:bodyPr/>
                    <a:lstStyle/>
                    <a:p>
                      <a:endParaRPr lang="en-US" sz="1000" dirty="0"/>
                    </a:p>
                  </a:txBody>
                  <a:tcPr/>
                </a:tc>
              </a:tr>
              <a:tr h="424688">
                <a:tc>
                  <a:txBody>
                    <a:bodyPr/>
                    <a:lstStyle/>
                    <a:p>
                      <a:r>
                        <a:rPr lang="en-US" sz="1000" dirty="0" smtClean="0"/>
                        <a:t>Backlog</a:t>
                      </a:r>
                      <a:r>
                        <a:rPr lang="en-US" sz="1000" baseline="0" dirty="0" smtClean="0"/>
                        <a:t> Grooming</a:t>
                      </a:r>
                      <a:endParaRPr lang="en-US" sz="1000" dirty="0"/>
                    </a:p>
                  </a:txBody>
                  <a:tcPr/>
                </a:tc>
                <a:tc>
                  <a:txBody>
                    <a:bodyPr/>
                    <a:lstStyle/>
                    <a:p>
                      <a:r>
                        <a:rPr lang="en-US" sz="1000" dirty="0" smtClean="0"/>
                        <a:t>Prepare user stories</a:t>
                      </a:r>
                      <a:r>
                        <a:rPr lang="en-US" sz="1000" baseline="0" dirty="0" smtClean="0"/>
                        <a:t> for future iteration and ranking</a:t>
                      </a:r>
                      <a:endParaRPr lang="en-US" sz="1000" dirty="0"/>
                    </a:p>
                  </a:txBody>
                  <a:tcPr/>
                </a:tc>
                <a:tc>
                  <a:txBody>
                    <a:bodyPr/>
                    <a:lstStyle/>
                    <a:p>
                      <a:r>
                        <a:rPr lang="en-US" sz="1000" dirty="0" smtClean="0"/>
                        <a:t>Team</a:t>
                      </a:r>
                      <a:endParaRPr lang="en-US" sz="1000" dirty="0"/>
                    </a:p>
                  </a:txBody>
                  <a:tcPr/>
                </a:tc>
                <a:tc>
                  <a:txBody>
                    <a:bodyPr/>
                    <a:lstStyle/>
                    <a:p>
                      <a:r>
                        <a:rPr lang="en-US" sz="1000" baseline="0" dirty="0" smtClean="0"/>
                        <a:t> As necessary</a:t>
                      </a:r>
                      <a:endParaRPr lang="en-US" sz="1000" dirty="0"/>
                    </a:p>
                  </a:txBody>
                  <a:tcPr/>
                </a:tc>
                <a:tc>
                  <a:txBody>
                    <a:bodyPr/>
                    <a:lstStyle/>
                    <a:p>
                      <a:endParaRPr lang="en-US" sz="1000" dirty="0"/>
                    </a:p>
                  </a:txBody>
                  <a:tcPr/>
                </a:tc>
              </a:tr>
              <a:tr h="588030">
                <a:tc>
                  <a:txBody>
                    <a:bodyPr/>
                    <a:lstStyle/>
                    <a:p>
                      <a:r>
                        <a:rPr lang="en-US" sz="1000" dirty="0" smtClean="0"/>
                        <a:t>Iteratio</a:t>
                      </a:r>
                      <a:r>
                        <a:rPr lang="en-US" sz="1000" baseline="0" dirty="0" smtClean="0"/>
                        <a:t>n </a:t>
                      </a:r>
                      <a:r>
                        <a:rPr lang="en-US" sz="1000" dirty="0" smtClean="0"/>
                        <a:t>Pre Planning</a:t>
                      </a:r>
                      <a:endParaRPr lang="en-US" sz="1000" dirty="0"/>
                    </a:p>
                  </a:txBody>
                  <a:tcPr/>
                </a:tc>
                <a:tc>
                  <a:txBody>
                    <a:bodyPr/>
                    <a:lstStyle/>
                    <a:p>
                      <a:r>
                        <a:rPr lang="en-US" sz="1000" dirty="0" smtClean="0"/>
                        <a:t>Identify upcoming</a:t>
                      </a:r>
                      <a:r>
                        <a:rPr lang="en-US" sz="1000" baseline="0" dirty="0" smtClean="0"/>
                        <a:t> </a:t>
                      </a:r>
                      <a:r>
                        <a:rPr lang="en-US" sz="1000" dirty="0" smtClean="0"/>
                        <a:t>user</a:t>
                      </a:r>
                      <a:r>
                        <a:rPr lang="en-US" sz="1000" baseline="0" dirty="0" smtClean="0"/>
                        <a:t> stories and review for acceptance criteria and external dependencies</a:t>
                      </a:r>
                      <a:endParaRPr lang="en-US" sz="1000" dirty="0"/>
                    </a:p>
                  </a:txBody>
                  <a:tcPr/>
                </a:tc>
                <a:tc>
                  <a:txBody>
                    <a:bodyPr/>
                    <a:lstStyle/>
                    <a:p>
                      <a:r>
                        <a:rPr lang="en-US" sz="1000" dirty="0" smtClean="0"/>
                        <a:t>Team</a:t>
                      </a:r>
                      <a:endParaRPr lang="en-US" sz="1000" dirty="0"/>
                    </a:p>
                  </a:txBody>
                  <a:tcPr/>
                </a:tc>
                <a:tc>
                  <a:txBody>
                    <a:bodyPr/>
                    <a:lstStyle/>
                    <a:p>
                      <a:r>
                        <a:rPr lang="en-US" sz="1000" dirty="0" smtClean="0"/>
                        <a:t>Every Iteration</a:t>
                      </a:r>
                      <a:endParaRPr lang="en-US" sz="1000" dirty="0"/>
                    </a:p>
                  </a:txBody>
                  <a:tcPr/>
                </a:tc>
                <a:tc>
                  <a:txBody>
                    <a:bodyPr/>
                    <a:lstStyle/>
                    <a:p>
                      <a:endParaRPr lang="en-US" sz="1000" dirty="0"/>
                    </a:p>
                  </a:txBody>
                  <a:tcPr/>
                </a:tc>
              </a:tr>
              <a:tr h="686034">
                <a:tc>
                  <a:txBody>
                    <a:bodyPr/>
                    <a:lstStyle/>
                    <a:p>
                      <a:r>
                        <a:rPr lang="en-US" sz="1200" dirty="0" smtClean="0"/>
                        <a:t>Iteration</a:t>
                      </a:r>
                      <a:r>
                        <a:rPr lang="en-US" sz="1200" baseline="0" dirty="0" smtClean="0"/>
                        <a:t> Planning</a:t>
                      </a:r>
                      <a:endParaRPr lang="en-US" sz="1200" dirty="0"/>
                    </a:p>
                  </a:txBody>
                  <a:tcPr/>
                </a:tc>
                <a:tc>
                  <a:txBody>
                    <a:bodyPr/>
                    <a:lstStyle/>
                    <a:p>
                      <a:r>
                        <a:rPr lang="en-US" sz="1200" dirty="0" smtClean="0"/>
                        <a:t>Evaluate</a:t>
                      </a:r>
                      <a:r>
                        <a:rPr lang="en-US" sz="1200" baseline="0" dirty="0" smtClean="0"/>
                        <a:t> capacity of team and task breakdown and assignment</a:t>
                      </a:r>
                      <a:endParaRPr lang="en-US" sz="1200" dirty="0"/>
                    </a:p>
                  </a:txBody>
                  <a:tcPr/>
                </a:tc>
                <a:tc>
                  <a:txBody>
                    <a:bodyPr/>
                    <a:lstStyle/>
                    <a:p>
                      <a:r>
                        <a:rPr lang="en-US" sz="1200" dirty="0" smtClean="0"/>
                        <a:t>Team</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Every Iteration</a:t>
                      </a:r>
                    </a:p>
                    <a:p>
                      <a:endParaRPr lang="en-US" sz="1200" dirty="0"/>
                    </a:p>
                  </a:txBody>
                  <a:tcPr/>
                </a:tc>
                <a:tc>
                  <a:txBody>
                    <a:bodyPr/>
                    <a:lstStyle/>
                    <a:p>
                      <a:endParaRPr lang="en-US" sz="1200" dirty="0"/>
                    </a:p>
                  </a:txBody>
                  <a:tcPr/>
                </a:tc>
              </a:tr>
              <a:tr h="686034">
                <a:tc>
                  <a:txBody>
                    <a:bodyPr/>
                    <a:lstStyle/>
                    <a:p>
                      <a:r>
                        <a:rPr lang="en-US" sz="1200" dirty="0" smtClean="0"/>
                        <a:t>Demo</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Demo the work completed to product owner</a:t>
                      </a:r>
                      <a:endParaRPr lang="en-US" sz="1200" dirty="0"/>
                    </a:p>
                  </a:txBody>
                  <a:tcPr/>
                </a:tc>
                <a:tc>
                  <a:txBody>
                    <a:bodyPr/>
                    <a:lstStyle/>
                    <a:p>
                      <a:r>
                        <a:rPr lang="en-US" sz="1200" dirty="0" smtClean="0"/>
                        <a:t>PO, Program</a:t>
                      </a:r>
                      <a:r>
                        <a:rPr lang="en-US" sz="1200" baseline="0" dirty="0" smtClean="0"/>
                        <a:t> team, </a:t>
                      </a:r>
                      <a:r>
                        <a:rPr lang="en-US" sz="1200" dirty="0" smtClean="0"/>
                        <a:t>Tech lead PM</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Every Iteration</a:t>
                      </a:r>
                    </a:p>
                    <a:p>
                      <a:endParaRPr lang="en-US" sz="1200" dirty="0"/>
                    </a:p>
                  </a:txBody>
                  <a:tcPr/>
                </a:tc>
                <a:tc>
                  <a:txBody>
                    <a:bodyPr/>
                    <a:lstStyle/>
                    <a:p>
                      <a:endParaRPr lang="en-US" sz="1200" dirty="0"/>
                    </a:p>
                  </a:txBody>
                  <a:tcPr/>
                </a:tc>
              </a:tr>
              <a:tr h="882044">
                <a:tc>
                  <a:txBody>
                    <a:bodyPr/>
                    <a:lstStyle/>
                    <a:p>
                      <a:r>
                        <a:rPr lang="en-US" sz="1200" dirty="0" smtClean="0"/>
                        <a:t>Retrospective</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Understand what went</a:t>
                      </a:r>
                      <a:r>
                        <a:rPr lang="en-US" sz="1200" baseline="0" dirty="0" smtClean="0"/>
                        <a:t> well, what went bad and how we can improve</a:t>
                      </a:r>
                      <a:endParaRPr lang="en-US" sz="1200" dirty="0" smtClean="0"/>
                    </a:p>
                    <a:p>
                      <a:endParaRPr lang="en-US" sz="1200" dirty="0"/>
                    </a:p>
                  </a:txBody>
                  <a:tcPr/>
                </a:tc>
                <a:tc>
                  <a:txBody>
                    <a:bodyPr/>
                    <a:lstStyle/>
                    <a:p>
                      <a:r>
                        <a:rPr lang="en-US" sz="1200" dirty="0" smtClean="0"/>
                        <a:t>TEAM</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Every Iteration</a:t>
                      </a:r>
                    </a:p>
                    <a:p>
                      <a:endParaRPr lang="en-US" sz="1200" dirty="0"/>
                    </a:p>
                  </a:txBody>
                  <a:tcPr/>
                </a:tc>
                <a:tc>
                  <a:txBody>
                    <a:bodyPr/>
                    <a:lstStyle/>
                    <a:p>
                      <a:endParaRPr lang="en-US" sz="1200" dirty="0"/>
                    </a:p>
                  </a:txBody>
                  <a:tcPr/>
                </a:tc>
              </a:tr>
              <a:tr h="397464">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r>
              <a:tr h="118064">
                <a:tc>
                  <a:txBody>
                    <a:bodyPr/>
                    <a:lstStyle/>
                    <a:p>
                      <a:r>
                        <a:rPr lang="en-US" sz="1200" dirty="0" smtClean="0"/>
                        <a:t>[…]</a:t>
                      </a:r>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Authors</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18</a:t>
            </a:fld>
            <a:endParaRPr lang="en-US" dirty="0"/>
          </a:p>
        </p:txBody>
      </p:sp>
      <p:sp>
        <p:nvSpPr>
          <p:cNvPr id="5" name="Content Placeholder 4"/>
          <p:cNvSpPr>
            <a:spLocks noGrp="1"/>
          </p:cNvSpPr>
          <p:nvPr>
            <p:ph sz="quarter" idx="15"/>
          </p:nvPr>
        </p:nvSpPr>
        <p:spPr/>
        <p:txBody>
          <a:bodyPr/>
          <a:lstStyle/>
          <a:p>
            <a:r>
              <a:rPr lang="en-US" dirty="0" smtClean="0"/>
              <a:t>Collaborative Team</a:t>
            </a:r>
          </a:p>
          <a:p>
            <a:endParaRPr lang="en-US" dirty="0" smtClean="0"/>
          </a:p>
          <a:p>
            <a:pPr lvl="1"/>
            <a:r>
              <a:rPr lang="en-US" dirty="0" smtClean="0"/>
              <a:t>Jill Curry</a:t>
            </a:r>
          </a:p>
          <a:p>
            <a:pPr lvl="1"/>
            <a:r>
              <a:rPr lang="en-US" dirty="0" smtClean="0"/>
              <a:t>Wajahath Quraishi</a:t>
            </a:r>
          </a:p>
          <a:p>
            <a:pPr lvl="1"/>
            <a:r>
              <a:rPr lang="en-US" dirty="0" err="1" smtClean="0"/>
              <a:t>Sheethal</a:t>
            </a:r>
            <a:r>
              <a:rPr lang="en-US" dirty="0" smtClean="0"/>
              <a:t> </a:t>
            </a:r>
            <a:r>
              <a:rPr lang="en-US" dirty="0" err="1" smtClean="0"/>
              <a:t>Shenoy</a:t>
            </a:r>
            <a:endParaRPr lang="en-US" dirty="0" smtClean="0"/>
          </a:p>
          <a:p>
            <a:pPr lvl="1"/>
            <a:r>
              <a:rPr lang="en-US" dirty="0" err="1" smtClean="0"/>
              <a:t>Manjunath</a:t>
            </a:r>
            <a:endParaRPr lang="en-US" dirty="0" smtClean="0"/>
          </a:p>
          <a:p>
            <a:pPr lvl="1"/>
            <a:r>
              <a:rPr lang="en-US" dirty="0" smtClean="0"/>
              <a:t>Chandrasekhar</a:t>
            </a:r>
          </a:p>
          <a:p>
            <a:pPr lvl="1"/>
            <a:r>
              <a:rPr lang="en-US" dirty="0"/>
              <a:t> </a:t>
            </a:r>
            <a:r>
              <a:rPr lang="en-US" dirty="0" smtClean="0"/>
              <a:t>Anil</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History</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19</a:t>
            </a:fld>
            <a:endParaRPr lang="en-US" dirty="0"/>
          </a:p>
        </p:txBody>
      </p:sp>
      <p:graphicFrame>
        <p:nvGraphicFramePr>
          <p:cNvPr id="6" name="Content Placeholder 5"/>
          <p:cNvGraphicFramePr>
            <a:graphicFrameLocks noGrp="1"/>
          </p:cNvGraphicFramePr>
          <p:nvPr>
            <p:ph sz="quarter" idx="15"/>
            <p:extLst>
              <p:ext uri="{D42A27DB-BD31-4B8C-83A1-F6EECF244321}">
                <p14:modId xmlns:p14="http://schemas.microsoft.com/office/powerpoint/2010/main" val="1110618284"/>
              </p:ext>
            </p:extLst>
          </p:nvPr>
        </p:nvGraphicFramePr>
        <p:xfrm>
          <a:off x="457200" y="1184275"/>
          <a:ext cx="8232774" cy="2225040"/>
        </p:xfrm>
        <a:graphic>
          <a:graphicData uri="http://schemas.openxmlformats.org/drawingml/2006/table">
            <a:tbl>
              <a:tblPr firstRow="1" bandRow="1">
                <a:tableStyleId>{00A15C55-8517-42AA-B614-E9B94910E393}</a:tableStyleId>
              </a:tblPr>
              <a:tblGrid>
                <a:gridCol w="1456660"/>
                <a:gridCol w="4031856"/>
                <a:gridCol w="2744258"/>
              </a:tblGrid>
              <a:tr h="370840">
                <a:tc>
                  <a:txBody>
                    <a:bodyPr/>
                    <a:lstStyle/>
                    <a:p>
                      <a:r>
                        <a:rPr lang="en-US" dirty="0" smtClean="0"/>
                        <a:t>Date</a:t>
                      </a:r>
                      <a:endParaRPr lang="en-US" dirty="0"/>
                    </a:p>
                  </a:txBody>
                  <a:tcPr/>
                </a:tc>
                <a:tc>
                  <a:txBody>
                    <a:bodyPr/>
                    <a:lstStyle/>
                    <a:p>
                      <a:r>
                        <a:rPr lang="en-US" dirty="0" smtClean="0"/>
                        <a:t>Activity</a:t>
                      </a:r>
                      <a:endParaRPr lang="en-US" dirty="0"/>
                    </a:p>
                  </a:txBody>
                  <a:tcPr/>
                </a:tc>
                <a:tc>
                  <a:txBody>
                    <a:bodyPr/>
                    <a:lstStyle/>
                    <a:p>
                      <a:r>
                        <a:rPr lang="en-US" dirty="0" smtClean="0"/>
                        <a:t>Comments</a:t>
                      </a:r>
                      <a:endParaRPr lang="en-US" dirty="0"/>
                    </a:p>
                  </a:txBody>
                  <a:tcPr/>
                </a:tc>
              </a:tr>
              <a:tr h="370840">
                <a:tc>
                  <a:txBody>
                    <a:bodyPr/>
                    <a:lstStyle/>
                    <a:p>
                      <a:r>
                        <a:rPr lang="en-US" dirty="0" smtClean="0"/>
                        <a:t>3/1/2013</a:t>
                      </a:r>
                      <a:endParaRPr lang="en-US" dirty="0"/>
                    </a:p>
                  </a:txBody>
                  <a:tcPr/>
                </a:tc>
                <a:tc>
                  <a:txBody>
                    <a:bodyPr/>
                    <a:lstStyle/>
                    <a:p>
                      <a:r>
                        <a:rPr lang="en-US" dirty="0" smtClean="0"/>
                        <a:t>Document created</a:t>
                      </a:r>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dirty="0"/>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History</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20</a:t>
            </a:fld>
            <a:endParaRPr lang="en-US" dirty="0"/>
          </a:p>
        </p:txBody>
      </p:sp>
      <p:graphicFrame>
        <p:nvGraphicFramePr>
          <p:cNvPr id="6" name="Content Placeholder 5"/>
          <p:cNvGraphicFramePr>
            <a:graphicFrameLocks noGrp="1"/>
          </p:cNvGraphicFramePr>
          <p:nvPr>
            <p:ph sz="quarter" idx="15"/>
            <p:extLst>
              <p:ext uri="{D42A27DB-BD31-4B8C-83A1-F6EECF244321}">
                <p14:modId xmlns:p14="http://schemas.microsoft.com/office/powerpoint/2010/main" val="2159566368"/>
              </p:ext>
            </p:extLst>
          </p:nvPr>
        </p:nvGraphicFramePr>
        <p:xfrm>
          <a:off x="457200" y="1184275"/>
          <a:ext cx="8232774" cy="2225040"/>
        </p:xfrm>
        <a:graphic>
          <a:graphicData uri="http://schemas.openxmlformats.org/drawingml/2006/table">
            <a:tbl>
              <a:tblPr firstRow="1" bandRow="1">
                <a:tableStyleId>{00A15C55-8517-42AA-B614-E9B94910E393}</a:tableStyleId>
              </a:tblPr>
              <a:tblGrid>
                <a:gridCol w="1297172"/>
                <a:gridCol w="1158949"/>
                <a:gridCol w="5776653"/>
              </a:tblGrid>
              <a:tr h="370840">
                <a:tc>
                  <a:txBody>
                    <a:bodyPr/>
                    <a:lstStyle/>
                    <a:p>
                      <a:r>
                        <a:rPr lang="en-US" dirty="0" smtClean="0"/>
                        <a:t>Date</a:t>
                      </a:r>
                      <a:endParaRPr lang="en-US" dirty="0"/>
                    </a:p>
                  </a:txBody>
                  <a:tcPr/>
                </a:tc>
                <a:tc>
                  <a:txBody>
                    <a:bodyPr/>
                    <a:lstStyle/>
                    <a:p>
                      <a:r>
                        <a:rPr lang="en-US" dirty="0" smtClean="0"/>
                        <a:t>Version</a:t>
                      </a:r>
                      <a:endParaRPr lang="en-US" dirty="0"/>
                    </a:p>
                  </a:txBody>
                  <a:tcPr/>
                </a:tc>
                <a:tc>
                  <a:txBody>
                    <a:bodyPr/>
                    <a:lstStyle/>
                    <a:p>
                      <a:r>
                        <a:rPr lang="en-US" dirty="0" smtClean="0"/>
                        <a:t>Comments</a:t>
                      </a:r>
                      <a:endParaRPr lang="en-US" dirty="0"/>
                    </a:p>
                  </a:txBody>
                  <a:tcPr/>
                </a:tc>
              </a:tr>
              <a:tr h="370840">
                <a:tc>
                  <a:txBody>
                    <a:bodyPr/>
                    <a:lstStyle/>
                    <a:p>
                      <a:r>
                        <a:rPr lang="en-US" dirty="0" smtClean="0"/>
                        <a:t>3/1/2013</a:t>
                      </a:r>
                      <a:endParaRPr lang="en-US" dirty="0"/>
                    </a:p>
                  </a:txBody>
                  <a:tcPr/>
                </a:tc>
                <a:tc>
                  <a:txBody>
                    <a:bodyPr/>
                    <a:lstStyle/>
                    <a:p>
                      <a:r>
                        <a:rPr lang="en-US" dirty="0" smtClean="0"/>
                        <a:t>1.0</a:t>
                      </a:r>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AA Presentation Template - PHS">
  <a:themeElements>
    <a:clrScheme name="AA color theme 09172012">
      <a:dk1>
        <a:srgbClr val="36495A"/>
      </a:dk1>
      <a:lt1>
        <a:sysClr val="window" lastClr="FFFFFF"/>
      </a:lt1>
      <a:dk2>
        <a:srgbClr val="0078D2"/>
      </a:dk2>
      <a:lt2>
        <a:srgbClr val="6E8999"/>
      </a:lt2>
      <a:accent1>
        <a:srgbClr val="FAAF00"/>
      </a:accent1>
      <a:accent2>
        <a:srgbClr val="FF7318"/>
      </a:accent2>
      <a:accent3>
        <a:srgbClr val="4DB4FA"/>
      </a:accent3>
      <a:accent4>
        <a:srgbClr val="0078D2"/>
      </a:accent4>
      <a:accent5>
        <a:srgbClr val="D1D532"/>
      </a:accent5>
      <a:accent6>
        <a:srgbClr val="F52305"/>
      </a:accent6>
      <a:hlink>
        <a:srgbClr val="0078D2"/>
      </a:hlink>
      <a:folHlink>
        <a:srgbClr val="C300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6554826F8A3544A9CC61241755FF959" ma:contentTypeVersion="0" ma:contentTypeDescription="Create a new document." ma:contentTypeScope="" ma:versionID="608ab3894c7513c52d9ca356b1edbd18">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A53330-1340-48CC-B765-A4F3887D8E29}">
  <ds:schemaRefs>
    <ds:schemaRef ds:uri="http://www.w3.org/XML/1998/namespace"/>
    <ds:schemaRef ds:uri="http://purl.org/dc/terms/"/>
    <ds:schemaRef ds:uri="http://purl.org/dc/dcmitype/"/>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4C1A27EA-1E14-4DF5-AEE9-B331F82E0C38}">
  <ds:schemaRefs>
    <ds:schemaRef ds:uri="http://schemas.microsoft.com/sharepoint/v3/contenttype/forms"/>
  </ds:schemaRefs>
</ds:datastoreItem>
</file>

<file path=customXml/itemProps3.xml><?xml version="1.0" encoding="utf-8"?>
<ds:datastoreItem xmlns:ds="http://schemas.openxmlformats.org/officeDocument/2006/customXml" ds:itemID="{816011D6-654D-4012-BD07-89057D89FD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11919</TotalTime>
  <Words>2197</Words>
  <Application>Microsoft Office PowerPoint</Application>
  <PresentationFormat>On-screen Show (4:3)</PresentationFormat>
  <Paragraphs>469</Paragraphs>
  <Slides>20</Slides>
  <Notes>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AA Presentation Template - PHS</vt:lpstr>
      <vt:lpstr>The Release Plan</vt:lpstr>
      <vt:lpstr>The Release Plan</vt:lpstr>
      <vt:lpstr>The Release Plan</vt:lpstr>
      <vt:lpstr>SSM SDFCS</vt:lpstr>
      <vt:lpstr>Objectives</vt:lpstr>
      <vt:lpstr>Business Readiness Activities</vt:lpstr>
      <vt:lpstr>Business Case</vt:lpstr>
      <vt:lpstr>Delivery Plan: page 1 of [N]</vt:lpstr>
      <vt:lpstr>Delivery Plan: page 1 of [N]</vt:lpstr>
      <vt:lpstr>Delivery Plan: page 1 of [N]</vt:lpstr>
      <vt:lpstr>Risks</vt:lpstr>
      <vt:lpstr>Dependencies</vt:lpstr>
      <vt:lpstr>Issue Management</vt:lpstr>
      <vt:lpstr>Issue : Contd.. Expected results / Actual results</vt:lpstr>
      <vt:lpstr>Change Management</vt:lpstr>
      <vt:lpstr>Governance and Escalation</vt:lpstr>
      <vt:lpstr>Communication Plan</vt:lpstr>
      <vt:lpstr>Authors</vt:lpstr>
      <vt:lpstr>Review History</vt:lpstr>
      <vt:lpstr>Revision History</vt:lpstr>
    </vt:vector>
  </TitlesOfParts>
  <Company>TMA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Nick Loyless</dc:creator>
  <cp:lastModifiedBy>Saida</cp:lastModifiedBy>
  <cp:revision>178</cp:revision>
  <dcterms:created xsi:type="dcterms:W3CDTF">2009-05-21T15:37:17Z</dcterms:created>
  <dcterms:modified xsi:type="dcterms:W3CDTF">2013-07-29T16:19:44Z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0x010100C6554826F8A3544A9CC61241755FF959</vt:lpwstr>
  </property>
</Properties>
</file>