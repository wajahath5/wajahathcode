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ustom.xml" ContentType="application/vnd.openxmlformats-officedocument.custom-propertie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71" r:id="rId4"/>
  </p:sldMasterIdLst>
  <p:notesMasterIdLst>
    <p:notesMasterId r:id="rId24"/>
  </p:notesMasterIdLst>
  <p:handoutMasterIdLst>
    <p:handoutMasterId r:id="rId25"/>
  </p:handoutMasterIdLst>
  <p:sldIdLst>
    <p:sldId id="976" r:id="rId5"/>
    <p:sldId id="977" r:id="rId6"/>
    <p:sldId id="978" r:id="rId7"/>
    <p:sldId id="979" r:id="rId8"/>
    <p:sldId id="980" r:id="rId9"/>
    <p:sldId id="981" r:id="rId10"/>
    <p:sldId id="982" r:id="rId11"/>
    <p:sldId id="983" r:id="rId12"/>
    <p:sldId id="984" r:id="rId13"/>
    <p:sldId id="985" r:id="rId14"/>
    <p:sldId id="986" r:id="rId15"/>
    <p:sldId id="987" r:id="rId16"/>
    <p:sldId id="988" r:id="rId17"/>
    <p:sldId id="990" r:id="rId18"/>
    <p:sldId id="991" r:id="rId19"/>
    <p:sldId id="992" r:id="rId20"/>
    <p:sldId id="997" r:id="rId21"/>
    <p:sldId id="1002" r:id="rId22"/>
    <p:sldId id="1003" r:id="rId23"/>
  </p:sldIdLst>
  <p:sldSz cx="9144000" cy="6858000" type="screen4x3"/>
  <p:notesSz cx="6881813" cy="9296400"/>
  <p:defaultTextStyle>
    <a:defPPr>
      <a:defRPr lang="en-US"/>
    </a:defPPr>
    <a:lvl1pPr algn="l" rtl="0" fontAlgn="base">
      <a:spcBef>
        <a:spcPct val="0"/>
      </a:spcBef>
      <a:spcAft>
        <a:spcPct val="0"/>
      </a:spcAft>
      <a:defRPr kern="1200">
        <a:solidFill>
          <a:schemeClr val="accent1"/>
        </a:solidFill>
        <a:latin typeface="Arial" charset="0"/>
        <a:ea typeface="+mn-ea"/>
        <a:cs typeface="+mn-cs"/>
      </a:defRPr>
    </a:lvl1pPr>
    <a:lvl2pPr marL="457200" algn="l" rtl="0" fontAlgn="base">
      <a:spcBef>
        <a:spcPct val="0"/>
      </a:spcBef>
      <a:spcAft>
        <a:spcPct val="0"/>
      </a:spcAft>
      <a:defRPr kern="1200">
        <a:solidFill>
          <a:schemeClr val="accent1"/>
        </a:solidFill>
        <a:latin typeface="Arial" charset="0"/>
        <a:ea typeface="+mn-ea"/>
        <a:cs typeface="+mn-cs"/>
      </a:defRPr>
    </a:lvl2pPr>
    <a:lvl3pPr marL="914400" algn="l" rtl="0" fontAlgn="base">
      <a:spcBef>
        <a:spcPct val="0"/>
      </a:spcBef>
      <a:spcAft>
        <a:spcPct val="0"/>
      </a:spcAft>
      <a:defRPr kern="1200">
        <a:solidFill>
          <a:schemeClr val="accent1"/>
        </a:solidFill>
        <a:latin typeface="Arial" charset="0"/>
        <a:ea typeface="+mn-ea"/>
        <a:cs typeface="+mn-cs"/>
      </a:defRPr>
    </a:lvl3pPr>
    <a:lvl4pPr marL="1371600" algn="l" rtl="0" fontAlgn="base">
      <a:spcBef>
        <a:spcPct val="0"/>
      </a:spcBef>
      <a:spcAft>
        <a:spcPct val="0"/>
      </a:spcAft>
      <a:defRPr kern="1200">
        <a:solidFill>
          <a:schemeClr val="accent1"/>
        </a:solidFill>
        <a:latin typeface="Arial" charset="0"/>
        <a:ea typeface="+mn-ea"/>
        <a:cs typeface="+mn-cs"/>
      </a:defRPr>
    </a:lvl4pPr>
    <a:lvl5pPr marL="1828800" algn="l" rtl="0" fontAlgn="base">
      <a:spcBef>
        <a:spcPct val="0"/>
      </a:spcBef>
      <a:spcAft>
        <a:spcPct val="0"/>
      </a:spcAft>
      <a:defRPr kern="1200">
        <a:solidFill>
          <a:schemeClr val="accent1"/>
        </a:solidFill>
        <a:latin typeface="Arial" charset="0"/>
        <a:ea typeface="+mn-ea"/>
        <a:cs typeface="+mn-cs"/>
      </a:defRPr>
    </a:lvl5pPr>
    <a:lvl6pPr marL="2286000" algn="l" defTabSz="914400" rtl="0" eaLnBrk="1" latinLnBrk="0" hangingPunct="1">
      <a:defRPr kern="1200">
        <a:solidFill>
          <a:schemeClr val="accent1"/>
        </a:solidFill>
        <a:latin typeface="Arial" charset="0"/>
        <a:ea typeface="+mn-ea"/>
        <a:cs typeface="+mn-cs"/>
      </a:defRPr>
    </a:lvl6pPr>
    <a:lvl7pPr marL="2743200" algn="l" defTabSz="914400" rtl="0" eaLnBrk="1" latinLnBrk="0" hangingPunct="1">
      <a:defRPr kern="1200">
        <a:solidFill>
          <a:schemeClr val="accent1"/>
        </a:solidFill>
        <a:latin typeface="Arial" charset="0"/>
        <a:ea typeface="+mn-ea"/>
        <a:cs typeface="+mn-cs"/>
      </a:defRPr>
    </a:lvl7pPr>
    <a:lvl8pPr marL="3200400" algn="l" defTabSz="914400" rtl="0" eaLnBrk="1" latinLnBrk="0" hangingPunct="1">
      <a:defRPr kern="1200">
        <a:solidFill>
          <a:schemeClr val="accent1"/>
        </a:solidFill>
        <a:latin typeface="Arial" charset="0"/>
        <a:ea typeface="+mn-ea"/>
        <a:cs typeface="+mn-cs"/>
      </a:defRPr>
    </a:lvl8pPr>
    <a:lvl9pPr marL="3657600" algn="l" defTabSz="914400" rtl="0" eaLnBrk="1" latinLnBrk="0" hangingPunct="1">
      <a:defRPr kern="1200">
        <a:solidFill>
          <a:schemeClr val="accent1"/>
        </a:solidFill>
        <a:latin typeface="Arial"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928">
          <p15:clr>
            <a:srgbClr val="A4A3A4"/>
          </p15:clr>
        </p15:guide>
        <p15:guide id="2" pos="216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00FF"/>
    <a:srgbClr val="000000"/>
    <a:srgbClr val="F4C990"/>
    <a:srgbClr val="FFFF99"/>
    <a:srgbClr val="89FFB0"/>
    <a:srgbClr val="66FF99"/>
    <a:srgbClr val="66FFCC"/>
    <a:srgbClr val="00FF99"/>
    <a:srgbClr val="0033CC"/>
    <a:srgbClr val="00FF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55" autoAdjust="0"/>
    <p:restoredTop sz="96651" autoAdjust="0"/>
  </p:normalViewPr>
  <p:slideViewPr>
    <p:cSldViewPr snapToGrid="0">
      <p:cViewPr varScale="1">
        <p:scale>
          <a:sx n="70" d="100"/>
          <a:sy n="70" d="100"/>
        </p:scale>
        <p:origin x="-1428"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6" d="100"/>
        <a:sy n="86" d="100"/>
      </p:scale>
      <p:origin x="0" y="0"/>
    </p:cViewPr>
  </p:sorterViewPr>
  <p:notesViewPr>
    <p:cSldViewPr snapToGrid="0">
      <p:cViewPr>
        <p:scale>
          <a:sx n="150" d="100"/>
          <a:sy n="150" d="100"/>
        </p:scale>
        <p:origin x="-72" y="3222"/>
      </p:cViewPr>
      <p:guideLst>
        <p:guide orient="horz" pos="2928"/>
        <p:guide pos="2168"/>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82742" cy="465138"/>
          </a:xfrm>
          <a:prstGeom prst="rect">
            <a:avLst/>
          </a:prstGeom>
        </p:spPr>
        <p:txBody>
          <a:bodyPr vert="horz" lIns="93177" tIns="46589" rIns="93177" bIns="46589" rtlCol="0"/>
          <a:lstStyle>
            <a:lvl1pPr algn="l" eaLnBrk="0" hangingPunct="0">
              <a:defRPr sz="1200"/>
            </a:lvl1pPr>
          </a:lstStyle>
          <a:p>
            <a:pPr>
              <a:defRPr/>
            </a:pPr>
            <a:endParaRPr lang="en-US" dirty="0"/>
          </a:p>
        </p:txBody>
      </p:sp>
      <p:sp>
        <p:nvSpPr>
          <p:cNvPr id="3" name="Date Placeholder 2"/>
          <p:cNvSpPr>
            <a:spLocks noGrp="1"/>
          </p:cNvSpPr>
          <p:nvPr>
            <p:ph type="dt" sz="quarter" idx="1"/>
          </p:nvPr>
        </p:nvSpPr>
        <p:spPr>
          <a:xfrm>
            <a:off x="3897513" y="0"/>
            <a:ext cx="2982742" cy="465138"/>
          </a:xfrm>
          <a:prstGeom prst="rect">
            <a:avLst/>
          </a:prstGeom>
        </p:spPr>
        <p:txBody>
          <a:bodyPr vert="horz" lIns="93177" tIns="46589" rIns="93177" bIns="46589" rtlCol="0"/>
          <a:lstStyle>
            <a:lvl1pPr algn="r" eaLnBrk="0" hangingPunct="0">
              <a:defRPr sz="1200"/>
            </a:lvl1pPr>
          </a:lstStyle>
          <a:p>
            <a:pPr>
              <a:defRPr/>
            </a:pPr>
            <a:fld id="{4C52EA24-630C-4679-B3FD-93A29BD0A488}" type="datetimeFigureOut">
              <a:rPr lang="en-US"/>
              <a:pPr>
                <a:defRPr/>
              </a:pPr>
              <a:t>7/17/2014</a:t>
            </a:fld>
            <a:endParaRPr lang="en-US" dirty="0"/>
          </a:p>
        </p:txBody>
      </p:sp>
      <p:sp>
        <p:nvSpPr>
          <p:cNvPr id="5" name="Slide Number Placeholder 4"/>
          <p:cNvSpPr>
            <a:spLocks noGrp="1"/>
          </p:cNvSpPr>
          <p:nvPr>
            <p:ph type="sldNum" sz="quarter" idx="3"/>
          </p:nvPr>
        </p:nvSpPr>
        <p:spPr>
          <a:xfrm>
            <a:off x="3897513" y="8829675"/>
            <a:ext cx="2982742" cy="465138"/>
          </a:xfrm>
          <a:prstGeom prst="rect">
            <a:avLst/>
          </a:prstGeom>
        </p:spPr>
        <p:txBody>
          <a:bodyPr vert="horz" lIns="93177" tIns="46589" rIns="93177" bIns="46589" rtlCol="0" anchor="b"/>
          <a:lstStyle>
            <a:lvl1pPr algn="r" eaLnBrk="0" hangingPunct="0">
              <a:defRPr sz="1200"/>
            </a:lvl1pPr>
          </a:lstStyle>
          <a:p>
            <a:pPr>
              <a:defRPr/>
            </a:pPr>
            <a:fld id="{0314378B-2027-4A8A-8DC7-11468CB6F43A}" type="slidenum">
              <a:rPr lang="en-US"/>
              <a:pPr>
                <a:defRPr/>
              </a:pPr>
              <a:t>‹#›</a:t>
            </a:fld>
            <a:endParaRPr lang="en-US" dirty="0"/>
          </a:p>
        </p:txBody>
      </p:sp>
      <p:sp>
        <p:nvSpPr>
          <p:cNvPr id="6" name="Footer Placeholder 5"/>
          <p:cNvSpPr>
            <a:spLocks noGrp="1"/>
          </p:cNvSpPr>
          <p:nvPr>
            <p:ph type="ftr" sz="quarter" idx="2"/>
          </p:nvPr>
        </p:nvSpPr>
        <p:spPr>
          <a:xfrm>
            <a:off x="1" y="8829675"/>
            <a:ext cx="2982742" cy="465138"/>
          </a:xfrm>
          <a:prstGeom prst="rect">
            <a:avLst/>
          </a:prstGeom>
        </p:spPr>
        <p:txBody>
          <a:bodyPr vert="horz" lIns="93177" tIns="46589" rIns="93177" bIns="46589" rtlCol="0" anchor="b"/>
          <a:lstStyle>
            <a:lvl1pPr algn="l" eaLnBrk="0" hangingPunct="0">
              <a:defRPr sz="1200"/>
            </a:lvl1pPr>
          </a:lstStyle>
          <a:p>
            <a:pPr>
              <a:defRPr/>
            </a:pPr>
            <a:endParaRPr lang="en-US" dirty="0"/>
          </a:p>
        </p:txBody>
      </p:sp>
    </p:spTree>
    <p:extLst>
      <p:ext uri="{BB962C8B-B14F-4D97-AF65-F5344CB8AC3E}">
        <p14:creationId xmlns:p14="http://schemas.microsoft.com/office/powerpoint/2010/main" xmlns="" val="34686339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1" y="0"/>
            <a:ext cx="2982742"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eaLnBrk="1" hangingPunct="1">
              <a:defRPr sz="1200">
                <a:solidFill>
                  <a:schemeClr val="tx1"/>
                </a:solidFill>
              </a:defRPr>
            </a:lvl1pPr>
          </a:lstStyle>
          <a:p>
            <a:pPr>
              <a:defRPr/>
            </a:pPr>
            <a:endParaRPr lang="en-US" dirty="0"/>
          </a:p>
        </p:txBody>
      </p:sp>
      <p:sp>
        <p:nvSpPr>
          <p:cNvPr id="24579" name="Rectangle 3"/>
          <p:cNvSpPr>
            <a:spLocks noGrp="1" noChangeArrowheads="1"/>
          </p:cNvSpPr>
          <p:nvPr>
            <p:ph type="dt" idx="1"/>
          </p:nvPr>
        </p:nvSpPr>
        <p:spPr bwMode="auto">
          <a:xfrm>
            <a:off x="3897513" y="0"/>
            <a:ext cx="2982742"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eaLnBrk="1" hangingPunct="1">
              <a:defRPr sz="1200">
                <a:solidFill>
                  <a:schemeClr val="tx1"/>
                </a:solidFill>
              </a:defRPr>
            </a:lvl1pPr>
          </a:lstStyle>
          <a:p>
            <a:pPr>
              <a:defRPr/>
            </a:pPr>
            <a:endParaRPr lang="en-US" dirty="0"/>
          </a:p>
        </p:txBody>
      </p:sp>
      <p:sp>
        <p:nvSpPr>
          <p:cNvPr id="156676" name="Rectangle 4"/>
          <p:cNvSpPr>
            <a:spLocks noGrp="1" noRot="1" noChangeAspect="1" noChangeArrowheads="1" noTextEdit="1"/>
          </p:cNvSpPr>
          <p:nvPr>
            <p:ph type="sldImg" idx="2"/>
          </p:nvPr>
        </p:nvSpPr>
        <p:spPr bwMode="auto">
          <a:xfrm>
            <a:off x="1117600" y="696913"/>
            <a:ext cx="4646613" cy="3486150"/>
          </a:xfrm>
          <a:prstGeom prst="rect">
            <a:avLst/>
          </a:prstGeom>
          <a:noFill/>
          <a:ln w="9525">
            <a:solidFill>
              <a:srgbClr val="000000"/>
            </a:solidFill>
            <a:miter lim="800000"/>
            <a:headEnd/>
            <a:tailEnd/>
          </a:ln>
        </p:spPr>
      </p:sp>
      <p:sp>
        <p:nvSpPr>
          <p:cNvPr id="24581" name="Rectangle 5"/>
          <p:cNvSpPr>
            <a:spLocks noGrp="1" noChangeArrowheads="1"/>
          </p:cNvSpPr>
          <p:nvPr>
            <p:ph type="body" sz="quarter" idx="3"/>
          </p:nvPr>
        </p:nvSpPr>
        <p:spPr bwMode="auto">
          <a:xfrm>
            <a:off x="688805" y="4416426"/>
            <a:ext cx="5504204" cy="4183063"/>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4582" name="Rectangle 6"/>
          <p:cNvSpPr>
            <a:spLocks noGrp="1" noChangeArrowheads="1"/>
          </p:cNvSpPr>
          <p:nvPr>
            <p:ph type="ftr" sz="quarter" idx="4"/>
          </p:nvPr>
        </p:nvSpPr>
        <p:spPr bwMode="auto">
          <a:xfrm>
            <a:off x="1" y="8829675"/>
            <a:ext cx="2982742"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eaLnBrk="1" hangingPunct="1">
              <a:defRPr sz="1200">
                <a:solidFill>
                  <a:schemeClr val="tx1"/>
                </a:solidFill>
              </a:defRPr>
            </a:lvl1pPr>
          </a:lstStyle>
          <a:p>
            <a:pPr>
              <a:defRPr/>
            </a:pPr>
            <a:endParaRPr lang="en-US" dirty="0"/>
          </a:p>
        </p:txBody>
      </p:sp>
      <p:sp>
        <p:nvSpPr>
          <p:cNvPr id="24583" name="Rectangle 7"/>
          <p:cNvSpPr>
            <a:spLocks noGrp="1" noChangeArrowheads="1"/>
          </p:cNvSpPr>
          <p:nvPr>
            <p:ph type="sldNum" sz="quarter" idx="5"/>
          </p:nvPr>
        </p:nvSpPr>
        <p:spPr bwMode="auto">
          <a:xfrm>
            <a:off x="3897513" y="8829675"/>
            <a:ext cx="2982742"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eaLnBrk="1" hangingPunct="1">
              <a:defRPr sz="1200">
                <a:solidFill>
                  <a:schemeClr val="tx1"/>
                </a:solidFill>
              </a:defRPr>
            </a:lvl1pPr>
          </a:lstStyle>
          <a:p>
            <a:pPr>
              <a:defRPr/>
            </a:pPr>
            <a:fld id="{AFA99AE7-C9B2-4EBA-8DBB-9A6B6FB0AAE4}" type="slidenum">
              <a:rPr lang="en-US"/>
              <a:pPr>
                <a:defRPr/>
              </a:pPr>
              <a:t>‹#›</a:t>
            </a:fld>
            <a:endParaRPr lang="en-US" dirty="0"/>
          </a:p>
        </p:txBody>
      </p:sp>
    </p:spTree>
    <p:extLst>
      <p:ext uri="{BB962C8B-B14F-4D97-AF65-F5344CB8AC3E}">
        <p14:creationId xmlns:p14="http://schemas.microsoft.com/office/powerpoint/2010/main" xmlns="" val="289331132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ebmail.aa.com/owa/redir.aspx?C=0d45642739d44995971fa7b7f9b77c52&amp;URL=https://spteam.aa.com/sites/ITS/PAD"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s://department.jetnet.aa.com/itstechsourcing/index.shtml"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ebmail.aa.com/owa/redir.aspx?C=0d45642739d44995971fa7b7f9b77c52&amp;URL=https://spteam.aa.com/sites/ITS/PAD"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1</a:t>
            </a:fld>
            <a:endParaRPr lang="en-US" dirty="0"/>
          </a:p>
        </p:txBody>
      </p:sp>
    </p:spTree>
    <p:extLst>
      <p:ext uri="{BB962C8B-B14F-4D97-AF65-F5344CB8AC3E}">
        <p14:creationId xmlns:p14="http://schemas.microsoft.com/office/powerpoint/2010/main" xmlns="" val="27234523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000" dirty="0"/>
              <a:t>For more information regarding the funding process please refer to </a:t>
            </a:r>
            <a:r>
              <a:rPr lang="en-US" sz="1000" dirty="0" smtClean="0"/>
              <a:t>Project Place  </a:t>
            </a:r>
            <a:r>
              <a:rPr lang="en-US" sz="1000" u="sng" dirty="0">
                <a:hlinkClick r:id="rId3"/>
              </a:rPr>
              <a:t>https://spteam.aa.com/sites/ITS/PAD</a:t>
            </a:r>
            <a:r>
              <a:rPr lang="en-US" sz="1000" dirty="0"/>
              <a:t> </a:t>
            </a:r>
          </a:p>
          <a:p>
            <a:pPr>
              <a:defRPr/>
            </a:pPr>
            <a:endParaRPr lang="en-US" sz="1000" dirty="0"/>
          </a:p>
          <a:p>
            <a:r>
              <a:rPr lang="en-US" sz="1000" b="1" dirty="0">
                <a:solidFill>
                  <a:schemeClr val="accent2"/>
                </a:solidFill>
              </a:rPr>
              <a:t>For guidance on IT Vendor Management (ITVM) and support when engaging vendors please refer to ITVM at </a:t>
            </a:r>
            <a:r>
              <a:rPr lang="en-US" sz="1000" u="sng" dirty="0">
                <a:solidFill>
                  <a:schemeClr val="accent2"/>
                </a:solidFill>
                <a:hlinkClick r:id="rId4"/>
              </a:rPr>
              <a:t>https://department.jetnet.aa.com/itstechsourcing/index.shtml</a:t>
            </a:r>
            <a:r>
              <a:rPr lang="en-US" sz="1000" u="sng" dirty="0">
                <a:solidFill>
                  <a:schemeClr val="accent2"/>
                </a:solidFill>
              </a:rPr>
              <a:t>;</a:t>
            </a:r>
          </a:p>
          <a:p>
            <a:r>
              <a:rPr lang="en-US" sz="1000" b="1" dirty="0">
                <a:solidFill>
                  <a:schemeClr val="accent2"/>
                </a:solidFill>
              </a:rPr>
              <a:t>specifically note the links to all of vendor management’s processes on the left under Technology Sourcing </a:t>
            </a:r>
          </a:p>
          <a:p>
            <a:pPr>
              <a:defRPr/>
            </a:pPr>
            <a:endParaRPr lang="en-US" sz="1000" dirty="0"/>
          </a:p>
          <a:p>
            <a:endParaRPr lang="en-US" sz="1000" dirty="0"/>
          </a:p>
          <a:p>
            <a:r>
              <a:rPr lang="en-US" sz="1000" dirty="0"/>
              <a:t>Delete this slide once completed</a:t>
            </a:r>
          </a:p>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2</a:t>
            </a:fld>
            <a:endParaRPr lang="en-US" dirty="0"/>
          </a:p>
        </p:txBody>
      </p:sp>
    </p:spTree>
    <p:extLst>
      <p:ext uri="{BB962C8B-B14F-4D97-AF65-F5344CB8AC3E}">
        <p14:creationId xmlns:p14="http://schemas.microsoft.com/office/powerpoint/2010/main" xmlns="" val="1146731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3</a:t>
            </a:fld>
            <a:endParaRPr lang="en-US" dirty="0"/>
          </a:p>
        </p:txBody>
      </p:sp>
    </p:spTree>
    <p:extLst>
      <p:ext uri="{BB962C8B-B14F-4D97-AF65-F5344CB8AC3E}">
        <p14:creationId xmlns:p14="http://schemas.microsoft.com/office/powerpoint/2010/main" xmlns="" val="5667568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000" dirty="0">
                <a:solidFill>
                  <a:schemeClr val="bg1">
                    <a:lumMod val="50000"/>
                  </a:schemeClr>
                </a:solidFill>
              </a:rPr>
              <a:t>Attending the Project Management in an Agile world class will teach PM’s how to create and use this document. </a:t>
            </a:r>
          </a:p>
          <a:p>
            <a:r>
              <a:rPr lang="en-GB" sz="1000" dirty="0">
                <a:solidFill>
                  <a:schemeClr val="bg1">
                    <a:lumMod val="50000"/>
                  </a:schemeClr>
                </a:solidFill>
              </a:rPr>
              <a:t>Teams will begin to fill out project specific documentation when they attend the “Iteration 0”. </a:t>
            </a:r>
          </a:p>
          <a:p>
            <a:endParaRPr lang="en-GB" sz="1000" dirty="0">
              <a:solidFill>
                <a:schemeClr val="bg1">
                  <a:lumMod val="50000"/>
                </a:schemeClr>
              </a:solidFill>
            </a:endParaRPr>
          </a:p>
          <a:p>
            <a:r>
              <a:rPr lang="en-GB" sz="1000" dirty="0">
                <a:solidFill>
                  <a:schemeClr val="bg1">
                    <a:lumMod val="50000"/>
                  </a:schemeClr>
                </a:solidFill>
              </a:rPr>
              <a:t>Schedule in Iteration 0 Agile Project Teams Workshop by contacting your IT Project Performance mentor or Agile Coach. </a:t>
            </a:r>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4</a:t>
            </a:fld>
            <a:endParaRPr lang="en-US" dirty="0"/>
          </a:p>
        </p:txBody>
      </p:sp>
    </p:spTree>
    <p:extLst>
      <p:ext uri="{BB962C8B-B14F-4D97-AF65-F5344CB8AC3E}">
        <p14:creationId xmlns:p14="http://schemas.microsoft.com/office/powerpoint/2010/main" xmlns="" val="11706877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000" dirty="0">
                <a:solidFill>
                  <a:schemeClr val="bg1">
                    <a:lumMod val="50000"/>
                  </a:schemeClr>
                </a:solidFill>
              </a:rPr>
              <a:t>The System Context Diagram is a high-level visual illustrating, by release, what outside systems/users will be interacting with the system being developed  It can take the form of a single diagram per release or a single diagram clearly denoting which parts are available by release.  In the example above, the ABC Inventory system is the system being developed.</a:t>
            </a:r>
          </a:p>
          <a:p>
            <a:endParaRPr lang="en-US" sz="1000" dirty="0"/>
          </a:p>
          <a:p>
            <a:r>
              <a:rPr lang="en-US" sz="1000" dirty="0"/>
              <a:t>The Project Lead facilitates the creation of this diagram with input from the business and technical Teammates.</a:t>
            </a:r>
          </a:p>
          <a:p>
            <a:endParaRPr lang="en-US" sz="1000" dirty="0"/>
          </a:p>
          <a:p>
            <a:r>
              <a:rPr lang="en-US" sz="1000" dirty="0"/>
              <a:t>The System, Context Diagram supports, and is a component of, the Candidate Architecture document.</a:t>
            </a:r>
          </a:p>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5</a:t>
            </a:fld>
            <a:endParaRPr lang="en-US" dirty="0"/>
          </a:p>
        </p:txBody>
      </p:sp>
    </p:spTree>
    <p:extLst>
      <p:ext uri="{BB962C8B-B14F-4D97-AF65-F5344CB8AC3E}">
        <p14:creationId xmlns:p14="http://schemas.microsoft.com/office/powerpoint/2010/main" xmlns="" val="18505697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a:t>This diagram may be used to help depict the changes in architecture and the sunsetting of existing systems</a:t>
            </a:r>
            <a:r>
              <a:rPr lang="en-US" dirty="0"/>
              <a:t>. </a:t>
            </a:r>
          </a:p>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6</a:t>
            </a:fld>
            <a:endParaRPr lang="en-US" dirty="0"/>
          </a:p>
        </p:txBody>
      </p:sp>
    </p:spTree>
    <p:extLst>
      <p:ext uri="{BB962C8B-B14F-4D97-AF65-F5344CB8AC3E}">
        <p14:creationId xmlns:p14="http://schemas.microsoft.com/office/powerpoint/2010/main" xmlns="" val="20369391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a:t>This information will also be in your PAD documents. </a:t>
            </a:r>
          </a:p>
          <a:p>
            <a:endParaRPr lang="en-US" sz="1000" dirty="0"/>
          </a:p>
          <a:p>
            <a:pPr>
              <a:defRPr/>
            </a:pPr>
            <a:r>
              <a:rPr lang="en-US" sz="1000" dirty="0"/>
              <a:t>For more information regarding the funding process please refer to </a:t>
            </a:r>
            <a:r>
              <a:rPr lang="en-US" sz="1000" dirty="0" smtClean="0"/>
              <a:t>Project Place  </a:t>
            </a:r>
            <a:r>
              <a:rPr lang="en-US" sz="1000" u="sng" dirty="0">
                <a:hlinkClick r:id="rId3"/>
              </a:rPr>
              <a:t>https://spteam.aa.com/sites/ITS/PAD</a:t>
            </a:r>
            <a:r>
              <a:rPr lang="en-US" sz="1000" dirty="0"/>
              <a:t> </a:t>
            </a:r>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7</a:t>
            </a:fld>
            <a:endParaRPr lang="en-US" dirty="0"/>
          </a:p>
        </p:txBody>
      </p:sp>
    </p:spTree>
    <p:extLst>
      <p:ext uri="{BB962C8B-B14F-4D97-AF65-F5344CB8AC3E}">
        <p14:creationId xmlns:p14="http://schemas.microsoft.com/office/powerpoint/2010/main" xmlns="" val="38857025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a:t>For an </a:t>
            </a:r>
            <a:r>
              <a:rPr lang="en-US" sz="1000" dirty="0" smtClean="0"/>
              <a:t>explanation of </a:t>
            </a:r>
            <a:r>
              <a:rPr lang="en-US" sz="1000" dirty="0"/>
              <a:t>team roles and responsibilities, please </a:t>
            </a:r>
            <a:r>
              <a:rPr lang="en-US" sz="1000" dirty="0" smtClean="0"/>
              <a:t>refer to the </a:t>
            </a:r>
            <a:r>
              <a:rPr lang="en-US" sz="1000" dirty="0"/>
              <a:t>ITPPT </a:t>
            </a:r>
            <a:r>
              <a:rPr lang="en-US" sz="1000" dirty="0" smtClean="0"/>
              <a:t>page on Jetnet </a:t>
            </a:r>
            <a:endParaRPr lang="en-US" sz="1000" dirty="0"/>
          </a:p>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8</a:t>
            </a:fld>
            <a:endParaRPr lang="en-US" dirty="0"/>
          </a:p>
        </p:txBody>
      </p:sp>
    </p:spTree>
    <p:extLst>
      <p:ext uri="{BB962C8B-B14F-4D97-AF65-F5344CB8AC3E}">
        <p14:creationId xmlns:p14="http://schemas.microsoft.com/office/powerpoint/2010/main" xmlns="" val="14047693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9</a:t>
            </a:fld>
            <a:endParaRPr lang="en-US" dirty="0"/>
          </a:p>
        </p:txBody>
      </p:sp>
    </p:spTree>
    <p:extLst>
      <p:ext uri="{BB962C8B-B14F-4D97-AF65-F5344CB8AC3E}">
        <p14:creationId xmlns:p14="http://schemas.microsoft.com/office/powerpoint/2010/main" xmlns="" val="31063752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a:t>This is going to be the costs for any needed software or hardware for the project to be completed. </a:t>
            </a:r>
          </a:p>
          <a:p>
            <a:endParaRPr lang="en-US" sz="1000" dirty="0"/>
          </a:p>
          <a:p>
            <a:r>
              <a:rPr lang="en-US" sz="1000" dirty="0"/>
              <a:t>This information will also be in your PAD documents. </a:t>
            </a:r>
          </a:p>
          <a:p>
            <a:endParaRPr lang="en-US" sz="1000" dirty="0"/>
          </a:p>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10</a:t>
            </a:fld>
            <a:endParaRPr lang="en-US" dirty="0"/>
          </a:p>
        </p:txBody>
      </p:sp>
    </p:spTree>
    <p:extLst>
      <p:ext uri="{BB962C8B-B14F-4D97-AF65-F5344CB8AC3E}">
        <p14:creationId xmlns:p14="http://schemas.microsoft.com/office/powerpoint/2010/main" xmlns="" val="5166766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000" dirty="0"/>
              <a:t>A Risk Assessment should be performed during Iteration 0 and each iteration thereafter. The risks should be assessed to rank order from the critical to the trivial making it possible to prioritize the actions to address the risks</a:t>
            </a:r>
          </a:p>
          <a:p>
            <a:pPr>
              <a:defRPr/>
            </a:pPr>
            <a:r>
              <a:rPr lang="en-US" sz="1000" dirty="0"/>
              <a:t>The roadmap will show the risks that have been identified during this assessment.  Risk Management will occur during the Release and contained in the Release Plan.</a:t>
            </a:r>
          </a:p>
          <a:p>
            <a:endParaRPr lang="en-US" sz="1000" dirty="0"/>
          </a:p>
          <a:p>
            <a:r>
              <a:rPr lang="en-US" sz="1000" dirty="0"/>
              <a:t>For further guidance on Risk Management please refer to the Risk Guide published on Jetnet by the IT Project Performance Team. </a:t>
            </a:r>
          </a:p>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11</a:t>
            </a:fld>
            <a:endParaRPr lang="en-US" dirty="0"/>
          </a:p>
        </p:txBody>
      </p:sp>
    </p:spTree>
    <p:extLst>
      <p:ext uri="{BB962C8B-B14F-4D97-AF65-F5344CB8AC3E}">
        <p14:creationId xmlns:p14="http://schemas.microsoft.com/office/powerpoint/2010/main" xmlns="" val="34097832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a:t>The purpose of this slide is to describe any assumptions impacting the Product/Project Roadmap.  Assumptions related to internal/external resource needs, hardware/software requirements, and Team availability should be noted.</a:t>
            </a:r>
          </a:p>
          <a:p>
            <a:endParaRPr lang="en-US" sz="1000" dirty="0"/>
          </a:p>
          <a:p>
            <a:r>
              <a:rPr lang="en-US" sz="1000" dirty="0"/>
              <a:t>Constraints are also listed and include a type category.  Type could be technology, regulatory, contract or other. </a:t>
            </a:r>
          </a:p>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12</a:t>
            </a:fld>
            <a:endParaRPr lang="en-US" dirty="0"/>
          </a:p>
        </p:txBody>
      </p:sp>
    </p:spTree>
    <p:extLst>
      <p:ext uri="{BB962C8B-B14F-4D97-AF65-F5344CB8AC3E}">
        <p14:creationId xmlns:p14="http://schemas.microsoft.com/office/powerpoint/2010/main" xmlns="" val="23961126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13</a:t>
            </a:fld>
            <a:endParaRPr lang="en-US" dirty="0"/>
          </a:p>
        </p:txBody>
      </p:sp>
    </p:spTree>
    <p:extLst>
      <p:ext uri="{BB962C8B-B14F-4D97-AF65-F5344CB8AC3E}">
        <p14:creationId xmlns:p14="http://schemas.microsoft.com/office/powerpoint/2010/main" xmlns="" val="23213684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14</a:t>
            </a:fld>
            <a:endParaRPr lang="en-US" dirty="0"/>
          </a:p>
        </p:txBody>
      </p:sp>
    </p:spTree>
    <p:extLst>
      <p:ext uri="{BB962C8B-B14F-4D97-AF65-F5344CB8AC3E}">
        <p14:creationId xmlns:p14="http://schemas.microsoft.com/office/powerpoint/2010/main" xmlns="" val="29102209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15</a:t>
            </a:fld>
            <a:endParaRPr lang="en-US" dirty="0"/>
          </a:p>
        </p:txBody>
      </p:sp>
    </p:spTree>
    <p:extLst>
      <p:ext uri="{BB962C8B-B14F-4D97-AF65-F5344CB8AC3E}">
        <p14:creationId xmlns:p14="http://schemas.microsoft.com/office/powerpoint/2010/main" xmlns="" val="36920575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16</a:t>
            </a:fld>
            <a:endParaRPr lang="en-US" dirty="0"/>
          </a:p>
        </p:txBody>
      </p:sp>
    </p:spTree>
    <p:extLst>
      <p:ext uri="{BB962C8B-B14F-4D97-AF65-F5344CB8AC3E}">
        <p14:creationId xmlns:p14="http://schemas.microsoft.com/office/powerpoint/2010/main" xmlns="" val="23199063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a:t>For an </a:t>
            </a:r>
            <a:r>
              <a:rPr lang="en-US" sz="1000" dirty="0" smtClean="0"/>
              <a:t>explanation of </a:t>
            </a:r>
            <a:r>
              <a:rPr lang="en-US" sz="1000" dirty="0"/>
              <a:t>team roles and responsibilities, please </a:t>
            </a:r>
            <a:r>
              <a:rPr lang="en-US" sz="1000" dirty="0" smtClean="0"/>
              <a:t>refer to the </a:t>
            </a:r>
            <a:r>
              <a:rPr lang="en-US" sz="1000" dirty="0"/>
              <a:t>ITPPT </a:t>
            </a:r>
            <a:r>
              <a:rPr lang="en-US" sz="1000" dirty="0" smtClean="0"/>
              <a:t>page on Jetnet </a:t>
            </a:r>
            <a:endParaRPr lang="en-US" sz="1000" dirty="0"/>
          </a:p>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17</a:t>
            </a:fld>
            <a:endParaRPr lang="en-US" dirty="0"/>
          </a:p>
        </p:txBody>
      </p:sp>
    </p:spTree>
    <p:extLst>
      <p:ext uri="{BB962C8B-B14F-4D97-AF65-F5344CB8AC3E}">
        <p14:creationId xmlns:p14="http://schemas.microsoft.com/office/powerpoint/2010/main" xmlns="" val="14047693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a:t>For an </a:t>
            </a:r>
            <a:r>
              <a:rPr lang="en-US" sz="1000" dirty="0" smtClean="0"/>
              <a:t>explanation of </a:t>
            </a:r>
            <a:r>
              <a:rPr lang="en-US" sz="1000" dirty="0"/>
              <a:t>team roles and responsibilities, please </a:t>
            </a:r>
            <a:r>
              <a:rPr lang="en-US" sz="1000" dirty="0" smtClean="0"/>
              <a:t>refer to the </a:t>
            </a:r>
            <a:r>
              <a:rPr lang="en-US" sz="1000" dirty="0"/>
              <a:t>ITPPT </a:t>
            </a:r>
            <a:r>
              <a:rPr lang="en-US" sz="1000" dirty="0" smtClean="0"/>
              <a:t>page on Jetnet </a:t>
            </a:r>
            <a:endParaRPr lang="en-US" sz="1000" dirty="0"/>
          </a:p>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18</a:t>
            </a:fld>
            <a:endParaRPr lang="en-US" dirty="0"/>
          </a:p>
        </p:txBody>
      </p:sp>
    </p:spTree>
    <p:extLst>
      <p:ext uri="{BB962C8B-B14F-4D97-AF65-F5344CB8AC3E}">
        <p14:creationId xmlns:p14="http://schemas.microsoft.com/office/powerpoint/2010/main" xmlns="" val="14047693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a:t>For an </a:t>
            </a:r>
            <a:r>
              <a:rPr lang="en-US" sz="1000" dirty="0" smtClean="0"/>
              <a:t>explanation of </a:t>
            </a:r>
            <a:r>
              <a:rPr lang="en-US" sz="1000" dirty="0"/>
              <a:t>team roles and responsibilities, please </a:t>
            </a:r>
            <a:r>
              <a:rPr lang="en-US" sz="1000" dirty="0" smtClean="0"/>
              <a:t>refer to the </a:t>
            </a:r>
            <a:r>
              <a:rPr lang="en-US" sz="1000" dirty="0"/>
              <a:t>ITPPT </a:t>
            </a:r>
            <a:r>
              <a:rPr lang="en-US" sz="1000" dirty="0" smtClean="0"/>
              <a:t>page on Jetnet </a:t>
            </a:r>
            <a:endParaRPr lang="en-US" sz="1000" dirty="0"/>
          </a:p>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19</a:t>
            </a:fld>
            <a:endParaRPr lang="en-US" dirty="0"/>
          </a:p>
        </p:txBody>
      </p:sp>
    </p:spTree>
    <p:extLst>
      <p:ext uri="{BB962C8B-B14F-4D97-AF65-F5344CB8AC3E}">
        <p14:creationId xmlns:p14="http://schemas.microsoft.com/office/powerpoint/2010/main" xmlns="" val="14047693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Slide">
    <p:spTree>
      <p:nvGrpSpPr>
        <p:cNvPr id="1" name=""/>
        <p:cNvGrpSpPr/>
        <p:nvPr/>
      </p:nvGrpSpPr>
      <p:grpSpPr>
        <a:xfrm>
          <a:off x="0" y="0"/>
          <a:ext cx="0" cy="0"/>
          <a:chOff x="0" y="0"/>
          <a:chExt cx="0" cy="0"/>
        </a:xfrm>
      </p:grpSpPr>
      <p:pic>
        <p:nvPicPr>
          <p:cNvPr id="1027" name="Picture 3" descr="D:\aa_ppt_elements\aa_aa_tm_hrz_1cp_grd_pos.png"/>
          <p:cNvPicPr>
            <a:picLocks noChangeAspect="1" noChangeArrowheads="1"/>
          </p:cNvPicPr>
          <p:nvPr/>
        </p:nvPicPr>
        <p:blipFill>
          <a:blip r:embed="rId2" cstate="print"/>
          <a:srcRect/>
          <a:stretch>
            <a:fillRect/>
          </a:stretch>
        </p:blipFill>
        <p:spPr bwMode="auto">
          <a:xfrm>
            <a:off x="5504688" y="495300"/>
            <a:ext cx="3195302" cy="484632"/>
          </a:xfrm>
          <a:prstGeom prst="rect">
            <a:avLst/>
          </a:prstGeom>
          <a:noFill/>
        </p:spPr>
      </p:pic>
      <p:pic>
        <p:nvPicPr>
          <p:cNvPr id="10" name="Picture 9" descr="aa_clda_PPT_rgb_23g.jpg"/>
          <p:cNvPicPr>
            <a:picLocks noChangeAspect="1"/>
          </p:cNvPicPr>
          <p:nvPr/>
        </p:nvPicPr>
        <p:blipFill>
          <a:blip r:embed="rId3" cstate="print"/>
          <a:stretch>
            <a:fillRect/>
          </a:stretch>
        </p:blipFill>
        <p:spPr bwMode="hidden">
          <a:xfrm>
            <a:off x="0" y="0"/>
            <a:ext cx="9144000" cy="6858000"/>
          </a:xfrm>
          <a:prstGeom prst="rect">
            <a:avLst/>
          </a:prstGeom>
        </p:spPr>
      </p:pic>
      <p:sp>
        <p:nvSpPr>
          <p:cNvPr id="2" name="Title 1"/>
          <p:cNvSpPr>
            <a:spLocks noGrp="1"/>
          </p:cNvSpPr>
          <p:nvPr>
            <p:ph type="ctrTitle" hasCustomPrompt="1"/>
          </p:nvPr>
        </p:nvSpPr>
        <p:spPr>
          <a:xfrm>
            <a:off x="457199" y="2043404"/>
            <a:ext cx="8232775" cy="970384"/>
          </a:xfrm>
        </p:spPr>
        <p:txBody>
          <a:bodyPr anchor="b" anchorCtr="0">
            <a:noAutofit/>
          </a:bodyPr>
          <a:lstStyle>
            <a:lvl1pPr>
              <a:lnSpc>
                <a:spcPts val="3200"/>
              </a:lnSpc>
              <a:defRPr>
                <a:solidFill>
                  <a:schemeClr val="tx2"/>
                </a:solidFill>
              </a:defRPr>
            </a:lvl1pPr>
          </a:lstStyle>
          <a:p>
            <a:r>
              <a:rPr lang="en-US" dirty="0" smtClean="0"/>
              <a:t>Click to edit cover slide title</a:t>
            </a:r>
            <a:endParaRPr lang="en-US" dirty="0"/>
          </a:p>
        </p:txBody>
      </p:sp>
      <p:sp>
        <p:nvSpPr>
          <p:cNvPr id="3" name="Subtitle 2"/>
          <p:cNvSpPr>
            <a:spLocks noGrp="1"/>
          </p:cNvSpPr>
          <p:nvPr>
            <p:ph type="subTitle" idx="1" hasCustomPrompt="1"/>
          </p:nvPr>
        </p:nvSpPr>
        <p:spPr>
          <a:xfrm>
            <a:off x="457199" y="3130422"/>
            <a:ext cx="8232775" cy="914400"/>
          </a:xfrm>
          <a:prstGeom prst="rect">
            <a:avLst/>
          </a:prstGeom>
        </p:spPr>
        <p:txBody>
          <a:bodyPr/>
          <a:lstStyle>
            <a:lvl1pPr marL="0" indent="0" algn="l">
              <a:lnSpc>
                <a:spcPts val="2000"/>
              </a:lnSpc>
              <a:spcBef>
                <a:spcPts val="0"/>
              </a:spcBef>
              <a:buNone/>
              <a:defRPr>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cover slide subtitle</a:t>
            </a:r>
            <a:endParaRPr lang="en-US" dirty="0"/>
          </a:p>
        </p:txBody>
      </p:sp>
      <p:pic>
        <p:nvPicPr>
          <p:cNvPr id="1026" name="Picture 2" descr="D:\aa_ppt_elements\aa_aa_tm_hrz_rgb_grd_pos.png"/>
          <p:cNvPicPr>
            <a:picLocks noChangeAspect="1" noChangeArrowheads="1"/>
          </p:cNvPicPr>
          <p:nvPr/>
        </p:nvPicPr>
        <p:blipFill>
          <a:blip r:embed="rId4" cstate="print"/>
          <a:srcRect/>
          <a:stretch>
            <a:fillRect/>
          </a:stretch>
        </p:blipFill>
        <p:spPr bwMode="hidden">
          <a:xfrm>
            <a:off x="5504688" y="493776"/>
            <a:ext cx="3195302" cy="484632"/>
          </a:xfrm>
          <a:prstGeom prst="rect">
            <a:avLst/>
          </a:prstGeom>
          <a:noFill/>
        </p:spPr>
      </p:pic>
      <p:pic>
        <p:nvPicPr>
          <p:cNvPr id="12" name="Picture 3" descr="D:\Oneworld_rgb_Logo.png"/>
          <p:cNvPicPr>
            <a:picLocks noChangeAspect="1" noChangeArrowheads="1"/>
          </p:cNvPicPr>
          <p:nvPr/>
        </p:nvPicPr>
        <p:blipFill>
          <a:blip r:embed="rId5" cstate="print"/>
          <a:srcRect/>
          <a:stretch>
            <a:fillRect/>
          </a:stretch>
        </p:blipFill>
        <p:spPr bwMode="auto">
          <a:xfrm>
            <a:off x="8245435" y="6040370"/>
            <a:ext cx="420687" cy="420688"/>
          </a:xfrm>
          <a:prstGeom prst="rect">
            <a:avLst/>
          </a:prstGeom>
          <a:noFill/>
        </p:spPr>
      </p:pic>
    </p:spTree>
    <p:extLst>
      <p:ext uri="{BB962C8B-B14F-4D97-AF65-F5344CB8AC3E}">
        <p14:creationId xmlns:p14="http://schemas.microsoft.com/office/powerpoint/2010/main" xmlns="" val="409030882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text slide title</a:t>
            </a:r>
            <a:endParaRPr lang="en-US" dirty="0"/>
          </a:p>
        </p:txBody>
      </p:sp>
      <p:sp>
        <p:nvSpPr>
          <p:cNvPr id="5" name="Footer Placeholder 4"/>
          <p:cNvSpPr>
            <a:spLocks noGrp="1"/>
          </p:cNvSpPr>
          <p:nvPr>
            <p:ph type="ftr" sz="quarter" idx="11"/>
          </p:nvPr>
        </p:nvSpPr>
        <p:spPr/>
        <p:txBody>
          <a:bodyPr/>
          <a:lstStyle/>
          <a:p>
            <a:r>
              <a:rPr lang="en-US" dirty="0" smtClean="0"/>
              <a:t>Roadmap Template v6.4</a:t>
            </a:r>
            <a:endParaRPr lang="en-US" dirty="0"/>
          </a:p>
        </p:txBody>
      </p:sp>
      <p:sp>
        <p:nvSpPr>
          <p:cNvPr id="6" name="Slide Number Placeholder 5"/>
          <p:cNvSpPr>
            <a:spLocks noGrp="1"/>
          </p:cNvSpPr>
          <p:nvPr>
            <p:ph type="sldNum" sz="quarter" idx="12"/>
          </p:nvPr>
        </p:nvSpPr>
        <p:spPr/>
        <p:txBody>
          <a:bodyPr/>
          <a:lstStyle/>
          <a:p>
            <a:fld id="{9E3C471D-FB94-43E4-8DFD-966A05A84658}" type="slidenum">
              <a:rPr lang="en-US" smtClean="0">
                <a:solidFill>
                  <a:srgbClr val="7F7F7F"/>
                </a:solidFill>
              </a:rPr>
              <a:pPr/>
              <a:t>‹#›</a:t>
            </a:fld>
            <a:endParaRPr lang="en-US" dirty="0">
              <a:solidFill>
                <a:srgbClr val="7F7F7F"/>
              </a:solidFill>
            </a:endParaRPr>
          </a:p>
        </p:txBody>
      </p:sp>
      <p:sp>
        <p:nvSpPr>
          <p:cNvPr id="12" name="Content Placeholder 10"/>
          <p:cNvSpPr>
            <a:spLocks noGrp="1"/>
          </p:cNvSpPr>
          <p:nvPr>
            <p:ph sz="quarter" idx="15"/>
          </p:nvPr>
        </p:nvSpPr>
        <p:spPr>
          <a:xfrm>
            <a:off x="457200" y="1184564"/>
            <a:ext cx="8232775" cy="4958542"/>
          </a:xfrm>
        </p:spPr>
        <p:txBody>
          <a:bodyPr/>
          <a:lstStyle>
            <a:lvl1pPr>
              <a:defRPr sz="2000" b="1"/>
            </a:lvl1pPr>
            <a:lvl2pPr>
              <a:buFont typeface="Wingdings" pitchFamily="2" charset="2"/>
              <a:buChar char="§"/>
              <a:defRPr sz="2000"/>
            </a:lvl2pPr>
            <a:lvl3pPr>
              <a:defRPr sz="1800"/>
            </a:lvl3pPr>
            <a:lvl4pPr>
              <a:buFont typeface="Courier New" pitchFamily="49" charset="0"/>
              <a:buChar char="o"/>
              <a:defRPr sz="1600"/>
            </a:lvl4pPr>
            <a:lvl5pPr>
              <a:buFont typeface="Courier New" pitchFamily="49" charset="0"/>
              <a:buChar char="o"/>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7405009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 Slide">
    <p:spTree>
      <p:nvGrpSpPr>
        <p:cNvPr id="1" name=""/>
        <p:cNvGrpSpPr/>
        <p:nvPr/>
      </p:nvGrpSpPr>
      <p:grpSpPr>
        <a:xfrm>
          <a:off x="0" y="0"/>
          <a:ext cx="0" cy="0"/>
          <a:chOff x="0" y="0"/>
          <a:chExt cx="0" cy="0"/>
        </a:xfrm>
      </p:grpSpPr>
      <p:pic>
        <p:nvPicPr>
          <p:cNvPr id="8" name="Picture 7" descr="aa_pc_PPT_rgb_23c_b.jpg"/>
          <p:cNvPicPr>
            <a:picLocks noChangeAspect="1"/>
          </p:cNvPicPr>
          <p:nvPr userDrawn="1"/>
        </p:nvPicPr>
        <p:blipFill>
          <a:blip r:embed="rId2" cstate="print"/>
          <a:stretch>
            <a:fillRect/>
          </a:stretch>
        </p:blipFill>
        <p:spPr bwMode="hidden">
          <a:xfrm>
            <a:off x="0" y="0"/>
            <a:ext cx="9144000" cy="6858000"/>
          </a:xfrm>
          <a:prstGeom prst="rect">
            <a:avLst/>
          </a:prstGeom>
        </p:spPr>
      </p:pic>
      <p:sp>
        <p:nvSpPr>
          <p:cNvPr id="16" name="Slide Number Placeholder 15"/>
          <p:cNvSpPr>
            <a:spLocks noGrp="1"/>
          </p:cNvSpPr>
          <p:nvPr>
            <p:ph type="sldNum" sz="quarter" idx="11"/>
          </p:nvPr>
        </p:nvSpPr>
        <p:spPr/>
        <p:txBody>
          <a:bodyPr/>
          <a:lstStyle>
            <a:lvl1pPr>
              <a:defRPr>
                <a:solidFill>
                  <a:schemeClr val="bg1"/>
                </a:solidFill>
              </a:defRPr>
            </a:lvl1pPr>
          </a:lstStyle>
          <a:p>
            <a:fld id="{9E3C471D-FB94-43E4-8DFD-966A05A84658}" type="slidenum">
              <a:rPr lang="en-US" smtClean="0">
                <a:solidFill>
                  <a:srgbClr val="7F7F7F"/>
                </a:solidFill>
              </a:rPr>
              <a:pPr/>
              <a:t>‹#›</a:t>
            </a:fld>
            <a:endParaRPr lang="en-US" dirty="0">
              <a:solidFill>
                <a:srgbClr val="7F7F7F"/>
              </a:solidFill>
            </a:endParaRPr>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dirty="0" smtClean="0"/>
              <a:t>Roadmap Template v6.4</a:t>
            </a:r>
            <a:endParaRPr lang="en-US" dirty="0"/>
          </a:p>
        </p:txBody>
      </p:sp>
      <p:sp>
        <p:nvSpPr>
          <p:cNvPr id="11" name="Title 1"/>
          <p:cNvSpPr>
            <a:spLocks noGrp="1"/>
          </p:cNvSpPr>
          <p:nvPr>
            <p:ph type="title" hasCustomPrompt="1"/>
          </p:nvPr>
        </p:nvSpPr>
        <p:spPr>
          <a:xfrm>
            <a:off x="447869" y="739492"/>
            <a:ext cx="8242106" cy="1552857"/>
          </a:xfrm>
        </p:spPr>
        <p:txBody>
          <a:bodyPr anchor="t"/>
          <a:lstStyle>
            <a:lvl1pPr>
              <a:defRPr/>
            </a:lvl1pPr>
          </a:lstStyle>
          <a:p>
            <a:r>
              <a:rPr lang="en-US" dirty="0" smtClean="0"/>
              <a:t>Click to edit text slide title</a:t>
            </a:r>
            <a:endParaRPr lang="en-US" dirty="0"/>
          </a:p>
        </p:txBody>
      </p:sp>
    </p:spTree>
    <p:extLst>
      <p:ext uri="{BB962C8B-B14F-4D97-AF65-F5344CB8AC3E}">
        <p14:creationId xmlns:p14="http://schemas.microsoft.com/office/powerpoint/2010/main" xmlns="" val="50258111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A Blue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fld id="{9E3C471D-FB94-43E4-8DFD-966A05A84658}" type="slidenum">
              <a:rPr lang="en-US" smtClean="0">
                <a:solidFill>
                  <a:srgbClr val="7F7F7F"/>
                </a:solidFill>
              </a:rPr>
              <a:pPr/>
              <a:t>‹#›</a:t>
            </a:fld>
            <a:endParaRPr lang="en-US" dirty="0">
              <a:solidFill>
                <a:srgbClr val="7F7F7F"/>
              </a:solidFill>
            </a:endParaRPr>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dirty="0" smtClean="0"/>
              <a:t>Roadmap Template v6.4</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xmlns="" val="359668478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A Orange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fld id="{9E3C471D-FB94-43E4-8DFD-966A05A84658}" type="slidenum">
              <a:rPr lang="en-US" smtClean="0">
                <a:solidFill>
                  <a:srgbClr val="7F7F7F"/>
                </a:solidFill>
              </a:rPr>
              <a:pPr/>
              <a:t>‹#›</a:t>
            </a:fld>
            <a:endParaRPr lang="en-US" dirty="0">
              <a:solidFill>
                <a:srgbClr val="7F7F7F"/>
              </a:solidFill>
            </a:endParaRPr>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dirty="0" smtClean="0"/>
              <a:t>Roadmap Template v6.4</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xmlns="" val="2007123136"/>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A Light Orange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fld id="{9E3C471D-FB94-43E4-8DFD-966A05A84658}" type="slidenum">
              <a:rPr lang="en-US" smtClean="0">
                <a:solidFill>
                  <a:srgbClr val="7F7F7F"/>
                </a:solidFill>
              </a:rPr>
              <a:pPr/>
              <a:t>‹#›</a:t>
            </a:fld>
            <a:endParaRPr lang="en-US" dirty="0">
              <a:solidFill>
                <a:srgbClr val="7F7F7F"/>
              </a:solidFill>
            </a:endParaRPr>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dirty="0" smtClean="0"/>
              <a:t>Roadmap Template v6.4</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xmlns="" val="352839952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A Yellow Green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fld id="{9E3C471D-FB94-43E4-8DFD-966A05A84658}" type="slidenum">
              <a:rPr lang="en-US" smtClean="0">
                <a:solidFill>
                  <a:srgbClr val="7F7F7F"/>
                </a:solidFill>
              </a:rPr>
              <a:pPr/>
              <a:t>‹#›</a:t>
            </a:fld>
            <a:endParaRPr lang="en-US" dirty="0">
              <a:solidFill>
                <a:srgbClr val="7F7F7F"/>
              </a:solidFill>
            </a:endParaRPr>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dirty="0" smtClean="0"/>
              <a:t>Roadmap Template v6.4</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xmlns="" val="214472792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A Red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fld id="{9E3C471D-FB94-43E4-8DFD-966A05A84658}" type="slidenum">
              <a:rPr lang="en-US" smtClean="0">
                <a:solidFill>
                  <a:srgbClr val="7F7F7F"/>
                </a:solidFill>
              </a:rPr>
              <a:pPr/>
              <a:t>‹#›</a:t>
            </a:fld>
            <a:endParaRPr lang="en-US" dirty="0">
              <a:solidFill>
                <a:srgbClr val="7F7F7F"/>
              </a:solidFill>
            </a:endParaRPr>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dirty="0" smtClean="0"/>
              <a:t>Roadmap Template v6.4</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xmlns="" val="3309863911"/>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wo-thirds Imag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2 column title</a:t>
            </a:r>
            <a:endParaRPr lang="en-US" dirty="0"/>
          </a:p>
        </p:txBody>
      </p:sp>
      <p:sp>
        <p:nvSpPr>
          <p:cNvPr id="15" name="Content Placeholder 14"/>
          <p:cNvSpPr>
            <a:spLocks noGrp="1"/>
          </p:cNvSpPr>
          <p:nvPr>
            <p:ph sz="quarter" idx="14"/>
          </p:nvPr>
        </p:nvSpPr>
        <p:spPr>
          <a:xfrm>
            <a:off x="5879592" y="1194955"/>
            <a:ext cx="2807208" cy="488580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Content Placeholder 16"/>
          <p:cNvSpPr>
            <a:spLocks noGrp="1"/>
          </p:cNvSpPr>
          <p:nvPr>
            <p:ph sz="quarter" idx="15"/>
          </p:nvPr>
        </p:nvSpPr>
        <p:spPr>
          <a:xfrm>
            <a:off x="457200" y="1194956"/>
            <a:ext cx="5157216" cy="488104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Slide Number Placeholder 10"/>
          <p:cNvSpPr>
            <a:spLocks noGrp="1"/>
          </p:cNvSpPr>
          <p:nvPr>
            <p:ph type="sldNum" sz="quarter" idx="17"/>
          </p:nvPr>
        </p:nvSpPr>
        <p:spPr/>
        <p:txBody>
          <a:bodyPr/>
          <a:lstStyle/>
          <a:p>
            <a:fld id="{9E3C471D-FB94-43E4-8DFD-966A05A84658}" type="slidenum">
              <a:rPr lang="en-US" smtClean="0">
                <a:solidFill>
                  <a:srgbClr val="7F7F7F"/>
                </a:solidFill>
              </a:rPr>
              <a:pPr/>
              <a:t>‹#›</a:t>
            </a:fld>
            <a:endParaRPr lang="en-US" dirty="0">
              <a:solidFill>
                <a:srgbClr val="7F7F7F"/>
              </a:solidFill>
            </a:endParaRPr>
          </a:p>
        </p:txBody>
      </p:sp>
      <p:sp>
        <p:nvSpPr>
          <p:cNvPr id="16" name="Footer Placeholder 15"/>
          <p:cNvSpPr>
            <a:spLocks noGrp="1"/>
          </p:cNvSpPr>
          <p:nvPr>
            <p:ph type="ftr" sz="quarter" idx="18"/>
          </p:nvPr>
        </p:nvSpPr>
        <p:spPr/>
        <p:txBody>
          <a:bodyPr/>
          <a:lstStyle/>
          <a:p>
            <a:r>
              <a:rPr lang="en-US" dirty="0" smtClean="0"/>
              <a:t>Roadmap Template v6.4</a:t>
            </a:r>
            <a:endParaRPr lang="en-US" dirty="0"/>
          </a:p>
        </p:txBody>
      </p:sp>
    </p:spTree>
    <p:extLst>
      <p:ext uri="{BB962C8B-B14F-4D97-AF65-F5344CB8AC3E}">
        <p14:creationId xmlns:p14="http://schemas.microsoft.com/office/powerpoint/2010/main" xmlns="" val="245452644"/>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One-third Imag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2 column title</a:t>
            </a:r>
            <a:endParaRPr lang="en-US" dirty="0"/>
          </a:p>
        </p:txBody>
      </p:sp>
      <p:sp>
        <p:nvSpPr>
          <p:cNvPr id="13" name="Slide Number Placeholder 12"/>
          <p:cNvSpPr>
            <a:spLocks noGrp="1"/>
          </p:cNvSpPr>
          <p:nvPr>
            <p:ph type="sldNum" sz="quarter" idx="11"/>
          </p:nvPr>
        </p:nvSpPr>
        <p:spPr/>
        <p:txBody>
          <a:bodyPr/>
          <a:lstStyle/>
          <a:p>
            <a:fld id="{9E3C471D-FB94-43E4-8DFD-966A05A84658}" type="slidenum">
              <a:rPr lang="en-US" smtClean="0">
                <a:solidFill>
                  <a:srgbClr val="7F7F7F"/>
                </a:solidFill>
              </a:rPr>
              <a:pPr/>
              <a:t>‹#›</a:t>
            </a:fld>
            <a:endParaRPr lang="en-US" dirty="0">
              <a:solidFill>
                <a:srgbClr val="7F7F7F"/>
              </a:solidFill>
            </a:endParaRPr>
          </a:p>
        </p:txBody>
      </p:sp>
      <p:sp>
        <p:nvSpPr>
          <p:cNvPr id="14" name="Footer Placeholder 13"/>
          <p:cNvSpPr>
            <a:spLocks noGrp="1"/>
          </p:cNvSpPr>
          <p:nvPr>
            <p:ph type="ftr" sz="quarter" idx="12"/>
          </p:nvPr>
        </p:nvSpPr>
        <p:spPr/>
        <p:txBody>
          <a:bodyPr/>
          <a:lstStyle/>
          <a:p>
            <a:r>
              <a:rPr lang="en-US" dirty="0" smtClean="0"/>
              <a:t>Roadmap Template v6.4</a:t>
            </a:r>
            <a:endParaRPr lang="en-US" dirty="0"/>
          </a:p>
        </p:txBody>
      </p:sp>
      <p:sp>
        <p:nvSpPr>
          <p:cNvPr id="15" name="Content Placeholder 14"/>
          <p:cNvSpPr>
            <a:spLocks noGrp="1"/>
          </p:cNvSpPr>
          <p:nvPr>
            <p:ph sz="quarter" idx="13"/>
          </p:nvPr>
        </p:nvSpPr>
        <p:spPr>
          <a:xfrm>
            <a:off x="3529584" y="1184564"/>
            <a:ext cx="5157216" cy="489619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Content Placeholder 16"/>
          <p:cNvSpPr>
            <a:spLocks noGrp="1"/>
          </p:cNvSpPr>
          <p:nvPr>
            <p:ph sz="quarter" idx="14"/>
          </p:nvPr>
        </p:nvSpPr>
        <p:spPr>
          <a:xfrm>
            <a:off x="457200" y="1174173"/>
            <a:ext cx="2807208" cy="49065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30077580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Half Imag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2 column title</a:t>
            </a:r>
            <a:endParaRPr lang="en-US" dirty="0"/>
          </a:p>
        </p:txBody>
      </p:sp>
      <p:sp>
        <p:nvSpPr>
          <p:cNvPr id="13" name="Slide Number Placeholder 12"/>
          <p:cNvSpPr>
            <a:spLocks noGrp="1"/>
          </p:cNvSpPr>
          <p:nvPr>
            <p:ph type="sldNum" sz="quarter" idx="11"/>
          </p:nvPr>
        </p:nvSpPr>
        <p:spPr/>
        <p:txBody>
          <a:bodyPr/>
          <a:lstStyle/>
          <a:p>
            <a:fld id="{9E3C471D-FB94-43E4-8DFD-966A05A84658}" type="slidenum">
              <a:rPr lang="en-US" smtClean="0">
                <a:solidFill>
                  <a:srgbClr val="7F7F7F"/>
                </a:solidFill>
              </a:rPr>
              <a:pPr/>
              <a:t>‹#›</a:t>
            </a:fld>
            <a:endParaRPr lang="en-US" dirty="0">
              <a:solidFill>
                <a:srgbClr val="7F7F7F"/>
              </a:solidFill>
            </a:endParaRPr>
          </a:p>
        </p:txBody>
      </p:sp>
      <p:sp>
        <p:nvSpPr>
          <p:cNvPr id="14" name="Footer Placeholder 13"/>
          <p:cNvSpPr>
            <a:spLocks noGrp="1"/>
          </p:cNvSpPr>
          <p:nvPr>
            <p:ph type="ftr" sz="quarter" idx="12"/>
          </p:nvPr>
        </p:nvSpPr>
        <p:spPr/>
        <p:txBody>
          <a:bodyPr/>
          <a:lstStyle/>
          <a:p>
            <a:r>
              <a:rPr lang="en-US" dirty="0" smtClean="0"/>
              <a:t>Roadmap Template v6.4</a:t>
            </a:r>
            <a:endParaRPr lang="en-US" dirty="0"/>
          </a:p>
        </p:txBody>
      </p:sp>
      <p:sp>
        <p:nvSpPr>
          <p:cNvPr id="15" name="Content Placeholder 14"/>
          <p:cNvSpPr>
            <a:spLocks noGrp="1"/>
          </p:cNvSpPr>
          <p:nvPr>
            <p:ph sz="quarter" idx="15"/>
          </p:nvPr>
        </p:nvSpPr>
        <p:spPr>
          <a:xfrm>
            <a:off x="4718304" y="1205345"/>
            <a:ext cx="3995928" cy="487541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Content Placeholder 16"/>
          <p:cNvSpPr>
            <a:spLocks noGrp="1"/>
          </p:cNvSpPr>
          <p:nvPr>
            <p:ph sz="quarter" idx="16"/>
          </p:nvPr>
        </p:nvSpPr>
        <p:spPr>
          <a:xfrm>
            <a:off x="457200" y="1194955"/>
            <a:ext cx="3968496" cy="488580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960453132"/>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Multiple Images with Captions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image with caption slide title</a:t>
            </a:r>
            <a:endParaRPr lang="en-US" dirty="0"/>
          </a:p>
        </p:txBody>
      </p:sp>
      <p:sp>
        <p:nvSpPr>
          <p:cNvPr id="3" name="Content Placeholder 2"/>
          <p:cNvSpPr>
            <a:spLocks noGrp="1"/>
          </p:cNvSpPr>
          <p:nvPr>
            <p:ph sz="half" idx="1"/>
          </p:nvPr>
        </p:nvSpPr>
        <p:spPr bwMode="gray">
          <a:xfrm>
            <a:off x="457199" y="3124200"/>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4" name="Content Placeholder 3"/>
          <p:cNvSpPr>
            <a:spLocks noGrp="1"/>
          </p:cNvSpPr>
          <p:nvPr>
            <p:ph sz="half" idx="2"/>
          </p:nvPr>
        </p:nvSpPr>
        <p:spPr bwMode="gray">
          <a:xfrm>
            <a:off x="5946775" y="3124200"/>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1400">
                <a:solidFill>
                  <a:schemeClr val="bg2"/>
                </a:solidFill>
              </a:defRPr>
            </a:lvl3pPr>
            <a:lvl4pPr>
              <a:defRPr sz="1400">
                <a:solidFill>
                  <a:schemeClr val="bg2"/>
                </a:solidFill>
              </a:defRPr>
            </a:lvl4pPr>
            <a:lvl5pPr>
              <a:defRPr sz="1400">
                <a:solidFill>
                  <a:schemeClr val="bg2"/>
                </a:solidFill>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6" name="Footer Placeholder 5"/>
          <p:cNvSpPr>
            <a:spLocks noGrp="1"/>
          </p:cNvSpPr>
          <p:nvPr>
            <p:ph type="ftr" sz="quarter" idx="11"/>
          </p:nvPr>
        </p:nvSpPr>
        <p:spPr/>
        <p:txBody>
          <a:bodyPr/>
          <a:lstStyle/>
          <a:p>
            <a:r>
              <a:rPr lang="en-US" dirty="0" smtClean="0"/>
              <a:t>Roadmap Template v6.4</a:t>
            </a:r>
            <a:endParaRPr lang="en-US" dirty="0"/>
          </a:p>
        </p:txBody>
      </p:sp>
      <p:sp>
        <p:nvSpPr>
          <p:cNvPr id="7" name="Slide Number Placeholder 6"/>
          <p:cNvSpPr>
            <a:spLocks noGrp="1"/>
          </p:cNvSpPr>
          <p:nvPr>
            <p:ph type="sldNum" sz="quarter" idx="12"/>
          </p:nvPr>
        </p:nvSpPr>
        <p:spPr/>
        <p:txBody>
          <a:bodyPr/>
          <a:lstStyle/>
          <a:p>
            <a:fld id="{9E3C471D-FB94-43E4-8DFD-966A05A84658}" type="slidenum">
              <a:rPr lang="en-US" smtClean="0">
                <a:solidFill>
                  <a:srgbClr val="7F7F7F"/>
                </a:solidFill>
              </a:rPr>
              <a:pPr/>
              <a:t>‹#›</a:t>
            </a:fld>
            <a:endParaRPr lang="en-US" dirty="0">
              <a:solidFill>
                <a:srgbClr val="7F7F7F"/>
              </a:solidFill>
            </a:endParaRPr>
          </a:p>
        </p:txBody>
      </p:sp>
      <p:sp>
        <p:nvSpPr>
          <p:cNvPr id="11" name="Content Placeholder 2"/>
          <p:cNvSpPr>
            <a:spLocks noGrp="1"/>
          </p:cNvSpPr>
          <p:nvPr>
            <p:ph sz="half" idx="13"/>
          </p:nvPr>
        </p:nvSpPr>
        <p:spPr bwMode="gray">
          <a:xfrm>
            <a:off x="3201988" y="5294503"/>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2" name="Content Placeholder 2"/>
          <p:cNvSpPr>
            <a:spLocks noGrp="1"/>
          </p:cNvSpPr>
          <p:nvPr>
            <p:ph sz="half" idx="14"/>
          </p:nvPr>
        </p:nvSpPr>
        <p:spPr bwMode="gray">
          <a:xfrm>
            <a:off x="3200400" y="3124200"/>
            <a:ext cx="2743200" cy="777240"/>
          </a:xfrm>
          <a:prstGeom prst="rect">
            <a:avLst/>
          </a:prstGeom>
          <a:solidFill>
            <a:schemeClr val="tx2"/>
          </a:solidFill>
          <a:ln>
            <a:noFill/>
          </a:ln>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3" name="Content Placeholder 2"/>
          <p:cNvSpPr>
            <a:spLocks noGrp="1"/>
          </p:cNvSpPr>
          <p:nvPr>
            <p:ph sz="half" idx="15"/>
          </p:nvPr>
        </p:nvSpPr>
        <p:spPr bwMode="gray">
          <a:xfrm>
            <a:off x="3200400" y="1730373"/>
            <a:ext cx="2743200" cy="1389888"/>
          </a:xfrm>
          <a:prstGeom prst="rect">
            <a:avLst/>
          </a:prstGeom>
          <a:solidFill>
            <a:schemeClr val="bg1"/>
          </a:solidFill>
          <a:ln>
            <a:noFill/>
          </a:ln>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4" name="Content Placeholder 2"/>
          <p:cNvSpPr>
            <a:spLocks noGrp="1"/>
          </p:cNvSpPr>
          <p:nvPr>
            <p:ph sz="half" idx="16"/>
          </p:nvPr>
        </p:nvSpPr>
        <p:spPr bwMode="gray">
          <a:xfrm>
            <a:off x="3200400" y="3905250"/>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5" name="Content Placeholder 2"/>
          <p:cNvSpPr>
            <a:spLocks noGrp="1"/>
          </p:cNvSpPr>
          <p:nvPr>
            <p:ph sz="half" idx="17"/>
          </p:nvPr>
        </p:nvSpPr>
        <p:spPr bwMode="gray">
          <a:xfrm>
            <a:off x="457200" y="1730373"/>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6" name="Content Placeholder 2"/>
          <p:cNvSpPr>
            <a:spLocks noGrp="1"/>
          </p:cNvSpPr>
          <p:nvPr>
            <p:ph sz="half" idx="18"/>
          </p:nvPr>
        </p:nvSpPr>
        <p:spPr bwMode="gray">
          <a:xfrm>
            <a:off x="5946775" y="1730373"/>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8" name="Content Placeholder 2"/>
          <p:cNvSpPr>
            <a:spLocks noGrp="1"/>
          </p:cNvSpPr>
          <p:nvPr>
            <p:ph sz="half" idx="20"/>
          </p:nvPr>
        </p:nvSpPr>
        <p:spPr bwMode="gray">
          <a:xfrm>
            <a:off x="457200" y="5294503"/>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9" name="Content Placeholder 3"/>
          <p:cNvSpPr>
            <a:spLocks noGrp="1"/>
          </p:cNvSpPr>
          <p:nvPr>
            <p:ph sz="half" idx="21"/>
          </p:nvPr>
        </p:nvSpPr>
        <p:spPr bwMode="gray">
          <a:xfrm>
            <a:off x="5946775" y="5294503"/>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1400">
                <a:solidFill>
                  <a:schemeClr val="bg2"/>
                </a:solidFill>
              </a:defRPr>
            </a:lvl3pPr>
            <a:lvl4pPr>
              <a:defRPr sz="1400">
                <a:solidFill>
                  <a:schemeClr val="bg2"/>
                </a:solidFill>
              </a:defRPr>
            </a:lvl4pPr>
            <a:lvl5pPr>
              <a:defRPr sz="1400">
                <a:solidFill>
                  <a:schemeClr val="bg2"/>
                </a:solidFill>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20" name="Content Placeholder 2"/>
          <p:cNvSpPr>
            <a:spLocks noGrp="1"/>
          </p:cNvSpPr>
          <p:nvPr>
            <p:ph sz="half" idx="22"/>
          </p:nvPr>
        </p:nvSpPr>
        <p:spPr bwMode="gray">
          <a:xfrm>
            <a:off x="457200" y="3905250"/>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21" name="Content Placeholder 2"/>
          <p:cNvSpPr>
            <a:spLocks noGrp="1"/>
          </p:cNvSpPr>
          <p:nvPr>
            <p:ph sz="half" idx="23"/>
          </p:nvPr>
        </p:nvSpPr>
        <p:spPr bwMode="gray">
          <a:xfrm>
            <a:off x="5946775" y="3905250"/>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xmlns="" val="321927885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Full-bleed Multiple Images and Callout Slide">
    <p:spTree>
      <p:nvGrpSpPr>
        <p:cNvPr id="1" name=""/>
        <p:cNvGrpSpPr/>
        <p:nvPr/>
      </p:nvGrpSpPr>
      <p:grpSpPr>
        <a:xfrm>
          <a:off x="0" y="0"/>
          <a:ext cx="0" cy="0"/>
          <a:chOff x="0" y="0"/>
          <a:chExt cx="0" cy="0"/>
        </a:xfrm>
      </p:grpSpPr>
      <p:sp>
        <p:nvSpPr>
          <p:cNvPr id="3" name="Content Placeholder 2"/>
          <p:cNvSpPr>
            <a:spLocks noGrp="1"/>
          </p:cNvSpPr>
          <p:nvPr>
            <p:ph sz="half" idx="1"/>
          </p:nvPr>
        </p:nvSpPr>
        <p:spPr bwMode="gray">
          <a:xfrm>
            <a:off x="1" y="2286642"/>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4" name="Content Placeholder 3"/>
          <p:cNvSpPr>
            <a:spLocks noGrp="1"/>
          </p:cNvSpPr>
          <p:nvPr>
            <p:ph sz="half" idx="2"/>
          </p:nvPr>
        </p:nvSpPr>
        <p:spPr bwMode="gray">
          <a:xfrm>
            <a:off x="6100761" y="2286642"/>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1400">
                <a:solidFill>
                  <a:schemeClr val="bg2"/>
                </a:solidFill>
              </a:defRPr>
            </a:lvl3pPr>
            <a:lvl4pPr>
              <a:defRPr sz="1400">
                <a:solidFill>
                  <a:schemeClr val="bg2"/>
                </a:solidFill>
              </a:defRPr>
            </a:lvl4pPr>
            <a:lvl5pPr>
              <a:defRPr sz="1400">
                <a:solidFill>
                  <a:schemeClr val="bg2"/>
                </a:solidFill>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2" name="Content Placeholder 2"/>
          <p:cNvSpPr>
            <a:spLocks noGrp="1"/>
          </p:cNvSpPr>
          <p:nvPr>
            <p:ph sz="half" idx="14"/>
          </p:nvPr>
        </p:nvSpPr>
        <p:spPr bwMode="gray">
          <a:xfrm>
            <a:off x="3036950" y="2286642"/>
            <a:ext cx="3063240"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3" name="Content Placeholder 2"/>
          <p:cNvSpPr>
            <a:spLocks noGrp="1"/>
          </p:cNvSpPr>
          <p:nvPr>
            <p:ph sz="half" idx="15"/>
          </p:nvPr>
        </p:nvSpPr>
        <p:spPr bwMode="gray">
          <a:xfrm>
            <a:off x="3036951" y="0"/>
            <a:ext cx="3063240"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4" name="Content Placeholder 2"/>
          <p:cNvSpPr>
            <a:spLocks noGrp="1"/>
          </p:cNvSpPr>
          <p:nvPr>
            <p:ph sz="half" idx="16"/>
          </p:nvPr>
        </p:nvSpPr>
        <p:spPr bwMode="gray">
          <a:xfrm>
            <a:off x="3036951" y="4573284"/>
            <a:ext cx="3063240"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5" name="Content Placeholder 2"/>
          <p:cNvSpPr>
            <a:spLocks noGrp="1"/>
          </p:cNvSpPr>
          <p:nvPr>
            <p:ph sz="half" idx="17"/>
          </p:nvPr>
        </p:nvSpPr>
        <p:spPr bwMode="gray">
          <a:xfrm>
            <a:off x="1" y="0"/>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6" name="Content Placeholder 2"/>
          <p:cNvSpPr>
            <a:spLocks noGrp="1"/>
          </p:cNvSpPr>
          <p:nvPr>
            <p:ph sz="half" idx="18"/>
          </p:nvPr>
        </p:nvSpPr>
        <p:spPr bwMode="gray">
          <a:xfrm>
            <a:off x="6100761" y="0"/>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20" name="Content Placeholder 2"/>
          <p:cNvSpPr>
            <a:spLocks noGrp="1"/>
          </p:cNvSpPr>
          <p:nvPr>
            <p:ph sz="half" idx="22"/>
          </p:nvPr>
        </p:nvSpPr>
        <p:spPr bwMode="gray">
          <a:xfrm>
            <a:off x="1" y="4573284"/>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21" name="Content Placeholder 2"/>
          <p:cNvSpPr>
            <a:spLocks noGrp="1"/>
          </p:cNvSpPr>
          <p:nvPr>
            <p:ph sz="half" idx="23"/>
          </p:nvPr>
        </p:nvSpPr>
        <p:spPr bwMode="gray">
          <a:xfrm>
            <a:off x="6100761" y="4573284"/>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xmlns="" val="219270267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7869" y="384313"/>
            <a:ext cx="8242106" cy="561260"/>
          </a:xfrm>
          <a:prstGeom prst="rect">
            <a:avLst/>
          </a:prstGeom>
        </p:spPr>
        <p:txBody>
          <a:bodyPr vert="horz" lIns="0" tIns="0" rIns="0" bIns="0" rtlCol="0" anchor="b" anchorCtr="0">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457200" y="6629950"/>
            <a:ext cx="1618180" cy="128017"/>
          </a:xfrm>
          <a:prstGeom prst="rect">
            <a:avLst/>
          </a:prstGeom>
        </p:spPr>
        <p:txBody>
          <a:bodyPr vert="horz" lIns="0" tIns="0" rIns="0" bIns="0" rtlCol="0" anchor="t" anchorCtr="0"/>
          <a:lstStyle>
            <a:lvl1pPr algn="l">
              <a:defRPr sz="800">
                <a:solidFill>
                  <a:schemeClr val="bg2"/>
                </a:solidFill>
              </a:defRPr>
            </a:lvl1pPr>
          </a:lstStyle>
          <a:p>
            <a:r>
              <a:rPr lang="en-US" dirty="0" smtClean="0"/>
              <a:t>Roadmap Template v6.4</a:t>
            </a:r>
            <a:endParaRPr lang="en-US" dirty="0"/>
          </a:p>
        </p:txBody>
      </p:sp>
      <p:sp>
        <p:nvSpPr>
          <p:cNvPr id="6" name="Slide Number Placeholder 5"/>
          <p:cNvSpPr>
            <a:spLocks noGrp="1"/>
          </p:cNvSpPr>
          <p:nvPr>
            <p:ph type="sldNum" sz="quarter" idx="4"/>
          </p:nvPr>
        </p:nvSpPr>
        <p:spPr>
          <a:xfrm>
            <a:off x="8362950" y="6629950"/>
            <a:ext cx="323850" cy="136525"/>
          </a:xfrm>
          <a:prstGeom prst="rect">
            <a:avLst/>
          </a:prstGeom>
        </p:spPr>
        <p:txBody>
          <a:bodyPr vert="horz" lIns="0" tIns="0" rIns="0" bIns="0" rtlCol="0" anchor="t" anchorCtr="0"/>
          <a:lstStyle>
            <a:lvl1pPr algn="r">
              <a:defRPr sz="800">
                <a:solidFill>
                  <a:schemeClr val="bg2"/>
                </a:solidFill>
              </a:defRPr>
            </a:lvl1pPr>
          </a:lstStyle>
          <a:p>
            <a:fld id="{9E3C471D-FB94-43E4-8DFD-966A05A84658}" type="slidenum">
              <a:rPr lang="en-US" smtClean="0">
                <a:solidFill>
                  <a:srgbClr val="7F7F7F"/>
                </a:solidFill>
              </a:rPr>
              <a:pPr/>
              <a:t>‹#›</a:t>
            </a:fld>
            <a:endParaRPr lang="en-US" dirty="0">
              <a:solidFill>
                <a:srgbClr val="7F7F7F"/>
              </a:solidFill>
            </a:endParaRPr>
          </a:p>
        </p:txBody>
      </p:sp>
      <p:sp>
        <p:nvSpPr>
          <p:cNvPr id="11" name="Text Placeholder 10"/>
          <p:cNvSpPr>
            <a:spLocks noGrp="1"/>
          </p:cNvSpPr>
          <p:nvPr>
            <p:ph type="body" idx="1"/>
          </p:nvPr>
        </p:nvSpPr>
        <p:spPr>
          <a:xfrm>
            <a:off x="457200" y="1184563"/>
            <a:ext cx="8229600" cy="5263647"/>
          </a:xfrm>
          <a:prstGeom prst="rect">
            <a:avLst/>
          </a:prstGeom>
        </p:spPr>
        <p:txBody>
          <a:bodyPr vert="horz" lIns="0" tIns="0" rIns="0" bIns="0" rtlCol="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8" name="Straight Connector 7"/>
          <p:cNvCxnSpPr/>
          <p:nvPr/>
        </p:nvCxnSpPr>
        <p:spPr>
          <a:xfrm>
            <a:off x="455613" y="1061674"/>
            <a:ext cx="8232775" cy="1588"/>
          </a:xfrm>
          <a:prstGeom prst="line">
            <a:avLst/>
          </a:prstGeom>
          <a:ln w="6350">
            <a:solidFill>
              <a:srgbClr val="0078D2"/>
            </a:solidFill>
          </a:ln>
        </p:spPr>
        <p:style>
          <a:lnRef idx="1">
            <a:schemeClr val="accent1"/>
          </a:lnRef>
          <a:fillRef idx="0">
            <a:schemeClr val="accent1"/>
          </a:fillRef>
          <a:effectRef idx="0">
            <a:schemeClr val="accent1"/>
          </a:effectRef>
          <a:fontRef idx="minor">
            <a:schemeClr val="tx1"/>
          </a:fontRef>
        </p:style>
      </p:cxnSp>
      <p:sp>
        <p:nvSpPr>
          <p:cNvPr id="10" name="Rectangle 25"/>
          <p:cNvSpPr>
            <a:spLocks noChangeArrowheads="1"/>
          </p:cNvSpPr>
          <p:nvPr userDrawn="1"/>
        </p:nvSpPr>
        <p:spPr bwMode="auto">
          <a:xfrm>
            <a:off x="1841500" y="6565900"/>
            <a:ext cx="5435600" cy="241300"/>
          </a:xfrm>
          <a:prstGeom prst="rect">
            <a:avLst/>
          </a:prstGeom>
          <a:noFill/>
          <a:ln w="9525">
            <a:noFill/>
            <a:miter lim="800000"/>
            <a:headEnd/>
            <a:tailEnd/>
          </a:ln>
          <a:effectLst/>
        </p:spPr>
        <p:txBody>
          <a:bodyPr wrap="none" lIns="92075" tIns="46038" rIns="92075" bIns="46038" anchor="ctr"/>
          <a:lstStyle/>
          <a:p>
            <a:pPr algn="ctr" eaLnBrk="0" hangingPunct="0">
              <a:defRPr/>
            </a:pPr>
            <a:r>
              <a:rPr lang="en-US" sz="1100" dirty="0">
                <a:solidFill>
                  <a:schemeClr val="tx1"/>
                </a:solidFill>
              </a:rPr>
              <a:t>American Airlines </a:t>
            </a:r>
            <a:r>
              <a:rPr lang="en-US" sz="1100" dirty="0" smtClean="0">
                <a:solidFill>
                  <a:schemeClr val="tx1"/>
                </a:solidFill>
                <a:effectLst/>
              </a:rPr>
              <a:t>Confidential and Proprietary: Do not copy or distribute</a:t>
            </a:r>
            <a:endParaRPr kumimoji="1" lang="en-US" sz="1100" dirty="0">
              <a:solidFill>
                <a:schemeClr val="tx1"/>
              </a:solidFill>
            </a:endParaRPr>
          </a:p>
        </p:txBody>
      </p:sp>
    </p:spTree>
    <p:extLst>
      <p:ext uri="{BB962C8B-B14F-4D97-AF65-F5344CB8AC3E}">
        <p14:creationId xmlns:p14="http://schemas.microsoft.com/office/powerpoint/2010/main" xmlns="" val="2638472364"/>
      </p:ext>
    </p:extLst>
  </p:cSld>
  <p:clrMap bg1="lt1" tx1="dk1" bg2="lt2" tx2="dk2" accent1="accent1" accent2="accent2" accent3="accent3" accent4="accent4" accent5="accent5" accent6="accent6" hlink="hlink" folHlink="folHlink"/>
  <p:sldLayoutIdLst>
    <p:sldLayoutId id="2147484072" r:id="rId1"/>
    <p:sldLayoutId id="2147484073" r:id="rId2"/>
    <p:sldLayoutId id="2147484074" r:id="rId3"/>
    <p:sldLayoutId id="2147484075" r:id="rId4"/>
    <p:sldLayoutId id="2147484076" r:id="rId5"/>
    <p:sldLayoutId id="2147484077" r:id="rId6"/>
    <p:sldLayoutId id="2147484078" r:id="rId7"/>
    <p:sldLayoutId id="2147484079" r:id="rId8"/>
    <p:sldLayoutId id="2147484080" r:id="rId9"/>
    <p:sldLayoutId id="2147484081" r:id="rId10"/>
    <p:sldLayoutId id="2147484082" r:id="rId11"/>
    <p:sldLayoutId id="2147484083" r:id="rId12"/>
    <p:sldLayoutId id="2147484084" r:id="rId13"/>
  </p:sldLayoutIdLst>
  <p:timing>
    <p:tnLst>
      <p:par>
        <p:cTn id="1" dur="indefinite" restart="never" nodeType="tmRoot"/>
      </p:par>
    </p:tnLst>
  </p:timing>
  <p:hf hdr="0" dt="0"/>
  <p:txStyles>
    <p:titleStyle>
      <a:lvl1pPr algn="l" defTabSz="914400" rtl="0" eaLnBrk="1" latinLnBrk="0" hangingPunct="1">
        <a:spcBef>
          <a:spcPct val="0"/>
        </a:spcBef>
        <a:buNone/>
        <a:defRPr sz="2800" kern="1200" baseline="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itchFamily="34" charset="0"/>
        <a:buNone/>
        <a:tabLst/>
        <a:defRPr sz="2000" b="1" kern="1200" baseline="0">
          <a:solidFill>
            <a:schemeClr val="tx1"/>
          </a:solidFill>
          <a:latin typeface="+mj-lt"/>
          <a:ea typeface="+mn-ea"/>
          <a:cs typeface="+mn-cs"/>
        </a:defRPr>
      </a:lvl1pPr>
      <a:lvl2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sz="2000" kern="1200">
          <a:solidFill>
            <a:schemeClr val="tx1"/>
          </a:solidFill>
          <a:latin typeface="+mj-lt"/>
          <a:ea typeface="+mn-ea"/>
          <a:cs typeface="+mn-cs"/>
        </a:defRPr>
      </a:lvl2pPr>
      <a:lvl3pPr marL="354013" marR="0" indent="-169863" algn="l" defTabSz="914400" rtl="0" eaLnBrk="1" fontAlgn="auto" latinLnBrk="0" hangingPunct="1">
        <a:lnSpc>
          <a:spcPct val="100000"/>
        </a:lnSpc>
        <a:spcBef>
          <a:spcPts val="0"/>
        </a:spcBef>
        <a:spcAft>
          <a:spcPts val="0"/>
        </a:spcAft>
        <a:buClrTx/>
        <a:buSzTx/>
        <a:buFont typeface="Arial" pitchFamily="34" charset="0"/>
        <a:buChar char="•"/>
        <a:tabLst/>
        <a:defRPr sz="1800" kern="1200">
          <a:solidFill>
            <a:schemeClr val="tx1"/>
          </a:solidFill>
          <a:latin typeface="+mj-lt"/>
          <a:ea typeface="+mn-ea"/>
          <a:cs typeface="+mn-cs"/>
        </a:defRPr>
      </a:lvl3pPr>
      <a:lvl4pPr marL="506413" marR="0" indent="-171450" algn="l" defTabSz="914400" rtl="0" eaLnBrk="1" fontAlgn="auto" latinLnBrk="0" hangingPunct="1">
        <a:lnSpc>
          <a:spcPct val="100000"/>
        </a:lnSpc>
        <a:spcBef>
          <a:spcPts val="0"/>
        </a:spcBef>
        <a:spcAft>
          <a:spcPts val="0"/>
        </a:spcAft>
        <a:buClrTx/>
        <a:buSzTx/>
        <a:buFont typeface="Arial" pitchFamily="34" charset="0"/>
        <a:buChar char="•"/>
        <a:tabLst/>
        <a:defRPr sz="1600" kern="1200">
          <a:solidFill>
            <a:schemeClr val="tx1"/>
          </a:solidFill>
          <a:latin typeface="+mj-lt"/>
          <a:ea typeface="+mn-ea"/>
          <a:cs typeface="+mn-cs"/>
        </a:defRPr>
      </a:lvl4pPr>
      <a:lvl5pPr marL="687388" marR="0" indent="-171450" algn="l" defTabSz="914400" rtl="0" eaLnBrk="1" fontAlgn="auto" latinLnBrk="0" hangingPunct="1">
        <a:lnSpc>
          <a:spcPct val="100000"/>
        </a:lnSpc>
        <a:spcBef>
          <a:spcPts val="0"/>
        </a:spcBef>
        <a:spcAft>
          <a:spcPts val="0"/>
        </a:spcAft>
        <a:buClrTx/>
        <a:buSzTx/>
        <a:buFont typeface="Arial" pitchFamily="34" charset="0"/>
        <a:buChar char="•"/>
        <a:tabLst/>
        <a:defRPr sz="1400" kern="1200">
          <a:solidFill>
            <a:schemeClr val="tx1"/>
          </a:solidFill>
          <a:latin typeface="+mj-lt"/>
          <a:ea typeface="+mn-ea"/>
          <a:cs typeface="+mn-cs"/>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Roadmap</a:t>
            </a:r>
            <a:endParaRPr lang="en-US" dirty="0"/>
          </a:p>
        </p:txBody>
      </p:sp>
      <p:sp>
        <p:nvSpPr>
          <p:cNvPr id="5" name="Footer Placeholder 4"/>
          <p:cNvSpPr>
            <a:spLocks noGrp="1"/>
          </p:cNvSpPr>
          <p:nvPr>
            <p:ph type="ftr" sz="quarter" idx="11"/>
          </p:nvPr>
        </p:nvSpPr>
        <p:spPr/>
        <p:txBody>
          <a:bodyPr/>
          <a:lstStyle/>
          <a:p>
            <a:r>
              <a:rPr lang="en-US" smtClean="0"/>
              <a:t>Roadmap Template v6.4</a:t>
            </a:r>
            <a:endParaRPr lang="en-US" dirty="0"/>
          </a:p>
        </p:txBody>
      </p:sp>
      <p:sp>
        <p:nvSpPr>
          <p:cNvPr id="3" name="Slide Number Placeholder 2"/>
          <p:cNvSpPr>
            <a:spLocks noGrp="1"/>
          </p:cNvSpPr>
          <p:nvPr>
            <p:ph type="sldNum" sz="quarter" idx="12"/>
          </p:nvPr>
        </p:nvSpPr>
        <p:spPr/>
        <p:txBody>
          <a:bodyPr/>
          <a:lstStyle/>
          <a:p>
            <a:fld id="{9E3C471D-FB94-43E4-8DFD-966A05A84658}" type="slidenum">
              <a:rPr lang="en-US" smtClean="0"/>
              <a:pPr/>
              <a:t>1</a:t>
            </a:fld>
            <a:endParaRPr lang="en-US" dirty="0"/>
          </a:p>
        </p:txBody>
      </p:sp>
      <p:sp>
        <p:nvSpPr>
          <p:cNvPr id="4" name="Content Placeholder 3"/>
          <p:cNvSpPr>
            <a:spLocks noGrp="1"/>
          </p:cNvSpPr>
          <p:nvPr>
            <p:ph sz="quarter" idx="15"/>
          </p:nvPr>
        </p:nvSpPr>
        <p:spPr/>
        <p:txBody>
          <a:bodyPr/>
          <a:lstStyle/>
          <a:p>
            <a:r>
              <a:rPr lang="en-US" smtClean="0"/>
              <a:t>Introduction</a:t>
            </a:r>
          </a:p>
          <a:p>
            <a:endParaRPr lang="en-US" smtClean="0"/>
          </a:p>
          <a:p>
            <a:r>
              <a:rPr lang="en-US" smtClean="0"/>
              <a:t>Purpose:</a:t>
            </a:r>
          </a:p>
          <a:p>
            <a:pPr lvl="2"/>
            <a:r>
              <a:rPr lang="en-US" smtClean="0"/>
              <a:t>Communicate a high-level view of the functions and features to be delivered across the Agile Release cycles for a project, product or program</a:t>
            </a:r>
          </a:p>
          <a:p>
            <a:pPr lvl="2"/>
            <a:r>
              <a:rPr lang="en-US" smtClean="0"/>
              <a:t>Communicate project planning information</a:t>
            </a:r>
          </a:p>
          <a:p>
            <a:pPr lvl="2"/>
            <a:r>
              <a:rPr lang="en-US" smtClean="0"/>
              <a:t>Support Agile Roadmap and Release Funding processes</a:t>
            </a:r>
          </a:p>
          <a:p>
            <a:pPr lvl="2"/>
            <a:endParaRPr lang="en-US" smtClean="0"/>
          </a:p>
          <a:p>
            <a:pPr lvl="1"/>
            <a:r>
              <a:rPr lang="en-US" smtClean="0"/>
              <a:t>Ownership:</a:t>
            </a:r>
          </a:p>
          <a:p>
            <a:pPr lvl="2"/>
            <a:r>
              <a:rPr lang="en-US" smtClean="0"/>
              <a:t>Roadmap is a joint effort between the Business and the IT Project Team</a:t>
            </a:r>
          </a:p>
          <a:p>
            <a:pPr lvl="2"/>
            <a:r>
              <a:rPr lang="en-US" smtClean="0"/>
              <a:t>The Agile Project Lead and the Business/Product Owner are jointly responsible for creating and communicating the Roadmap in collaboration with the team</a:t>
            </a:r>
          </a:p>
          <a:p>
            <a:pPr lvl="2"/>
            <a:endParaRPr lang="en-US" smtClean="0"/>
          </a:p>
          <a:p>
            <a:pPr lvl="1"/>
            <a:r>
              <a:rPr lang="en-US" smtClean="0"/>
              <a:t>Maintenance Guidelines:</a:t>
            </a:r>
          </a:p>
          <a:p>
            <a:pPr lvl="2"/>
            <a:r>
              <a:rPr lang="en-US" smtClean="0"/>
              <a:t>Complete as part of the ‘Iteration 0’ Workshop of the first Release</a:t>
            </a:r>
          </a:p>
          <a:p>
            <a:pPr lvl="2"/>
            <a:r>
              <a:rPr lang="en-US" smtClean="0"/>
              <a:t>Validate the document against the project at every Release planning session</a:t>
            </a:r>
          </a:p>
          <a:p>
            <a:pPr lvl="2"/>
            <a:r>
              <a:rPr lang="en-US" smtClean="0"/>
              <a:t>Complete as necessary to ensure consistent alignment with the Vision</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Roadmap</a:t>
            </a:r>
            <a:endParaRPr lang="en-US" dirty="0"/>
          </a:p>
        </p:txBody>
      </p:sp>
      <p:sp>
        <p:nvSpPr>
          <p:cNvPr id="5" name="Footer Placeholder 4"/>
          <p:cNvSpPr>
            <a:spLocks noGrp="1"/>
          </p:cNvSpPr>
          <p:nvPr>
            <p:ph type="ftr" sz="quarter" idx="11"/>
          </p:nvPr>
        </p:nvSpPr>
        <p:spPr/>
        <p:txBody>
          <a:bodyPr/>
          <a:lstStyle/>
          <a:p>
            <a:r>
              <a:rPr lang="en-US" smtClean="0"/>
              <a:t>Roadmap Template v6.4</a:t>
            </a:r>
            <a:endParaRPr lang="en-US" dirty="0"/>
          </a:p>
        </p:txBody>
      </p:sp>
      <p:sp>
        <p:nvSpPr>
          <p:cNvPr id="3" name="Slide Number Placeholder 2"/>
          <p:cNvSpPr>
            <a:spLocks noGrp="1"/>
          </p:cNvSpPr>
          <p:nvPr>
            <p:ph type="sldNum" sz="quarter" idx="12"/>
          </p:nvPr>
        </p:nvSpPr>
        <p:spPr/>
        <p:txBody>
          <a:bodyPr/>
          <a:lstStyle/>
          <a:p>
            <a:fld id="{9E3C471D-FB94-43E4-8DFD-966A05A84658}" type="slidenum">
              <a:rPr lang="en-US" smtClean="0"/>
              <a:pPr/>
              <a:t>2</a:t>
            </a:fld>
            <a:endParaRPr lang="en-US" dirty="0"/>
          </a:p>
        </p:txBody>
      </p:sp>
      <p:sp>
        <p:nvSpPr>
          <p:cNvPr id="4" name="Content Placeholder 3"/>
          <p:cNvSpPr>
            <a:spLocks noGrp="1"/>
          </p:cNvSpPr>
          <p:nvPr>
            <p:ph sz="quarter" idx="15"/>
          </p:nvPr>
        </p:nvSpPr>
        <p:spPr/>
        <p:txBody>
          <a:bodyPr/>
          <a:lstStyle/>
          <a:p>
            <a:r>
              <a:rPr lang="en-US" smtClean="0"/>
              <a:t>Instructions</a:t>
            </a:r>
          </a:p>
          <a:p>
            <a:pPr lvl="1"/>
            <a:r>
              <a:rPr lang="en-US" smtClean="0"/>
              <a:t>Create a copy of this template to use as your Roadmap document</a:t>
            </a:r>
          </a:p>
          <a:p>
            <a:pPr lvl="1"/>
            <a:endParaRPr lang="en-US" smtClean="0"/>
          </a:p>
          <a:p>
            <a:pPr lvl="1"/>
            <a:r>
              <a:rPr lang="en-US" smtClean="0"/>
              <a:t>Delete the first two slides (Introduction, Instructions)</a:t>
            </a:r>
          </a:p>
          <a:p>
            <a:pPr lvl="1"/>
            <a:endParaRPr lang="en-US" smtClean="0"/>
          </a:p>
          <a:p>
            <a:pPr lvl="1"/>
            <a:r>
              <a:rPr lang="en-US" smtClean="0"/>
              <a:t>Replace the [bracketed] items on each page with the information for your project</a:t>
            </a:r>
          </a:p>
          <a:p>
            <a:pPr lvl="1"/>
            <a:endParaRPr lang="en-US" smtClean="0"/>
          </a:p>
          <a:p>
            <a:pPr lvl="1"/>
            <a:r>
              <a:rPr lang="en-US" smtClean="0"/>
              <a:t>Include your document version number in the footer</a:t>
            </a:r>
          </a:p>
          <a:p>
            <a:pPr lvl="1"/>
            <a:endParaRPr lang="en-US" smtClean="0"/>
          </a:p>
          <a:p>
            <a:pPr lvl="1"/>
            <a:r>
              <a:rPr lang="en-US" smtClean="0"/>
              <a:t>Additional instructions and guidance can be found in the Notes sections of the individual slides. (Optionally, the notes may be deleted to make room for talking points specific to your project)</a:t>
            </a:r>
          </a:p>
          <a:p>
            <a:pPr lvl="1"/>
            <a:endParaRPr lang="en-US" smtClean="0"/>
          </a:p>
          <a:p>
            <a:pPr lvl="1"/>
            <a:r>
              <a:rPr lang="en-US" smtClean="0"/>
              <a:t>When needed, copy and insert a ‘pre-formatted’ slide into the presentation if an additional page is needed to communicate an overflow of information</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smtClean="0"/>
              <a:t>[Project Name]</a:t>
            </a:r>
            <a:endParaRPr lang="en-US" dirty="0"/>
          </a:p>
        </p:txBody>
      </p:sp>
      <p:sp>
        <p:nvSpPr>
          <p:cNvPr id="6" name="Subtitle 5"/>
          <p:cNvSpPr>
            <a:spLocks noGrp="1"/>
          </p:cNvSpPr>
          <p:nvPr>
            <p:ph type="subTitle" idx="1"/>
          </p:nvPr>
        </p:nvSpPr>
        <p:spPr/>
        <p:txBody>
          <a:bodyPr/>
          <a:lstStyle/>
          <a:p>
            <a:r>
              <a:rPr lang="en-US" dirty="0" smtClean="0"/>
              <a:t>Roadmap</a:t>
            </a:r>
            <a:endParaRPr lang="en-US" dirty="0"/>
          </a:p>
        </p:txBody>
      </p:sp>
      <p:sp>
        <p:nvSpPr>
          <p:cNvPr id="3" name="Slide Number Placeholder 2"/>
          <p:cNvSpPr>
            <a:spLocks noGrp="1"/>
          </p:cNvSpPr>
          <p:nvPr>
            <p:ph type="sldNum" sz="quarter" idx="4294967295"/>
          </p:nvPr>
        </p:nvSpPr>
        <p:spPr>
          <a:xfrm>
            <a:off x="8820150" y="6629400"/>
            <a:ext cx="323850" cy="136525"/>
          </a:xfrm>
        </p:spPr>
        <p:txBody>
          <a:bodyPr/>
          <a:lstStyle/>
          <a:p>
            <a:fld id="{9E3C471D-FB94-43E4-8DFD-966A05A84658}" type="slidenum">
              <a:rPr lang="en-US" smtClean="0">
                <a:solidFill>
                  <a:srgbClr val="7F7F7F"/>
                </a:solidFill>
              </a:rPr>
              <a:pPr/>
              <a:t>3</a:t>
            </a:fld>
            <a:endParaRPr lang="en-US" dirty="0">
              <a:solidFill>
                <a:srgbClr val="7F7F7F"/>
              </a:solidFill>
            </a:endParaRPr>
          </a:p>
        </p:txBody>
      </p:sp>
      <p:sp>
        <p:nvSpPr>
          <p:cNvPr id="7" name="TextBox 6"/>
          <p:cNvSpPr txBox="1"/>
          <p:nvPr/>
        </p:nvSpPr>
        <p:spPr>
          <a:xfrm>
            <a:off x="259772" y="5305961"/>
            <a:ext cx="4949371" cy="1323439"/>
          </a:xfrm>
          <a:prstGeom prst="rect">
            <a:avLst/>
          </a:prstGeom>
          <a:noFill/>
        </p:spPr>
        <p:txBody>
          <a:bodyPr wrap="square" rtlCol="0">
            <a:spAutoFit/>
          </a:bodyPr>
          <a:lstStyle/>
          <a:p>
            <a:r>
              <a:rPr lang="en-US" sz="2000" dirty="0" smtClean="0">
                <a:solidFill>
                  <a:schemeClr val="bg1"/>
                </a:solidFill>
                <a:effectLst>
                  <a:outerShdw blurRad="38100" dist="38100" dir="2700000" algn="tl">
                    <a:srgbClr val="000000">
                      <a:alpha val="43137"/>
                    </a:srgbClr>
                  </a:outerShdw>
                </a:effectLst>
                <a:latin typeface="+mj-lt"/>
              </a:rPr>
              <a:t>Revision [Major.Minor]</a:t>
            </a:r>
          </a:p>
          <a:p>
            <a:r>
              <a:rPr lang="en-US" sz="2000" dirty="0" smtClean="0">
                <a:solidFill>
                  <a:schemeClr val="bg1"/>
                </a:solidFill>
                <a:effectLst>
                  <a:outerShdw blurRad="38100" dist="38100" dir="2700000" algn="tl">
                    <a:srgbClr val="000000">
                      <a:alpha val="43137"/>
                    </a:srgbClr>
                  </a:outerShdw>
                </a:effectLst>
                <a:latin typeface="+mj-lt"/>
              </a:rPr>
              <a:t>[Date]</a:t>
            </a:r>
          </a:p>
          <a:p>
            <a:r>
              <a:rPr lang="en-US" sz="2000" dirty="0" smtClean="0">
                <a:solidFill>
                  <a:schemeClr val="bg1"/>
                </a:solidFill>
                <a:effectLst>
                  <a:outerShdw blurRad="38100" dist="38100" dir="2700000" algn="tl">
                    <a:srgbClr val="000000">
                      <a:alpha val="43137"/>
                    </a:srgbClr>
                  </a:outerShdw>
                </a:effectLst>
                <a:latin typeface="+mj-lt"/>
              </a:rPr>
              <a:t>[APL Name], Agile Project Lead</a:t>
            </a:r>
          </a:p>
          <a:p>
            <a:r>
              <a:rPr lang="en-US" sz="2000" dirty="0" smtClean="0">
                <a:solidFill>
                  <a:schemeClr val="bg1"/>
                </a:solidFill>
                <a:effectLst>
                  <a:outerShdw blurRad="38100" dist="38100" dir="2700000" algn="tl">
                    <a:srgbClr val="000000">
                      <a:alpha val="43137"/>
                    </a:srgbClr>
                  </a:outerShdw>
                </a:effectLst>
                <a:latin typeface="+mj-lt"/>
              </a:rPr>
              <a:t>[PO Name], Product Owner</a:t>
            </a:r>
            <a:endParaRPr lang="en-US" sz="2000" dirty="0">
              <a:solidFill>
                <a:schemeClr val="bg1"/>
              </a:solidFill>
              <a:effectLst>
                <a:outerShdw blurRad="38100" dist="38100" dir="2700000" algn="tl">
                  <a:srgbClr val="000000">
                    <a:alpha val="43137"/>
                  </a:srgbClr>
                </a:outerShdw>
              </a:effectLst>
              <a:latin typeface="+mj-lt"/>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84313"/>
            <a:ext cx="8232775" cy="561260"/>
          </a:xfrm>
        </p:spPr>
        <p:txBody>
          <a:bodyPr/>
          <a:lstStyle/>
          <a:p>
            <a:r>
              <a:rPr lang="en-US" dirty="0" smtClean="0"/>
              <a:t>Roadmap Delivery Plan</a:t>
            </a:r>
            <a:endParaRPr lang="en-US" dirty="0"/>
          </a:p>
        </p:txBody>
      </p:sp>
      <p:sp>
        <p:nvSpPr>
          <p:cNvPr id="3" name="Footer Placeholder 2"/>
          <p:cNvSpPr>
            <a:spLocks noGrp="1"/>
          </p:cNvSpPr>
          <p:nvPr>
            <p:ph type="ftr" sz="quarter" idx="11"/>
          </p:nvPr>
        </p:nvSpPr>
        <p:spPr/>
        <p:txBody>
          <a:bodyPr/>
          <a:lstStyle/>
          <a:p>
            <a:r>
              <a:rPr lang="en-US" smtClean="0"/>
              <a:t>Roadmap Template v6.4</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4</a:t>
            </a:fld>
            <a:endParaRPr lang="en-US" dirty="0"/>
          </a:p>
        </p:txBody>
      </p:sp>
      <p:graphicFrame>
        <p:nvGraphicFramePr>
          <p:cNvPr id="8" name="Content Placeholder 7"/>
          <p:cNvGraphicFramePr>
            <a:graphicFrameLocks noGrp="1"/>
          </p:cNvGraphicFramePr>
          <p:nvPr>
            <p:ph sz="quarter" idx="15"/>
            <p:extLst>
              <p:ext uri="{D42A27DB-BD31-4B8C-83A1-F6EECF244321}">
                <p14:modId xmlns:p14="http://schemas.microsoft.com/office/powerpoint/2010/main" xmlns="" val="1481021824"/>
              </p:ext>
            </p:extLst>
          </p:nvPr>
        </p:nvGraphicFramePr>
        <p:xfrm>
          <a:off x="238991" y="1184275"/>
          <a:ext cx="8743949" cy="5214383"/>
        </p:xfrm>
        <a:graphic>
          <a:graphicData uri="http://schemas.openxmlformats.org/drawingml/2006/table">
            <a:tbl>
              <a:tblPr/>
              <a:tblGrid>
                <a:gridCol w="1973461"/>
                <a:gridCol w="2258726"/>
                <a:gridCol w="2265522"/>
                <a:gridCol w="2246240"/>
              </a:tblGrid>
              <a:tr h="331013">
                <a:tc rowSpan="2">
                  <a:txBody>
                    <a:bodyPr/>
                    <a:lstStyle/>
                    <a:p>
                      <a:pPr algn="l" fontAlgn="b"/>
                      <a:endParaRPr lang="en-US" sz="1600" b="1" i="1" u="none" strike="noStrike" dirty="0">
                        <a:solidFill>
                          <a:srgbClr val="000000"/>
                        </a:solidFill>
                        <a:latin typeface="+mn-lt"/>
                      </a:endParaRPr>
                    </a:p>
                  </a:txBody>
                  <a:tcPr marL="45720" marR="4572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dirty="0" smtClean="0">
                          <a:solidFill>
                            <a:srgbClr val="FFFFFF"/>
                          </a:solidFill>
                          <a:latin typeface="+mn-lt"/>
                        </a:rPr>
                        <a:t>Release </a:t>
                      </a:r>
                      <a:r>
                        <a:rPr lang="en-US" sz="1600" b="1" i="0" u="none" strike="noStrike" dirty="0">
                          <a:solidFill>
                            <a:srgbClr val="FFFFFF"/>
                          </a:solidFill>
                          <a:latin typeface="+mn-lt"/>
                        </a:rPr>
                        <a:t>1</a:t>
                      </a:r>
                    </a:p>
                  </a:txBody>
                  <a:tcPr marL="45720" marR="45720" anchor="b">
                    <a:lnL>
                      <a:noFill/>
                    </a:lnL>
                    <a:lnR>
                      <a:noFill/>
                    </a:lnR>
                    <a:lnT>
                      <a:noFill/>
                    </a:lnT>
                    <a:lnB>
                      <a:noFill/>
                    </a:lnB>
                    <a:solidFill>
                      <a:srgbClr val="000000"/>
                    </a:solidFill>
                  </a:tcPr>
                </a:tc>
                <a:tc>
                  <a:txBody>
                    <a:bodyPr/>
                    <a:lstStyle/>
                    <a:p>
                      <a:pPr algn="ctr" fontAlgn="b"/>
                      <a:r>
                        <a:rPr lang="en-US" sz="1600" b="1" i="0" u="none" strike="noStrike" dirty="0">
                          <a:solidFill>
                            <a:srgbClr val="FFFFFF"/>
                          </a:solidFill>
                          <a:latin typeface="+mn-lt"/>
                        </a:rPr>
                        <a:t>Release 2</a:t>
                      </a:r>
                    </a:p>
                  </a:txBody>
                  <a:tcPr marL="45720" marR="45720" anchor="b">
                    <a:lnL>
                      <a:noFill/>
                    </a:lnL>
                    <a:lnR>
                      <a:noFill/>
                    </a:lnR>
                    <a:lnT>
                      <a:noFill/>
                    </a:lnT>
                    <a:lnB>
                      <a:noFill/>
                    </a:lnB>
                    <a:solidFill>
                      <a:srgbClr val="000000"/>
                    </a:solidFill>
                  </a:tcPr>
                </a:tc>
                <a:tc>
                  <a:txBody>
                    <a:bodyPr/>
                    <a:lstStyle/>
                    <a:p>
                      <a:pPr algn="ctr" fontAlgn="b"/>
                      <a:r>
                        <a:rPr lang="en-US" sz="1600" b="1" i="0" u="none" strike="noStrike" dirty="0">
                          <a:solidFill>
                            <a:srgbClr val="FFFFFF"/>
                          </a:solidFill>
                          <a:latin typeface="+mn-lt"/>
                        </a:rPr>
                        <a:t>Release 3</a:t>
                      </a:r>
                    </a:p>
                  </a:txBody>
                  <a:tcPr marL="45720" marR="45720" anchor="b">
                    <a:lnL>
                      <a:noFill/>
                    </a:lnL>
                    <a:lnR>
                      <a:noFill/>
                    </a:lnR>
                    <a:lnT>
                      <a:noFill/>
                    </a:lnT>
                    <a:lnB>
                      <a:noFill/>
                    </a:lnB>
                    <a:solidFill>
                      <a:srgbClr val="000000"/>
                    </a:solidFill>
                  </a:tcPr>
                </a:tc>
              </a:tr>
              <a:tr h="300921">
                <a:tc vMerge="1">
                  <a:txBody>
                    <a:bodyPr/>
                    <a:lstStyle/>
                    <a:p>
                      <a:endParaRPr lang="en-US"/>
                    </a:p>
                  </a:txBody>
                  <a:tcPr/>
                </a:tc>
                <a:tc>
                  <a:txBody>
                    <a:bodyPr/>
                    <a:lstStyle/>
                    <a:p>
                      <a:pPr algn="ctr"/>
                      <a:r>
                        <a:rPr lang="en-US" sz="1400" kern="1200" dirty="0" smtClean="0">
                          <a:solidFill>
                            <a:srgbClr val="000000"/>
                          </a:solidFill>
                          <a:latin typeface="+mn-lt"/>
                          <a:ea typeface="+mn-ea"/>
                          <a:cs typeface="+mn-cs"/>
                        </a:rPr>
                        <a:t>mm</a:t>
                      </a:r>
                      <a:r>
                        <a:rPr lang="en-US" sz="1400" dirty="0" smtClean="0">
                          <a:solidFill>
                            <a:srgbClr val="000000"/>
                          </a:solidFill>
                        </a:rPr>
                        <a:t>/yyyy - mm/yyyy</a:t>
                      </a:r>
                      <a:endParaRPr lang="en-US" sz="1400" dirty="0">
                        <a:solidFill>
                          <a:srgbClr val="000000"/>
                        </a:solidFill>
                      </a:endParaRPr>
                    </a:p>
                  </a:txBody>
                  <a:tcPr marL="45720" marR="45720" anchor="b">
                    <a:lnL>
                      <a:noFill/>
                    </a:lnL>
                    <a:lnR>
                      <a:noFill/>
                    </a:lnR>
                    <a:lnT>
                      <a:noFill/>
                    </a:lnT>
                    <a:lnB w="6350" cap="flat" cmpd="sng" algn="ctr">
                      <a:solidFill>
                        <a:srgbClr val="000000"/>
                      </a:solidFill>
                      <a:prstDash val="solid"/>
                      <a:round/>
                      <a:headEnd type="none" w="med" len="med"/>
                      <a:tailEnd type="none" w="med" len="med"/>
                    </a:lnB>
                    <a:solidFill>
                      <a:srgbClr val="C0C0C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solidFill>
                            <a:srgbClr val="000000"/>
                          </a:solidFill>
                        </a:rPr>
                        <a:t>mm/yyyy - mm/yyyy</a:t>
                      </a:r>
                    </a:p>
                  </a:txBody>
                  <a:tcPr marL="45720" marR="45720" anchor="b">
                    <a:lnL>
                      <a:noFill/>
                    </a:lnL>
                    <a:lnR>
                      <a:noFill/>
                    </a:lnR>
                    <a:lnT>
                      <a:noFill/>
                    </a:lnT>
                    <a:lnB w="6350" cap="flat" cmpd="sng" algn="ctr">
                      <a:solidFill>
                        <a:srgbClr val="000000"/>
                      </a:solidFill>
                      <a:prstDash val="solid"/>
                      <a:round/>
                      <a:headEnd type="none" w="med" len="med"/>
                      <a:tailEnd type="none" w="med" len="med"/>
                    </a:lnB>
                    <a:solidFill>
                      <a:srgbClr val="C0C0C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solidFill>
                            <a:srgbClr val="000000"/>
                          </a:solidFill>
                        </a:rPr>
                        <a:t>mm/yyyy - mm/yyyy</a:t>
                      </a:r>
                    </a:p>
                  </a:txBody>
                  <a:tcPr marL="45720" marR="45720" anchor="b">
                    <a:lnL>
                      <a:noFill/>
                    </a:lnL>
                    <a:lnR>
                      <a:noFill/>
                    </a:lnR>
                    <a:lnT>
                      <a:noFill/>
                    </a:lnT>
                    <a:lnB w="6350" cap="flat" cmpd="sng" algn="ctr">
                      <a:solidFill>
                        <a:srgbClr val="000000"/>
                      </a:solidFill>
                      <a:prstDash val="solid"/>
                      <a:round/>
                      <a:headEnd type="none" w="med" len="med"/>
                      <a:tailEnd type="none" w="med" len="med"/>
                    </a:lnB>
                    <a:solidFill>
                      <a:srgbClr val="C0C0C0"/>
                    </a:solidFill>
                  </a:tcPr>
                </a:tc>
              </a:tr>
              <a:tr h="593285">
                <a:tc>
                  <a:txBody>
                    <a:bodyPr/>
                    <a:lstStyle/>
                    <a:p>
                      <a:pPr algn="r" fontAlgn="ctr"/>
                      <a:r>
                        <a:rPr lang="en-US" sz="1600" b="1" i="0" u="none" strike="noStrike" dirty="0" smtClean="0">
                          <a:solidFill>
                            <a:srgbClr val="000000"/>
                          </a:solidFill>
                          <a:latin typeface="+mn-lt"/>
                        </a:rPr>
                        <a:t>Market / Customers</a:t>
                      </a:r>
                      <a:endParaRPr lang="en-US" sz="1600" b="1" i="0" u="none" strike="noStrike" dirty="0">
                        <a:solidFill>
                          <a:srgbClr val="000000"/>
                        </a:solidFill>
                        <a:latin typeface="+mn-lt"/>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l" fontAlgn="b">
                        <a:buFont typeface="Arial" pitchFamily="34" charset="0"/>
                        <a:buNone/>
                      </a:pPr>
                      <a:r>
                        <a:rPr lang="en-US" sz="1100" b="0" i="0" u="none" strike="noStrike" dirty="0">
                          <a:latin typeface="Arial"/>
                        </a:rPr>
                        <a:t> </a:t>
                      </a:r>
                      <a:r>
                        <a:rPr lang="en-US" sz="1100" b="0" i="0" u="none" strike="noStrike" dirty="0" smtClean="0">
                          <a:latin typeface="Arial"/>
                        </a:rPr>
                        <a:t>[Target</a:t>
                      </a:r>
                      <a:r>
                        <a:rPr lang="en-US" sz="1100" b="0" i="0" u="none" strike="noStrike" baseline="0" dirty="0" smtClean="0">
                          <a:latin typeface="Arial"/>
                        </a:rPr>
                        <a:t> audience for release]</a:t>
                      </a:r>
                      <a:endParaRPr lang="en-US" sz="1100" b="0" i="0" u="none" strike="noStrike" dirty="0">
                        <a:latin typeface="Arial"/>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100" b="0" i="0" u="none" strike="noStrike" dirty="0">
                          <a:latin typeface="Arial"/>
                        </a:rPr>
                        <a:t> </a:t>
                      </a:r>
                      <a:r>
                        <a:rPr lang="en-US" sz="1100" b="0" i="0" u="none" strike="noStrike" dirty="0" smtClean="0">
                          <a:latin typeface="Arial"/>
                        </a:rPr>
                        <a:t> [Target</a:t>
                      </a:r>
                      <a:r>
                        <a:rPr lang="en-US" sz="1100" b="0" i="0" u="none" strike="noStrike" baseline="0" dirty="0" smtClean="0">
                          <a:latin typeface="Arial"/>
                        </a:rPr>
                        <a:t> audience for release]</a:t>
                      </a:r>
                      <a:endParaRPr lang="en-US" sz="1100" b="0" i="0" u="none" strike="noStrike" dirty="0" smtClean="0">
                        <a:latin typeface="Arial"/>
                      </a:endParaRPr>
                    </a:p>
                    <a:p>
                      <a:pPr algn="l" fontAlgn="b"/>
                      <a:endParaRPr lang="en-US" sz="1100" b="0" i="0" u="none" strike="noStrike" dirty="0">
                        <a:latin typeface="Arial"/>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100" b="0" i="0" u="none" strike="noStrike" dirty="0">
                          <a:latin typeface="Arial"/>
                        </a:rPr>
                        <a:t> </a:t>
                      </a:r>
                      <a:r>
                        <a:rPr lang="en-US" sz="1100" b="0" i="0" u="none" strike="noStrike" dirty="0" smtClean="0">
                          <a:latin typeface="Arial"/>
                        </a:rPr>
                        <a:t> [Target</a:t>
                      </a:r>
                      <a:r>
                        <a:rPr lang="en-US" sz="1100" b="0" i="0" u="none" strike="noStrike" baseline="0" dirty="0" smtClean="0">
                          <a:latin typeface="Arial"/>
                        </a:rPr>
                        <a:t> audience for release]</a:t>
                      </a:r>
                      <a:endParaRPr lang="en-US" sz="1100" b="0" i="0" u="none" strike="noStrike" dirty="0" smtClean="0">
                        <a:latin typeface="Arial"/>
                      </a:endParaRPr>
                    </a:p>
                    <a:p>
                      <a:pPr algn="l" fontAlgn="b"/>
                      <a:endParaRPr lang="en-US" sz="1100" b="0" i="0" u="none" strike="noStrike" dirty="0">
                        <a:latin typeface="Arial"/>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752302">
                <a:tc>
                  <a:txBody>
                    <a:bodyPr/>
                    <a:lstStyle/>
                    <a:p>
                      <a:pPr algn="r" fontAlgn="ctr"/>
                      <a:r>
                        <a:rPr lang="en-US" sz="1600" b="1" i="0" u="none" strike="noStrike" dirty="0" smtClean="0">
                          <a:solidFill>
                            <a:srgbClr val="000000"/>
                          </a:solidFill>
                          <a:latin typeface="+mn-lt"/>
                        </a:rPr>
                        <a:t>Themes/Features</a:t>
                      </a:r>
                      <a:endParaRPr lang="en-US" sz="1600" b="1" i="0" u="none" strike="noStrike" dirty="0">
                        <a:solidFill>
                          <a:srgbClr val="000000"/>
                        </a:solidFill>
                        <a:latin typeface="+mn-lt"/>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l" fontAlgn="b">
                        <a:buFont typeface="Arial" pitchFamily="34" charset="0"/>
                        <a:buChar char="•"/>
                      </a:pPr>
                      <a:r>
                        <a:rPr lang="en-US" sz="1100" b="0" i="0" u="none" strike="noStrike" dirty="0">
                          <a:latin typeface="Arial"/>
                        </a:rPr>
                        <a:t> </a:t>
                      </a:r>
                      <a:r>
                        <a:rPr lang="en-US" sz="1100" b="0" i="0" u="none" strike="noStrike" dirty="0" smtClean="0">
                          <a:latin typeface="Arial"/>
                        </a:rPr>
                        <a:t>[</a:t>
                      </a:r>
                      <a:r>
                        <a:rPr lang="en-US" sz="1100" b="0" i="0" u="none" strike="noStrike" baseline="0" dirty="0" smtClean="0">
                          <a:latin typeface="Arial"/>
                        </a:rPr>
                        <a:t> key feature from vision]</a:t>
                      </a:r>
                    </a:p>
                    <a:p>
                      <a:pPr algn="l" fontAlgn="b">
                        <a:buFont typeface="Arial" pitchFamily="34" charset="0"/>
                        <a:buChar char="•"/>
                      </a:pPr>
                      <a:r>
                        <a:rPr lang="en-US" sz="1100" b="0" i="0" u="none" strike="noStrike" baseline="0" dirty="0" smtClean="0">
                          <a:latin typeface="Arial"/>
                        </a:rPr>
                        <a:t> […]</a:t>
                      </a:r>
                      <a:br>
                        <a:rPr lang="en-US" sz="1100" b="0" i="0" u="none" strike="noStrike" baseline="0" dirty="0" smtClean="0">
                          <a:latin typeface="Arial"/>
                        </a:rPr>
                      </a:br>
                      <a:endParaRPr lang="en-US" sz="1100" b="0" i="0" u="none" strike="noStrike" dirty="0">
                        <a:latin typeface="Arial"/>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buFont typeface="Arial" pitchFamily="34" charset="0"/>
                        <a:buChar char="•"/>
                      </a:pPr>
                      <a:r>
                        <a:rPr lang="en-US" sz="1100" b="0" i="0" u="none" strike="noStrike" dirty="0">
                          <a:latin typeface="Arial"/>
                        </a:rPr>
                        <a:t> </a:t>
                      </a:r>
                      <a:r>
                        <a:rPr lang="en-US" sz="1100" b="0" i="0" u="none" strike="noStrike" dirty="0" smtClean="0">
                          <a:latin typeface="Arial"/>
                        </a:rPr>
                        <a:t> [</a:t>
                      </a:r>
                      <a:r>
                        <a:rPr lang="en-US" sz="1100" b="0" i="0" u="none" strike="noStrike" baseline="0" dirty="0" smtClean="0">
                          <a:latin typeface="Arial"/>
                        </a:rPr>
                        <a:t> key feature from vision]</a:t>
                      </a:r>
                    </a:p>
                    <a:p>
                      <a:pPr algn="l" fontAlgn="b">
                        <a:buFont typeface="Arial" pitchFamily="34" charset="0"/>
                        <a:buChar char="•"/>
                      </a:pPr>
                      <a:r>
                        <a:rPr lang="en-US" sz="1100" b="0" i="0" u="none" strike="noStrike" baseline="0" dirty="0" smtClean="0">
                          <a:latin typeface="Arial"/>
                        </a:rPr>
                        <a:t> […]</a:t>
                      </a:r>
                      <a:br>
                        <a:rPr lang="en-US" sz="1100" b="0" i="0" u="none" strike="noStrike" baseline="0" dirty="0" smtClean="0">
                          <a:latin typeface="Arial"/>
                        </a:rPr>
                      </a:br>
                      <a:endParaRPr lang="en-US" sz="1100" b="0" i="0" u="none" strike="noStrike" dirty="0" smtClean="0">
                        <a:latin typeface="Arial"/>
                      </a:endParaRPr>
                    </a:p>
                    <a:p>
                      <a:pPr algn="l" fontAlgn="b"/>
                      <a:endParaRPr lang="en-US" sz="1100" b="0" i="0" u="none" strike="noStrike" dirty="0">
                        <a:latin typeface="Arial"/>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buFont typeface="Arial" pitchFamily="34" charset="0"/>
                        <a:buChar char="•"/>
                      </a:pPr>
                      <a:r>
                        <a:rPr lang="en-US" sz="1100" b="0" i="0" u="none" strike="noStrike" dirty="0">
                          <a:latin typeface="Arial"/>
                        </a:rPr>
                        <a:t> </a:t>
                      </a:r>
                      <a:r>
                        <a:rPr lang="en-US" sz="1100" b="0" i="0" u="none" strike="noStrike" dirty="0" smtClean="0">
                          <a:latin typeface="Arial"/>
                        </a:rPr>
                        <a:t> [</a:t>
                      </a:r>
                      <a:r>
                        <a:rPr lang="en-US" sz="1100" b="0" i="0" u="none" strike="noStrike" baseline="0" dirty="0" smtClean="0">
                          <a:latin typeface="Arial"/>
                        </a:rPr>
                        <a:t> key feature from vision]</a:t>
                      </a:r>
                    </a:p>
                    <a:p>
                      <a:pPr algn="l" fontAlgn="b">
                        <a:buFont typeface="Arial" pitchFamily="34" charset="0"/>
                        <a:buChar char="•"/>
                      </a:pPr>
                      <a:r>
                        <a:rPr lang="en-US" sz="1100" b="0" i="0" u="none" strike="noStrike" baseline="0" dirty="0" smtClean="0">
                          <a:latin typeface="Arial"/>
                        </a:rPr>
                        <a:t> […]</a:t>
                      </a:r>
                      <a:br>
                        <a:rPr lang="en-US" sz="1100" b="0" i="0" u="none" strike="noStrike" baseline="0" dirty="0" smtClean="0">
                          <a:latin typeface="Arial"/>
                        </a:rPr>
                      </a:br>
                      <a:endParaRPr lang="en-US" sz="1100" b="0" i="0" u="none" strike="noStrike" dirty="0" smtClean="0">
                        <a:latin typeface="Arial"/>
                      </a:endParaRPr>
                    </a:p>
                    <a:p>
                      <a:pPr algn="l" fontAlgn="b"/>
                      <a:endParaRPr lang="en-US" sz="1100" b="0" i="0" u="none" strike="noStrike" dirty="0">
                        <a:latin typeface="Arial"/>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765378">
                <a:tc>
                  <a:txBody>
                    <a:bodyPr/>
                    <a:lstStyle/>
                    <a:p>
                      <a:pPr algn="r" fontAlgn="ctr"/>
                      <a:r>
                        <a:rPr lang="en-US" sz="1600" b="1" i="0" u="none" strike="noStrike" dirty="0">
                          <a:solidFill>
                            <a:srgbClr val="000000"/>
                          </a:solidFill>
                          <a:latin typeface="+mn-lt"/>
                        </a:rPr>
                        <a:t>Benefits</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l" fontAlgn="b">
                        <a:buFont typeface="Arial" pitchFamily="34" charset="0"/>
                        <a:buChar char="•"/>
                      </a:pPr>
                      <a:r>
                        <a:rPr lang="en-US" sz="1100" b="0" i="0" u="none" strike="noStrike" dirty="0">
                          <a:latin typeface="Arial"/>
                        </a:rPr>
                        <a:t> </a:t>
                      </a:r>
                      <a:r>
                        <a:rPr lang="en-US" sz="1100" b="0" i="0" u="none" strike="noStrike" dirty="0" smtClean="0">
                          <a:latin typeface="Arial"/>
                        </a:rPr>
                        <a:t>[</a:t>
                      </a:r>
                      <a:r>
                        <a:rPr lang="en-US" sz="1100" b="0" i="0" u="none" strike="noStrike" baseline="0" dirty="0" smtClean="0">
                          <a:latin typeface="Arial"/>
                        </a:rPr>
                        <a:t>Quantifiable benefits for release]</a:t>
                      </a:r>
                    </a:p>
                    <a:p>
                      <a:pPr algn="l" fontAlgn="b">
                        <a:buFont typeface="Arial" pitchFamily="34" charset="0"/>
                        <a:buChar char="•"/>
                      </a:pPr>
                      <a:r>
                        <a:rPr lang="en-US" sz="1100" b="0" i="0" u="none" strike="noStrike" baseline="0" dirty="0" smtClean="0">
                          <a:latin typeface="Arial"/>
                        </a:rPr>
                        <a:t> […]</a:t>
                      </a:r>
                      <a:br>
                        <a:rPr lang="en-US" sz="1100" b="0" i="0" u="none" strike="noStrike" baseline="0" dirty="0" smtClean="0">
                          <a:latin typeface="Arial"/>
                        </a:rPr>
                      </a:br>
                      <a:endParaRPr lang="en-US" sz="1100" b="0" i="0" u="none" strike="noStrike" dirty="0" smtClean="0">
                        <a:latin typeface="Arial"/>
                      </a:endParaRPr>
                    </a:p>
                    <a:p>
                      <a:pPr algn="l" fontAlgn="b"/>
                      <a:endParaRPr lang="en-US" sz="1100" b="0" i="0" u="none" strike="noStrike" dirty="0">
                        <a:latin typeface="Arial"/>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buFont typeface="Arial" pitchFamily="34" charset="0"/>
                        <a:buChar char="•"/>
                      </a:pPr>
                      <a:r>
                        <a:rPr lang="en-US" sz="1100" b="0" i="0" u="none" strike="noStrike" dirty="0" smtClean="0">
                          <a:latin typeface="Arial"/>
                        </a:rPr>
                        <a:t> [</a:t>
                      </a:r>
                      <a:r>
                        <a:rPr lang="en-US" sz="1100" b="0" i="0" u="none" strike="noStrike" baseline="0" dirty="0" smtClean="0">
                          <a:latin typeface="Arial"/>
                        </a:rPr>
                        <a:t>Quantifiable benefits for release]</a:t>
                      </a:r>
                    </a:p>
                    <a:p>
                      <a:pPr algn="l" fontAlgn="b">
                        <a:buFont typeface="Arial" pitchFamily="34" charset="0"/>
                        <a:buChar char="•"/>
                      </a:pPr>
                      <a:r>
                        <a:rPr lang="en-US" sz="1100" b="0" i="0" u="none" strike="noStrike" baseline="0" dirty="0" smtClean="0">
                          <a:latin typeface="Arial"/>
                        </a:rPr>
                        <a:t> […]</a:t>
                      </a:r>
                      <a:br>
                        <a:rPr lang="en-US" sz="1100" b="0" i="0" u="none" strike="noStrike" baseline="0" dirty="0" smtClean="0">
                          <a:latin typeface="Arial"/>
                        </a:rPr>
                      </a:br>
                      <a:endParaRPr lang="en-US" sz="1100" b="0" i="0" u="none" strike="noStrike" dirty="0" smtClean="0">
                        <a:latin typeface="Arial"/>
                      </a:endParaRPr>
                    </a:p>
                    <a:p>
                      <a:pPr algn="l" fontAlgn="b"/>
                      <a:endParaRPr lang="en-US" sz="1100" b="0" i="0" u="none" strike="noStrike" dirty="0">
                        <a:latin typeface="Arial"/>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buFont typeface="Arial" pitchFamily="34" charset="0"/>
                        <a:buChar char="•"/>
                      </a:pPr>
                      <a:r>
                        <a:rPr lang="en-US" sz="1100" b="0" i="0" u="none" strike="noStrike" dirty="0" smtClean="0">
                          <a:latin typeface="Arial"/>
                        </a:rPr>
                        <a:t> [</a:t>
                      </a:r>
                      <a:r>
                        <a:rPr lang="en-US" sz="1100" b="0" i="0" u="none" strike="noStrike" baseline="0" dirty="0" smtClean="0">
                          <a:latin typeface="Arial"/>
                        </a:rPr>
                        <a:t>Quantifiable benefits for release]</a:t>
                      </a:r>
                    </a:p>
                    <a:p>
                      <a:pPr algn="l" fontAlgn="b">
                        <a:buFont typeface="Arial" pitchFamily="34" charset="0"/>
                        <a:buChar char="•"/>
                      </a:pPr>
                      <a:r>
                        <a:rPr lang="en-US" sz="1100" b="0" i="0" u="none" strike="noStrike" baseline="0" dirty="0" smtClean="0">
                          <a:latin typeface="Arial"/>
                        </a:rPr>
                        <a:t> […]</a:t>
                      </a:r>
                      <a:br>
                        <a:rPr lang="en-US" sz="1100" b="0" i="0" u="none" strike="noStrike" baseline="0" dirty="0" smtClean="0">
                          <a:latin typeface="Arial"/>
                        </a:rPr>
                      </a:br>
                      <a:endParaRPr lang="en-US" sz="1100" b="0" i="0" u="none" strike="noStrike" dirty="0" smtClean="0">
                        <a:latin typeface="Arial"/>
                      </a:endParaRPr>
                    </a:p>
                    <a:p>
                      <a:pPr algn="l" fontAlgn="b"/>
                      <a:endParaRPr lang="en-US" sz="1100" b="0" i="0" u="none" strike="noStrike" dirty="0">
                        <a:latin typeface="Arial"/>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752302">
                <a:tc>
                  <a:txBody>
                    <a:bodyPr/>
                    <a:lstStyle/>
                    <a:p>
                      <a:pPr algn="r" fontAlgn="ctr"/>
                      <a:r>
                        <a:rPr lang="en-US" sz="1600" b="1" i="0" u="none" strike="noStrike" dirty="0">
                          <a:solidFill>
                            <a:srgbClr val="000000"/>
                          </a:solidFill>
                          <a:latin typeface="+mn-lt"/>
                        </a:rPr>
                        <a:t>Architecture </a:t>
                      </a:r>
                      <a:r>
                        <a:rPr lang="en-US" sz="1600" b="1" i="0" u="none" strike="noStrike" dirty="0" smtClean="0">
                          <a:solidFill>
                            <a:srgbClr val="000000"/>
                          </a:solidFill>
                          <a:latin typeface="+mn-lt"/>
                        </a:rPr>
                        <a:t>Decisions</a:t>
                      </a:r>
                      <a:endParaRPr lang="en-US" sz="1600" b="1" i="0" u="none" strike="noStrike" dirty="0">
                        <a:solidFill>
                          <a:srgbClr val="000000"/>
                        </a:solidFill>
                        <a:latin typeface="+mn-lt"/>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l" fontAlgn="b">
                        <a:buFont typeface="Arial" pitchFamily="34" charset="0"/>
                        <a:buChar char="•"/>
                      </a:pPr>
                      <a:r>
                        <a:rPr lang="en-US" sz="1100" b="0" i="0" u="none" strike="noStrike" dirty="0">
                          <a:latin typeface="Arial"/>
                        </a:rPr>
                        <a:t> </a:t>
                      </a:r>
                      <a:r>
                        <a:rPr lang="en-US" sz="1100" b="0" i="0" u="none" strike="noStrike" dirty="0" smtClean="0">
                          <a:latin typeface="Arial"/>
                        </a:rPr>
                        <a:t>[</a:t>
                      </a:r>
                      <a:r>
                        <a:rPr lang="en-US" sz="1100" b="0" i="0" u="none" strike="noStrike" baseline="0" dirty="0" smtClean="0">
                          <a:latin typeface="Arial"/>
                        </a:rPr>
                        <a:t>Expected impact on infrastructure or architecture]</a:t>
                      </a:r>
                    </a:p>
                    <a:p>
                      <a:pPr algn="l" fontAlgn="b">
                        <a:buFont typeface="Arial" pitchFamily="34" charset="0"/>
                        <a:buChar char="•"/>
                      </a:pPr>
                      <a:r>
                        <a:rPr lang="en-US" sz="1100" b="0" i="0" u="none" strike="noStrike" baseline="0" dirty="0" smtClean="0">
                          <a:latin typeface="Arial"/>
                        </a:rPr>
                        <a:t> […]</a:t>
                      </a:r>
                      <a:br>
                        <a:rPr lang="en-US" sz="1100" b="0" i="0" u="none" strike="noStrike" baseline="0" dirty="0" smtClean="0">
                          <a:latin typeface="Arial"/>
                        </a:rPr>
                      </a:br>
                      <a:endParaRPr lang="en-US" sz="1100" b="0" i="0" u="none" strike="noStrike" dirty="0" smtClean="0">
                        <a:latin typeface="Arial"/>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buFont typeface="Arial" pitchFamily="34" charset="0"/>
                        <a:buChar char="•"/>
                      </a:pPr>
                      <a:r>
                        <a:rPr lang="en-US" sz="1100" b="0" i="0" u="none" strike="noStrike" dirty="0" smtClean="0">
                          <a:latin typeface="Arial"/>
                        </a:rPr>
                        <a:t> [</a:t>
                      </a:r>
                      <a:r>
                        <a:rPr lang="en-US" sz="1100" b="0" i="0" u="none" strike="noStrike" baseline="0" dirty="0" smtClean="0">
                          <a:latin typeface="Arial"/>
                        </a:rPr>
                        <a:t>Expected impact on infrastructure or architecture]</a:t>
                      </a:r>
                    </a:p>
                    <a:p>
                      <a:pPr algn="l" fontAlgn="b">
                        <a:buFont typeface="Arial" pitchFamily="34" charset="0"/>
                        <a:buChar char="•"/>
                      </a:pPr>
                      <a:r>
                        <a:rPr lang="en-US" sz="1100" b="0" i="0" u="none" strike="noStrike" baseline="0" dirty="0" smtClean="0">
                          <a:latin typeface="Arial"/>
                        </a:rPr>
                        <a:t> […]</a:t>
                      </a:r>
                      <a:br>
                        <a:rPr lang="en-US" sz="1100" b="0" i="0" u="none" strike="noStrike" baseline="0" dirty="0" smtClean="0">
                          <a:latin typeface="Arial"/>
                        </a:rPr>
                      </a:br>
                      <a:endParaRPr lang="en-US" sz="1100" b="0" i="0" u="none" strike="noStrike" dirty="0" smtClean="0">
                        <a:latin typeface="Arial"/>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buFont typeface="Arial" pitchFamily="34" charset="0"/>
                        <a:buChar char="•"/>
                      </a:pPr>
                      <a:r>
                        <a:rPr lang="en-US" sz="1100" b="0" i="0" u="none" strike="noStrike" dirty="0" smtClean="0">
                          <a:latin typeface="Arial"/>
                        </a:rPr>
                        <a:t> [</a:t>
                      </a:r>
                      <a:r>
                        <a:rPr lang="en-US" sz="1100" b="0" i="0" u="none" strike="noStrike" baseline="0" dirty="0" smtClean="0">
                          <a:latin typeface="Arial"/>
                        </a:rPr>
                        <a:t>Expected impact on infrastructure or architecture]</a:t>
                      </a:r>
                    </a:p>
                    <a:p>
                      <a:pPr algn="l" fontAlgn="b">
                        <a:buFont typeface="Arial" pitchFamily="34" charset="0"/>
                        <a:buChar char="•"/>
                      </a:pPr>
                      <a:r>
                        <a:rPr lang="en-US" sz="1100" b="0" i="0" u="none" strike="noStrike" baseline="0" dirty="0" smtClean="0">
                          <a:latin typeface="Arial"/>
                        </a:rPr>
                        <a:t> […]</a:t>
                      </a:r>
                      <a:br>
                        <a:rPr lang="en-US" sz="1100" b="0" i="0" u="none" strike="noStrike" baseline="0" dirty="0" smtClean="0">
                          <a:latin typeface="Arial"/>
                        </a:rPr>
                      </a:br>
                      <a:endParaRPr lang="en-US" sz="1100" b="0" i="0" u="none" strike="noStrike" dirty="0" smtClean="0">
                        <a:latin typeface="Arial"/>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71020">
                <a:tc>
                  <a:txBody>
                    <a:bodyPr/>
                    <a:lstStyle/>
                    <a:p>
                      <a:pPr algn="r" fontAlgn="ctr"/>
                      <a:r>
                        <a:rPr lang="en-US" sz="1600" b="1" i="0" u="none" strike="noStrike" dirty="0" smtClean="0">
                          <a:solidFill>
                            <a:srgbClr val="000000"/>
                          </a:solidFill>
                          <a:latin typeface="+mn-lt"/>
                        </a:rPr>
                        <a:t>Dependencies</a:t>
                      </a:r>
                      <a:r>
                        <a:rPr lang="en-US" sz="1600" b="1" i="0" u="none" strike="noStrike" dirty="0" smtClean="0">
                          <a:solidFill>
                            <a:srgbClr val="000000"/>
                          </a:solidFill>
                          <a:latin typeface="Arial"/>
                        </a:rPr>
                        <a:t> </a:t>
                      </a:r>
                      <a:endParaRPr lang="en-US" sz="1600" b="1" i="0" u="none" strike="noStrike" dirty="0">
                        <a:solidFill>
                          <a:srgbClr val="000000"/>
                        </a:solidFill>
                        <a:latin typeface="Arial"/>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l" fontAlgn="b">
                        <a:buFont typeface="Arial" pitchFamily="34" charset="0"/>
                        <a:buChar char="•"/>
                      </a:pPr>
                      <a:r>
                        <a:rPr lang="en-US" sz="1100" b="0" i="0" u="none" strike="noStrike" dirty="0" smtClean="0">
                          <a:latin typeface="Arial"/>
                        </a:rPr>
                        <a:t> [</a:t>
                      </a:r>
                      <a:r>
                        <a:rPr lang="en-US" sz="1100" b="0" i="0" u="none" strike="noStrike" baseline="0" dirty="0" smtClean="0">
                          <a:latin typeface="Arial"/>
                        </a:rPr>
                        <a:t>Give to…]</a:t>
                      </a:r>
                    </a:p>
                    <a:p>
                      <a:pPr algn="l" fontAlgn="b">
                        <a:buFont typeface="Arial" pitchFamily="34" charset="0"/>
                        <a:buChar char="•"/>
                      </a:pPr>
                      <a:r>
                        <a:rPr lang="en-US" sz="1100" b="0" i="0" u="none" strike="noStrike" baseline="0" dirty="0" smtClean="0">
                          <a:latin typeface="Arial"/>
                        </a:rPr>
                        <a:t> [Get from …]</a:t>
                      </a:r>
                      <a:br>
                        <a:rPr lang="en-US" sz="1100" b="0" i="0" u="none" strike="noStrike" baseline="0" dirty="0" smtClean="0">
                          <a:latin typeface="Arial"/>
                        </a:rPr>
                      </a:br>
                      <a:endParaRPr lang="en-US" sz="1100" b="0" i="0" u="none" strike="noStrike" dirty="0" smtClean="0">
                        <a:latin typeface="Arial"/>
                      </a:endParaRPr>
                    </a:p>
                    <a:p>
                      <a:pPr algn="l" fontAlgn="b"/>
                      <a:endParaRPr lang="en-US" sz="1100" b="0" i="0" u="none" strike="noStrike" dirty="0">
                        <a:latin typeface="Arial"/>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buFont typeface="Arial" pitchFamily="34" charset="0"/>
                        <a:buChar char="•"/>
                      </a:pPr>
                      <a:r>
                        <a:rPr lang="en-US" sz="1100" b="0" i="0" u="none" strike="noStrike" dirty="0" smtClean="0">
                          <a:latin typeface="Arial"/>
                        </a:rPr>
                        <a:t> [</a:t>
                      </a:r>
                      <a:r>
                        <a:rPr lang="en-US" sz="1100" b="0" i="0" u="none" strike="noStrike" baseline="0" dirty="0" smtClean="0">
                          <a:latin typeface="Arial"/>
                        </a:rPr>
                        <a:t>Give to…]</a:t>
                      </a:r>
                    </a:p>
                    <a:p>
                      <a:pPr algn="l" fontAlgn="b">
                        <a:buFont typeface="Arial" pitchFamily="34" charset="0"/>
                        <a:buChar char="•"/>
                      </a:pPr>
                      <a:r>
                        <a:rPr lang="en-US" sz="1100" b="0" i="0" u="none" strike="noStrike" baseline="0" dirty="0" smtClean="0">
                          <a:latin typeface="Arial"/>
                        </a:rPr>
                        <a:t> [Get from …]</a:t>
                      </a:r>
                      <a:endParaRPr lang="en-US" sz="1100" b="0" i="0" u="none" strike="noStrike" dirty="0">
                        <a:latin typeface="Arial"/>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buFont typeface="Arial" pitchFamily="34" charset="0"/>
                        <a:buChar char="•"/>
                      </a:pPr>
                      <a:r>
                        <a:rPr lang="en-US" sz="1100" b="0" i="0" u="none" strike="noStrike" dirty="0" smtClean="0">
                          <a:latin typeface="Arial"/>
                        </a:rPr>
                        <a:t> [</a:t>
                      </a:r>
                      <a:r>
                        <a:rPr lang="en-US" sz="1100" b="0" i="0" u="none" strike="noStrike" baseline="0" dirty="0" smtClean="0">
                          <a:latin typeface="Arial"/>
                        </a:rPr>
                        <a:t>Give to…]</a:t>
                      </a:r>
                    </a:p>
                    <a:p>
                      <a:pPr algn="l" fontAlgn="b">
                        <a:buFont typeface="Arial" pitchFamily="34" charset="0"/>
                        <a:buChar char="•"/>
                      </a:pPr>
                      <a:r>
                        <a:rPr lang="en-US" sz="1100" b="0" i="0" u="none" strike="noStrike" baseline="0" dirty="0" smtClean="0">
                          <a:latin typeface="Arial"/>
                        </a:rPr>
                        <a:t> [Get from …]</a:t>
                      </a:r>
                      <a:endParaRPr lang="en-US" sz="1100" b="0" i="0" u="none" strike="noStrike" dirty="0">
                        <a:latin typeface="Arial"/>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917809">
                <a:tc>
                  <a:txBody>
                    <a:bodyPr/>
                    <a:lstStyle/>
                    <a:p>
                      <a:pPr algn="r" fontAlgn="ctr"/>
                      <a:r>
                        <a:rPr lang="en-US" sz="1600" b="1" i="0" u="none" strike="noStrike" dirty="0" smtClean="0">
                          <a:solidFill>
                            <a:srgbClr val="000000"/>
                          </a:solidFill>
                          <a:latin typeface="+mn-lt"/>
                        </a:rPr>
                        <a:t>Business Decisions/Impacts</a:t>
                      </a:r>
                      <a:endParaRPr lang="en-US" sz="1600" b="1" i="0" u="none" strike="noStrike" dirty="0">
                        <a:solidFill>
                          <a:srgbClr val="000000"/>
                        </a:solidFill>
                        <a:latin typeface="+mn-lt"/>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l" fontAlgn="b">
                        <a:buFont typeface="Arial" pitchFamily="34" charset="0"/>
                        <a:buChar char="•"/>
                      </a:pPr>
                      <a:r>
                        <a:rPr lang="en-US" sz="1100" b="0" i="0" u="none" strike="noStrike" dirty="0">
                          <a:latin typeface="Arial"/>
                        </a:rPr>
                        <a:t> </a:t>
                      </a:r>
                      <a:r>
                        <a:rPr lang="en-US" sz="1100" b="0" i="0" u="none" strike="noStrike" dirty="0" smtClean="0">
                          <a:latin typeface="Arial"/>
                        </a:rPr>
                        <a:t>[</a:t>
                      </a:r>
                      <a:r>
                        <a:rPr lang="en-US" sz="1100" b="0" i="0" u="none" strike="noStrike" baseline="0" dirty="0" smtClean="0">
                          <a:latin typeface="Arial"/>
                        </a:rPr>
                        <a:t>Expected impact on business or product implementation]</a:t>
                      </a:r>
                    </a:p>
                    <a:p>
                      <a:pPr algn="l" fontAlgn="b">
                        <a:buFont typeface="Arial" pitchFamily="34" charset="0"/>
                        <a:buChar char="•"/>
                      </a:pPr>
                      <a:r>
                        <a:rPr lang="en-US" sz="1100" b="0" i="0" u="none" strike="noStrike" baseline="0" dirty="0" smtClean="0">
                          <a:latin typeface="Arial"/>
                        </a:rPr>
                        <a:t> […]</a:t>
                      </a:r>
                      <a:br>
                        <a:rPr lang="en-US" sz="1100" b="0" i="0" u="none" strike="noStrike" baseline="0" dirty="0" smtClean="0">
                          <a:latin typeface="Arial"/>
                        </a:rPr>
                      </a:br>
                      <a:endParaRPr lang="en-US" sz="1100" b="0" i="0" u="none" strike="noStrike" dirty="0" smtClean="0">
                        <a:latin typeface="Arial"/>
                      </a:endParaRPr>
                    </a:p>
                    <a:p>
                      <a:pPr algn="l" fontAlgn="b"/>
                      <a:endParaRPr lang="en-US" sz="800" b="0" i="0" u="none" strike="noStrike" dirty="0">
                        <a:latin typeface="Arial"/>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buFont typeface="Arial" pitchFamily="34" charset="0"/>
                        <a:buChar char="•"/>
                      </a:pPr>
                      <a:r>
                        <a:rPr lang="en-US" sz="1100" b="0" i="0" u="none" strike="noStrike" dirty="0">
                          <a:latin typeface="Arial"/>
                        </a:rPr>
                        <a:t> </a:t>
                      </a:r>
                      <a:r>
                        <a:rPr lang="en-US" sz="1100" b="0" i="0" u="none" strike="noStrike" dirty="0" smtClean="0">
                          <a:latin typeface="Arial"/>
                        </a:rPr>
                        <a:t>[</a:t>
                      </a:r>
                      <a:r>
                        <a:rPr lang="en-US" sz="1100" b="0" i="0" u="none" strike="noStrike" baseline="0" dirty="0" smtClean="0">
                          <a:latin typeface="Arial"/>
                        </a:rPr>
                        <a:t>Expected impact on business or product implementation]</a:t>
                      </a:r>
                    </a:p>
                    <a:p>
                      <a:pPr algn="l" fontAlgn="b">
                        <a:buFont typeface="Arial" pitchFamily="34" charset="0"/>
                        <a:buChar char="•"/>
                      </a:pPr>
                      <a:r>
                        <a:rPr lang="en-US" sz="1100" b="0" i="0" u="none" strike="noStrike" baseline="0" dirty="0" smtClean="0">
                          <a:latin typeface="Arial"/>
                        </a:rPr>
                        <a:t> […]</a:t>
                      </a:r>
                      <a:br>
                        <a:rPr lang="en-US" sz="1100" b="0" i="0" u="none" strike="noStrike" baseline="0" dirty="0" smtClean="0">
                          <a:latin typeface="Arial"/>
                        </a:rPr>
                      </a:br>
                      <a:endParaRPr lang="en-US" sz="1100" b="0" i="0" u="none" strike="noStrike" dirty="0" smtClean="0">
                        <a:latin typeface="Arial"/>
                      </a:endParaRPr>
                    </a:p>
                    <a:p>
                      <a:pPr algn="l" fontAlgn="b"/>
                      <a:endParaRPr lang="en-US" sz="1100" b="0" i="0" u="none" strike="noStrike" dirty="0">
                        <a:latin typeface="Arial"/>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buFont typeface="Arial" pitchFamily="34" charset="0"/>
                        <a:buChar char="•"/>
                      </a:pPr>
                      <a:r>
                        <a:rPr lang="en-US" sz="1100" b="0" i="0" u="none" strike="noStrike" dirty="0" smtClean="0">
                          <a:latin typeface="Arial"/>
                        </a:rPr>
                        <a:t> [</a:t>
                      </a:r>
                      <a:r>
                        <a:rPr lang="en-US" sz="1100" b="0" i="0" u="none" strike="noStrike" baseline="0" dirty="0" smtClean="0">
                          <a:latin typeface="Arial"/>
                        </a:rPr>
                        <a:t>Expected impact on business or product implementation]</a:t>
                      </a:r>
                    </a:p>
                    <a:p>
                      <a:pPr algn="l" fontAlgn="b">
                        <a:buFont typeface="Arial" pitchFamily="34" charset="0"/>
                        <a:buChar char="•"/>
                      </a:pPr>
                      <a:r>
                        <a:rPr lang="en-US" sz="1100" b="0" i="0" u="none" strike="noStrike" baseline="0" dirty="0" smtClean="0">
                          <a:latin typeface="Arial"/>
                        </a:rPr>
                        <a:t> […]</a:t>
                      </a:r>
                      <a:br>
                        <a:rPr lang="en-US" sz="1100" b="0" i="0" u="none" strike="noStrike" baseline="0" dirty="0" smtClean="0">
                          <a:latin typeface="Arial"/>
                        </a:rPr>
                      </a:br>
                      <a:endParaRPr lang="en-US" sz="1100" b="0" i="0" u="none" strike="noStrike" dirty="0" smtClean="0">
                        <a:latin typeface="Arial"/>
                      </a:endParaRPr>
                    </a:p>
                    <a:p>
                      <a:pPr algn="l" fontAlgn="b"/>
                      <a:endParaRPr lang="en-US" sz="1100" b="0" i="0" u="none" strike="noStrike" dirty="0">
                        <a:latin typeface="Arial"/>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Roadmap</a:t>
            </a:r>
            <a:endParaRPr lang="en-US" dirty="0"/>
          </a:p>
        </p:txBody>
      </p:sp>
      <p:sp>
        <p:nvSpPr>
          <p:cNvPr id="3" name="Footer Placeholder 2"/>
          <p:cNvSpPr>
            <a:spLocks noGrp="1"/>
          </p:cNvSpPr>
          <p:nvPr>
            <p:ph type="ftr" sz="quarter" idx="11"/>
          </p:nvPr>
        </p:nvSpPr>
        <p:spPr/>
        <p:txBody>
          <a:bodyPr/>
          <a:lstStyle/>
          <a:p>
            <a:r>
              <a:rPr lang="en-US" smtClean="0"/>
              <a:t>Roadmap Template v6.4</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5</a:t>
            </a:fld>
            <a:endParaRPr lang="en-US" dirty="0"/>
          </a:p>
        </p:txBody>
      </p:sp>
      <p:sp>
        <p:nvSpPr>
          <p:cNvPr id="5" name="Content Placeholder 4"/>
          <p:cNvSpPr>
            <a:spLocks noGrp="1"/>
          </p:cNvSpPr>
          <p:nvPr>
            <p:ph sz="quarter" idx="15"/>
          </p:nvPr>
        </p:nvSpPr>
        <p:spPr/>
        <p:txBody>
          <a:bodyPr/>
          <a:lstStyle/>
          <a:p>
            <a:r>
              <a:rPr lang="en-US" dirty="0" smtClean="0"/>
              <a:t>System Context Diagram by Release</a:t>
            </a:r>
            <a:endParaRPr lang="en-US" dirty="0"/>
          </a:p>
        </p:txBody>
      </p:sp>
      <p:grpSp>
        <p:nvGrpSpPr>
          <p:cNvPr id="6" name="Group 57"/>
          <p:cNvGrpSpPr/>
          <p:nvPr/>
        </p:nvGrpSpPr>
        <p:grpSpPr>
          <a:xfrm>
            <a:off x="646405" y="1851153"/>
            <a:ext cx="6873680" cy="3175174"/>
            <a:chOff x="387216" y="3196801"/>
            <a:chExt cx="6873680" cy="3175174"/>
          </a:xfrm>
        </p:grpSpPr>
        <p:sp>
          <p:nvSpPr>
            <p:cNvPr id="7" name="Rectangle 6"/>
            <p:cNvSpPr/>
            <p:nvPr/>
          </p:nvSpPr>
          <p:spPr bwMode="auto">
            <a:xfrm>
              <a:off x="3424621" y="3555991"/>
              <a:ext cx="1825719" cy="1311998"/>
            </a:xfrm>
            <a:prstGeom prst="rect">
              <a:avLst/>
            </a:prstGeom>
            <a:solidFill>
              <a:schemeClr val="accent2">
                <a:lumMod val="60000"/>
                <a:lumOff val="40000"/>
              </a:schemeClr>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dirty="0" smtClean="0">
                  <a:solidFill>
                    <a:schemeClr val="tx1"/>
                  </a:solidFill>
                  <a:latin typeface="+mn-lt"/>
                </a:rPr>
                <a:t>ABC </a:t>
              </a:r>
            </a:p>
            <a:p>
              <a:pPr marL="0" marR="0" indent="0" algn="ctr" defTabSz="914400" rtl="0" eaLnBrk="1" fontAlgn="base" latinLnBrk="0" hangingPunct="1">
                <a:lnSpc>
                  <a:spcPct val="100000"/>
                </a:lnSpc>
                <a:spcBef>
                  <a:spcPct val="0"/>
                </a:spcBef>
                <a:spcAft>
                  <a:spcPct val="0"/>
                </a:spcAft>
                <a:buClrTx/>
                <a:buSzTx/>
                <a:buFontTx/>
                <a:buNone/>
                <a:tabLst/>
              </a:pPr>
              <a:r>
                <a:rPr lang="en-US" dirty="0" smtClean="0">
                  <a:solidFill>
                    <a:schemeClr val="tx1"/>
                  </a:solidFill>
                  <a:latin typeface="+mn-lt"/>
                </a:rPr>
                <a:t>Inventory System</a:t>
              </a:r>
              <a:endParaRPr kumimoji="0" lang="en-US" sz="1800" b="0" i="0" u="none" strike="noStrike" cap="none" normalizeH="0" baseline="0" dirty="0" smtClean="0">
                <a:ln>
                  <a:noFill/>
                </a:ln>
                <a:solidFill>
                  <a:schemeClr val="tx1"/>
                </a:solidFill>
                <a:effectLst/>
                <a:latin typeface="+mn-lt"/>
              </a:endParaRPr>
            </a:p>
          </p:txBody>
        </p:sp>
        <p:sp>
          <p:nvSpPr>
            <p:cNvPr id="8" name="Rectangle 7"/>
            <p:cNvSpPr/>
            <p:nvPr/>
          </p:nvSpPr>
          <p:spPr bwMode="auto">
            <a:xfrm>
              <a:off x="387216" y="3739773"/>
              <a:ext cx="1425544" cy="950400"/>
            </a:xfrm>
            <a:prstGeom prst="rect">
              <a:avLst/>
            </a:prstGeom>
            <a:solidFill>
              <a:schemeClr val="bg1">
                <a:lumMod val="85000"/>
              </a:schemeClr>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dirty="0" smtClean="0">
                  <a:solidFill>
                    <a:schemeClr val="tx1"/>
                  </a:solidFill>
                  <a:latin typeface="+mn-lt"/>
                </a:rPr>
                <a:t>Supplier A Parts Mgmt System</a:t>
              </a:r>
              <a:endParaRPr kumimoji="0" lang="en-US" sz="1800" b="0" i="0" u="none" strike="noStrike" cap="none" normalizeH="0" baseline="0" dirty="0" smtClean="0">
                <a:ln>
                  <a:noFill/>
                </a:ln>
                <a:solidFill>
                  <a:schemeClr val="tx1"/>
                </a:solidFill>
                <a:effectLst/>
                <a:latin typeface="+mn-lt"/>
              </a:endParaRPr>
            </a:p>
          </p:txBody>
        </p:sp>
        <p:sp>
          <p:nvSpPr>
            <p:cNvPr id="9" name="Rectangle 8"/>
            <p:cNvSpPr/>
            <p:nvPr/>
          </p:nvSpPr>
          <p:spPr bwMode="auto">
            <a:xfrm>
              <a:off x="6295598" y="3853784"/>
              <a:ext cx="965298" cy="730809"/>
            </a:xfrm>
            <a:prstGeom prst="rect">
              <a:avLst/>
            </a:prstGeom>
            <a:solidFill>
              <a:schemeClr val="accent2">
                <a:lumMod val="60000"/>
                <a:lumOff val="40000"/>
              </a:schemeClr>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algn="ctr"/>
              <a:r>
                <a:rPr lang="en-US" dirty="0" smtClean="0">
                  <a:solidFill>
                    <a:schemeClr val="tx1"/>
                  </a:solidFill>
                  <a:latin typeface="+mn-lt"/>
                </a:rPr>
                <a:t>SAP</a:t>
              </a:r>
            </a:p>
          </p:txBody>
        </p:sp>
        <p:cxnSp>
          <p:nvCxnSpPr>
            <p:cNvPr id="10" name="Straight Arrow Connector 9"/>
            <p:cNvCxnSpPr>
              <a:stCxn id="7" idx="3"/>
              <a:endCxn id="9" idx="1"/>
            </p:cNvCxnSpPr>
            <p:nvPr/>
          </p:nvCxnSpPr>
          <p:spPr bwMode="auto">
            <a:xfrm>
              <a:off x="5250340" y="4211990"/>
              <a:ext cx="1045258" cy="7199"/>
            </a:xfrm>
            <a:prstGeom prst="straightConnector1">
              <a:avLst/>
            </a:prstGeom>
            <a:solidFill>
              <a:schemeClr val="accent1"/>
            </a:solidFill>
            <a:ln w="12700" cap="sq" cmpd="sng" algn="ctr">
              <a:solidFill>
                <a:schemeClr val="tx1"/>
              </a:solidFill>
              <a:prstDash val="solid"/>
              <a:round/>
              <a:headEnd type="none" w="sm" len="sm"/>
              <a:tailEnd type="arrow"/>
            </a:ln>
            <a:effectLst/>
          </p:spPr>
        </p:cxnSp>
        <p:cxnSp>
          <p:nvCxnSpPr>
            <p:cNvPr id="11" name="Straight Arrow Connector 10"/>
            <p:cNvCxnSpPr>
              <a:stCxn id="8" idx="3"/>
              <a:endCxn id="7" idx="1"/>
            </p:cNvCxnSpPr>
            <p:nvPr/>
          </p:nvCxnSpPr>
          <p:spPr bwMode="auto">
            <a:xfrm flipV="1">
              <a:off x="1812760" y="4211990"/>
              <a:ext cx="1611861" cy="2983"/>
            </a:xfrm>
            <a:prstGeom prst="straightConnector1">
              <a:avLst/>
            </a:prstGeom>
            <a:solidFill>
              <a:schemeClr val="accent1"/>
            </a:solidFill>
            <a:ln w="12700" cap="sq" cmpd="sng" algn="ctr">
              <a:solidFill>
                <a:schemeClr val="tx1"/>
              </a:solidFill>
              <a:prstDash val="solid"/>
              <a:round/>
              <a:headEnd type="arrow"/>
              <a:tailEnd type="arrow"/>
            </a:ln>
            <a:effectLst/>
          </p:spPr>
        </p:cxnSp>
        <p:sp>
          <p:nvSpPr>
            <p:cNvPr id="12" name="TextBox 11"/>
            <p:cNvSpPr txBox="1"/>
            <p:nvPr/>
          </p:nvSpPr>
          <p:spPr>
            <a:xfrm>
              <a:off x="1978777" y="4204723"/>
              <a:ext cx="797035" cy="307777"/>
            </a:xfrm>
            <a:prstGeom prst="rect">
              <a:avLst/>
            </a:prstGeom>
            <a:noFill/>
          </p:spPr>
          <p:txBody>
            <a:bodyPr wrap="square" rtlCol="0">
              <a:spAutoFit/>
            </a:bodyPr>
            <a:lstStyle/>
            <a:p>
              <a:r>
                <a:rPr lang="en-US" sz="1400" b="1" dirty="0" smtClean="0">
                  <a:solidFill>
                    <a:schemeClr val="tx1"/>
                  </a:solidFill>
                  <a:latin typeface="+mn-lt"/>
                </a:rPr>
                <a:t>Orders</a:t>
              </a:r>
              <a:endParaRPr lang="en-US" sz="1400" b="1" dirty="0">
                <a:solidFill>
                  <a:schemeClr val="tx1"/>
                </a:solidFill>
                <a:latin typeface="+mn-lt"/>
              </a:endParaRPr>
            </a:p>
          </p:txBody>
        </p:sp>
        <p:sp>
          <p:nvSpPr>
            <p:cNvPr id="13" name="TextBox 12"/>
            <p:cNvSpPr txBox="1"/>
            <p:nvPr/>
          </p:nvSpPr>
          <p:spPr>
            <a:xfrm>
              <a:off x="5398812" y="4242669"/>
              <a:ext cx="726966" cy="523220"/>
            </a:xfrm>
            <a:prstGeom prst="rect">
              <a:avLst/>
            </a:prstGeom>
            <a:noFill/>
          </p:spPr>
          <p:txBody>
            <a:bodyPr wrap="square" rtlCol="0">
              <a:spAutoFit/>
            </a:bodyPr>
            <a:lstStyle/>
            <a:p>
              <a:r>
                <a:rPr lang="en-US" sz="1400" b="1" dirty="0" smtClean="0">
                  <a:solidFill>
                    <a:schemeClr val="tx1"/>
                  </a:solidFill>
                  <a:latin typeface="+mn-lt"/>
                </a:rPr>
                <a:t>Billing Info</a:t>
              </a:r>
              <a:endParaRPr lang="en-US" sz="1400" b="1" dirty="0">
                <a:solidFill>
                  <a:schemeClr val="tx1"/>
                </a:solidFill>
                <a:latin typeface="+mn-lt"/>
              </a:endParaRPr>
            </a:p>
          </p:txBody>
        </p:sp>
        <p:grpSp>
          <p:nvGrpSpPr>
            <p:cNvPr id="14" name="Group 46"/>
            <p:cNvGrpSpPr/>
            <p:nvPr/>
          </p:nvGrpSpPr>
          <p:grpSpPr>
            <a:xfrm>
              <a:off x="4198863" y="5377784"/>
              <a:ext cx="329342" cy="569310"/>
              <a:chOff x="3121553" y="5456621"/>
              <a:chExt cx="329342" cy="569310"/>
            </a:xfrm>
          </p:grpSpPr>
          <p:sp>
            <p:nvSpPr>
              <p:cNvPr id="20" name="Oval 19"/>
              <p:cNvSpPr/>
              <p:nvPr/>
            </p:nvSpPr>
            <p:spPr bwMode="auto">
              <a:xfrm>
                <a:off x="3188138" y="5456621"/>
                <a:ext cx="183931" cy="157655"/>
              </a:xfrm>
              <a:prstGeom prst="ellipse">
                <a:avLst/>
              </a:prstGeom>
              <a:solidFill>
                <a:srgbClr val="333399"/>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accent2">
                      <a:lumMod val="75000"/>
                    </a:schemeClr>
                  </a:solidFill>
                  <a:effectLst/>
                  <a:latin typeface="Arial" charset="0"/>
                </a:endParaRPr>
              </a:p>
            </p:txBody>
          </p:sp>
          <p:sp>
            <p:nvSpPr>
              <p:cNvPr id="21" name="Rounded Rectangle 20"/>
              <p:cNvSpPr/>
              <p:nvPr/>
            </p:nvSpPr>
            <p:spPr bwMode="auto">
              <a:xfrm>
                <a:off x="3188138" y="5640552"/>
                <a:ext cx="192690" cy="385379"/>
              </a:xfrm>
              <a:prstGeom prst="roundRect">
                <a:avLst/>
              </a:prstGeom>
              <a:solidFill>
                <a:srgbClr val="333399"/>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endParaRPr>
              </a:p>
            </p:txBody>
          </p:sp>
          <p:sp>
            <p:nvSpPr>
              <p:cNvPr id="22" name="Rounded Rectangle 21"/>
              <p:cNvSpPr/>
              <p:nvPr/>
            </p:nvSpPr>
            <p:spPr bwMode="auto">
              <a:xfrm flipH="1">
                <a:off x="3389585" y="5644056"/>
                <a:ext cx="61310" cy="259255"/>
              </a:xfrm>
              <a:prstGeom prst="roundRect">
                <a:avLst/>
              </a:prstGeom>
              <a:solidFill>
                <a:srgbClr val="333399"/>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endParaRPr>
              </a:p>
            </p:txBody>
          </p:sp>
          <p:sp>
            <p:nvSpPr>
              <p:cNvPr id="23" name="Rounded Rectangle 22"/>
              <p:cNvSpPr/>
              <p:nvPr/>
            </p:nvSpPr>
            <p:spPr bwMode="auto">
              <a:xfrm flipH="1">
                <a:off x="3121553" y="5647553"/>
                <a:ext cx="61310" cy="259255"/>
              </a:xfrm>
              <a:prstGeom prst="roundRect">
                <a:avLst/>
              </a:prstGeom>
              <a:solidFill>
                <a:srgbClr val="333399"/>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endParaRPr>
              </a:p>
            </p:txBody>
          </p:sp>
        </p:grpSp>
        <p:cxnSp>
          <p:nvCxnSpPr>
            <p:cNvPr id="15" name="Straight Arrow Connector 14"/>
            <p:cNvCxnSpPr>
              <a:endCxn id="7" idx="2"/>
            </p:cNvCxnSpPr>
            <p:nvPr/>
          </p:nvCxnSpPr>
          <p:spPr bwMode="auto">
            <a:xfrm rot="16200000" flipV="1">
              <a:off x="4112257" y="5093213"/>
              <a:ext cx="457244" cy="6795"/>
            </a:xfrm>
            <a:prstGeom prst="straightConnector1">
              <a:avLst/>
            </a:prstGeom>
            <a:solidFill>
              <a:schemeClr val="accent1"/>
            </a:solidFill>
            <a:ln w="12700" cap="sq" cmpd="sng" algn="ctr">
              <a:solidFill>
                <a:schemeClr val="tx1"/>
              </a:solidFill>
              <a:prstDash val="solid"/>
              <a:round/>
              <a:headEnd type="none" w="sm" len="sm"/>
              <a:tailEnd type="arrow"/>
            </a:ln>
            <a:effectLst/>
          </p:spPr>
        </p:cxnSp>
        <p:sp>
          <p:nvSpPr>
            <p:cNvPr id="16" name="TextBox 15"/>
            <p:cNvSpPr txBox="1"/>
            <p:nvPr/>
          </p:nvSpPr>
          <p:spPr>
            <a:xfrm>
              <a:off x="4307488" y="5060724"/>
              <a:ext cx="2287754" cy="307777"/>
            </a:xfrm>
            <a:prstGeom prst="rect">
              <a:avLst/>
            </a:prstGeom>
            <a:noFill/>
          </p:spPr>
          <p:txBody>
            <a:bodyPr wrap="square" rtlCol="0">
              <a:spAutoFit/>
            </a:bodyPr>
            <a:lstStyle/>
            <a:p>
              <a:r>
                <a:rPr lang="en-US" sz="1400" b="1" dirty="0" smtClean="0">
                  <a:solidFill>
                    <a:schemeClr val="tx1"/>
                  </a:solidFill>
                  <a:latin typeface="+mn-lt"/>
                </a:rPr>
                <a:t>Manage Orders</a:t>
              </a:r>
              <a:endParaRPr lang="en-US" sz="1400" b="1" dirty="0">
                <a:solidFill>
                  <a:schemeClr val="tx1"/>
                </a:solidFill>
                <a:latin typeface="+mn-lt"/>
              </a:endParaRPr>
            </a:p>
          </p:txBody>
        </p:sp>
        <p:sp>
          <p:nvSpPr>
            <p:cNvPr id="17" name="TextBox 16"/>
            <p:cNvSpPr txBox="1"/>
            <p:nvPr/>
          </p:nvSpPr>
          <p:spPr>
            <a:xfrm>
              <a:off x="3887074" y="5910310"/>
              <a:ext cx="1008995" cy="461665"/>
            </a:xfrm>
            <a:prstGeom prst="rect">
              <a:avLst/>
            </a:prstGeom>
            <a:noFill/>
          </p:spPr>
          <p:txBody>
            <a:bodyPr wrap="square" rtlCol="0">
              <a:spAutoFit/>
            </a:bodyPr>
            <a:lstStyle/>
            <a:p>
              <a:r>
                <a:rPr lang="en-US" sz="1200" b="1" dirty="0" smtClean="0">
                  <a:solidFill>
                    <a:schemeClr val="tx1"/>
                  </a:solidFill>
                  <a:latin typeface="+mn-lt"/>
                </a:rPr>
                <a:t>Inventory Manager</a:t>
              </a:r>
              <a:endParaRPr lang="en-US" sz="1200" b="1" dirty="0">
                <a:solidFill>
                  <a:schemeClr val="tx1"/>
                </a:solidFill>
                <a:latin typeface="+mn-lt"/>
              </a:endParaRPr>
            </a:p>
          </p:txBody>
        </p:sp>
        <p:cxnSp>
          <p:nvCxnSpPr>
            <p:cNvPr id="18" name="Straight Connector 17"/>
            <p:cNvCxnSpPr/>
            <p:nvPr/>
          </p:nvCxnSpPr>
          <p:spPr bwMode="auto">
            <a:xfrm rot="16200000" flipH="1">
              <a:off x="1231090" y="4756323"/>
              <a:ext cx="3144961" cy="25918"/>
            </a:xfrm>
            <a:prstGeom prst="line">
              <a:avLst/>
            </a:prstGeom>
            <a:solidFill>
              <a:schemeClr val="accent1"/>
            </a:solidFill>
            <a:ln w="28575" cap="sq" cmpd="sng" algn="ctr">
              <a:solidFill>
                <a:schemeClr val="tx1"/>
              </a:solidFill>
              <a:prstDash val="sysDash"/>
              <a:round/>
              <a:headEnd type="none" w="sm" len="sm"/>
              <a:tailEnd type="none" w="sm" len="sm"/>
            </a:ln>
            <a:effectLst/>
          </p:spPr>
        </p:cxnSp>
        <p:sp>
          <p:nvSpPr>
            <p:cNvPr id="19" name="TextBox 18"/>
            <p:cNvSpPr txBox="1"/>
            <p:nvPr/>
          </p:nvSpPr>
          <p:spPr>
            <a:xfrm>
              <a:off x="410817" y="5803510"/>
              <a:ext cx="2034207" cy="276999"/>
            </a:xfrm>
            <a:prstGeom prst="rect">
              <a:avLst/>
            </a:prstGeom>
            <a:noFill/>
          </p:spPr>
          <p:txBody>
            <a:bodyPr wrap="square" rtlCol="0">
              <a:spAutoFit/>
            </a:bodyPr>
            <a:lstStyle/>
            <a:p>
              <a:r>
                <a:rPr lang="en-US" sz="1200" b="1" dirty="0" smtClean="0">
                  <a:solidFill>
                    <a:schemeClr val="tx1"/>
                  </a:solidFill>
                  <a:latin typeface="+mn-lt"/>
                </a:rPr>
                <a:t>External Vendor Systems</a:t>
              </a:r>
              <a:endParaRPr lang="en-US" sz="1200" b="1" dirty="0">
                <a:solidFill>
                  <a:schemeClr val="tx1"/>
                </a:solidFill>
                <a:latin typeface="+mn-lt"/>
              </a:endParaRPr>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Roadmap</a:t>
            </a:r>
            <a:endParaRPr lang="en-US" dirty="0"/>
          </a:p>
        </p:txBody>
      </p:sp>
      <p:sp>
        <p:nvSpPr>
          <p:cNvPr id="3" name="Footer Placeholder 2"/>
          <p:cNvSpPr>
            <a:spLocks noGrp="1"/>
          </p:cNvSpPr>
          <p:nvPr>
            <p:ph type="ftr" sz="quarter" idx="11"/>
          </p:nvPr>
        </p:nvSpPr>
        <p:spPr/>
        <p:txBody>
          <a:bodyPr/>
          <a:lstStyle/>
          <a:p>
            <a:r>
              <a:rPr lang="en-US" smtClean="0"/>
              <a:t>Roadmap Template v6.4</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6</a:t>
            </a:fld>
            <a:endParaRPr lang="en-US" dirty="0"/>
          </a:p>
        </p:txBody>
      </p:sp>
      <p:sp>
        <p:nvSpPr>
          <p:cNvPr id="5" name="Content Placeholder 4"/>
          <p:cNvSpPr>
            <a:spLocks noGrp="1"/>
          </p:cNvSpPr>
          <p:nvPr>
            <p:ph sz="quarter" idx="15"/>
          </p:nvPr>
        </p:nvSpPr>
        <p:spPr/>
        <p:txBody>
          <a:bodyPr/>
          <a:lstStyle/>
          <a:p>
            <a:r>
              <a:rPr lang="en-US" dirty="0" smtClean="0"/>
              <a:t>Architecture Strategy by Release</a:t>
            </a:r>
            <a:endParaRPr lang="en-US" dirty="0"/>
          </a:p>
        </p:txBody>
      </p:sp>
      <p:grpSp>
        <p:nvGrpSpPr>
          <p:cNvPr id="6" name="Group 5"/>
          <p:cNvGrpSpPr/>
          <p:nvPr/>
        </p:nvGrpSpPr>
        <p:grpSpPr>
          <a:xfrm>
            <a:off x="531019" y="1716387"/>
            <a:ext cx="6061175" cy="4154295"/>
            <a:chOff x="2814377" y="2063625"/>
            <a:chExt cx="5771679" cy="4154295"/>
          </a:xfrm>
        </p:grpSpPr>
        <p:sp>
          <p:nvSpPr>
            <p:cNvPr id="7" name="Rectangle 6"/>
            <p:cNvSpPr/>
            <p:nvPr/>
          </p:nvSpPr>
          <p:spPr>
            <a:xfrm>
              <a:off x="2827216" y="2063625"/>
              <a:ext cx="1919613" cy="4139055"/>
            </a:xfrm>
            <a:prstGeom prst="rect">
              <a:avLst/>
            </a:prstGeom>
            <a:solidFill>
              <a:schemeClr val="tx2">
                <a:lumMod val="20000"/>
                <a:lumOff val="80000"/>
              </a:schemeClr>
            </a:soli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dirty="0"/>
            </a:p>
          </p:txBody>
        </p:sp>
        <p:sp>
          <p:nvSpPr>
            <p:cNvPr id="8" name="Rectangle 7"/>
            <p:cNvSpPr/>
            <p:nvPr/>
          </p:nvSpPr>
          <p:spPr>
            <a:xfrm>
              <a:off x="4746829" y="2063625"/>
              <a:ext cx="1919613" cy="413905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dirty="0"/>
            </a:p>
          </p:txBody>
        </p:sp>
        <p:sp>
          <p:nvSpPr>
            <p:cNvPr id="9" name="Rectangle 8"/>
            <p:cNvSpPr/>
            <p:nvPr/>
          </p:nvSpPr>
          <p:spPr>
            <a:xfrm>
              <a:off x="6666442" y="2063625"/>
              <a:ext cx="1919613" cy="4154295"/>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dirty="0"/>
            </a:p>
          </p:txBody>
        </p:sp>
        <p:sp>
          <p:nvSpPr>
            <p:cNvPr id="10" name="Rectangle 9"/>
            <p:cNvSpPr/>
            <p:nvPr/>
          </p:nvSpPr>
          <p:spPr>
            <a:xfrm>
              <a:off x="2827216" y="2329454"/>
              <a:ext cx="1757185" cy="48191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rgbClr val="000000"/>
                  </a:solidFill>
                </a:rPr>
                <a:t>System A</a:t>
              </a:r>
              <a:endParaRPr lang="en-US" dirty="0">
                <a:solidFill>
                  <a:srgbClr val="000000"/>
                </a:solidFill>
              </a:endParaRPr>
            </a:p>
          </p:txBody>
        </p:sp>
        <p:sp>
          <p:nvSpPr>
            <p:cNvPr id="11" name="Rectangle 10"/>
            <p:cNvSpPr/>
            <p:nvPr/>
          </p:nvSpPr>
          <p:spPr>
            <a:xfrm>
              <a:off x="4795866" y="2339606"/>
              <a:ext cx="3790189" cy="48191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rgbClr val="000000"/>
                  </a:solidFill>
                </a:rPr>
                <a:t>System B</a:t>
              </a:r>
              <a:endParaRPr lang="en-US" dirty="0">
                <a:solidFill>
                  <a:srgbClr val="000000"/>
                </a:solidFill>
              </a:endParaRPr>
            </a:p>
          </p:txBody>
        </p:sp>
        <p:sp>
          <p:nvSpPr>
            <p:cNvPr id="12" name="Hexagon 11"/>
            <p:cNvSpPr/>
            <p:nvPr/>
          </p:nvSpPr>
          <p:spPr>
            <a:xfrm>
              <a:off x="4343394" y="2329454"/>
              <a:ext cx="452472" cy="492069"/>
            </a:xfrm>
            <a:prstGeom prst="hexagon">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13" name="Rectangle 12"/>
            <p:cNvSpPr/>
            <p:nvPr/>
          </p:nvSpPr>
          <p:spPr>
            <a:xfrm>
              <a:off x="2827216" y="3152493"/>
              <a:ext cx="3699606" cy="48191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rgbClr val="000000"/>
                  </a:solidFill>
                </a:rPr>
                <a:t>System C</a:t>
              </a:r>
              <a:endParaRPr lang="en-US" dirty="0">
                <a:solidFill>
                  <a:srgbClr val="000000"/>
                </a:solidFill>
              </a:endParaRPr>
            </a:p>
          </p:txBody>
        </p:sp>
        <p:sp>
          <p:nvSpPr>
            <p:cNvPr id="14" name="Hexagon 13"/>
            <p:cNvSpPr/>
            <p:nvPr/>
          </p:nvSpPr>
          <p:spPr>
            <a:xfrm>
              <a:off x="6181236" y="3142341"/>
              <a:ext cx="452472" cy="492069"/>
            </a:xfrm>
            <a:prstGeom prst="hexagon">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15" name="Rectangle 14"/>
            <p:cNvSpPr/>
            <p:nvPr/>
          </p:nvSpPr>
          <p:spPr>
            <a:xfrm>
              <a:off x="6679222" y="3142341"/>
              <a:ext cx="1906833" cy="48191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rgbClr val="000000"/>
                  </a:solidFill>
                </a:rPr>
                <a:t>System D</a:t>
              </a:r>
              <a:endParaRPr lang="en-US" dirty="0">
                <a:solidFill>
                  <a:srgbClr val="000000"/>
                </a:solidFill>
              </a:endParaRPr>
            </a:p>
          </p:txBody>
        </p:sp>
        <p:sp>
          <p:nvSpPr>
            <p:cNvPr id="16" name="Rectangle 15"/>
            <p:cNvSpPr/>
            <p:nvPr/>
          </p:nvSpPr>
          <p:spPr>
            <a:xfrm>
              <a:off x="2827215" y="3918457"/>
              <a:ext cx="5758839" cy="48191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rgbClr val="000000"/>
                  </a:solidFill>
                </a:rPr>
                <a:t>System E</a:t>
              </a:r>
              <a:endParaRPr lang="en-US" dirty="0">
                <a:solidFill>
                  <a:srgbClr val="000000"/>
                </a:solidFill>
              </a:endParaRPr>
            </a:p>
          </p:txBody>
        </p:sp>
        <p:sp>
          <p:nvSpPr>
            <p:cNvPr id="17" name="Rectangle 16"/>
            <p:cNvSpPr/>
            <p:nvPr/>
          </p:nvSpPr>
          <p:spPr>
            <a:xfrm>
              <a:off x="2827216" y="4552774"/>
              <a:ext cx="1757185" cy="48191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rgbClr val="000000"/>
                  </a:solidFill>
                </a:rPr>
                <a:t>System F</a:t>
              </a:r>
              <a:endParaRPr lang="en-US" dirty="0">
                <a:solidFill>
                  <a:srgbClr val="000000"/>
                </a:solidFill>
              </a:endParaRPr>
            </a:p>
          </p:txBody>
        </p:sp>
        <p:sp>
          <p:nvSpPr>
            <p:cNvPr id="18" name="Rectangle 17"/>
            <p:cNvSpPr/>
            <p:nvPr/>
          </p:nvSpPr>
          <p:spPr>
            <a:xfrm>
              <a:off x="4746829" y="4552774"/>
              <a:ext cx="3839225" cy="48191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rgbClr val="000000"/>
                  </a:solidFill>
                </a:rPr>
                <a:t>System G</a:t>
              </a:r>
              <a:endParaRPr lang="en-US" dirty="0">
                <a:solidFill>
                  <a:srgbClr val="000000"/>
                </a:solidFill>
              </a:endParaRPr>
            </a:p>
          </p:txBody>
        </p:sp>
        <p:sp>
          <p:nvSpPr>
            <p:cNvPr id="19" name="Hexagon 18"/>
            <p:cNvSpPr/>
            <p:nvPr/>
          </p:nvSpPr>
          <p:spPr>
            <a:xfrm>
              <a:off x="4343394" y="4542622"/>
              <a:ext cx="452472" cy="492069"/>
            </a:xfrm>
            <a:prstGeom prst="hexagon">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grpSp>
          <p:nvGrpSpPr>
            <p:cNvPr id="20" name="Group 18"/>
            <p:cNvGrpSpPr/>
            <p:nvPr/>
          </p:nvGrpSpPr>
          <p:grpSpPr>
            <a:xfrm>
              <a:off x="2825066" y="5183238"/>
              <a:ext cx="5760990" cy="273390"/>
              <a:chOff x="2022974" y="927480"/>
              <a:chExt cx="5882773" cy="273390"/>
            </a:xfrm>
          </p:grpSpPr>
          <p:grpSp>
            <p:nvGrpSpPr>
              <p:cNvPr id="23" name="Group 32"/>
              <p:cNvGrpSpPr/>
              <p:nvPr/>
            </p:nvGrpSpPr>
            <p:grpSpPr>
              <a:xfrm>
                <a:off x="2022974" y="927480"/>
                <a:ext cx="384209" cy="195206"/>
                <a:chOff x="2022974" y="927480"/>
                <a:chExt cx="384209" cy="195206"/>
              </a:xfrm>
            </p:grpSpPr>
            <p:cxnSp>
              <p:nvCxnSpPr>
                <p:cNvPr id="69" name="Straight Connector 23"/>
                <p:cNvCxnSpPr/>
                <p:nvPr/>
              </p:nvCxnSpPr>
              <p:spPr>
                <a:xfrm flipV="1">
                  <a:off x="2022974" y="92748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0" name="Straight Connector 31"/>
                <p:cNvCxnSpPr/>
                <p:nvPr/>
              </p:nvCxnSpPr>
              <p:spPr>
                <a:xfrm flipH="1" flipV="1">
                  <a:off x="2203916" y="93719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4" name="Group 33"/>
              <p:cNvGrpSpPr/>
              <p:nvPr/>
            </p:nvGrpSpPr>
            <p:grpSpPr>
              <a:xfrm>
                <a:off x="2378641" y="932633"/>
                <a:ext cx="384209" cy="195206"/>
                <a:chOff x="2022974" y="927480"/>
                <a:chExt cx="384209" cy="195206"/>
              </a:xfrm>
            </p:grpSpPr>
            <p:cxnSp>
              <p:nvCxnSpPr>
                <p:cNvPr id="67" name="Straight Connector 34"/>
                <p:cNvCxnSpPr/>
                <p:nvPr/>
              </p:nvCxnSpPr>
              <p:spPr>
                <a:xfrm flipV="1">
                  <a:off x="2022974" y="92748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8" name="Straight Connector 35"/>
                <p:cNvCxnSpPr/>
                <p:nvPr/>
              </p:nvCxnSpPr>
              <p:spPr>
                <a:xfrm flipH="1" flipV="1">
                  <a:off x="2203916" y="93719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5" name="Group 36"/>
              <p:cNvGrpSpPr/>
              <p:nvPr/>
            </p:nvGrpSpPr>
            <p:grpSpPr>
              <a:xfrm>
                <a:off x="2756464" y="937190"/>
                <a:ext cx="384209" cy="195206"/>
                <a:chOff x="2022974" y="927480"/>
                <a:chExt cx="384209" cy="195206"/>
              </a:xfrm>
            </p:grpSpPr>
            <p:cxnSp>
              <p:nvCxnSpPr>
                <p:cNvPr id="65" name="Straight Connector 37"/>
                <p:cNvCxnSpPr/>
                <p:nvPr/>
              </p:nvCxnSpPr>
              <p:spPr>
                <a:xfrm flipV="1">
                  <a:off x="2022974" y="92748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6" name="Straight Connector 65"/>
                <p:cNvCxnSpPr/>
                <p:nvPr/>
              </p:nvCxnSpPr>
              <p:spPr>
                <a:xfrm flipH="1" flipV="1">
                  <a:off x="2203916" y="93719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6" name="Group 39"/>
              <p:cNvGrpSpPr/>
              <p:nvPr/>
            </p:nvGrpSpPr>
            <p:grpSpPr>
              <a:xfrm>
                <a:off x="3112131" y="942343"/>
                <a:ext cx="384209" cy="195206"/>
                <a:chOff x="2022974" y="927480"/>
                <a:chExt cx="384209" cy="195206"/>
              </a:xfrm>
            </p:grpSpPr>
            <p:cxnSp>
              <p:nvCxnSpPr>
                <p:cNvPr id="63" name="Straight Connector 62"/>
                <p:cNvCxnSpPr/>
                <p:nvPr/>
              </p:nvCxnSpPr>
              <p:spPr>
                <a:xfrm flipV="1">
                  <a:off x="2022974" y="92748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4" name="Straight Connector 63"/>
                <p:cNvCxnSpPr/>
                <p:nvPr/>
              </p:nvCxnSpPr>
              <p:spPr>
                <a:xfrm flipH="1" flipV="1">
                  <a:off x="2203916" y="93719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7" name="Group 42"/>
              <p:cNvGrpSpPr/>
              <p:nvPr/>
            </p:nvGrpSpPr>
            <p:grpSpPr>
              <a:xfrm>
                <a:off x="3493144" y="953145"/>
                <a:ext cx="384209" cy="195206"/>
                <a:chOff x="2022974" y="927480"/>
                <a:chExt cx="384209" cy="195206"/>
              </a:xfrm>
            </p:grpSpPr>
            <p:cxnSp>
              <p:nvCxnSpPr>
                <p:cNvPr id="61" name="Straight Connector 60"/>
                <p:cNvCxnSpPr/>
                <p:nvPr/>
              </p:nvCxnSpPr>
              <p:spPr>
                <a:xfrm flipV="1">
                  <a:off x="2022974" y="92748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2" name="Straight Connector 61"/>
                <p:cNvCxnSpPr/>
                <p:nvPr/>
              </p:nvCxnSpPr>
              <p:spPr>
                <a:xfrm flipH="1" flipV="1">
                  <a:off x="2203916" y="93719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8" name="Group 45"/>
              <p:cNvGrpSpPr/>
              <p:nvPr/>
            </p:nvGrpSpPr>
            <p:grpSpPr>
              <a:xfrm>
                <a:off x="3848811" y="958298"/>
                <a:ext cx="384209" cy="195206"/>
                <a:chOff x="2022974" y="927480"/>
                <a:chExt cx="384209" cy="195206"/>
              </a:xfrm>
            </p:grpSpPr>
            <p:cxnSp>
              <p:nvCxnSpPr>
                <p:cNvPr id="59" name="Straight Connector 58"/>
                <p:cNvCxnSpPr/>
                <p:nvPr/>
              </p:nvCxnSpPr>
              <p:spPr>
                <a:xfrm flipV="1">
                  <a:off x="2022974" y="92748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0" name="Straight Connector 59"/>
                <p:cNvCxnSpPr/>
                <p:nvPr/>
              </p:nvCxnSpPr>
              <p:spPr>
                <a:xfrm flipH="1" flipV="1">
                  <a:off x="2203916" y="93719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9" name="Group 48"/>
              <p:cNvGrpSpPr/>
              <p:nvPr/>
            </p:nvGrpSpPr>
            <p:grpSpPr>
              <a:xfrm>
                <a:off x="4226634" y="962855"/>
                <a:ext cx="384209" cy="195206"/>
                <a:chOff x="2022974" y="927480"/>
                <a:chExt cx="384209" cy="195206"/>
              </a:xfrm>
            </p:grpSpPr>
            <p:cxnSp>
              <p:nvCxnSpPr>
                <p:cNvPr id="57" name="Straight Connector 56"/>
                <p:cNvCxnSpPr/>
                <p:nvPr/>
              </p:nvCxnSpPr>
              <p:spPr>
                <a:xfrm flipV="1">
                  <a:off x="2022974" y="92748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8" name="Straight Connector 57"/>
                <p:cNvCxnSpPr/>
                <p:nvPr/>
              </p:nvCxnSpPr>
              <p:spPr>
                <a:xfrm flipH="1" flipV="1">
                  <a:off x="2203916" y="93719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30" name="Group 51"/>
              <p:cNvGrpSpPr/>
              <p:nvPr/>
            </p:nvGrpSpPr>
            <p:grpSpPr>
              <a:xfrm>
                <a:off x="4582301" y="968008"/>
                <a:ext cx="384209" cy="195206"/>
                <a:chOff x="2022974" y="927480"/>
                <a:chExt cx="384209" cy="195206"/>
              </a:xfrm>
            </p:grpSpPr>
            <p:cxnSp>
              <p:nvCxnSpPr>
                <p:cNvPr id="55" name="Straight Connector 54"/>
                <p:cNvCxnSpPr/>
                <p:nvPr/>
              </p:nvCxnSpPr>
              <p:spPr>
                <a:xfrm flipV="1">
                  <a:off x="2022974" y="92748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 name="Straight Connector 55"/>
                <p:cNvCxnSpPr/>
                <p:nvPr/>
              </p:nvCxnSpPr>
              <p:spPr>
                <a:xfrm flipH="1" flipV="1">
                  <a:off x="2203916" y="93719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31" name="Group 54"/>
              <p:cNvGrpSpPr/>
              <p:nvPr/>
            </p:nvGrpSpPr>
            <p:grpSpPr>
              <a:xfrm>
                <a:off x="4962211" y="965136"/>
                <a:ext cx="384209" cy="195206"/>
                <a:chOff x="2022974" y="927480"/>
                <a:chExt cx="384209" cy="195206"/>
              </a:xfrm>
            </p:grpSpPr>
            <p:cxnSp>
              <p:nvCxnSpPr>
                <p:cNvPr id="53" name="Straight Connector 52"/>
                <p:cNvCxnSpPr/>
                <p:nvPr/>
              </p:nvCxnSpPr>
              <p:spPr>
                <a:xfrm flipV="1">
                  <a:off x="2022974" y="92748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Connector 53"/>
                <p:cNvCxnSpPr/>
                <p:nvPr/>
              </p:nvCxnSpPr>
              <p:spPr>
                <a:xfrm flipH="1" flipV="1">
                  <a:off x="2203916" y="93719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32" name="Group 57"/>
              <p:cNvGrpSpPr/>
              <p:nvPr/>
            </p:nvGrpSpPr>
            <p:grpSpPr>
              <a:xfrm>
                <a:off x="5317878" y="970289"/>
                <a:ext cx="384209" cy="195206"/>
                <a:chOff x="2022974" y="927480"/>
                <a:chExt cx="384209" cy="195206"/>
              </a:xfrm>
            </p:grpSpPr>
            <p:cxnSp>
              <p:nvCxnSpPr>
                <p:cNvPr id="51" name="Straight Connector 50"/>
                <p:cNvCxnSpPr/>
                <p:nvPr/>
              </p:nvCxnSpPr>
              <p:spPr>
                <a:xfrm flipV="1">
                  <a:off x="2022974" y="92748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 name="Straight Connector 51"/>
                <p:cNvCxnSpPr/>
                <p:nvPr/>
              </p:nvCxnSpPr>
              <p:spPr>
                <a:xfrm flipH="1" flipV="1">
                  <a:off x="2203916" y="93719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33" name="Group 60"/>
              <p:cNvGrpSpPr/>
              <p:nvPr/>
            </p:nvGrpSpPr>
            <p:grpSpPr>
              <a:xfrm>
                <a:off x="5695701" y="974846"/>
                <a:ext cx="384209" cy="195206"/>
                <a:chOff x="2022974" y="927480"/>
                <a:chExt cx="384209" cy="195206"/>
              </a:xfrm>
            </p:grpSpPr>
            <p:cxnSp>
              <p:nvCxnSpPr>
                <p:cNvPr id="49" name="Straight Connector 48"/>
                <p:cNvCxnSpPr/>
                <p:nvPr/>
              </p:nvCxnSpPr>
              <p:spPr>
                <a:xfrm flipV="1">
                  <a:off x="2022974" y="92748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0" name="Straight Connector 49"/>
                <p:cNvCxnSpPr/>
                <p:nvPr/>
              </p:nvCxnSpPr>
              <p:spPr>
                <a:xfrm flipH="1" flipV="1">
                  <a:off x="2203916" y="93719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34" name="Group 63"/>
              <p:cNvGrpSpPr/>
              <p:nvPr/>
            </p:nvGrpSpPr>
            <p:grpSpPr>
              <a:xfrm>
                <a:off x="6051368" y="979999"/>
                <a:ext cx="384209" cy="195206"/>
                <a:chOff x="2022974" y="927480"/>
                <a:chExt cx="384209" cy="195206"/>
              </a:xfrm>
            </p:grpSpPr>
            <p:cxnSp>
              <p:nvCxnSpPr>
                <p:cNvPr id="47" name="Straight Connector 46"/>
                <p:cNvCxnSpPr/>
                <p:nvPr/>
              </p:nvCxnSpPr>
              <p:spPr>
                <a:xfrm flipV="1">
                  <a:off x="2022974" y="92748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8" name="Straight Connector 47"/>
                <p:cNvCxnSpPr/>
                <p:nvPr/>
              </p:nvCxnSpPr>
              <p:spPr>
                <a:xfrm flipH="1" flipV="1">
                  <a:off x="2203916" y="93719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35" name="Group 66"/>
              <p:cNvGrpSpPr/>
              <p:nvPr/>
            </p:nvGrpSpPr>
            <p:grpSpPr>
              <a:xfrm>
                <a:off x="6432381" y="990801"/>
                <a:ext cx="384209" cy="195206"/>
                <a:chOff x="2022974" y="927480"/>
                <a:chExt cx="384209" cy="195206"/>
              </a:xfrm>
            </p:grpSpPr>
            <p:cxnSp>
              <p:nvCxnSpPr>
                <p:cNvPr id="45" name="Straight Connector 44"/>
                <p:cNvCxnSpPr/>
                <p:nvPr/>
              </p:nvCxnSpPr>
              <p:spPr>
                <a:xfrm flipV="1">
                  <a:off x="2022974" y="92748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6" name="Straight Connector 45"/>
                <p:cNvCxnSpPr/>
                <p:nvPr/>
              </p:nvCxnSpPr>
              <p:spPr>
                <a:xfrm flipH="1" flipV="1">
                  <a:off x="2203916" y="93719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36" name="Group 69"/>
              <p:cNvGrpSpPr/>
              <p:nvPr/>
            </p:nvGrpSpPr>
            <p:grpSpPr>
              <a:xfrm>
                <a:off x="6788048" y="995954"/>
                <a:ext cx="384209" cy="195206"/>
                <a:chOff x="2022974" y="927480"/>
                <a:chExt cx="384209" cy="195206"/>
              </a:xfrm>
            </p:grpSpPr>
            <p:cxnSp>
              <p:nvCxnSpPr>
                <p:cNvPr id="43" name="Straight Connector 42"/>
                <p:cNvCxnSpPr/>
                <p:nvPr/>
              </p:nvCxnSpPr>
              <p:spPr>
                <a:xfrm flipV="1">
                  <a:off x="2022974" y="92748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flipH="1" flipV="1">
                  <a:off x="2203916" y="93719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37" name="Group 72"/>
              <p:cNvGrpSpPr/>
              <p:nvPr/>
            </p:nvGrpSpPr>
            <p:grpSpPr>
              <a:xfrm>
                <a:off x="7165871" y="1000511"/>
                <a:ext cx="384209" cy="195206"/>
                <a:chOff x="2022974" y="927480"/>
                <a:chExt cx="384209" cy="195206"/>
              </a:xfrm>
            </p:grpSpPr>
            <p:cxnSp>
              <p:nvCxnSpPr>
                <p:cNvPr id="41" name="Straight Connector 40"/>
                <p:cNvCxnSpPr/>
                <p:nvPr/>
              </p:nvCxnSpPr>
              <p:spPr>
                <a:xfrm flipV="1">
                  <a:off x="2022974" y="92748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p:nvCxnSpPr>
              <p:spPr>
                <a:xfrm flipH="1" flipV="1">
                  <a:off x="2203916" y="93719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38" name="Group 75"/>
              <p:cNvGrpSpPr/>
              <p:nvPr/>
            </p:nvGrpSpPr>
            <p:grpSpPr>
              <a:xfrm>
                <a:off x="7521538" y="1005664"/>
                <a:ext cx="384209" cy="195206"/>
                <a:chOff x="2022974" y="927480"/>
                <a:chExt cx="384209" cy="195206"/>
              </a:xfrm>
            </p:grpSpPr>
            <p:cxnSp>
              <p:nvCxnSpPr>
                <p:cNvPr id="39" name="Straight Connector 38"/>
                <p:cNvCxnSpPr/>
                <p:nvPr/>
              </p:nvCxnSpPr>
              <p:spPr>
                <a:xfrm flipV="1">
                  <a:off x="2022974" y="92748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p:nvCxnSpPr>
              <p:spPr>
                <a:xfrm flipH="1" flipV="1">
                  <a:off x="2203916" y="937190"/>
                  <a:ext cx="203267" cy="1854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21" name="Rectangle 20"/>
            <p:cNvSpPr/>
            <p:nvPr/>
          </p:nvSpPr>
          <p:spPr>
            <a:xfrm>
              <a:off x="2814377" y="5506514"/>
              <a:ext cx="2893289" cy="48191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rgbClr val="000000"/>
                  </a:solidFill>
                </a:rPr>
                <a:t>System H</a:t>
              </a:r>
              <a:endParaRPr lang="en-US" dirty="0">
                <a:solidFill>
                  <a:srgbClr val="000000"/>
                </a:solidFill>
              </a:endParaRPr>
            </a:p>
          </p:txBody>
        </p:sp>
        <p:sp>
          <p:nvSpPr>
            <p:cNvPr id="22" name="Hexagon 21"/>
            <p:cNvSpPr/>
            <p:nvPr/>
          </p:nvSpPr>
          <p:spPr>
            <a:xfrm>
              <a:off x="5481430" y="5506514"/>
              <a:ext cx="452472" cy="492069"/>
            </a:xfrm>
            <a:prstGeom prst="hexagon">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grpSp>
      <p:sp>
        <p:nvSpPr>
          <p:cNvPr id="71" name="Hexagon 70"/>
          <p:cNvSpPr/>
          <p:nvPr/>
        </p:nvSpPr>
        <p:spPr>
          <a:xfrm flipV="1">
            <a:off x="6928134" y="5533788"/>
            <a:ext cx="292860" cy="254391"/>
          </a:xfrm>
          <a:prstGeom prst="hexagon">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72" name="TextBox 71"/>
          <p:cNvSpPr txBox="1"/>
          <p:nvPr/>
        </p:nvSpPr>
        <p:spPr>
          <a:xfrm>
            <a:off x="7192753" y="5490669"/>
            <a:ext cx="1648691" cy="307777"/>
          </a:xfrm>
          <a:prstGeom prst="rect">
            <a:avLst/>
          </a:prstGeom>
          <a:noFill/>
        </p:spPr>
        <p:txBody>
          <a:bodyPr wrap="square" rtlCol="0">
            <a:spAutoFit/>
          </a:bodyPr>
          <a:lstStyle/>
          <a:p>
            <a:r>
              <a:rPr lang="en-US" sz="1400" b="1" dirty="0" smtClean="0">
                <a:solidFill>
                  <a:schemeClr val="tx1"/>
                </a:solidFill>
              </a:rPr>
              <a:t>= Sunset System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Roadmap</a:t>
            </a:r>
            <a:endParaRPr lang="en-US" dirty="0"/>
          </a:p>
        </p:txBody>
      </p:sp>
      <p:sp>
        <p:nvSpPr>
          <p:cNvPr id="3" name="Footer Placeholder 2"/>
          <p:cNvSpPr>
            <a:spLocks noGrp="1"/>
          </p:cNvSpPr>
          <p:nvPr>
            <p:ph type="ftr" sz="quarter" idx="11"/>
          </p:nvPr>
        </p:nvSpPr>
        <p:spPr/>
        <p:txBody>
          <a:bodyPr/>
          <a:lstStyle/>
          <a:p>
            <a:r>
              <a:rPr lang="en-US" smtClean="0"/>
              <a:t>Roadmap Template v6.4</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7</a:t>
            </a:fld>
            <a:endParaRPr lang="en-US" dirty="0"/>
          </a:p>
        </p:txBody>
      </p:sp>
      <p:sp>
        <p:nvSpPr>
          <p:cNvPr id="5" name="Content Placeholder 4"/>
          <p:cNvSpPr>
            <a:spLocks noGrp="1"/>
          </p:cNvSpPr>
          <p:nvPr>
            <p:ph sz="quarter" idx="15"/>
          </p:nvPr>
        </p:nvSpPr>
        <p:spPr/>
        <p:txBody>
          <a:bodyPr/>
          <a:lstStyle/>
          <a:p>
            <a:r>
              <a:rPr lang="en-US" dirty="0" smtClean="0"/>
              <a:t>Financials</a:t>
            </a:r>
            <a:endParaRPr lang="en-US" dirty="0"/>
          </a:p>
        </p:txBody>
      </p:sp>
      <p:graphicFrame>
        <p:nvGraphicFramePr>
          <p:cNvPr id="6" name="Table 5"/>
          <p:cNvGraphicFramePr>
            <a:graphicFrameLocks noGrp="1"/>
          </p:cNvGraphicFramePr>
          <p:nvPr/>
        </p:nvGraphicFramePr>
        <p:xfrm>
          <a:off x="467832" y="1535223"/>
          <a:ext cx="8176440" cy="1854200"/>
        </p:xfrm>
        <a:graphic>
          <a:graphicData uri="http://schemas.openxmlformats.org/drawingml/2006/table">
            <a:tbl>
              <a:tblPr firstRow="1" bandRow="1">
                <a:tableStyleId>{00A15C55-8517-42AA-B614-E9B94910E393}</a:tableStyleId>
              </a:tblPr>
              <a:tblGrid>
                <a:gridCol w="1733108"/>
                <a:gridCol w="2371060"/>
                <a:gridCol w="2371060"/>
                <a:gridCol w="1701212"/>
              </a:tblGrid>
              <a:tr h="370840">
                <a:tc>
                  <a:txBody>
                    <a:bodyPr/>
                    <a:lstStyle/>
                    <a:p>
                      <a:r>
                        <a:rPr lang="en-US" dirty="0" smtClean="0"/>
                        <a:t>Costs</a:t>
                      </a:r>
                      <a:endParaRPr lang="en-US" dirty="0"/>
                    </a:p>
                  </a:txBody>
                  <a:tcPr/>
                </a:tc>
                <a:tc>
                  <a:txBody>
                    <a:bodyPr/>
                    <a:lstStyle/>
                    <a:p>
                      <a:r>
                        <a:rPr lang="en-US" dirty="0" smtClean="0"/>
                        <a:t>Planned</a:t>
                      </a:r>
                      <a:endParaRPr lang="en-US" dirty="0"/>
                    </a:p>
                  </a:txBody>
                  <a:tcPr/>
                </a:tc>
                <a:tc>
                  <a:txBody>
                    <a:bodyPr/>
                    <a:lstStyle/>
                    <a:p>
                      <a:r>
                        <a:rPr lang="en-US" dirty="0" smtClean="0"/>
                        <a:t>Actual</a:t>
                      </a:r>
                      <a:endParaRPr lang="en-US" dirty="0"/>
                    </a:p>
                  </a:txBody>
                  <a:tcPr/>
                </a:tc>
                <a:tc>
                  <a:txBody>
                    <a:bodyPr/>
                    <a:lstStyle/>
                    <a:p>
                      <a:r>
                        <a:rPr lang="en-US" dirty="0" smtClean="0"/>
                        <a:t>Variance</a:t>
                      </a:r>
                      <a:endParaRPr lang="en-US" dirty="0"/>
                    </a:p>
                  </a:txBody>
                  <a:tcPr/>
                </a:tc>
              </a:tr>
              <a:tr h="370840">
                <a:tc>
                  <a:txBody>
                    <a:bodyPr/>
                    <a:lstStyle/>
                    <a:p>
                      <a:r>
                        <a:rPr lang="en-US" b="1" dirty="0" smtClean="0"/>
                        <a:t>Roadmap</a:t>
                      </a:r>
                      <a:endParaRPr lang="en-US" b="1" dirty="0"/>
                    </a:p>
                  </a:txBody>
                  <a:tcPr/>
                </a:tc>
                <a:tc>
                  <a:txBody>
                    <a:bodyPr/>
                    <a:lstStyle/>
                    <a:p>
                      <a:pPr algn="ctr"/>
                      <a:r>
                        <a:rPr lang="en-US" b="1" dirty="0" smtClean="0"/>
                        <a:t>[$amt]</a:t>
                      </a:r>
                      <a:endParaRPr lang="en-US" b="1" dirty="0"/>
                    </a:p>
                  </a:txBody>
                  <a:tcPr/>
                </a:tc>
                <a:tc>
                  <a:txBody>
                    <a:bodyPr/>
                    <a:lstStyle/>
                    <a:p>
                      <a:pPr algn="ctr"/>
                      <a:endParaRPr lang="en-US" b="1" dirty="0"/>
                    </a:p>
                  </a:txBody>
                  <a:tcPr/>
                </a:tc>
                <a:tc>
                  <a:txBody>
                    <a:bodyPr/>
                    <a:lstStyle/>
                    <a:p>
                      <a:pPr algn="ctr"/>
                      <a:endParaRPr lang="en-US" b="1" dirty="0"/>
                    </a:p>
                  </a:txBody>
                  <a:tcPr/>
                </a:tc>
              </a:tr>
              <a:tr h="370840">
                <a:tc>
                  <a:txBody>
                    <a:bodyPr/>
                    <a:lstStyle/>
                    <a:p>
                      <a:r>
                        <a:rPr lang="en-US" dirty="0" smtClean="0"/>
                        <a:t>     Release 1</a:t>
                      </a:r>
                      <a:endParaRPr lang="en-US" dirty="0"/>
                    </a:p>
                  </a:txBody>
                  <a:tcPr/>
                </a:tc>
                <a:tc>
                  <a:txBody>
                    <a:bodyPr/>
                    <a:lstStyle/>
                    <a:p>
                      <a:pPr algn="ctr"/>
                      <a:r>
                        <a:rPr lang="en-US" dirty="0" smtClean="0"/>
                        <a:t>[$amt]</a:t>
                      </a:r>
                      <a:endParaRPr lang="en-US" dirty="0"/>
                    </a:p>
                  </a:txBody>
                  <a:tcPr/>
                </a:tc>
                <a:tc>
                  <a:txBody>
                    <a:bodyPr/>
                    <a:lstStyle/>
                    <a:p>
                      <a:pPr algn="ctr"/>
                      <a:endParaRPr lang="en-US" dirty="0"/>
                    </a:p>
                  </a:txBody>
                  <a:tcPr/>
                </a:tc>
                <a:tc>
                  <a:txBody>
                    <a:bodyPr/>
                    <a:lstStyle/>
                    <a:p>
                      <a:pPr algn="ctr"/>
                      <a:endParaRPr lang="en-US" dirty="0"/>
                    </a:p>
                  </a:txBody>
                  <a:tcPr/>
                </a:tc>
              </a:tr>
              <a:tr h="370840">
                <a:tc>
                  <a:txBody>
                    <a:bodyPr/>
                    <a:lstStyle/>
                    <a:p>
                      <a:r>
                        <a:rPr lang="en-US" dirty="0" smtClean="0"/>
                        <a:t>     Release 2</a:t>
                      </a:r>
                      <a:endParaRPr lang="en-US" dirty="0"/>
                    </a:p>
                  </a:txBody>
                  <a:tcPr/>
                </a:tc>
                <a:tc>
                  <a:txBody>
                    <a:bodyPr/>
                    <a:lstStyle/>
                    <a:p>
                      <a:pPr algn="ctr"/>
                      <a:r>
                        <a:rPr lang="en-US" dirty="0" smtClean="0"/>
                        <a:t>[$amt]</a:t>
                      </a:r>
                      <a:endParaRPr lang="en-US" dirty="0"/>
                    </a:p>
                  </a:txBody>
                  <a:tcPr/>
                </a:tc>
                <a:tc>
                  <a:txBody>
                    <a:bodyPr/>
                    <a:lstStyle/>
                    <a:p>
                      <a:pPr algn="ctr"/>
                      <a:endParaRPr lang="en-US" dirty="0"/>
                    </a:p>
                  </a:txBody>
                  <a:tcPr/>
                </a:tc>
                <a:tc>
                  <a:txBody>
                    <a:bodyPr/>
                    <a:lstStyle/>
                    <a:p>
                      <a:pPr algn="ctr"/>
                      <a:endParaRPr lang="en-US" dirty="0"/>
                    </a:p>
                  </a:txBody>
                  <a:tcPr/>
                </a:tc>
              </a:tr>
              <a:tr h="370840">
                <a:tc>
                  <a:txBody>
                    <a:bodyPr/>
                    <a:lstStyle/>
                    <a:p>
                      <a:r>
                        <a:rPr lang="en-US" dirty="0" smtClean="0"/>
                        <a:t>     Release 3</a:t>
                      </a:r>
                      <a:endParaRPr lang="en-US" dirty="0"/>
                    </a:p>
                  </a:txBody>
                  <a:tcPr/>
                </a:tc>
                <a:tc>
                  <a:txBody>
                    <a:bodyPr/>
                    <a:lstStyle/>
                    <a:p>
                      <a:pPr algn="ctr"/>
                      <a:r>
                        <a:rPr lang="en-US" dirty="0" smtClean="0"/>
                        <a:t>[$amt]</a:t>
                      </a:r>
                      <a:endParaRPr lang="en-US" dirty="0"/>
                    </a:p>
                  </a:txBody>
                  <a:tcPr/>
                </a:tc>
                <a:tc>
                  <a:txBody>
                    <a:bodyPr/>
                    <a:lstStyle/>
                    <a:p>
                      <a:pPr algn="ctr"/>
                      <a:endParaRPr lang="en-US" dirty="0"/>
                    </a:p>
                  </a:txBody>
                  <a:tcPr/>
                </a:tc>
                <a:tc>
                  <a:txBody>
                    <a:bodyPr/>
                    <a:lstStyle/>
                    <a:p>
                      <a:pPr algn="ctr"/>
                      <a:endParaRPr lang="en-US" dirty="0"/>
                    </a:p>
                  </a:txBody>
                  <a:tcPr/>
                </a:tc>
              </a:tr>
            </a:tbl>
          </a:graphicData>
        </a:graphic>
      </p:graphicFrame>
      <p:graphicFrame>
        <p:nvGraphicFramePr>
          <p:cNvPr id="7" name="Table 6"/>
          <p:cNvGraphicFramePr>
            <a:graphicFrameLocks noGrp="1"/>
          </p:cNvGraphicFramePr>
          <p:nvPr/>
        </p:nvGraphicFramePr>
        <p:xfrm>
          <a:off x="471377" y="3683000"/>
          <a:ext cx="8162260" cy="2123440"/>
        </p:xfrm>
        <a:graphic>
          <a:graphicData uri="http://schemas.openxmlformats.org/drawingml/2006/table">
            <a:tbl>
              <a:tblPr firstRow="1" bandRow="1">
                <a:tableStyleId>{00A15C55-8517-42AA-B614-E9B94910E393}</a:tableStyleId>
              </a:tblPr>
              <a:tblGrid>
                <a:gridCol w="1729563"/>
                <a:gridCol w="2365744"/>
                <a:gridCol w="2365744"/>
                <a:gridCol w="1701209"/>
              </a:tblGrid>
              <a:tr h="370840">
                <a:tc>
                  <a:txBody>
                    <a:bodyPr/>
                    <a:lstStyle/>
                    <a:p>
                      <a:r>
                        <a:rPr lang="en-US" dirty="0" smtClean="0"/>
                        <a:t>Benefits</a:t>
                      </a:r>
                      <a:endParaRPr lang="en-US" dirty="0"/>
                    </a:p>
                  </a:txBody>
                  <a:tcPr/>
                </a:tc>
                <a:tc>
                  <a:txBody>
                    <a:bodyPr/>
                    <a:lstStyle/>
                    <a:p>
                      <a:r>
                        <a:rPr lang="en-US" dirty="0" smtClean="0"/>
                        <a:t>Expected</a:t>
                      </a:r>
                    </a:p>
                    <a:p>
                      <a:r>
                        <a:rPr lang="en-US" dirty="0" smtClean="0"/>
                        <a:t>(Savings/Revenue)</a:t>
                      </a:r>
                      <a:endParaRPr lang="en-US" dirty="0"/>
                    </a:p>
                  </a:txBody>
                  <a:tcPr/>
                </a:tc>
                <a:tc>
                  <a:txBody>
                    <a:bodyPr/>
                    <a:lstStyle/>
                    <a:p>
                      <a:r>
                        <a:rPr lang="en-US" dirty="0" smtClean="0"/>
                        <a:t>Actual</a:t>
                      </a:r>
                    </a:p>
                    <a:p>
                      <a:r>
                        <a:rPr lang="en-US" dirty="0" smtClean="0"/>
                        <a:t>(Savings/Revenue)</a:t>
                      </a:r>
                      <a:endParaRPr lang="en-US" dirty="0"/>
                    </a:p>
                  </a:txBody>
                  <a:tcPr/>
                </a:tc>
                <a:tc>
                  <a:txBody>
                    <a:bodyPr/>
                    <a:lstStyle/>
                    <a:p>
                      <a:r>
                        <a:rPr lang="en-US" dirty="0" smtClean="0"/>
                        <a:t>Variance</a:t>
                      </a:r>
                      <a:endParaRPr lang="en-US" dirty="0"/>
                    </a:p>
                  </a:txBody>
                  <a:tcPr/>
                </a:tc>
              </a:tr>
              <a:tr h="370840">
                <a:tc>
                  <a:txBody>
                    <a:bodyPr/>
                    <a:lstStyle/>
                    <a:p>
                      <a:r>
                        <a:rPr lang="en-US" b="1" dirty="0" smtClean="0"/>
                        <a:t>Roadmap</a:t>
                      </a:r>
                      <a:endParaRPr lang="en-US" b="1" dirty="0"/>
                    </a:p>
                  </a:txBody>
                  <a:tcPr/>
                </a:tc>
                <a:tc>
                  <a:txBody>
                    <a:bodyPr/>
                    <a:lstStyle/>
                    <a:p>
                      <a:pPr algn="ctr"/>
                      <a:r>
                        <a:rPr lang="en-US" b="1" dirty="0" smtClean="0"/>
                        <a:t>[$amt]</a:t>
                      </a:r>
                      <a:endParaRPr lang="en-US" b="1" dirty="0"/>
                    </a:p>
                  </a:txBody>
                  <a:tcPr/>
                </a:tc>
                <a:tc>
                  <a:txBody>
                    <a:bodyPr/>
                    <a:lstStyle/>
                    <a:p>
                      <a:pPr algn="ctr"/>
                      <a:r>
                        <a:rPr lang="en-US" b="1" dirty="0" smtClean="0"/>
                        <a:t>[$amt]</a:t>
                      </a:r>
                      <a:endParaRPr lang="en-US" b="1" dirty="0"/>
                    </a:p>
                  </a:txBody>
                  <a:tcPr/>
                </a:tc>
                <a:tc>
                  <a:txBody>
                    <a:bodyPr/>
                    <a:lstStyle/>
                    <a:p>
                      <a:pPr algn="ctr"/>
                      <a:endParaRPr lang="en-US" b="1" dirty="0"/>
                    </a:p>
                  </a:txBody>
                  <a:tcPr/>
                </a:tc>
              </a:tr>
              <a:tr h="370840">
                <a:tc>
                  <a:txBody>
                    <a:bodyPr/>
                    <a:lstStyle/>
                    <a:p>
                      <a:r>
                        <a:rPr lang="en-US" dirty="0" smtClean="0"/>
                        <a:t>     Release 1</a:t>
                      </a:r>
                      <a:endParaRPr lang="en-US" dirty="0"/>
                    </a:p>
                  </a:txBody>
                  <a:tcPr/>
                </a:tc>
                <a:tc>
                  <a:txBody>
                    <a:bodyPr/>
                    <a:lstStyle/>
                    <a:p>
                      <a:pPr algn="ctr"/>
                      <a:r>
                        <a:rPr lang="en-US" dirty="0" smtClean="0"/>
                        <a:t>[$amt]</a:t>
                      </a:r>
                      <a:endParaRPr lang="en-US" dirty="0"/>
                    </a:p>
                  </a:txBody>
                  <a:tcPr/>
                </a:tc>
                <a:tc>
                  <a:txBody>
                    <a:bodyPr/>
                    <a:lstStyle/>
                    <a:p>
                      <a:pPr algn="ctr"/>
                      <a:r>
                        <a:rPr lang="en-US" dirty="0" smtClean="0"/>
                        <a:t>[$amt]</a:t>
                      </a:r>
                      <a:endParaRPr lang="en-US" dirty="0"/>
                    </a:p>
                  </a:txBody>
                  <a:tcPr/>
                </a:tc>
                <a:tc>
                  <a:txBody>
                    <a:bodyPr/>
                    <a:lstStyle/>
                    <a:p>
                      <a:pPr algn="ctr"/>
                      <a:endParaRPr lang="en-US" dirty="0"/>
                    </a:p>
                  </a:txBody>
                  <a:tcPr/>
                </a:tc>
              </a:tr>
              <a:tr h="370840">
                <a:tc>
                  <a:txBody>
                    <a:bodyPr/>
                    <a:lstStyle/>
                    <a:p>
                      <a:r>
                        <a:rPr lang="en-US" dirty="0" smtClean="0"/>
                        <a:t>     Release 2</a:t>
                      </a:r>
                      <a:endParaRPr lang="en-US" dirty="0"/>
                    </a:p>
                  </a:txBody>
                  <a:tcPr/>
                </a:tc>
                <a:tc>
                  <a:txBody>
                    <a:bodyPr/>
                    <a:lstStyle/>
                    <a:p>
                      <a:pPr algn="ctr"/>
                      <a:r>
                        <a:rPr lang="en-US" dirty="0" smtClean="0"/>
                        <a:t>[$amt]</a:t>
                      </a:r>
                      <a:endParaRPr lang="en-US" dirty="0"/>
                    </a:p>
                  </a:txBody>
                  <a:tcPr/>
                </a:tc>
                <a:tc>
                  <a:txBody>
                    <a:bodyPr/>
                    <a:lstStyle/>
                    <a:p>
                      <a:pPr algn="ctr"/>
                      <a:r>
                        <a:rPr lang="en-US" dirty="0" smtClean="0"/>
                        <a:t>[$amt]</a:t>
                      </a:r>
                      <a:endParaRPr lang="en-US" dirty="0"/>
                    </a:p>
                  </a:txBody>
                  <a:tcPr/>
                </a:tc>
                <a:tc>
                  <a:txBody>
                    <a:bodyPr/>
                    <a:lstStyle/>
                    <a:p>
                      <a:pPr algn="ctr"/>
                      <a:endParaRPr lang="en-US" dirty="0"/>
                    </a:p>
                  </a:txBody>
                  <a:tcPr/>
                </a:tc>
              </a:tr>
              <a:tr h="370840">
                <a:tc>
                  <a:txBody>
                    <a:bodyPr/>
                    <a:lstStyle/>
                    <a:p>
                      <a:r>
                        <a:rPr lang="en-US" dirty="0" smtClean="0"/>
                        <a:t>     Release 3</a:t>
                      </a:r>
                      <a:endParaRPr lang="en-US" dirty="0"/>
                    </a:p>
                  </a:txBody>
                  <a:tcPr/>
                </a:tc>
                <a:tc>
                  <a:txBody>
                    <a:bodyPr/>
                    <a:lstStyle/>
                    <a:p>
                      <a:pPr algn="ctr"/>
                      <a:r>
                        <a:rPr lang="en-US" dirty="0" smtClean="0"/>
                        <a:t>[$amt]</a:t>
                      </a:r>
                      <a:endParaRPr lang="en-US" dirty="0"/>
                    </a:p>
                  </a:txBody>
                  <a:tcPr/>
                </a:tc>
                <a:tc>
                  <a:txBody>
                    <a:bodyPr/>
                    <a:lstStyle/>
                    <a:p>
                      <a:pPr algn="ctr"/>
                      <a:r>
                        <a:rPr lang="en-US" dirty="0" smtClean="0"/>
                        <a:t>[$amt]</a:t>
                      </a:r>
                      <a:endParaRPr lang="en-US" dirty="0"/>
                    </a:p>
                  </a:txBody>
                  <a:tcPr/>
                </a:tc>
                <a:tc>
                  <a:txBody>
                    <a:bodyPr/>
                    <a:lstStyle/>
                    <a:p>
                      <a:pPr algn="ctr"/>
                      <a:endParaRPr lang="en-US" dirty="0"/>
                    </a:p>
                  </a:txBody>
                  <a:tcPr/>
                </a:tc>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People</a:t>
            </a:r>
            <a:endParaRPr lang="en-US" dirty="0"/>
          </a:p>
        </p:txBody>
      </p:sp>
      <p:sp>
        <p:nvSpPr>
          <p:cNvPr id="3" name="Footer Placeholder 2"/>
          <p:cNvSpPr>
            <a:spLocks noGrp="1"/>
          </p:cNvSpPr>
          <p:nvPr>
            <p:ph type="ftr" sz="quarter" idx="11"/>
          </p:nvPr>
        </p:nvSpPr>
        <p:spPr/>
        <p:txBody>
          <a:bodyPr/>
          <a:lstStyle/>
          <a:p>
            <a:r>
              <a:rPr lang="en-US" smtClean="0"/>
              <a:t>Roadmap Template v6.4</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8</a:t>
            </a:fld>
            <a:endParaRPr lang="en-US" dirty="0"/>
          </a:p>
        </p:txBody>
      </p:sp>
      <p:sp>
        <p:nvSpPr>
          <p:cNvPr id="5" name="Content Placeholder 4"/>
          <p:cNvSpPr>
            <a:spLocks noGrp="1"/>
          </p:cNvSpPr>
          <p:nvPr>
            <p:ph sz="quarter" idx="15"/>
          </p:nvPr>
        </p:nvSpPr>
        <p:spPr/>
        <p:txBody>
          <a:bodyPr/>
          <a:lstStyle/>
          <a:p>
            <a:r>
              <a:rPr lang="en-US" dirty="0" smtClean="0"/>
              <a:t>Team</a:t>
            </a:r>
          </a:p>
        </p:txBody>
      </p:sp>
      <p:graphicFrame>
        <p:nvGraphicFramePr>
          <p:cNvPr id="6" name="Table 5"/>
          <p:cNvGraphicFramePr>
            <a:graphicFrameLocks noGrp="1"/>
          </p:cNvGraphicFramePr>
          <p:nvPr/>
        </p:nvGraphicFramePr>
        <p:xfrm>
          <a:off x="457199" y="1513963"/>
          <a:ext cx="8176438" cy="4079240"/>
        </p:xfrm>
        <a:graphic>
          <a:graphicData uri="http://schemas.openxmlformats.org/drawingml/2006/table">
            <a:tbl>
              <a:tblPr firstRow="1" bandRow="1">
                <a:tableStyleId>{00A15C55-8517-42AA-B614-E9B94910E393}</a:tableStyleId>
              </a:tblPr>
              <a:tblGrid>
                <a:gridCol w="3258880"/>
                <a:gridCol w="3258880"/>
                <a:gridCol w="1658678"/>
              </a:tblGrid>
              <a:tr h="370840">
                <a:tc>
                  <a:txBody>
                    <a:bodyPr/>
                    <a:lstStyle/>
                    <a:p>
                      <a:r>
                        <a:rPr lang="en-US" dirty="0" smtClean="0"/>
                        <a:t>Name</a:t>
                      </a:r>
                      <a:endParaRPr lang="en-US" dirty="0"/>
                    </a:p>
                  </a:txBody>
                  <a:tcPr/>
                </a:tc>
                <a:tc>
                  <a:txBody>
                    <a:bodyPr/>
                    <a:lstStyle/>
                    <a:p>
                      <a:r>
                        <a:rPr lang="en-US" dirty="0" smtClean="0"/>
                        <a:t>Role</a:t>
                      </a:r>
                      <a:endParaRPr lang="en-US" dirty="0"/>
                    </a:p>
                  </a:txBody>
                  <a:tcPr/>
                </a:tc>
                <a:tc>
                  <a:txBody>
                    <a:bodyPr/>
                    <a:lstStyle/>
                    <a:p>
                      <a:r>
                        <a:rPr lang="en-US" dirty="0" smtClean="0"/>
                        <a:t>Allocation</a:t>
                      </a:r>
                      <a:endParaRPr lang="en-US" dirty="0"/>
                    </a:p>
                  </a:txBody>
                  <a:tcPr/>
                </a:tc>
              </a:tr>
              <a:tr h="370840">
                <a:tc>
                  <a:txBody>
                    <a:bodyPr/>
                    <a:lstStyle/>
                    <a:p>
                      <a:r>
                        <a:rPr lang="en-US" dirty="0" smtClean="0"/>
                        <a:t>[PO Name]</a:t>
                      </a:r>
                      <a:endParaRPr lang="en-US" dirty="0"/>
                    </a:p>
                  </a:txBody>
                  <a:tcPr/>
                </a:tc>
                <a:tc>
                  <a:txBody>
                    <a:bodyPr/>
                    <a:lstStyle/>
                    <a:p>
                      <a:r>
                        <a:rPr lang="en-US" dirty="0" smtClean="0"/>
                        <a:t>Product Owner</a:t>
                      </a:r>
                      <a:endParaRPr lang="en-US" dirty="0"/>
                    </a:p>
                  </a:txBody>
                  <a:tcPr/>
                </a:tc>
                <a:tc>
                  <a:txBody>
                    <a:bodyPr/>
                    <a:lstStyle/>
                    <a:p>
                      <a:r>
                        <a:rPr lang="en-US" dirty="0" smtClean="0"/>
                        <a:t>[% allocation]</a:t>
                      </a:r>
                      <a:endParaRPr lang="en-US" dirty="0"/>
                    </a:p>
                  </a:txBody>
                  <a:tcPr/>
                </a:tc>
              </a:tr>
              <a:tr h="370840">
                <a:tc>
                  <a:txBody>
                    <a:bodyPr/>
                    <a:lstStyle/>
                    <a:p>
                      <a:r>
                        <a:rPr lang="en-US" dirty="0" smtClean="0"/>
                        <a:t>[APL Name]</a:t>
                      </a:r>
                      <a:endParaRPr lang="en-US" dirty="0"/>
                    </a:p>
                  </a:txBody>
                  <a:tcPr/>
                </a:tc>
                <a:tc>
                  <a:txBody>
                    <a:bodyPr/>
                    <a:lstStyle/>
                    <a:p>
                      <a:r>
                        <a:rPr lang="en-US" dirty="0" smtClean="0"/>
                        <a:t>Agile Project Lead</a:t>
                      </a:r>
                      <a:endParaRPr lang="en-US" dirty="0"/>
                    </a:p>
                  </a:txBody>
                  <a:tcPr/>
                </a:tc>
                <a:tc>
                  <a:txBody>
                    <a:bodyPr/>
                    <a:lstStyle/>
                    <a:p>
                      <a:r>
                        <a:rPr lang="en-US" dirty="0" smtClean="0"/>
                        <a:t>[% allocation]</a:t>
                      </a:r>
                      <a:endParaRPr lang="en-US" dirty="0"/>
                    </a:p>
                  </a:txBody>
                  <a:tcPr/>
                </a:tc>
              </a:tr>
              <a:tr h="370840">
                <a:tc>
                  <a:txBody>
                    <a:bodyPr/>
                    <a:lstStyle/>
                    <a:p>
                      <a:r>
                        <a:rPr lang="en-US" dirty="0" smtClean="0"/>
                        <a:t>[name]</a:t>
                      </a:r>
                      <a:endParaRPr lang="en-US" dirty="0"/>
                    </a:p>
                  </a:txBody>
                  <a:tcPr/>
                </a:tc>
                <a:tc>
                  <a:txBody>
                    <a:bodyPr/>
                    <a:lstStyle/>
                    <a:p>
                      <a:r>
                        <a:rPr lang="en-US" dirty="0" smtClean="0"/>
                        <a:t>[role]</a:t>
                      </a:r>
                      <a:endParaRPr lang="en-US" dirty="0"/>
                    </a:p>
                  </a:txBody>
                  <a:tcPr/>
                </a:tc>
                <a:tc>
                  <a:txBody>
                    <a:bodyPr/>
                    <a:lstStyle/>
                    <a:p>
                      <a:r>
                        <a:rPr lang="en-US" dirty="0" smtClean="0"/>
                        <a:t>[% allocation]</a:t>
                      </a:r>
                      <a:endParaRPr lang="en-US" dirty="0"/>
                    </a:p>
                  </a:txBody>
                  <a:tcPr/>
                </a:tc>
              </a:tr>
              <a:tr h="370840">
                <a:tc>
                  <a:txBody>
                    <a:bodyPr/>
                    <a:lstStyle/>
                    <a:p>
                      <a:r>
                        <a:rPr lang="en-US" dirty="0" smtClean="0"/>
                        <a:t>[name]</a:t>
                      </a:r>
                      <a:endParaRPr lang="en-US" dirty="0"/>
                    </a:p>
                  </a:txBody>
                  <a:tcPr/>
                </a:tc>
                <a:tc>
                  <a:txBody>
                    <a:bodyPr/>
                    <a:lstStyle/>
                    <a:p>
                      <a:r>
                        <a:rPr lang="en-US" dirty="0" smtClean="0"/>
                        <a:t>[role]</a:t>
                      </a:r>
                      <a:endParaRPr lang="en-US" dirty="0"/>
                    </a:p>
                  </a:txBody>
                  <a:tcPr/>
                </a:tc>
                <a:tc>
                  <a:txBody>
                    <a:bodyPr/>
                    <a:lstStyle/>
                    <a:p>
                      <a:r>
                        <a:rPr lang="en-US" dirty="0" smtClean="0"/>
                        <a:t>[% allocation]</a:t>
                      </a:r>
                      <a:endParaRPr lang="en-US" dirty="0"/>
                    </a:p>
                  </a:txBody>
                  <a:tcPr/>
                </a:tc>
              </a:tr>
              <a:tr h="370840">
                <a:tc>
                  <a:txBody>
                    <a:bodyPr/>
                    <a:lstStyle/>
                    <a:p>
                      <a:r>
                        <a:rPr lang="en-US" dirty="0" smtClean="0"/>
                        <a:t>[name]</a:t>
                      </a:r>
                      <a:endParaRPr lang="en-US" dirty="0"/>
                    </a:p>
                  </a:txBody>
                  <a:tcPr/>
                </a:tc>
                <a:tc>
                  <a:txBody>
                    <a:bodyPr/>
                    <a:lstStyle/>
                    <a:p>
                      <a:r>
                        <a:rPr lang="en-US" dirty="0" smtClean="0"/>
                        <a:t>[role]</a:t>
                      </a:r>
                      <a:endParaRPr lang="en-US" dirty="0"/>
                    </a:p>
                  </a:txBody>
                  <a:tcPr/>
                </a:tc>
                <a:tc>
                  <a:txBody>
                    <a:bodyPr/>
                    <a:lstStyle/>
                    <a:p>
                      <a:r>
                        <a:rPr lang="en-US" dirty="0" smtClean="0"/>
                        <a:t>[% allocation]</a:t>
                      </a:r>
                      <a:endParaRPr lang="en-US" dirty="0"/>
                    </a:p>
                  </a:txBody>
                  <a:tcPr/>
                </a:tc>
              </a:tr>
              <a:tr h="370840">
                <a:tc>
                  <a:txBody>
                    <a:bodyPr/>
                    <a:lstStyle/>
                    <a:p>
                      <a:r>
                        <a:rPr lang="en-US" dirty="0" smtClean="0"/>
                        <a:t>[name]</a:t>
                      </a:r>
                      <a:endParaRPr lang="en-US" dirty="0"/>
                    </a:p>
                  </a:txBody>
                  <a:tcPr/>
                </a:tc>
                <a:tc>
                  <a:txBody>
                    <a:bodyPr/>
                    <a:lstStyle/>
                    <a:p>
                      <a:r>
                        <a:rPr lang="en-US" dirty="0" smtClean="0"/>
                        <a:t>[role]</a:t>
                      </a:r>
                      <a:endParaRPr lang="en-US" dirty="0"/>
                    </a:p>
                  </a:txBody>
                  <a:tcPr/>
                </a:tc>
                <a:tc>
                  <a:txBody>
                    <a:bodyPr/>
                    <a:lstStyle/>
                    <a:p>
                      <a:r>
                        <a:rPr lang="en-US" dirty="0" smtClean="0"/>
                        <a:t>[% allocation]</a:t>
                      </a:r>
                      <a:endParaRPr lang="en-US" dirty="0"/>
                    </a:p>
                  </a:txBody>
                  <a:tcPr/>
                </a:tc>
              </a:tr>
              <a:tr h="370840">
                <a:tc>
                  <a:txBody>
                    <a:bodyPr/>
                    <a:lstStyle/>
                    <a:p>
                      <a:r>
                        <a:rPr lang="en-US" dirty="0" smtClean="0"/>
                        <a:t>[name]</a:t>
                      </a:r>
                      <a:endParaRPr lang="en-US" dirty="0"/>
                    </a:p>
                  </a:txBody>
                  <a:tcPr/>
                </a:tc>
                <a:tc>
                  <a:txBody>
                    <a:bodyPr/>
                    <a:lstStyle/>
                    <a:p>
                      <a:r>
                        <a:rPr lang="en-US" dirty="0" smtClean="0"/>
                        <a:t>[role]</a:t>
                      </a:r>
                      <a:endParaRPr lang="en-US" dirty="0"/>
                    </a:p>
                  </a:txBody>
                  <a:tcPr/>
                </a:tc>
                <a:tc>
                  <a:txBody>
                    <a:bodyPr/>
                    <a:lstStyle/>
                    <a:p>
                      <a:r>
                        <a:rPr lang="en-US" dirty="0" smtClean="0"/>
                        <a:t>[% allocation]</a:t>
                      </a:r>
                      <a:endParaRPr lang="en-US" dirty="0"/>
                    </a:p>
                  </a:txBody>
                  <a:tcPr/>
                </a:tc>
              </a:tr>
              <a:tr h="370840">
                <a:tc>
                  <a:txBody>
                    <a:bodyPr/>
                    <a:lstStyle/>
                    <a:p>
                      <a:r>
                        <a:rPr lang="en-US" dirty="0" smtClean="0"/>
                        <a:t>[name]</a:t>
                      </a:r>
                      <a:endParaRPr lang="en-US" dirty="0"/>
                    </a:p>
                  </a:txBody>
                  <a:tcPr/>
                </a:tc>
                <a:tc>
                  <a:txBody>
                    <a:bodyPr/>
                    <a:lstStyle/>
                    <a:p>
                      <a:r>
                        <a:rPr lang="en-US" dirty="0" smtClean="0"/>
                        <a:t>[role]</a:t>
                      </a:r>
                      <a:endParaRPr lang="en-US" dirty="0"/>
                    </a:p>
                  </a:txBody>
                  <a:tcPr/>
                </a:tc>
                <a:tc>
                  <a:txBody>
                    <a:bodyPr/>
                    <a:lstStyle/>
                    <a:p>
                      <a:r>
                        <a:rPr lang="en-US" dirty="0" smtClean="0"/>
                        <a:t>[% allocation]</a:t>
                      </a:r>
                      <a:endParaRPr lang="en-US" dirty="0"/>
                    </a:p>
                  </a:txBody>
                  <a:tcPr/>
                </a:tc>
              </a:tr>
              <a:tr h="370840">
                <a:tc>
                  <a:txBody>
                    <a:bodyPr/>
                    <a:lstStyle/>
                    <a:p>
                      <a:r>
                        <a:rPr lang="en-US" dirty="0" smtClean="0"/>
                        <a:t>[name]</a:t>
                      </a:r>
                      <a:endParaRPr lang="en-US" dirty="0"/>
                    </a:p>
                  </a:txBody>
                  <a:tcPr/>
                </a:tc>
                <a:tc>
                  <a:txBody>
                    <a:bodyPr/>
                    <a:lstStyle/>
                    <a:p>
                      <a:r>
                        <a:rPr lang="en-US" dirty="0" smtClean="0"/>
                        <a:t>[role]</a:t>
                      </a:r>
                      <a:endParaRPr lang="en-US" dirty="0"/>
                    </a:p>
                  </a:txBody>
                  <a:tcPr/>
                </a:tc>
                <a:tc>
                  <a:txBody>
                    <a:bodyPr/>
                    <a:lstStyle/>
                    <a:p>
                      <a:r>
                        <a:rPr lang="en-US" dirty="0" smtClean="0"/>
                        <a:t>[% allocation]</a:t>
                      </a:r>
                      <a:endParaRPr lang="en-US" dirty="0"/>
                    </a:p>
                  </a:txBody>
                  <a:tcPr/>
                </a:tc>
              </a:tr>
              <a:tr h="370840">
                <a:tc>
                  <a:txBody>
                    <a:bodyPr/>
                    <a:lstStyle/>
                    <a:p>
                      <a:r>
                        <a:rPr lang="en-US" dirty="0" smtClean="0"/>
                        <a:t>[…]</a:t>
                      </a:r>
                      <a:endParaRPr lang="en-US" dirty="0"/>
                    </a:p>
                  </a:txBody>
                  <a:tcPr/>
                </a:tc>
                <a:tc>
                  <a:txBody>
                    <a:bodyPr/>
                    <a:lstStyle/>
                    <a:p>
                      <a:r>
                        <a:rPr lang="en-US" dirty="0" smtClean="0"/>
                        <a:t>[…]</a:t>
                      </a:r>
                      <a:endParaRPr lang="en-US" dirty="0"/>
                    </a:p>
                  </a:txBody>
                  <a:tcPr/>
                </a:tc>
                <a:tc>
                  <a:txBody>
                    <a:bodyPr/>
                    <a:lstStyle/>
                    <a:p>
                      <a:r>
                        <a:rPr lang="en-US" dirty="0" smtClean="0"/>
                        <a:t>[% allocation]</a:t>
                      </a:r>
                      <a:endParaRPr lang="en-US" dirty="0"/>
                    </a:p>
                  </a:txBody>
                  <a:tcPr/>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People</a:t>
            </a:r>
            <a:endParaRPr lang="en-US" dirty="0"/>
          </a:p>
        </p:txBody>
      </p:sp>
      <p:sp>
        <p:nvSpPr>
          <p:cNvPr id="3" name="Footer Placeholder 2"/>
          <p:cNvSpPr>
            <a:spLocks noGrp="1"/>
          </p:cNvSpPr>
          <p:nvPr>
            <p:ph type="ftr" sz="quarter" idx="11"/>
          </p:nvPr>
        </p:nvSpPr>
        <p:spPr/>
        <p:txBody>
          <a:bodyPr/>
          <a:lstStyle/>
          <a:p>
            <a:r>
              <a:rPr lang="en-US" smtClean="0"/>
              <a:t>Roadmap Template v6.4</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9</a:t>
            </a:fld>
            <a:endParaRPr lang="en-US" dirty="0"/>
          </a:p>
        </p:txBody>
      </p:sp>
      <p:sp>
        <p:nvSpPr>
          <p:cNvPr id="5" name="Content Placeholder 4"/>
          <p:cNvSpPr>
            <a:spLocks noGrp="1"/>
          </p:cNvSpPr>
          <p:nvPr>
            <p:ph sz="quarter" idx="15"/>
          </p:nvPr>
        </p:nvSpPr>
        <p:spPr/>
        <p:txBody>
          <a:bodyPr/>
          <a:lstStyle/>
          <a:p>
            <a:r>
              <a:rPr lang="en-US" dirty="0" smtClean="0"/>
              <a:t>Sponsors and Stakeholders</a:t>
            </a:r>
            <a:endParaRPr lang="en-US" dirty="0"/>
          </a:p>
        </p:txBody>
      </p:sp>
      <p:graphicFrame>
        <p:nvGraphicFramePr>
          <p:cNvPr id="7" name="Table 6"/>
          <p:cNvGraphicFramePr>
            <a:graphicFrameLocks noGrp="1"/>
          </p:cNvGraphicFramePr>
          <p:nvPr/>
        </p:nvGraphicFramePr>
        <p:xfrm>
          <a:off x="503274" y="1588386"/>
          <a:ext cx="8109098" cy="1854200"/>
        </p:xfrm>
        <a:graphic>
          <a:graphicData uri="http://schemas.openxmlformats.org/drawingml/2006/table">
            <a:tbl>
              <a:tblPr firstRow="1" bandRow="1">
                <a:tableStyleId>{00A15C55-8517-42AA-B614-E9B94910E393}</a:tableStyleId>
              </a:tblPr>
              <a:tblGrid>
                <a:gridCol w="4054549"/>
                <a:gridCol w="4054549"/>
              </a:tblGrid>
              <a:tr h="370840">
                <a:tc>
                  <a:txBody>
                    <a:bodyPr/>
                    <a:lstStyle/>
                    <a:p>
                      <a:r>
                        <a:rPr lang="en-US" dirty="0" smtClean="0"/>
                        <a:t>Name</a:t>
                      </a:r>
                      <a:endParaRPr lang="en-US" dirty="0"/>
                    </a:p>
                  </a:txBody>
                  <a:tcPr/>
                </a:tc>
                <a:tc>
                  <a:txBody>
                    <a:bodyPr/>
                    <a:lstStyle/>
                    <a:p>
                      <a:r>
                        <a:rPr lang="en-US" dirty="0" smtClean="0"/>
                        <a:t>Title</a:t>
                      </a:r>
                      <a:r>
                        <a:rPr lang="en-US" baseline="0" dirty="0" smtClean="0"/>
                        <a:t> / Role</a:t>
                      </a:r>
                      <a:endParaRPr lang="en-US" dirty="0"/>
                    </a:p>
                  </a:txBody>
                  <a:tcPr/>
                </a:tc>
              </a:tr>
              <a:tr h="370840">
                <a:tc>
                  <a:txBody>
                    <a:bodyPr/>
                    <a:lstStyle/>
                    <a:p>
                      <a:r>
                        <a:rPr lang="en-US" dirty="0" smtClean="0"/>
                        <a:t>[name]</a:t>
                      </a:r>
                      <a:endParaRPr lang="en-US" dirty="0"/>
                    </a:p>
                  </a:txBody>
                  <a:tcPr/>
                </a:tc>
                <a:tc>
                  <a:txBody>
                    <a:bodyPr/>
                    <a:lstStyle/>
                    <a:p>
                      <a:r>
                        <a:rPr lang="en-US" dirty="0" smtClean="0"/>
                        <a:t>[role / title]</a:t>
                      </a:r>
                      <a:endParaRPr lang="en-US" dirty="0"/>
                    </a:p>
                  </a:txBody>
                  <a:tcPr/>
                </a:tc>
              </a:tr>
              <a:tr h="370840">
                <a:tc>
                  <a:txBody>
                    <a:bodyPr/>
                    <a:lstStyle/>
                    <a:p>
                      <a:r>
                        <a:rPr lang="en-US" dirty="0" smtClean="0"/>
                        <a:t>[name]</a:t>
                      </a:r>
                      <a:endParaRPr lang="en-US" dirty="0"/>
                    </a:p>
                  </a:txBody>
                  <a:tcPr/>
                </a:tc>
                <a:tc>
                  <a:txBody>
                    <a:bodyPr/>
                    <a:lstStyle/>
                    <a:p>
                      <a:r>
                        <a:rPr lang="en-US" dirty="0" smtClean="0"/>
                        <a:t>[role</a:t>
                      </a:r>
                      <a:r>
                        <a:rPr lang="en-US" baseline="0" dirty="0" smtClean="0"/>
                        <a:t> / title]</a:t>
                      </a:r>
                      <a:endParaRPr lang="en-US" dirty="0"/>
                    </a:p>
                  </a:txBody>
                  <a:tcPr/>
                </a:tc>
              </a:tr>
              <a:tr h="370840">
                <a:tc>
                  <a:txBody>
                    <a:bodyPr/>
                    <a:lstStyle/>
                    <a:p>
                      <a:r>
                        <a:rPr lang="en-US" dirty="0" smtClean="0"/>
                        <a:t>[name]</a:t>
                      </a:r>
                      <a:endParaRPr lang="en-US" dirty="0"/>
                    </a:p>
                  </a:txBody>
                  <a:tcPr/>
                </a:tc>
                <a:tc>
                  <a:txBody>
                    <a:bodyPr/>
                    <a:lstStyle/>
                    <a:p>
                      <a:r>
                        <a:rPr lang="en-US" dirty="0" smtClean="0"/>
                        <a:t>[role</a:t>
                      </a:r>
                      <a:r>
                        <a:rPr lang="en-US" baseline="0" dirty="0" smtClean="0"/>
                        <a:t> / title</a:t>
                      </a:r>
                      <a:r>
                        <a:rPr lang="en-US" dirty="0" smtClean="0"/>
                        <a:t>]</a:t>
                      </a:r>
                      <a:endParaRPr lang="en-US" dirty="0"/>
                    </a:p>
                  </a:txBody>
                  <a:tcPr/>
                </a:tc>
              </a:tr>
              <a:tr h="370840">
                <a:tc>
                  <a:txBody>
                    <a:bodyPr/>
                    <a:lstStyle/>
                    <a:p>
                      <a:r>
                        <a:rPr lang="en-US" dirty="0" smtClean="0"/>
                        <a:t>[…]</a:t>
                      </a:r>
                      <a:endParaRPr lang="en-US" dirty="0"/>
                    </a:p>
                  </a:txBody>
                  <a:tcPr/>
                </a:tc>
                <a:tc>
                  <a:txBody>
                    <a:bodyPr/>
                    <a:lstStyle/>
                    <a:p>
                      <a:r>
                        <a:rPr lang="en-US" dirty="0" smtClean="0"/>
                        <a:t>[…]</a:t>
                      </a:r>
                      <a:endParaRPr lang="en-US" dirty="0"/>
                    </a:p>
                  </a:txBody>
                  <a:tcPr/>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Resources</a:t>
            </a:r>
            <a:endParaRPr lang="en-US" dirty="0"/>
          </a:p>
        </p:txBody>
      </p:sp>
      <p:sp>
        <p:nvSpPr>
          <p:cNvPr id="3" name="Footer Placeholder 2"/>
          <p:cNvSpPr>
            <a:spLocks noGrp="1"/>
          </p:cNvSpPr>
          <p:nvPr>
            <p:ph type="ftr" sz="quarter" idx="11"/>
          </p:nvPr>
        </p:nvSpPr>
        <p:spPr/>
        <p:txBody>
          <a:bodyPr/>
          <a:lstStyle/>
          <a:p>
            <a:r>
              <a:rPr lang="en-US" smtClean="0"/>
              <a:t>Roadmap Template v6.4</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10</a:t>
            </a:fld>
            <a:endParaRPr lang="en-US" dirty="0"/>
          </a:p>
        </p:txBody>
      </p:sp>
      <p:sp>
        <p:nvSpPr>
          <p:cNvPr id="5" name="Content Placeholder 4"/>
          <p:cNvSpPr>
            <a:spLocks noGrp="1"/>
          </p:cNvSpPr>
          <p:nvPr>
            <p:ph sz="quarter" idx="15"/>
          </p:nvPr>
        </p:nvSpPr>
        <p:spPr/>
        <p:txBody>
          <a:bodyPr/>
          <a:lstStyle/>
          <a:p>
            <a:r>
              <a:rPr lang="en-US" dirty="0" smtClean="0"/>
              <a:t>Software and Hardware</a:t>
            </a:r>
            <a:endParaRPr lang="en-US" dirty="0"/>
          </a:p>
        </p:txBody>
      </p:sp>
      <p:graphicFrame>
        <p:nvGraphicFramePr>
          <p:cNvPr id="7" name="Table 6"/>
          <p:cNvGraphicFramePr>
            <a:graphicFrameLocks noGrp="1"/>
          </p:cNvGraphicFramePr>
          <p:nvPr/>
        </p:nvGraphicFramePr>
        <p:xfrm>
          <a:off x="503274" y="1588386"/>
          <a:ext cx="8109098" cy="1854200"/>
        </p:xfrm>
        <a:graphic>
          <a:graphicData uri="http://schemas.openxmlformats.org/drawingml/2006/table">
            <a:tbl>
              <a:tblPr firstRow="1" bandRow="1">
                <a:tableStyleId>{00A15C55-8517-42AA-B614-E9B94910E393}</a:tableStyleId>
              </a:tblPr>
              <a:tblGrid>
                <a:gridCol w="4054549"/>
                <a:gridCol w="4054549"/>
              </a:tblGrid>
              <a:tr h="370840">
                <a:tc>
                  <a:txBody>
                    <a:bodyPr/>
                    <a:lstStyle/>
                    <a:p>
                      <a:r>
                        <a:rPr lang="en-US" dirty="0" smtClean="0"/>
                        <a:t>Item</a:t>
                      </a:r>
                      <a:endParaRPr lang="en-US" dirty="0"/>
                    </a:p>
                  </a:txBody>
                  <a:tcPr/>
                </a:tc>
                <a:tc>
                  <a:txBody>
                    <a:bodyPr/>
                    <a:lstStyle/>
                    <a:p>
                      <a:r>
                        <a:rPr lang="en-US" dirty="0" smtClean="0"/>
                        <a:t>Purpose</a:t>
                      </a:r>
                      <a:endParaRPr lang="en-US" dirty="0"/>
                    </a:p>
                  </a:txBody>
                  <a:tcPr/>
                </a:tc>
              </a:tr>
              <a:tr h="370840">
                <a:tc>
                  <a:txBody>
                    <a:bodyPr/>
                    <a:lstStyle/>
                    <a:p>
                      <a:r>
                        <a:rPr lang="en-US" dirty="0" smtClean="0"/>
                        <a:t>[item]</a:t>
                      </a:r>
                      <a:endParaRPr lang="en-US" dirty="0"/>
                    </a:p>
                  </a:txBody>
                  <a:tcPr/>
                </a:tc>
                <a:tc>
                  <a:txBody>
                    <a:bodyPr/>
                    <a:lstStyle/>
                    <a:p>
                      <a:r>
                        <a:rPr lang="en-US" dirty="0" smtClean="0"/>
                        <a:t>[purpose]</a:t>
                      </a:r>
                      <a:endParaRPr lang="en-US" dirty="0"/>
                    </a:p>
                  </a:txBody>
                  <a:tcPr/>
                </a:tc>
              </a:tr>
              <a:tr h="370840">
                <a:tc>
                  <a:txBody>
                    <a:bodyPr/>
                    <a:lstStyle/>
                    <a:p>
                      <a:r>
                        <a:rPr lang="en-US" dirty="0" smtClean="0"/>
                        <a:t>[item]</a:t>
                      </a:r>
                      <a:endParaRPr lang="en-US" dirty="0"/>
                    </a:p>
                  </a:txBody>
                  <a:tcPr/>
                </a:tc>
                <a:tc>
                  <a:txBody>
                    <a:bodyPr/>
                    <a:lstStyle/>
                    <a:p>
                      <a:r>
                        <a:rPr lang="en-US" dirty="0" smtClean="0"/>
                        <a:t>[purpose]</a:t>
                      </a:r>
                      <a:endParaRPr lang="en-US" dirty="0"/>
                    </a:p>
                  </a:txBody>
                  <a:tcPr/>
                </a:tc>
              </a:tr>
              <a:tr h="370840">
                <a:tc>
                  <a:txBody>
                    <a:bodyPr/>
                    <a:lstStyle/>
                    <a:p>
                      <a:r>
                        <a:rPr lang="en-US" dirty="0" smtClean="0"/>
                        <a:t>[item]</a:t>
                      </a:r>
                      <a:endParaRPr lang="en-US" dirty="0"/>
                    </a:p>
                  </a:txBody>
                  <a:tcPr/>
                </a:tc>
                <a:tc>
                  <a:txBody>
                    <a:bodyPr/>
                    <a:lstStyle/>
                    <a:p>
                      <a:r>
                        <a:rPr lang="en-US" dirty="0" smtClean="0"/>
                        <a:t>[purpose]</a:t>
                      </a:r>
                      <a:endParaRPr lang="en-US" dirty="0"/>
                    </a:p>
                  </a:txBody>
                  <a:tcPr/>
                </a:tc>
              </a:tr>
              <a:tr h="370840">
                <a:tc>
                  <a:txBody>
                    <a:bodyPr/>
                    <a:lstStyle/>
                    <a:p>
                      <a:r>
                        <a:rPr lang="en-US" dirty="0" smtClean="0"/>
                        <a:t>[…]</a:t>
                      </a:r>
                      <a:endParaRPr lang="en-US" dirty="0"/>
                    </a:p>
                  </a:txBody>
                  <a:tcPr/>
                </a:tc>
                <a:tc>
                  <a:txBody>
                    <a:bodyPr/>
                    <a:lstStyle/>
                    <a:p>
                      <a:r>
                        <a:rPr lang="en-US" dirty="0" smtClean="0"/>
                        <a:t>[…]</a:t>
                      </a:r>
                      <a:endParaRPr lang="en-US" dirty="0"/>
                    </a:p>
                  </a:txBody>
                  <a:tcPr/>
                </a:tc>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Roadmap</a:t>
            </a:r>
            <a:endParaRPr lang="en-US" dirty="0"/>
          </a:p>
        </p:txBody>
      </p:sp>
      <p:sp>
        <p:nvSpPr>
          <p:cNvPr id="3" name="Footer Placeholder 2"/>
          <p:cNvSpPr>
            <a:spLocks noGrp="1"/>
          </p:cNvSpPr>
          <p:nvPr>
            <p:ph type="ftr" sz="quarter" idx="11"/>
          </p:nvPr>
        </p:nvSpPr>
        <p:spPr/>
        <p:txBody>
          <a:bodyPr/>
          <a:lstStyle/>
          <a:p>
            <a:r>
              <a:rPr lang="en-US" smtClean="0"/>
              <a:t>Roadmap Template v6.4</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11</a:t>
            </a:fld>
            <a:endParaRPr lang="en-US" dirty="0"/>
          </a:p>
        </p:txBody>
      </p:sp>
      <p:sp>
        <p:nvSpPr>
          <p:cNvPr id="5" name="Content Placeholder 4"/>
          <p:cNvSpPr>
            <a:spLocks noGrp="1"/>
          </p:cNvSpPr>
          <p:nvPr>
            <p:ph sz="quarter" idx="15"/>
          </p:nvPr>
        </p:nvSpPr>
        <p:spPr/>
        <p:txBody>
          <a:bodyPr/>
          <a:lstStyle/>
          <a:p>
            <a:r>
              <a:rPr lang="en-US" dirty="0" smtClean="0"/>
              <a:t>Risk Identification</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For guidance on Risk Management refer to the Risk Guide published on Jetnet by the </a:t>
            </a:r>
            <a:r>
              <a:rPr lang="en-US" smtClean="0"/>
              <a:t>IT Project Performance </a:t>
            </a:r>
            <a:r>
              <a:rPr lang="en-US" dirty="0" smtClean="0"/>
              <a:t>Team.</a:t>
            </a:r>
          </a:p>
        </p:txBody>
      </p:sp>
      <p:graphicFrame>
        <p:nvGraphicFramePr>
          <p:cNvPr id="6" name="Table 5"/>
          <p:cNvGraphicFramePr>
            <a:graphicFrameLocks noGrp="1"/>
          </p:cNvGraphicFramePr>
          <p:nvPr/>
        </p:nvGraphicFramePr>
        <p:xfrm>
          <a:off x="520995" y="1503330"/>
          <a:ext cx="8133906" cy="2225040"/>
        </p:xfrm>
        <a:graphic>
          <a:graphicData uri="http://schemas.openxmlformats.org/drawingml/2006/table">
            <a:tbl>
              <a:tblPr firstRow="1" bandRow="1">
                <a:tableStyleId>{00A15C55-8517-42AA-B614-E9B94910E393}</a:tableStyleId>
              </a:tblPr>
              <a:tblGrid>
                <a:gridCol w="680484"/>
                <a:gridCol w="3136605"/>
                <a:gridCol w="1438939"/>
                <a:gridCol w="1438939"/>
                <a:gridCol w="1438939"/>
              </a:tblGrid>
              <a:tr h="370840">
                <a:tc>
                  <a:txBody>
                    <a:bodyPr/>
                    <a:lstStyle/>
                    <a:p>
                      <a:r>
                        <a:rPr lang="en-US" dirty="0" smtClean="0"/>
                        <a:t>Pri</a:t>
                      </a:r>
                      <a:endParaRPr lang="en-US" dirty="0"/>
                    </a:p>
                  </a:txBody>
                  <a:tcPr/>
                </a:tc>
                <a:tc>
                  <a:txBody>
                    <a:bodyPr/>
                    <a:lstStyle/>
                    <a:p>
                      <a:r>
                        <a:rPr lang="en-US" dirty="0" smtClean="0"/>
                        <a:t>Risk</a:t>
                      </a:r>
                      <a:endParaRPr lang="en-US" dirty="0"/>
                    </a:p>
                  </a:txBody>
                  <a:tcPr/>
                </a:tc>
                <a:tc>
                  <a:txBody>
                    <a:bodyPr/>
                    <a:lstStyle/>
                    <a:p>
                      <a:r>
                        <a:rPr lang="en-US" dirty="0" smtClean="0"/>
                        <a:t>Release</a:t>
                      </a:r>
                      <a:endParaRPr lang="en-US" dirty="0"/>
                    </a:p>
                  </a:txBody>
                  <a:tcPr/>
                </a:tc>
                <a:tc>
                  <a:txBody>
                    <a:bodyPr/>
                    <a:lstStyle/>
                    <a:p>
                      <a:r>
                        <a:rPr lang="en-US" dirty="0" smtClean="0"/>
                        <a:t>Prob</a:t>
                      </a:r>
                      <a:endParaRPr lang="en-US" dirty="0"/>
                    </a:p>
                  </a:txBody>
                  <a:tcPr/>
                </a:tc>
                <a:tc>
                  <a:txBody>
                    <a:bodyPr/>
                    <a:lstStyle/>
                    <a:p>
                      <a:r>
                        <a:rPr lang="en-US" dirty="0" smtClean="0"/>
                        <a:t>Impact</a:t>
                      </a:r>
                      <a:endParaRPr lang="en-US" dirty="0"/>
                    </a:p>
                  </a:txBody>
                  <a:tcPr/>
                </a:tc>
              </a:tr>
              <a:tr h="370840">
                <a:tc>
                  <a:txBody>
                    <a:bodyPr/>
                    <a:lstStyle/>
                    <a:p>
                      <a:pPr algn="ctr"/>
                      <a:r>
                        <a:rPr lang="en-US" dirty="0" smtClean="0"/>
                        <a:t>1</a:t>
                      </a:r>
                      <a:endParaRPr lang="en-US" dirty="0"/>
                    </a:p>
                  </a:txBody>
                  <a:tcPr/>
                </a:tc>
                <a:tc>
                  <a:txBody>
                    <a:bodyPr/>
                    <a:lstStyle/>
                    <a:p>
                      <a:r>
                        <a:rPr lang="en-US" dirty="0" smtClean="0"/>
                        <a:t>[risk item]</a:t>
                      </a:r>
                      <a:endParaRPr lang="en-US" dirty="0"/>
                    </a:p>
                  </a:txBody>
                  <a:tcPr/>
                </a:tc>
                <a:tc>
                  <a:txBody>
                    <a:bodyPr/>
                    <a:lstStyle/>
                    <a:p>
                      <a:r>
                        <a:rPr lang="en-US" dirty="0" smtClean="0"/>
                        <a:t>[rel num]</a:t>
                      </a:r>
                      <a:endParaRPr lang="en-US" dirty="0"/>
                    </a:p>
                  </a:txBody>
                  <a:tcPr/>
                </a:tc>
                <a:tc>
                  <a:txBody>
                    <a:bodyPr/>
                    <a:lstStyle/>
                    <a:p>
                      <a:r>
                        <a:rPr lang="en-US" dirty="0" smtClean="0"/>
                        <a:t>[value]</a:t>
                      </a:r>
                      <a:endParaRPr lang="en-US" dirty="0"/>
                    </a:p>
                  </a:txBody>
                  <a:tcPr/>
                </a:tc>
                <a:tc>
                  <a:txBody>
                    <a:bodyPr/>
                    <a:lstStyle/>
                    <a:p>
                      <a:r>
                        <a:rPr lang="en-US" dirty="0" smtClean="0"/>
                        <a:t>[value]</a:t>
                      </a:r>
                      <a:endParaRPr lang="en-US" dirty="0"/>
                    </a:p>
                  </a:txBody>
                  <a:tcPr/>
                </a:tc>
              </a:tr>
              <a:tr h="370840">
                <a:tc>
                  <a:txBody>
                    <a:bodyPr/>
                    <a:lstStyle/>
                    <a:p>
                      <a:pPr algn="ctr"/>
                      <a:r>
                        <a:rPr lang="en-US" dirty="0" smtClean="0"/>
                        <a:t>2</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pPr algn="ctr"/>
                      <a:r>
                        <a:rPr lang="en-US" dirty="0" smtClean="0"/>
                        <a:t>3</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pPr algn="ctr"/>
                      <a:r>
                        <a:rPr lang="en-US" dirty="0" smtClean="0"/>
                        <a:t>4</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pPr algn="ctr"/>
                      <a:r>
                        <a:rPr lang="en-US" dirty="0" smtClean="0"/>
                        <a:t>[n]</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Roadmap</a:t>
            </a:r>
            <a:endParaRPr lang="en-US" dirty="0"/>
          </a:p>
        </p:txBody>
      </p:sp>
      <p:sp>
        <p:nvSpPr>
          <p:cNvPr id="3" name="Footer Placeholder 2"/>
          <p:cNvSpPr>
            <a:spLocks noGrp="1"/>
          </p:cNvSpPr>
          <p:nvPr>
            <p:ph type="ftr" sz="quarter" idx="11"/>
          </p:nvPr>
        </p:nvSpPr>
        <p:spPr/>
        <p:txBody>
          <a:bodyPr/>
          <a:lstStyle/>
          <a:p>
            <a:r>
              <a:rPr lang="en-US" smtClean="0"/>
              <a:t>Roadmap Template v6.4</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12</a:t>
            </a:fld>
            <a:endParaRPr lang="en-US" dirty="0"/>
          </a:p>
        </p:txBody>
      </p:sp>
      <p:sp>
        <p:nvSpPr>
          <p:cNvPr id="5" name="Content Placeholder 4"/>
          <p:cNvSpPr>
            <a:spLocks noGrp="1"/>
          </p:cNvSpPr>
          <p:nvPr>
            <p:ph sz="quarter" idx="15"/>
          </p:nvPr>
        </p:nvSpPr>
        <p:spPr/>
        <p:txBody>
          <a:bodyPr/>
          <a:lstStyle/>
          <a:p>
            <a:r>
              <a:rPr lang="en-US" dirty="0" smtClean="0"/>
              <a:t>Assumptions</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Constraints</a:t>
            </a:r>
            <a:endParaRPr lang="en-US" dirty="0"/>
          </a:p>
        </p:txBody>
      </p:sp>
      <p:graphicFrame>
        <p:nvGraphicFramePr>
          <p:cNvPr id="6" name="Table 5"/>
          <p:cNvGraphicFramePr>
            <a:graphicFrameLocks noGrp="1"/>
          </p:cNvGraphicFramePr>
          <p:nvPr/>
        </p:nvGraphicFramePr>
        <p:xfrm>
          <a:off x="471376" y="1513960"/>
          <a:ext cx="8183526" cy="2225040"/>
        </p:xfrm>
        <a:graphic>
          <a:graphicData uri="http://schemas.openxmlformats.org/drawingml/2006/table">
            <a:tbl>
              <a:tblPr firstRow="1" bandRow="1">
                <a:tableStyleId>{00A15C55-8517-42AA-B614-E9B94910E393}</a:tableStyleId>
              </a:tblPr>
              <a:tblGrid>
                <a:gridCol w="4091763"/>
                <a:gridCol w="4091763"/>
              </a:tblGrid>
              <a:tr h="370840">
                <a:tc>
                  <a:txBody>
                    <a:bodyPr/>
                    <a:lstStyle/>
                    <a:p>
                      <a:r>
                        <a:rPr lang="en-US" dirty="0" smtClean="0"/>
                        <a:t>Item</a:t>
                      </a:r>
                      <a:endParaRPr lang="en-US" dirty="0"/>
                    </a:p>
                  </a:txBody>
                  <a:tcPr/>
                </a:tc>
                <a:tc>
                  <a:txBody>
                    <a:bodyPr/>
                    <a:lstStyle/>
                    <a:p>
                      <a:r>
                        <a:rPr lang="en-US" dirty="0" smtClean="0"/>
                        <a:t>Notes</a:t>
                      </a:r>
                      <a:endParaRPr lang="en-US" dirty="0"/>
                    </a:p>
                  </a:txBody>
                  <a:tcPr/>
                </a:tc>
              </a:tr>
              <a:tr h="370840">
                <a:tc>
                  <a:txBody>
                    <a:bodyPr/>
                    <a:lstStyle/>
                    <a:p>
                      <a:r>
                        <a:rPr lang="en-US" dirty="0" smtClean="0"/>
                        <a:t>[item]</a:t>
                      </a:r>
                      <a:endParaRPr lang="en-US" dirty="0"/>
                    </a:p>
                  </a:txBody>
                  <a:tcPr/>
                </a:tc>
                <a:tc>
                  <a:txBody>
                    <a:bodyPr/>
                    <a:lstStyle/>
                    <a:p>
                      <a:r>
                        <a:rPr lang="en-US" dirty="0" smtClean="0"/>
                        <a:t>[notes]</a:t>
                      </a:r>
                      <a:endParaRPr lang="en-US" dirty="0"/>
                    </a:p>
                  </a:txBody>
                  <a:tcPr/>
                </a:tc>
              </a:tr>
              <a:tr h="370840">
                <a:tc>
                  <a:txBody>
                    <a:bodyPr/>
                    <a:lstStyle/>
                    <a:p>
                      <a:r>
                        <a:rPr lang="en-US" dirty="0" smtClean="0"/>
                        <a:t>[item]</a:t>
                      </a:r>
                      <a:endParaRPr lang="en-US" dirty="0"/>
                    </a:p>
                  </a:txBody>
                  <a:tcPr/>
                </a:tc>
                <a:tc>
                  <a:txBody>
                    <a:bodyPr/>
                    <a:lstStyle/>
                    <a:p>
                      <a:r>
                        <a:rPr lang="en-US" dirty="0" smtClean="0"/>
                        <a:t>[notes]</a:t>
                      </a:r>
                      <a:endParaRPr lang="en-US" dirty="0"/>
                    </a:p>
                  </a:txBody>
                  <a:tcPr/>
                </a:tc>
              </a:tr>
              <a:tr h="370840">
                <a:tc>
                  <a:txBody>
                    <a:bodyPr/>
                    <a:lstStyle/>
                    <a:p>
                      <a:r>
                        <a:rPr lang="en-US" dirty="0" smtClean="0"/>
                        <a:t>[item]</a:t>
                      </a:r>
                      <a:endParaRPr lang="en-US" dirty="0"/>
                    </a:p>
                  </a:txBody>
                  <a:tcPr/>
                </a:tc>
                <a:tc>
                  <a:txBody>
                    <a:bodyPr/>
                    <a:lstStyle/>
                    <a:p>
                      <a:r>
                        <a:rPr lang="en-US" dirty="0" smtClean="0"/>
                        <a:t>[notes]</a:t>
                      </a:r>
                      <a:endParaRPr lang="en-US" dirty="0"/>
                    </a:p>
                  </a:txBody>
                  <a:tcPr/>
                </a:tc>
              </a:tr>
              <a:tr h="370840">
                <a:tc>
                  <a:txBody>
                    <a:bodyPr/>
                    <a:lstStyle/>
                    <a:p>
                      <a:r>
                        <a:rPr lang="en-US" dirty="0" smtClean="0"/>
                        <a:t>[item]</a:t>
                      </a:r>
                      <a:endParaRPr lang="en-US" dirty="0"/>
                    </a:p>
                  </a:txBody>
                  <a:tcPr/>
                </a:tc>
                <a:tc>
                  <a:txBody>
                    <a:bodyPr/>
                    <a:lstStyle/>
                    <a:p>
                      <a:r>
                        <a:rPr lang="en-US" dirty="0" smtClean="0"/>
                        <a:t>[notes]</a:t>
                      </a:r>
                      <a:endParaRPr lang="en-US" dirty="0"/>
                    </a:p>
                  </a:txBody>
                  <a:tcPr/>
                </a:tc>
              </a:tr>
              <a:tr h="370840">
                <a:tc>
                  <a:txBody>
                    <a:bodyPr/>
                    <a:lstStyle/>
                    <a:p>
                      <a:r>
                        <a:rPr lang="en-US" dirty="0" smtClean="0"/>
                        <a:t>[…]</a:t>
                      </a:r>
                      <a:endParaRPr lang="en-US" dirty="0"/>
                    </a:p>
                  </a:txBody>
                  <a:tcPr/>
                </a:tc>
                <a:tc>
                  <a:txBody>
                    <a:bodyPr/>
                    <a:lstStyle/>
                    <a:p>
                      <a:r>
                        <a:rPr lang="en-US" dirty="0" smtClean="0"/>
                        <a:t>[…]</a:t>
                      </a:r>
                      <a:endParaRPr lang="en-US" dirty="0"/>
                    </a:p>
                  </a:txBody>
                  <a:tcPr/>
                </a:tc>
              </a:tr>
            </a:tbl>
          </a:graphicData>
        </a:graphic>
      </p:graphicFrame>
      <p:graphicFrame>
        <p:nvGraphicFramePr>
          <p:cNvPr id="7" name="Table 6"/>
          <p:cNvGraphicFramePr>
            <a:graphicFrameLocks noGrp="1"/>
          </p:cNvGraphicFramePr>
          <p:nvPr/>
        </p:nvGraphicFramePr>
        <p:xfrm>
          <a:off x="471377" y="4257158"/>
          <a:ext cx="8087833" cy="1854200"/>
        </p:xfrm>
        <a:graphic>
          <a:graphicData uri="http://schemas.openxmlformats.org/drawingml/2006/table">
            <a:tbl>
              <a:tblPr firstRow="1" bandRow="1">
                <a:tableStyleId>{00A15C55-8517-42AA-B614-E9B94910E393}</a:tableStyleId>
              </a:tblPr>
              <a:tblGrid>
                <a:gridCol w="1463749"/>
                <a:gridCol w="3312042"/>
                <a:gridCol w="3312042"/>
              </a:tblGrid>
              <a:tr h="370840">
                <a:tc>
                  <a:txBody>
                    <a:bodyPr/>
                    <a:lstStyle/>
                    <a:p>
                      <a:r>
                        <a:rPr lang="en-US" dirty="0" smtClean="0"/>
                        <a:t>Type</a:t>
                      </a:r>
                      <a:endParaRPr lang="en-US" dirty="0"/>
                    </a:p>
                  </a:txBody>
                  <a:tcPr/>
                </a:tc>
                <a:tc>
                  <a:txBody>
                    <a:bodyPr/>
                    <a:lstStyle/>
                    <a:p>
                      <a:r>
                        <a:rPr lang="en-US" dirty="0" smtClean="0"/>
                        <a:t>Item</a:t>
                      </a:r>
                      <a:endParaRPr lang="en-US" dirty="0"/>
                    </a:p>
                  </a:txBody>
                  <a:tcPr/>
                </a:tc>
                <a:tc>
                  <a:txBody>
                    <a:bodyPr/>
                    <a:lstStyle/>
                    <a:p>
                      <a:r>
                        <a:rPr lang="en-US" dirty="0" smtClean="0"/>
                        <a:t>Notes</a:t>
                      </a:r>
                      <a:endParaRPr lang="en-US" dirty="0"/>
                    </a:p>
                  </a:txBody>
                  <a:tcPr/>
                </a:tc>
              </a:tr>
              <a:tr h="370840">
                <a:tc>
                  <a:txBody>
                    <a:bodyPr/>
                    <a:lstStyle/>
                    <a:p>
                      <a:r>
                        <a:rPr lang="en-US" dirty="0" smtClean="0"/>
                        <a:t>[type]</a:t>
                      </a:r>
                      <a:endParaRPr lang="en-US" dirty="0"/>
                    </a:p>
                  </a:txBody>
                  <a:tcPr/>
                </a:tc>
                <a:tc>
                  <a:txBody>
                    <a:bodyPr/>
                    <a:lstStyle/>
                    <a:p>
                      <a:r>
                        <a:rPr lang="en-US" dirty="0" smtClean="0"/>
                        <a:t>[item]</a:t>
                      </a:r>
                      <a:endParaRPr lang="en-US" dirty="0"/>
                    </a:p>
                  </a:txBody>
                  <a:tcPr/>
                </a:tc>
                <a:tc>
                  <a:txBody>
                    <a:bodyPr/>
                    <a:lstStyle/>
                    <a:p>
                      <a:r>
                        <a:rPr lang="en-US" dirty="0" smtClean="0"/>
                        <a:t>[notes]</a:t>
                      </a:r>
                      <a:endParaRPr lang="en-US" dirty="0"/>
                    </a:p>
                  </a:txBody>
                  <a:tcPr/>
                </a:tc>
              </a:tr>
              <a:tr h="370840">
                <a:tc>
                  <a:txBody>
                    <a:bodyPr/>
                    <a:lstStyle/>
                    <a:p>
                      <a:r>
                        <a:rPr lang="en-US" dirty="0" smtClean="0"/>
                        <a:t>[type]</a:t>
                      </a:r>
                      <a:endParaRPr lang="en-US" dirty="0"/>
                    </a:p>
                  </a:txBody>
                  <a:tcPr/>
                </a:tc>
                <a:tc>
                  <a:txBody>
                    <a:bodyPr/>
                    <a:lstStyle/>
                    <a:p>
                      <a:r>
                        <a:rPr lang="en-US" dirty="0" smtClean="0"/>
                        <a:t>[item]</a:t>
                      </a:r>
                      <a:endParaRPr lang="en-US" dirty="0"/>
                    </a:p>
                  </a:txBody>
                  <a:tcPr/>
                </a:tc>
                <a:tc>
                  <a:txBody>
                    <a:bodyPr/>
                    <a:lstStyle/>
                    <a:p>
                      <a:r>
                        <a:rPr lang="en-US" dirty="0" smtClean="0"/>
                        <a:t>[notes]</a:t>
                      </a:r>
                      <a:endParaRPr lang="en-US" dirty="0"/>
                    </a:p>
                  </a:txBody>
                  <a:tcPr/>
                </a:tc>
              </a:tr>
              <a:tr h="370840">
                <a:tc>
                  <a:txBody>
                    <a:bodyPr/>
                    <a:lstStyle/>
                    <a:p>
                      <a:r>
                        <a:rPr lang="en-US" dirty="0" smtClean="0"/>
                        <a:t>[type]</a:t>
                      </a:r>
                      <a:endParaRPr lang="en-US" dirty="0"/>
                    </a:p>
                  </a:txBody>
                  <a:tcPr/>
                </a:tc>
                <a:tc>
                  <a:txBody>
                    <a:bodyPr/>
                    <a:lstStyle/>
                    <a:p>
                      <a:r>
                        <a:rPr lang="en-US" dirty="0" smtClean="0"/>
                        <a:t>[item]</a:t>
                      </a:r>
                      <a:endParaRPr lang="en-US" dirty="0"/>
                    </a:p>
                  </a:txBody>
                  <a:tcPr/>
                </a:tc>
                <a:tc>
                  <a:txBody>
                    <a:bodyPr/>
                    <a:lstStyle/>
                    <a:p>
                      <a:r>
                        <a:rPr lang="en-US" dirty="0" smtClean="0"/>
                        <a:t>[notes]</a:t>
                      </a:r>
                      <a:endParaRPr lang="en-US" dirty="0"/>
                    </a:p>
                  </a:txBody>
                  <a:tcPr/>
                </a:tc>
              </a:tr>
              <a:tr h="370840">
                <a:tc>
                  <a:txBody>
                    <a:bodyPr/>
                    <a:lstStyle/>
                    <a:p>
                      <a:r>
                        <a:rPr lang="en-US" dirty="0" smtClean="0"/>
                        <a:t>[…]</a:t>
                      </a:r>
                      <a:endParaRPr lang="en-US" dirty="0"/>
                    </a:p>
                  </a:txBody>
                  <a:tcPr/>
                </a:tc>
                <a:tc>
                  <a:txBody>
                    <a:bodyPr/>
                    <a:lstStyle/>
                    <a:p>
                      <a:r>
                        <a:rPr lang="en-US" dirty="0" smtClean="0"/>
                        <a:t>[…]</a:t>
                      </a:r>
                      <a:endParaRPr lang="en-US" dirty="0"/>
                    </a:p>
                  </a:txBody>
                  <a:tcPr/>
                </a:tc>
                <a:tc>
                  <a:txBody>
                    <a:bodyPr/>
                    <a:lstStyle/>
                    <a:p>
                      <a:r>
                        <a:rPr lang="en-US" dirty="0" smtClean="0"/>
                        <a:t>[…]</a:t>
                      </a:r>
                      <a:endParaRPr lang="en-US" dirty="0"/>
                    </a:p>
                  </a:txBody>
                  <a:tcPr/>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Roadmap</a:t>
            </a:r>
            <a:endParaRPr lang="en-US" dirty="0"/>
          </a:p>
        </p:txBody>
      </p:sp>
      <p:sp>
        <p:nvSpPr>
          <p:cNvPr id="3" name="Footer Placeholder 2"/>
          <p:cNvSpPr>
            <a:spLocks noGrp="1"/>
          </p:cNvSpPr>
          <p:nvPr>
            <p:ph type="ftr" sz="quarter" idx="11"/>
          </p:nvPr>
        </p:nvSpPr>
        <p:spPr/>
        <p:txBody>
          <a:bodyPr/>
          <a:lstStyle/>
          <a:p>
            <a:r>
              <a:rPr lang="en-US" smtClean="0"/>
              <a:t>Roadmap Template v6.4</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13</a:t>
            </a:fld>
            <a:endParaRPr lang="en-US" dirty="0"/>
          </a:p>
        </p:txBody>
      </p:sp>
      <p:sp>
        <p:nvSpPr>
          <p:cNvPr id="5" name="Content Placeholder 4"/>
          <p:cNvSpPr>
            <a:spLocks noGrp="1"/>
          </p:cNvSpPr>
          <p:nvPr>
            <p:ph sz="quarter" idx="15"/>
          </p:nvPr>
        </p:nvSpPr>
        <p:spPr/>
        <p:txBody>
          <a:bodyPr/>
          <a:lstStyle/>
          <a:p>
            <a:r>
              <a:rPr lang="en-US" dirty="0" smtClean="0"/>
              <a:t>Disaster Recovery</a:t>
            </a:r>
          </a:p>
          <a:p>
            <a:endParaRPr lang="en-US" dirty="0" smtClean="0"/>
          </a:p>
          <a:p>
            <a:pPr lvl="1"/>
            <a:r>
              <a:rPr lang="en-US" dirty="0" smtClean="0"/>
              <a:t>Disaster Recovery Designation</a:t>
            </a:r>
          </a:p>
          <a:p>
            <a:pPr lvl="2">
              <a:buFont typeface="Wingdings" panose="05000000000000000000" pitchFamily="2" charset="2"/>
              <a:buChar char="q"/>
            </a:pPr>
            <a:r>
              <a:rPr lang="en-US" dirty="0" smtClean="0"/>
              <a:t> Vital</a:t>
            </a:r>
          </a:p>
          <a:p>
            <a:pPr lvl="2">
              <a:buFont typeface="Wingdings" panose="05000000000000000000" pitchFamily="2" charset="2"/>
              <a:buChar char="q"/>
            </a:pPr>
            <a:r>
              <a:rPr lang="en-US" dirty="0" smtClean="0"/>
              <a:t> Critical</a:t>
            </a:r>
          </a:p>
          <a:p>
            <a:pPr lvl="2">
              <a:buFont typeface="Wingdings" panose="05000000000000000000" pitchFamily="2" charset="2"/>
              <a:buChar char="q"/>
            </a:pPr>
            <a:r>
              <a:rPr lang="en-US" dirty="0" smtClean="0"/>
              <a:t> Important</a:t>
            </a:r>
          </a:p>
          <a:p>
            <a:pPr lvl="2">
              <a:buFont typeface="Wingdings" panose="05000000000000000000" pitchFamily="2" charset="2"/>
              <a:buChar char="q"/>
            </a:pPr>
            <a:r>
              <a:rPr lang="en-US" dirty="0" smtClean="0"/>
              <a:t> Discretionary</a:t>
            </a:r>
          </a:p>
          <a:p>
            <a:pPr lvl="2"/>
            <a:endParaRPr lang="en-US" dirty="0" smtClean="0"/>
          </a:p>
          <a:p>
            <a:pPr lvl="1"/>
            <a:r>
              <a:rPr lang="en-US" dirty="0" smtClean="0"/>
              <a:t>DR Issues:</a:t>
            </a:r>
          </a:p>
          <a:p>
            <a:pPr lvl="2"/>
            <a:r>
              <a:rPr lang="en-US" dirty="0" smtClean="0"/>
              <a:t>[description of DR issue]</a:t>
            </a:r>
          </a:p>
          <a:p>
            <a:pPr lvl="2"/>
            <a:r>
              <a:rPr lang="en-US" dirty="0" smtClean="0"/>
              <a:t>[description of DR issue]</a:t>
            </a:r>
          </a:p>
          <a:p>
            <a:pPr lvl="2"/>
            <a:r>
              <a:rPr lang="en-US" dirty="0" smtClean="0"/>
              <a:t>[..]</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History</a:t>
            </a:r>
            <a:endParaRPr lang="en-US" dirty="0"/>
          </a:p>
        </p:txBody>
      </p:sp>
      <p:sp>
        <p:nvSpPr>
          <p:cNvPr id="3" name="Footer Placeholder 2"/>
          <p:cNvSpPr>
            <a:spLocks noGrp="1"/>
          </p:cNvSpPr>
          <p:nvPr>
            <p:ph type="ftr" sz="quarter" idx="11"/>
          </p:nvPr>
        </p:nvSpPr>
        <p:spPr/>
        <p:txBody>
          <a:bodyPr/>
          <a:lstStyle/>
          <a:p>
            <a:r>
              <a:rPr lang="en-US" smtClean="0"/>
              <a:t>Roadmap Template v6.4</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14</a:t>
            </a:fld>
            <a:endParaRPr lang="en-US" dirty="0"/>
          </a:p>
        </p:txBody>
      </p:sp>
      <p:graphicFrame>
        <p:nvGraphicFramePr>
          <p:cNvPr id="6" name="Content Placeholder 5"/>
          <p:cNvGraphicFramePr>
            <a:graphicFrameLocks noGrp="1"/>
          </p:cNvGraphicFramePr>
          <p:nvPr>
            <p:ph sz="quarter" idx="15"/>
          </p:nvPr>
        </p:nvGraphicFramePr>
        <p:xfrm>
          <a:off x="457200" y="1184275"/>
          <a:ext cx="8232774" cy="2494280"/>
        </p:xfrm>
        <a:graphic>
          <a:graphicData uri="http://schemas.openxmlformats.org/drawingml/2006/table">
            <a:tbl>
              <a:tblPr firstRow="1" bandRow="1">
                <a:tableStyleId>{00A15C55-8517-42AA-B614-E9B94910E393}</a:tableStyleId>
              </a:tblPr>
              <a:tblGrid>
                <a:gridCol w="1456660"/>
                <a:gridCol w="4031856"/>
                <a:gridCol w="2744258"/>
              </a:tblGrid>
              <a:tr h="370840">
                <a:tc>
                  <a:txBody>
                    <a:bodyPr/>
                    <a:lstStyle/>
                    <a:p>
                      <a:r>
                        <a:rPr lang="en-US" dirty="0" smtClean="0"/>
                        <a:t>Date</a:t>
                      </a:r>
                      <a:endParaRPr lang="en-US" dirty="0"/>
                    </a:p>
                  </a:txBody>
                  <a:tcPr/>
                </a:tc>
                <a:tc>
                  <a:txBody>
                    <a:bodyPr/>
                    <a:lstStyle/>
                    <a:p>
                      <a:r>
                        <a:rPr lang="en-US" dirty="0" smtClean="0"/>
                        <a:t>Activity</a:t>
                      </a:r>
                      <a:endParaRPr lang="en-US" dirty="0"/>
                    </a:p>
                  </a:txBody>
                  <a:tcPr/>
                </a:tc>
                <a:tc>
                  <a:txBody>
                    <a:bodyPr/>
                    <a:lstStyle/>
                    <a:p>
                      <a:r>
                        <a:rPr lang="en-US" dirty="0" smtClean="0"/>
                        <a:t>Comments</a:t>
                      </a:r>
                      <a:endParaRPr lang="en-US" dirty="0"/>
                    </a:p>
                  </a:txBody>
                  <a:tcPr/>
                </a:tc>
              </a:tr>
              <a:tr h="370840">
                <a:tc>
                  <a:txBody>
                    <a:bodyPr/>
                    <a:lstStyle/>
                    <a:p>
                      <a:r>
                        <a:rPr lang="en-US" dirty="0" smtClean="0"/>
                        <a:t>[date]</a:t>
                      </a:r>
                      <a:endParaRPr lang="en-US" dirty="0"/>
                    </a:p>
                  </a:txBody>
                  <a:tcPr/>
                </a:tc>
                <a:tc>
                  <a:txBody>
                    <a:bodyPr/>
                    <a:lstStyle/>
                    <a:p>
                      <a:r>
                        <a:rPr lang="en-US" dirty="0" smtClean="0"/>
                        <a:t>Document created</a:t>
                      </a:r>
                      <a:endParaRPr lang="en-US" dirty="0"/>
                    </a:p>
                  </a:txBody>
                  <a:tcPr/>
                </a:tc>
                <a:tc>
                  <a:txBody>
                    <a:bodyPr/>
                    <a:lstStyle/>
                    <a:p>
                      <a:r>
                        <a:rPr lang="en-US" dirty="0" smtClean="0"/>
                        <a:t>[comments]</a:t>
                      </a:r>
                      <a:endParaRPr lang="en-US" dirty="0"/>
                    </a:p>
                  </a:txBody>
                  <a:tcPr/>
                </a:tc>
              </a:tr>
              <a:tr h="370840">
                <a:tc>
                  <a:txBody>
                    <a:bodyPr/>
                    <a:lstStyle/>
                    <a:p>
                      <a:r>
                        <a:rPr lang="en-US" dirty="0" smtClean="0"/>
                        <a:t>[date]</a:t>
                      </a:r>
                      <a:endParaRPr lang="en-US" dirty="0"/>
                    </a:p>
                  </a:txBody>
                  <a:tcPr/>
                </a:tc>
                <a:tc>
                  <a:txBody>
                    <a:bodyPr/>
                    <a:lstStyle/>
                    <a:p>
                      <a:r>
                        <a:rPr lang="en-US" dirty="0" smtClean="0"/>
                        <a:t>[name of activity (e.g. Release 2 planning)]</a:t>
                      </a:r>
                      <a:endParaRPr lang="en-US" dirty="0"/>
                    </a:p>
                  </a:txBody>
                  <a:tcPr/>
                </a:tc>
                <a:tc>
                  <a:txBody>
                    <a:bodyPr/>
                    <a:lstStyle/>
                    <a:p>
                      <a:r>
                        <a:rPr lang="en-US" dirty="0" smtClean="0"/>
                        <a:t>[comments]</a:t>
                      </a:r>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Revision History</a:t>
            </a:r>
            <a:endParaRPr lang="en-US" dirty="0"/>
          </a:p>
        </p:txBody>
      </p:sp>
      <p:sp>
        <p:nvSpPr>
          <p:cNvPr id="3" name="Footer Placeholder 2"/>
          <p:cNvSpPr>
            <a:spLocks noGrp="1"/>
          </p:cNvSpPr>
          <p:nvPr>
            <p:ph type="ftr" sz="quarter" idx="11"/>
          </p:nvPr>
        </p:nvSpPr>
        <p:spPr/>
        <p:txBody>
          <a:bodyPr/>
          <a:lstStyle/>
          <a:p>
            <a:r>
              <a:rPr lang="en-US" smtClean="0"/>
              <a:t>Roadmap Template v6.4</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15</a:t>
            </a:fld>
            <a:endParaRPr lang="en-US" dirty="0"/>
          </a:p>
        </p:txBody>
      </p:sp>
      <p:graphicFrame>
        <p:nvGraphicFramePr>
          <p:cNvPr id="6" name="Content Placeholder 5"/>
          <p:cNvGraphicFramePr>
            <a:graphicFrameLocks noGrp="1"/>
          </p:cNvGraphicFramePr>
          <p:nvPr>
            <p:ph sz="quarter" idx="15"/>
          </p:nvPr>
        </p:nvGraphicFramePr>
        <p:xfrm>
          <a:off x="457200" y="1184275"/>
          <a:ext cx="8232774" cy="2225040"/>
        </p:xfrm>
        <a:graphic>
          <a:graphicData uri="http://schemas.openxmlformats.org/drawingml/2006/table">
            <a:tbl>
              <a:tblPr firstRow="1" bandRow="1">
                <a:tableStyleId>{00A15C55-8517-42AA-B614-E9B94910E393}</a:tableStyleId>
              </a:tblPr>
              <a:tblGrid>
                <a:gridCol w="1297172"/>
                <a:gridCol w="1158949"/>
                <a:gridCol w="5776653"/>
              </a:tblGrid>
              <a:tr h="370840">
                <a:tc>
                  <a:txBody>
                    <a:bodyPr/>
                    <a:lstStyle/>
                    <a:p>
                      <a:r>
                        <a:rPr lang="en-US" dirty="0" smtClean="0"/>
                        <a:t>Date</a:t>
                      </a:r>
                      <a:endParaRPr lang="en-US" dirty="0"/>
                    </a:p>
                  </a:txBody>
                  <a:tcPr/>
                </a:tc>
                <a:tc>
                  <a:txBody>
                    <a:bodyPr/>
                    <a:lstStyle/>
                    <a:p>
                      <a:r>
                        <a:rPr lang="en-US" dirty="0" smtClean="0"/>
                        <a:t>Version</a:t>
                      </a:r>
                      <a:endParaRPr lang="en-US" dirty="0"/>
                    </a:p>
                  </a:txBody>
                  <a:tcPr/>
                </a:tc>
                <a:tc>
                  <a:txBody>
                    <a:bodyPr/>
                    <a:lstStyle/>
                    <a:p>
                      <a:r>
                        <a:rPr lang="en-US" dirty="0" smtClean="0"/>
                        <a:t>Comments</a:t>
                      </a:r>
                      <a:endParaRPr lang="en-US" dirty="0"/>
                    </a:p>
                  </a:txBody>
                  <a:tcPr/>
                </a:tc>
              </a:tr>
              <a:tr h="370840">
                <a:tc>
                  <a:txBody>
                    <a:bodyPr/>
                    <a:lstStyle/>
                    <a:p>
                      <a:r>
                        <a:rPr lang="en-US" dirty="0" smtClean="0"/>
                        <a:t>[date]</a:t>
                      </a:r>
                      <a:endParaRPr lang="en-US" dirty="0"/>
                    </a:p>
                  </a:txBody>
                  <a:tcPr/>
                </a:tc>
                <a:tc>
                  <a:txBody>
                    <a:bodyPr/>
                    <a:lstStyle/>
                    <a:p>
                      <a:r>
                        <a:rPr lang="en-US" dirty="0" smtClean="0"/>
                        <a:t>1.0</a:t>
                      </a:r>
                      <a:endParaRPr lang="en-US" dirty="0"/>
                    </a:p>
                  </a:txBody>
                  <a:tcPr/>
                </a:tc>
                <a:tc>
                  <a:txBody>
                    <a:bodyPr/>
                    <a:lstStyle/>
                    <a:p>
                      <a:r>
                        <a:rPr lang="en-US" dirty="0" smtClean="0"/>
                        <a:t>[comments]</a:t>
                      </a:r>
                      <a:endParaRPr lang="en-US" dirty="0"/>
                    </a:p>
                  </a:txBody>
                  <a:tcPr/>
                </a:tc>
              </a:tr>
              <a:tr h="370840">
                <a:tc>
                  <a:txBody>
                    <a:bodyPr/>
                    <a:lstStyle/>
                    <a:p>
                      <a:r>
                        <a:rPr lang="en-US" dirty="0" smtClean="0"/>
                        <a:t>[date]</a:t>
                      </a:r>
                      <a:endParaRPr lang="en-US" dirty="0"/>
                    </a:p>
                  </a:txBody>
                  <a:tcPr/>
                </a:tc>
                <a:tc>
                  <a:txBody>
                    <a:bodyPr/>
                    <a:lstStyle/>
                    <a:p>
                      <a:r>
                        <a:rPr lang="en-US" dirty="0" smtClean="0"/>
                        <a:t>[x.y]</a:t>
                      </a:r>
                      <a:endParaRPr lang="en-US" dirty="0"/>
                    </a:p>
                  </a:txBody>
                  <a:tcPr/>
                </a:tc>
                <a:tc>
                  <a:txBody>
                    <a:bodyPr/>
                    <a:lstStyle/>
                    <a:p>
                      <a:r>
                        <a:rPr lang="en-US" dirty="0" smtClean="0"/>
                        <a:t>[comments]</a:t>
                      </a:r>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p:txBody>
          <a:bodyPr/>
          <a:lstStyle/>
          <a:p>
            <a:fld id="{9E3C471D-FB94-43E4-8DFD-966A05A84658}" type="slidenum">
              <a:rPr lang="en-US" smtClean="0">
                <a:solidFill>
                  <a:srgbClr val="7F7F7F"/>
                </a:solidFill>
              </a:rPr>
              <a:pPr/>
              <a:t>16</a:t>
            </a:fld>
            <a:endParaRPr lang="en-US" dirty="0">
              <a:solidFill>
                <a:srgbClr val="7F7F7F"/>
              </a:solidFill>
            </a:endParaRPr>
          </a:p>
        </p:txBody>
      </p:sp>
      <p:sp>
        <p:nvSpPr>
          <p:cNvPr id="3" name="Footer Placeholder 2"/>
          <p:cNvSpPr>
            <a:spLocks noGrp="1"/>
          </p:cNvSpPr>
          <p:nvPr>
            <p:ph type="ftr" sz="quarter" idx="12"/>
          </p:nvPr>
        </p:nvSpPr>
        <p:spPr/>
        <p:txBody>
          <a:bodyPr/>
          <a:lstStyle/>
          <a:p>
            <a:r>
              <a:rPr lang="en-US" smtClean="0"/>
              <a:t>Roadmap Template v6.4</a:t>
            </a:r>
            <a:endParaRPr lang="en-US" dirty="0"/>
          </a:p>
        </p:txBody>
      </p:sp>
      <p:sp>
        <p:nvSpPr>
          <p:cNvPr id="4" name="Title 3"/>
          <p:cNvSpPr>
            <a:spLocks noGrp="1"/>
          </p:cNvSpPr>
          <p:nvPr>
            <p:ph type="title"/>
          </p:nvPr>
        </p:nvSpPr>
        <p:spPr/>
        <p:txBody>
          <a:bodyPr/>
          <a:lstStyle/>
          <a:p>
            <a:r>
              <a:rPr lang="en-US" dirty="0" smtClean="0"/>
              <a:t>Appendix</a:t>
            </a:r>
            <a:endParaRPr lang="en-US" dirty="0"/>
          </a:p>
        </p:txBody>
      </p:sp>
    </p:spTree>
    <p:extLst>
      <p:ext uri="{BB962C8B-B14F-4D97-AF65-F5344CB8AC3E}">
        <p14:creationId xmlns:p14="http://schemas.microsoft.com/office/powerpoint/2010/main" xmlns="" val="106922184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Roles and Responsibilities</a:t>
            </a:r>
            <a:endParaRPr lang="en-US" dirty="0"/>
          </a:p>
        </p:txBody>
      </p:sp>
      <p:sp>
        <p:nvSpPr>
          <p:cNvPr id="3" name="Footer Placeholder 2"/>
          <p:cNvSpPr>
            <a:spLocks noGrp="1"/>
          </p:cNvSpPr>
          <p:nvPr>
            <p:ph type="ftr" sz="quarter" idx="11"/>
          </p:nvPr>
        </p:nvSpPr>
        <p:spPr/>
        <p:txBody>
          <a:bodyPr/>
          <a:lstStyle/>
          <a:p>
            <a:r>
              <a:rPr lang="en-US" smtClean="0"/>
              <a:t>Roadmap Template v6.4</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17</a:t>
            </a:fld>
            <a:endParaRPr lang="en-US" dirty="0"/>
          </a:p>
        </p:txBody>
      </p:sp>
      <p:graphicFrame>
        <p:nvGraphicFramePr>
          <p:cNvPr id="10" name="Table 9"/>
          <p:cNvGraphicFramePr>
            <a:graphicFrameLocks noGrp="1"/>
          </p:cNvGraphicFramePr>
          <p:nvPr>
            <p:extLst>
              <p:ext uri="{D42A27DB-BD31-4B8C-83A1-F6EECF244321}">
                <p14:modId xmlns:p14="http://schemas.microsoft.com/office/powerpoint/2010/main" xmlns="" val="872499530"/>
              </p:ext>
            </p:extLst>
          </p:nvPr>
        </p:nvGraphicFramePr>
        <p:xfrm>
          <a:off x="461819" y="1167600"/>
          <a:ext cx="8231908" cy="3673855"/>
        </p:xfrm>
        <a:graphic>
          <a:graphicData uri="http://schemas.openxmlformats.org/drawingml/2006/table">
            <a:tbl>
              <a:tblPr firstRow="1" bandRow="1">
                <a:tableStyleId>{00A15C55-8517-42AA-B614-E9B94910E393}</a:tableStyleId>
              </a:tblPr>
              <a:tblGrid>
                <a:gridCol w="1085272"/>
                <a:gridCol w="7146636"/>
              </a:tblGrid>
              <a:tr h="356400">
                <a:tc>
                  <a:txBody>
                    <a:bodyPr/>
                    <a:lstStyle/>
                    <a:p>
                      <a:r>
                        <a:rPr lang="en-US" dirty="0" smtClean="0"/>
                        <a:t>Role</a:t>
                      </a:r>
                      <a:endParaRPr lang="en-US" dirty="0"/>
                    </a:p>
                  </a:txBody>
                  <a:tcPr/>
                </a:tc>
                <a:tc>
                  <a:txBody>
                    <a:bodyPr/>
                    <a:lstStyle/>
                    <a:p>
                      <a:r>
                        <a:rPr lang="en-US" dirty="0" smtClean="0"/>
                        <a:t>Responsibilities</a:t>
                      </a:r>
                      <a:endParaRPr lang="en-US" dirty="0"/>
                    </a:p>
                  </a:txBody>
                  <a:tcPr/>
                </a:tc>
              </a:tr>
              <a:tr h="1570735">
                <a:tc>
                  <a:txBody>
                    <a:bodyPr/>
                    <a:lstStyle/>
                    <a:p>
                      <a:r>
                        <a:rPr lang="en-US" dirty="0" smtClean="0"/>
                        <a:t>Product Owner</a:t>
                      </a:r>
                      <a:endParaRPr lang="en-US" dirty="0"/>
                    </a:p>
                  </a:txBody>
                  <a:tcPr/>
                </a:tc>
                <a:tc>
                  <a:txBody>
                    <a:bodyPr/>
                    <a:lstStyle/>
                    <a:p>
                      <a:pPr marL="285750" indent="-285750">
                        <a:buFont typeface="Arial"/>
                        <a:buChar char="•"/>
                      </a:pPr>
                      <a:r>
                        <a:rPr lang="en-US" sz="1200" dirty="0" smtClean="0"/>
                        <a:t>Represents, or is, the customer and provides the product vision, goals and business case</a:t>
                      </a:r>
                    </a:p>
                    <a:p>
                      <a:pPr marL="285750" indent="-285750">
                        <a:buFont typeface="Arial"/>
                        <a:buChar char="•"/>
                      </a:pPr>
                      <a:r>
                        <a:rPr lang="en-US" sz="1200" dirty="0" smtClean="0"/>
                        <a:t>Determines what to build and in what priority incorporating all collective feedback from various interested stakeholders          </a:t>
                      </a:r>
                    </a:p>
                    <a:p>
                      <a:pPr marL="285750" indent="-285750">
                        <a:buFont typeface="Arial"/>
                        <a:buChar char="•"/>
                      </a:pPr>
                      <a:r>
                        <a:rPr lang="en-US" sz="1200" dirty="0" smtClean="0"/>
                        <a:t>Provides User Stories with acceptance criteria at the right level of detail to ensure team understands the scope and can deliver what is needed</a:t>
                      </a:r>
                    </a:p>
                    <a:p>
                      <a:pPr marL="285750" indent="-285750">
                        <a:buFont typeface="Arial"/>
                        <a:buChar char="•"/>
                      </a:pPr>
                      <a:r>
                        <a:rPr lang="en-US" sz="1200" dirty="0" smtClean="0"/>
                        <a:t>Adequately represents business needs by participating in all planning </a:t>
                      </a:r>
                    </a:p>
                    <a:p>
                      <a:pPr marL="285750" indent="-285750">
                        <a:buFont typeface="Arial"/>
                        <a:buChar char="•"/>
                      </a:pPr>
                      <a:r>
                        <a:rPr lang="en-US" sz="1200" dirty="0" smtClean="0"/>
                        <a:t>Actively participates in testing, feedback and acceptance of requested functionality</a:t>
                      </a:r>
                    </a:p>
                    <a:p>
                      <a:pPr marL="285750" indent="-285750">
                        <a:buFont typeface="Arial"/>
                        <a:buChar char="•"/>
                      </a:pPr>
                      <a:r>
                        <a:rPr lang="en-US" sz="1200" dirty="0" smtClean="0"/>
                        <a:t>Provides a business satisfaction score at the end of each iteration and release </a:t>
                      </a:r>
                      <a:endParaRPr lang="en-US" sz="1200" dirty="0"/>
                    </a:p>
                  </a:txBody>
                  <a:tcPr/>
                </a:tc>
              </a:tr>
              <a:tr h="1570735">
                <a:tc>
                  <a:txBody>
                    <a:bodyPr/>
                    <a:lstStyle/>
                    <a:p>
                      <a:r>
                        <a:rPr lang="en-US" dirty="0" smtClean="0"/>
                        <a:t>Agile Project Lead</a:t>
                      </a:r>
                      <a:endParaRPr lang="en-US" dirty="0"/>
                    </a:p>
                  </a:txBody>
                  <a:tcPr/>
                </a:tc>
                <a:tc>
                  <a:txBody>
                    <a:bodyPr/>
                    <a:lstStyle/>
                    <a:p>
                      <a:pPr marL="285750" indent="-285750">
                        <a:buFont typeface="Arial"/>
                        <a:buChar char="•"/>
                      </a:pPr>
                      <a:r>
                        <a:rPr lang="en-US" sz="1200" dirty="0" smtClean="0"/>
                        <a:t>Facilitates with the team, PO and stakeholders and represents the team’s commitments to dates and budget </a:t>
                      </a:r>
                    </a:p>
                    <a:p>
                      <a:pPr marL="285750" indent="-285750">
                        <a:buFont typeface="Arial"/>
                        <a:buChar char="•"/>
                      </a:pPr>
                      <a:r>
                        <a:rPr lang="en-US" sz="1200" dirty="0" smtClean="0"/>
                        <a:t>Provides support, motivation and monitoring needed to meet project goals, which includes using the tools promoted at American, such as, Key Performance Indicators (KPIs) and Agile Maturity Assessments </a:t>
                      </a:r>
                    </a:p>
                    <a:p>
                      <a:pPr marL="285750" indent="-285750">
                        <a:buFont typeface="Arial"/>
                        <a:buChar char="•"/>
                      </a:pPr>
                      <a:r>
                        <a:rPr lang="en-US" sz="1200" dirty="0" smtClean="0"/>
                        <a:t>Establishes a consistent set of practices to ensure the integrity of project deliverables </a:t>
                      </a:r>
                    </a:p>
                    <a:p>
                      <a:pPr marL="285750" indent="-285750">
                        <a:buFont typeface="Arial"/>
                        <a:buChar char="•"/>
                      </a:pPr>
                      <a:r>
                        <a:rPr lang="en-US" sz="1200" dirty="0" smtClean="0"/>
                        <a:t>Collaborate (informally) with other Project Leaders to obtain best practices and lessons learned </a:t>
                      </a:r>
                    </a:p>
                    <a:p>
                      <a:pPr marL="285750" indent="-285750">
                        <a:buFont typeface="Arial"/>
                        <a:buChar char="•"/>
                      </a:pPr>
                      <a:r>
                        <a:rPr lang="en-US" sz="1200" dirty="0" smtClean="0"/>
                        <a:t>Removes impediments to keep the project on track and ensures the quality of the delivered product meets stakeholder's requirements</a:t>
                      </a:r>
                      <a:endParaRPr lang="en-US" sz="1200" dirty="0"/>
                    </a:p>
                  </a:txBody>
                  <a:tcPr/>
                </a:tc>
              </a:tr>
            </a:tbl>
          </a:graphicData>
        </a:graphic>
      </p:graphicFrame>
    </p:spTree>
    <p:extLst>
      <p:ext uri="{BB962C8B-B14F-4D97-AF65-F5344CB8AC3E}">
        <p14:creationId xmlns:p14="http://schemas.microsoft.com/office/powerpoint/2010/main" xmlns="" val="239447578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Roles and Responsibilities</a:t>
            </a:r>
            <a:endParaRPr lang="en-US" dirty="0"/>
          </a:p>
        </p:txBody>
      </p:sp>
      <p:sp>
        <p:nvSpPr>
          <p:cNvPr id="3" name="Footer Placeholder 2"/>
          <p:cNvSpPr>
            <a:spLocks noGrp="1"/>
          </p:cNvSpPr>
          <p:nvPr>
            <p:ph type="ftr" sz="quarter" idx="11"/>
          </p:nvPr>
        </p:nvSpPr>
        <p:spPr/>
        <p:txBody>
          <a:bodyPr/>
          <a:lstStyle/>
          <a:p>
            <a:r>
              <a:rPr lang="en-US" smtClean="0"/>
              <a:t>Roadmap Template v6.4</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18</a:t>
            </a:fld>
            <a:endParaRPr lang="en-US" dirty="0"/>
          </a:p>
        </p:txBody>
      </p:sp>
      <p:graphicFrame>
        <p:nvGraphicFramePr>
          <p:cNvPr id="10" name="Table 9"/>
          <p:cNvGraphicFramePr>
            <a:graphicFrameLocks noGrp="1"/>
          </p:cNvGraphicFramePr>
          <p:nvPr>
            <p:extLst>
              <p:ext uri="{D42A27DB-BD31-4B8C-83A1-F6EECF244321}">
                <p14:modId xmlns:p14="http://schemas.microsoft.com/office/powerpoint/2010/main" xmlns="" val="4103358603"/>
              </p:ext>
            </p:extLst>
          </p:nvPr>
        </p:nvGraphicFramePr>
        <p:xfrm>
          <a:off x="461819" y="1156057"/>
          <a:ext cx="8231908" cy="4917713"/>
        </p:xfrm>
        <a:graphic>
          <a:graphicData uri="http://schemas.openxmlformats.org/drawingml/2006/table">
            <a:tbl>
              <a:tblPr firstRow="1" bandRow="1">
                <a:tableStyleId>{00A15C55-8517-42AA-B614-E9B94910E393}</a:tableStyleId>
              </a:tblPr>
              <a:tblGrid>
                <a:gridCol w="1085272"/>
                <a:gridCol w="7146636"/>
              </a:tblGrid>
              <a:tr h="348124">
                <a:tc>
                  <a:txBody>
                    <a:bodyPr/>
                    <a:lstStyle/>
                    <a:p>
                      <a:r>
                        <a:rPr lang="en-US" dirty="0" smtClean="0"/>
                        <a:t>Role</a:t>
                      </a:r>
                      <a:endParaRPr lang="en-US" dirty="0"/>
                    </a:p>
                  </a:txBody>
                  <a:tcPr/>
                </a:tc>
                <a:tc>
                  <a:txBody>
                    <a:bodyPr/>
                    <a:lstStyle/>
                    <a:p>
                      <a:r>
                        <a:rPr lang="en-US" dirty="0" smtClean="0"/>
                        <a:t>Responsibilities</a:t>
                      </a:r>
                      <a:endParaRPr lang="en-US" dirty="0"/>
                    </a:p>
                  </a:txBody>
                  <a:tcPr/>
                </a:tc>
              </a:tr>
              <a:tr h="2175776">
                <a:tc>
                  <a:txBody>
                    <a:bodyPr/>
                    <a:lstStyle/>
                    <a:p>
                      <a:r>
                        <a:rPr lang="en-US" dirty="0" smtClean="0"/>
                        <a:t>Agile Product</a:t>
                      </a:r>
                      <a:r>
                        <a:rPr lang="en-US" baseline="0" dirty="0" smtClean="0"/>
                        <a:t> Delivery Team</a:t>
                      </a:r>
                      <a:endParaRPr lang="en-US" dirty="0"/>
                    </a:p>
                  </a:txBody>
                  <a:tcPr/>
                </a:tc>
                <a:tc>
                  <a:txBody>
                    <a:bodyPr/>
                    <a:lstStyle/>
                    <a:p>
                      <a:pPr marL="171450" lvl="0" indent="-265176">
                        <a:buClr>
                          <a:srgbClr val="000000"/>
                        </a:buClr>
                        <a:buSzPct val="100000"/>
                        <a:buFont typeface="Arial"/>
                        <a:buChar char="•"/>
                      </a:pPr>
                      <a:r>
                        <a:rPr lang="en-US" sz="1200" dirty="0" smtClean="0">
                          <a:solidFill>
                            <a:schemeClr val="tx1">
                              <a:lumMod val="95000"/>
                              <a:lumOff val="5000"/>
                            </a:schemeClr>
                          </a:solidFill>
                        </a:rPr>
                        <a:t>Listen and talk to people.</a:t>
                      </a:r>
                    </a:p>
                    <a:p>
                      <a:pPr marL="171450" lvl="0" indent="-265176">
                        <a:buClr>
                          <a:srgbClr val="000000"/>
                        </a:buClr>
                        <a:buSzPct val="100000"/>
                        <a:buFont typeface="Arial"/>
                        <a:buChar char="•"/>
                      </a:pPr>
                      <a:r>
                        <a:rPr lang="en-US" sz="1200" dirty="0" smtClean="0">
                          <a:solidFill>
                            <a:schemeClr val="tx1">
                              <a:lumMod val="95000"/>
                              <a:lumOff val="5000"/>
                            </a:schemeClr>
                          </a:solidFill>
                        </a:rPr>
                        <a:t>Seek and accept help.</a:t>
                      </a:r>
                    </a:p>
                    <a:p>
                      <a:pPr marL="171450" lvl="0" indent="-265176">
                        <a:buClr>
                          <a:srgbClr val="000000"/>
                        </a:buClr>
                        <a:buSzPct val="100000"/>
                        <a:buFont typeface="Arial"/>
                        <a:buChar char="•"/>
                      </a:pPr>
                      <a:r>
                        <a:rPr lang="en-US" sz="1200" dirty="0" smtClean="0">
                          <a:solidFill>
                            <a:schemeClr val="tx1">
                              <a:lumMod val="95000"/>
                              <a:lumOff val="5000"/>
                            </a:schemeClr>
                          </a:solidFill>
                        </a:rPr>
                        <a:t>Embrace change.</a:t>
                      </a:r>
                    </a:p>
                    <a:p>
                      <a:pPr marL="171450" lvl="0" indent="-265176">
                        <a:buClr>
                          <a:srgbClr val="000000"/>
                        </a:buClr>
                        <a:buSzPct val="100000"/>
                        <a:buFont typeface="Arial"/>
                        <a:buChar char="•"/>
                      </a:pPr>
                      <a:r>
                        <a:rPr lang="en-US" sz="1200" dirty="0" smtClean="0">
                          <a:solidFill>
                            <a:schemeClr val="tx1">
                              <a:lumMod val="95000"/>
                              <a:lumOff val="5000"/>
                            </a:schemeClr>
                          </a:solidFill>
                        </a:rPr>
                        <a:t>Work and finish work items in a priority order.</a:t>
                      </a:r>
                    </a:p>
                    <a:p>
                      <a:pPr marL="171450" lvl="0" indent="-265176">
                        <a:buClr>
                          <a:srgbClr val="000000"/>
                        </a:buClr>
                        <a:buSzPct val="100000"/>
                        <a:buFont typeface="Arial"/>
                        <a:buChar char="•"/>
                      </a:pPr>
                      <a:r>
                        <a:rPr lang="en-US" sz="1200" dirty="0" smtClean="0">
                          <a:solidFill>
                            <a:schemeClr val="tx1">
                              <a:lumMod val="95000"/>
                              <a:lumOff val="5000"/>
                            </a:schemeClr>
                          </a:solidFill>
                        </a:rPr>
                        <a:t>Work on items in an order set by the Product Owner.</a:t>
                      </a:r>
                    </a:p>
                    <a:p>
                      <a:pPr marL="171450" lvl="0" indent="-265176">
                        <a:buClr>
                          <a:srgbClr val="000000"/>
                        </a:buClr>
                        <a:buSzPct val="100000"/>
                        <a:buFont typeface="Arial"/>
                        <a:buChar char="•"/>
                      </a:pPr>
                      <a:r>
                        <a:rPr lang="en-US" sz="1200" dirty="0" smtClean="0">
                          <a:solidFill>
                            <a:schemeClr val="tx1">
                              <a:lumMod val="95000"/>
                              <a:lumOff val="5000"/>
                            </a:schemeClr>
                          </a:solidFill>
                        </a:rPr>
                        <a:t>Want to improve __fill in the blank__.</a:t>
                      </a:r>
                    </a:p>
                    <a:p>
                      <a:pPr marL="171450" lvl="0" indent="-265176">
                        <a:buClr>
                          <a:srgbClr val="000000"/>
                        </a:buClr>
                        <a:buSzPct val="100000"/>
                        <a:buFont typeface="Arial"/>
                        <a:buChar char="•"/>
                      </a:pPr>
                      <a:r>
                        <a:rPr lang="en-US" sz="1200" dirty="0" smtClean="0">
                          <a:solidFill>
                            <a:schemeClr val="tx1">
                              <a:lumMod val="95000"/>
                              <a:lumOff val="5000"/>
                            </a:schemeClr>
                          </a:solidFill>
                        </a:rPr>
                        <a:t>Be pro-active and self-motivated.</a:t>
                      </a:r>
                    </a:p>
                    <a:p>
                      <a:pPr marL="171450" lvl="0" indent="-265176">
                        <a:buClr>
                          <a:srgbClr val="000000"/>
                        </a:buClr>
                        <a:buSzPct val="100000"/>
                        <a:buFont typeface="Arial"/>
                        <a:buChar char="•"/>
                      </a:pPr>
                      <a:r>
                        <a:rPr lang="en-US" sz="1200" dirty="0" smtClean="0">
                          <a:solidFill>
                            <a:schemeClr val="tx1">
                              <a:lumMod val="95000"/>
                              <a:lumOff val="5000"/>
                            </a:schemeClr>
                          </a:solidFill>
                        </a:rPr>
                        <a:t>Be honest (with yourself and others).</a:t>
                      </a:r>
                    </a:p>
                    <a:p>
                      <a:pPr marL="171450" lvl="0" indent="-265176">
                        <a:buClr>
                          <a:srgbClr val="000000"/>
                        </a:buClr>
                        <a:buSzPct val="100000"/>
                        <a:buFont typeface="Arial"/>
                        <a:buChar char="•"/>
                      </a:pPr>
                      <a:r>
                        <a:rPr lang="en-US" sz="1200" dirty="0" smtClean="0">
                          <a:solidFill>
                            <a:schemeClr val="tx1">
                              <a:lumMod val="95000"/>
                              <a:lumOff val="5000"/>
                            </a:schemeClr>
                          </a:solidFill>
                        </a:rPr>
                        <a:t>Be passionate about what you do.</a:t>
                      </a:r>
                      <a:br>
                        <a:rPr lang="en-US" sz="1200" dirty="0" smtClean="0">
                          <a:solidFill>
                            <a:schemeClr val="tx1">
                              <a:lumMod val="95000"/>
                              <a:lumOff val="5000"/>
                            </a:schemeClr>
                          </a:solidFill>
                        </a:rPr>
                      </a:br>
                      <a:endParaRPr lang="en-US" sz="1200" dirty="0" smtClean="0">
                        <a:solidFill>
                          <a:schemeClr val="tx1">
                            <a:lumMod val="95000"/>
                            <a:lumOff val="5000"/>
                          </a:schemeClr>
                        </a:solidFill>
                      </a:endParaRPr>
                    </a:p>
                    <a:p>
                      <a:pPr>
                        <a:buClr>
                          <a:schemeClr val="tx2"/>
                        </a:buClr>
                        <a:buSzPct val="75000"/>
                      </a:pPr>
                      <a:r>
                        <a:rPr lang="en-US" sz="1200" dirty="0" smtClean="0">
                          <a:solidFill>
                            <a:schemeClr val="tx1">
                              <a:lumMod val="95000"/>
                              <a:lumOff val="5000"/>
                            </a:schemeClr>
                          </a:solidFill>
                        </a:rPr>
                        <a:t>Embrace “all sink or all swim”.   Everyone involved has to have skin in the game (</a:t>
                      </a:r>
                      <a:r>
                        <a:rPr lang="en-US" sz="1200" dirty="0" err="1" smtClean="0">
                          <a:solidFill>
                            <a:schemeClr val="tx1">
                              <a:lumMod val="95000"/>
                              <a:lumOff val="5000"/>
                            </a:schemeClr>
                          </a:solidFill>
                        </a:rPr>
                        <a:t>Devs</a:t>
                      </a:r>
                      <a:r>
                        <a:rPr lang="en-US" sz="1200" dirty="0" smtClean="0">
                          <a:solidFill>
                            <a:schemeClr val="tx1">
                              <a:lumMod val="95000"/>
                              <a:lumOff val="5000"/>
                            </a:schemeClr>
                          </a:solidFill>
                        </a:rPr>
                        <a:t>, QA, APM, PO, Business, </a:t>
                      </a:r>
                      <a:r>
                        <a:rPr lang="en-US" sz="1200" dirty="0" err="1" smtClean="0">
                          <a:solidFill>
                            <a:schemeClr val="tx1">
                              <a:lumMod val="95000"/>
                              <a:lumOff val="5000"/>
                            </a:schemeClr>
                          </a:solidFill>
                        </a:rPr>
                        <a:t>Mgmt</a:t>
                      </a:r>
                      <a:r>
                        <a:rPr lang="en-US" sz="1200" dirty="0" smtClean="0">
                          <a:solidFill>
                            <a:schemeClr val="tx1">
                              <a:lumMod val="95000"/>
                              <a:lumOff val="5000"/>
                            </a:schemeClr>
                          </a:solidFill>
                        </a:rPr>
                        <a:t>, etc., </a:t>
                      </a:r>
                      <a:r>
                        <a:rPr lang="en-US" sz="1200" b="1" i="1" u="sng" dirty="0" smtClean="0">
                          <a:solidFill>
                            <a:schemeClr val="tx1">
                              <a:lumMod val="95000"/>
                              <a:lumOff val="5000"/>
                            </a:schemeClr>
                          </a:solidFill>
                        </a:rPr>
                        <a:t>everyone</a:t>
                      </a:r>
                      <a:r>
                        <a:rPr lang="en-US" sz="1200" dirty="0" smtClean="0">
                          <a:solidFill>
                            <a:schemeClr val="tx1">
                              <a:lumMod val="95000"/>
                              <a:lumOff val="5000"/>
                            </a:schemeClr>
                          </a:solidFill>
                        </a:rPr>
                        <a:t>).</a:t>
                      </a:r>
                    </a:p>
                  </a:txBody>
                  <a:tcPr/>
                </a:tc>
              </a:tr>
              <a:tr h="1078977">
                <a:tc>
                  <a:txBody>
                    <a:bodyPr/>
                    <a:lstStyle/>
                    <a:p>
                      <a:r>
                        <a:rPr lang="en-US" dirty="0" smtClean="0"/>
                        <a:t>Architect</a:t>
                      </a:r>
                      <a:endParaRPr lang="en-US" dirty="0"/>
                    </a:p>
                  </a:txBody>
                  <a:tcPr/>
                </a:tc>
                <a:tc>
                  <a:txBody>
                    <a:bodyPr/>
                    <a:lstStyle/>
                    <a:p>
                      <a:pPr marL="285750" indent="-285750">
                        <a:buFont typeface="Arial"/>
                        <a:buChar char="•"/>
                      </a:pPr>
                      <a:r>
                        <a:rPr lang="en-US" sz="1200" dirty="0" smtClean="0"/>
                        <a:t>Leads and coordinates technical activities and deliverables throughout the project </a:t>
                      </a:r>
                    </a:p>
                    <a:p>
                      <a:pPr marL="285750" indent="-285750">
                        <a:buFont typeface="Arial"/>
                        <a:buChar char="•"/>
                      </a:pPr>
                      <a:r>
                        <a:rPr lang="en-US" sz="1200" dirty="0" smtClean="0"/>
                        <a:t>Create and maintain the evolutionary architecture model to support the product roadmap</a:t>
                      </a:r>
                    </a:p>
                    <a:p>
                      <a:pPr marL="285750" indent="-285750">
                        <a:buFont typeface="Arial"/>
                        <a:buChar char="•"/>
                      </a:pPr>
                      <a:r>
                        <a:rPr lang="en-US" sz="1200" dirty="0" smtClean="0"/>
                        <a:t>Establishes overall structure for each architectural view, such as the decomposition of the view, the groupings of elements and the interfaces between these major groupings </a:t>
                      </a:r>
                    </a:p>
                    <a:p>
                      <a:pPr marL="285750" indent="-285750">
                        <a:buFont typeface="Arial"/>
                        <a:buChar char="•"/>
                      </a:pPr>
                      <a:r>
                        <a:rPr lang="en-US" sz="1200" dirty="0" smtClean="0"/>
                        <a:t>Ensures data related business rules are represented in the design of the system </a:t>
                      </a:r>
                      <a:endParaRPr lang="en-US" sz="1200" dirty="0"/>
                    </a:p>
                  </a:txBody>
                  <a:tcPr/>
                </a:tc>
              </a:tr>
              <a:tr h="1186976">
                <a:tc>
                  <a:txBody>
                    <a:bodyPr/>
                    <a:lstStyle/>
                    <a:p>
                      <a:r>
                        <a:rPr lang="en-US" dirty="0" smtClean="0"/>
                        <a:t>Infra-structure</a:t>
                      </a:r>
                      <a:r>
                        <a:rPr lang="en-US" baseline="0" dirty="0" smtClean="0"/>
                        <a:t> Lead</a:t>
                      </a:r>
                      <a:endParaRPr lang="en-US" dirty="0"/>
                    </a:p>
                  </a:txBody>
                  <a:tcPr/>
                </a:tc>
                <a:tc>
                  <a:txBody>
                    <a:bodyPr/>
                    <a:lstStyle/>
                    <a:p>
                      <a:pPr marL="285750" indent="-285750">
                        <a:buFont typeface="Arial"/>
                        <a:buChar char="•"/>
                      </a:pPr>
                      <a:r>
                        <a:rPr lang="en-US" sz="1200" dirty="0" smtClean="0"/>
                        <a:t>Acts as technical liaison between AA business units and the hosting provider(s) </a:t>
                      </a:r>
                    </a:p>
                    <a:p>
                      <a:pPr marL="285750" indent="-285750">
                        <a:buFont typeface="Arial"/>
                        <a:buChar char="•"/>
                      </a:pPr>
                      <a:r>
                        <a:rPr lang="en-US" sz="1200" dirty="0" smtClean="0"/>
                        <a:t>Understands architecture, network connectivity, processes, standards, guidelines and policies related to infrastructure and security components to ensure compliance </a:t>
                      </a:r>
                      <a:endParaRPr lang="en-US" sz="1200" dirty="0"/>
                    </a:p>
                  </a:txBody>
                  <a:tcPr/>
                </a:tc>
              </a:tr>
            </a:tbl>
          </a:graphicData>
        </a:graphic>
      </p:graphicFrame>
    </p:spTree>
    <p:extLst>
      <p:ext uri="{BB962C8B-B14F-4D97-AF65-F5344CB8AC3E}">
        <p14:creationId xmlns:p14="http://schemas.microsoft.com/office/powerpoint/2010/main" xmlns="" val="250497841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Roles and Responsibilities</a:t>
            </a:r>
            <a:endParaRPr lang="en-US" dirty="0"/>
          </a:p>
        </p:txBody>
      </p:sp>
      <p:sp>
        <p:nvSpPr>
          <p:cNvPr id="3" name="Footer Placeholder 2"/>
          <p:cNvSpPr>
            <a:spLocks noGrp="1"/>
          </p:cNvSpPr>
          <p:nvPr>
            <p:ph type="ftr" sz="quarter" idx="11"/>
          </p:nvPr>
        </p:nvSpPr>
        <p:spPr/>
        <p:txBody>
          <a:bodyPr/>
          <a:lstStyle/>
          <a:p>
            <a:r>
              <a:rPr lang="en-US" smtClean="0"/>
              <a:t>Roadmap Template v6.4</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19</a:t>
            </a:fld>
            <a:endParaRPr lang="en-US" dirty="0"/>
          </a:p>
        </p:txBody>
      </p:sp>
      <p:graphicFrame>
        <p:nvGraphicFramePr>
          <p:cNvPr id="10" name="Table 9"/>
          <p:cNvGraphicFramePr>
            <a:graphicFrameLocks noGrp="1"/>
          </p:cNvGraphicFramePr>
          <p:nvPr>
            <p:extLst>
              <p:ext uri="{D42A27DB-BD31-4B8C-83A1-F6EECF244321}">
                <p14:modId xmlns:p14="http://schemas.microsoft.com/office/powerpoint/2010/main" xmlns="" val="1186740092"/>
              </p:ext>
            </p:extLst>
          </p:nvPr>
        </p:nvGraphicFramePr>
        <p:xfrm>
          <a:off x="461819" y="1167602"/>
          <a:ext cx="8231908" cy="3681615"/>
        </p:xfrm>
        <a:graphic>
          <a:graphicData uri="http://schemas.openxmlformats.org/drawingml/2006/table">
            <a:tbl>
              <a:tblPr firstRow="1" bandRow="1">
                <a:tableStyleId>{00A15C55-8517-42AA-B614-E9B94910E393}</a:tableStyleId>
              </a:tblPr>
              <a:tblGrid>
                <a:gridCol w="1085272"/>
                <a:gridCol w="7146636"/>
              </a:tblGrid>
              <a:tr h="330999">
                <a:tc>
                  <a:txBody>
                    <a:bodyPr/>
                    <a:lstStyle/>
                    <a:p>
                      <a:r>
                        <a:rPr lang="en-US" dirty="0" smtClean="0"/>
                        <a:t>Role</a:t>
                      </a:r>
                      <a:endParaRPr lang="en-US" dirty="0"/>
                    </a:p>
                  </a:txBody>
                  <a:tcPr/>
                </a:tc>
                <a:tc>
                  <a:txBody>
                    <a:bodyPr/>
                    <a:lstStyle/>
                    <a:p>
                      <a:r>
                        <a:rPr lang="en-US" dirty="0" smtClean="0"/>
                        <a:t>Responsibilities</a:t>
                      </a:r>
                      <a:endParaRPr lang="en-US" dirty="0"/>
                    </a:p>
                  </a:txBody>
                  <a:tcPr/>
                </a:tc>
              </a:tr>
              <a:tr h="2068747">
                <a:tc>
                  <a:txBody>
                    <a:bodyPr/>
                    <a:lstStyle/>
                    <a:p>
                      <a:r>
                        <a:rPr lang="en-US" dirty="0" smtClean="0"/>
                        <a:t>Level</a:t>
                      </a:r>
                      <a:r>
                        <a:rPr lang="en-US" baseline="0" dirty="0" smtClean="0"/>
                        <a:t> 5/6 Manager IT</a:t>
                      </a:r>
                      <a:endParaRPr lang="en-US" dirty="0"/>
                    </a:p>
                  </a:txBody>
                  <a:tcPr/>
                </a:tc>
                <a:tc>
                  <a:txBody>
                    <a:bodyPr/>
                    <a:lstStyle/>
                    <a:p>
                      <a:pPr marL="285750" indent="-285750">
                        <a:buFont typeface="Arial"/>
                        <a:buChar char="•"/>
                      </a:pPr>
                      <a:r>
                        <a:rPr lang="en-US" sz="1200" dirty="0" smtClean="0"/>
                        <a:t>Assists in securing the appropriate funding</a:t>
                      </a:r>
                    </a:p>
                    <a:p>
                      <a:pPr marL="285750" indent="-285750">
                        <a:buFont typeface="Arial"/>
                        <a:buChar char="•"/>
                      </a:pPr>
                      <a:r>
                        <a:rPr lang="en-US" sz="1200" dirty="0" smtClean="0"/>
                        <a:t>Supports the project team by helping to remove any roadblocks</a:t>
                      </a:r>
                    </a:p>
                    <a:p>
                      <a:pPr marL="285750" indent="-285750">
                        <a:buFont typeface="Arial"/>
                        <a:buChar char="•"/>
                      </a:pPr>
                      <a:r>
                        <a:rPr lang="en-US" sz="1200" dirty="0" smtClean="0"/>
                        <a:t>Provides guidance and leadership </a:t>
                      </a:r>
                    </a:p>
                    <a:p>
                      <a:pPr marL="285750" indent="-285750">
                        <a:buFont typeface="Arial"/>
                        <a:buChar char="•"/>
                      </a:pPr>
                      <a:r>
                        <a:rPr lang="en-US" sz="1200" dirty="0" smtClean="0"/>
                        <a:t>Ensure the project team meets its date and budget commitments </a:t>
                      </a:r>
                    </a:p>
                    <a:p>
                      <a:pPr marL="285750" indent="-285750">
                        <a:buFont typeface="Arial"/>
                        <a:buChar char="•"/>
                      </a:pPr>
                      <a:r>
                        <a:rPr lang="en-US" sz="1200" dirty="0" smtClean="0"/>
                        <a:t>Instills trust and openness</a:t>
                      </a:r>
                    </a:p>
                    <a:p>
                      <a:pPr marL="285750" indent="-285750">
                        <a:buFont typeface="Arial"/>
                        <a:buChar char="•"/>
                      </a:pPr>
                      <a:r>
                        <a:rPr lang="en-US" sz="1200" dirty="0" smtClean="0"/>
                        <a:t>Resolves escalated issues</a:t>
                      </a:r>
                    </a:p>
                    <a:p>
                      <a:pPr marL="285750" indent="-285750">
                        <a:buFont typeface="Arial"/>
                        <a:buChar char="•"/>
                      </a:pPr>
                      <a:r>
                        <a:rPr lang="en-US" sz="1200" dirty="0" smtClean="0"/>
                        <a:t>Ensures that the delivery team has adequate capacity/availability for the project</a:t>
                      </a:r>
                    </a:p>
                    <a:p>
                      <a:pPr marL="285750" indent="-285750">
                        <a:buFont typeface="Arial"/>
                        <a:buChar char="•"/>
                      </a:pPr>
                      <a:r>
                        <a:rPr lang="en-US" sz="1200" dirty="0" smtClean="0"/>
                        <a:t>Monitors KPIs on a regular basis to ensure that adequate help is provided in a timely manner</a:t>
                      </a:r>
                      <a:endParaRPr lang="en-US" sz="1200" dirty="0"/>
                    </a:p>
                  </a:txBody>
                  <a:tcPr/>
                </a:tc>
              </a:tr>
              <a:tr h="1247108">
                <a:tc>
                  <a:txBody>
                    <a:bodyPr/>
                    <a:lstStyle/>
                    <a:p>
                      <a:r>
                        <a:rPr lang="en-US" dirty="0" smtClean="0"/>
                        <a:t>Level</a:t>
                      </a:r>
                      <a:r>
                        <a:rPr lang="en-US" baseline="0" dirty="0" smtClean="0"/>
                        <a:t> 5/6 Manager BU</a:t>
                      </a:r>
                      <a:endParaRPr lang="en-US" dirty="0"/>
                    </a:p>
                  </a:txBody>
                  <a:tcPr/>
                </a:tc>
                <a:tc>
                  <a:txBody>
                    <a:bodyPr/>
                    <a:lstStyle/>
                    <a:p>
                      <a:pPr marL="285750" indent="-285750">
                        <a:buFont typeface="Arial"/>
                        <a:buChar char="•"/>
                      </a:pPr>
                      <a:r>
                        <a:rPr lang="en-US" sz="1200" dirty="0" smtClean="0"/>
                        <a:t>Ensures that the Product Owner is representing the interest of the stakeholder</a:t>
                      </a:r>
                    </a:p>
                    <a:p>
                      <a:pPr marL="285750" indent="-285750">
                        <a:buFont typeface="Arial"/>
                        <a:buChar char="•"/>
                      </a:pPr>
                      <a:r>
                        <a:rPr lang="en-US" sz="1200" dirty="0" smtClean="0"/>
                        <a:t>Supports the team’s commitments to scope and date</a:t>
                      </a:r>
                    </a:p>
                    <a:p>
                      <a:pPr marL="285750" indent="-285750">
                        <a:buFont typeface="Arial"/>
                        <a:buChar char="•"/>
                      </a:pPr>
                      <a:r>
                        <a:rPr lang="en-US" sz="1200" dirty="0" smtClean="0"/>
                        <a:t>Ensures that the Product Owner has adequate capacity/availability for the project.</a:t>
                      </a:r>
                    </a:p>
                    <a:p>
                      <a:pPr marL="285750" indent="-285750">
                        <a:buFont typeface="Arial"/>
                        <a:buChar char="•"/>
                      </a:pPr>
                      <a:r>
                        <a:rPr lang="en-US" sz="1200" dirty="0" smtClean="0"/>
                        <a:t>Removes impediments to help the Product Owner get access to stakeholders in a timely manner</a:t>
                      </a:r>
                    </a:p>
                    <a:p>
                      <a:pPr marL="285750" indent="-285750">
                        <a:buFont typeface="Arial"/>
                        <a:buChar char="•"/>
                      </a:pPr>
                      <a:r>
                        <a:rPr lang="en-US" sz="1200" dirty="0" smtClean="0"/>
                        <a:t>Monitors KPIs on a regular basis to ensure that adequate help is provided in a timely manner</a:t>
                      </a:r>
                      <a:endParaRPr lang="en-US" sz="1200" dirty="0"/>
                    </a:p>
                  </a:txBody>
                  <a:tcPr/>
                </a:tc>
              </a:tr>
            </a:tbl>
          </a:graphicData>
        </a:graphic>
      </p:graphicFrame>
    </p:spTree>
    <p:extLst>
      <p:ext uri="{BB962C8B-B14F-4D97-AF65-F5344CB8AC3E}">
        <p14:creationId xmlns:p14="http://schemas.microsoft.com/office/powerpoint/2010/main" xmlns="" val="3052963773"/>
      </p:ext>
    </p:extLst>
  </p:cSld>
  <p:clrMapOvr>
    <a:masterClrMapping/>
  </p:clrMapOvr>
  <p:timing>
    <p:tnLst>
      <p:par>
        <p:cTn id="1" dur="indefinite" restart="never" nodeType="tmRoot"/>
      </p:par>
    </p:tnLst>
  </p:timing>
</p:sld>
</file>

<file path=ppt/theme/theme1.xml><?xml version="1.0" encoding="utf-8"?>
<a:theme xmlns:a="http://schemas.openxmlformats.org/drawingml/2006/main" name="AA Presentation Template - PHS">
  <a:themeElements>
    <a:clrScheme name="AA color theme 09172012">
      <a:dk1>
        <a:srgbClr val="36495A"/>
      </a:dk1>
      <a:lt1>
        <a:sysClr val="window" lastClr="FFFFFF"/>
      </a:lt1>
      <a:dk2>
        <a:srgbClr val="0078D2"/>
      </a:dk2>
      <a:lt2>
        <a:srgbClr val="6E8999"/>
      </a:lt2>
      <a:accent1>
        <a:srgbClr val="FAAF00"/>
      </a:accent1>
      <a:accent2>
        <a:srgbClr val="FF7318"/>
      </a:accent2>
      <a:accent3>
        <a:srgbClr val="4DB4FA"/>
      </a:accent3>
      <a:accent4>
        <a:srgbClr val="0078D2"/>
      </a:accent4>
      <a:accent5>
        <a:srgbClr val="D1D532"/>
      </a:accent5>
      <a:accent6>
        <a:srgbClr val="F52305"/>
      </a:accent6>
      <a:hlink>
        <a:srgbClr val="0078D2"/>
      </a:hlink>
      <a:folHlink>
        <a:srgbClr val="C3001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defRPr dirty="0" err="1" smtClean="0"/>
        </a:defPPr>
      </a:lstStyle>
    </a:txDef>
  </a:objectDefaults>
  <a:extraClrSchemeLst/>
  <a:extLst>
    <a:ext uri="{05A4C25C-085E-4340-85A3-A5531E510DB2}">
      <thm15:themeFamily xmlns:thm15="http://schemas.microsoft.com/office/thememl/2012/main" xmlns="" name="Presentation2" id="{4ED1FAEB-E2B3-4DA7-9598-BA814470B257}" vid="{65D1754B-59F2-40F1-B0A2-DF443655FFE3}"/>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2080E98040C8A40BE7C3359A3321215" ma:contentTypeVersion="0" ma:contentTypeDescription="Create a new document." ma:contentTypeScope="" ma:versionID="4aad4052934079d17fe980d7636dce5d">
  <xsd:schema xmlns:xsd="http://www.w3.org/2001/XMLSchema" xmlns:xs="http://www.w3.org/2001/XMLSchema" xmlns:p="http://schemas.microsoft.com/office/2006/metadata/properties" targetNamespace="http://schemas.microsoft.com/office/2006/metadata/properties" ma:root="true" ma:fieldsID="1a65b0a7b58520b367ade7b35cb84121">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003495A-1ED7-49F4-963B-62F8E3CB1D55}">
  <ds:schemaRefs>
    <ds:schemaRef ds:uri="http://schemas.microsoft.com/office/2006/metadata/properties"/>
  </ds:schemaRefs>
</ds:datastoreItem>
</file>

<file path=customXml/itemProps2.xml><?xml version="1.0" encoding="utf-8"?>
<ds:datastoreItem xmlns:ds="http://schemas.openxmlformats.org/officeDocument/2006/customXml" ds:itemID="{6490F9BE-6D37-414B-9019-C710513CF3D5}">
  <ds:schemaRefs>
    <ds:schemaRef ds:uri="http://schemas.microsoft.com/sharepoint/v3/contenttype/forms"/>
  </ds:schemaRefs>
</ds:datastoreItem>
</file>

<file path=customXml/itemProps3.xml><?xml version="1.0" encoding="utf-8"?>
<ds:datastoreItem xmlns:ds="http://schemas.openxmlformats.org/officeDocument/2006/customXml" ds:itemID="{CC371342-F831-463A-8C86-35C4FFBEB6B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AA Presentation Template - PHS</Template>
  <TotalTime>89878</TotalTime>
  <Words>1847</Words>
  <Application>Microsoft Office PowerPoint</Application>
  <PresentationFormat>On-screen Show (4:3)</PresentationFormat>
  <Paragraphs>442</Paragraphs>
  <Slides>19</Slides>
  <Notes>19</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AA Presentation Template - PHS</vt:lpstr>
      <vt:lpstr>Roadmap</vt:lpstr>
      <vt:lpstr>Roadmap</vt:lpstr>
      <vt:lpstr>[Project Name]</vt:lpstr>
      <vt:lpstr>Roadmap Delivery Plan</vt:lpstr>
      <vt:lpstr>Roadmap</vt:lpstr>
      <vt:lpstr>Roadmap</vt:lpstr>
      <vt:lpstr>Roadmap</vt:lpstr>
      <vt:lpstr>People</vt:lpstr>
      <vt:lpstr>People</vt:lpstr>
      <vt:lpstr>Resources</vt:lpstr>
      <vt:lpstr>Roadmap</vt:lpstr>
      <vt:lpstr>Roadmap</vt:lpstr>
      <vt:lpstr>Roadmap</vt:lpstr>
      <vt:lpstr>Review History</vt:lpstr>
      <vt:lpstr>Revision History</vt:lpstr>
      <vt:lpstr>Appendix</vt:lpstr>
      <vt:lpstr>Roles and Responsibilities</vt:lpstr>
      <vt:lpstr>Roles and Responsibilities</vt:lpstr>
      <vt:lpstr>Roles and Responsibilities</vt:lpstr>
    </vt:vector>
  </TitlesOfParts>
  <Company>American Airlines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Roadmap</dc:title>
  <dc:creator>Don Smith</dc:creator>
  <cp:lastModifiedBy>wajahath</cp:lastModifiedBy>
  <cp:revision>1346</cp:revision>
  <cp:lastPrinted>2011-12-17T03:27:43Z</cp:lastPrinted>
  <dcterms:created xsi:type="dcterms:W3CDTF">2011-12-09T18:04:02Z</dcterms:created>
  <dcterms:modified xsi:type="dcterms:W3CDTF">2014-07-17T18:21:27Z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0x01010022080E98040C8A40BE7C3359A3321215</vt:lpwstr>
  </property>
  <property fmtid="{D5CDD505-2E9C-101B-9397-08002B2CF9AE}" pid="3" name="_AdHocReviewCycleID">
    <vt:i4>-1901236953</vt:i4>
  </property>
  <property fmtid="{D5CDD505-2E9C-101B-9397-08002B2CF9AE}" pid="4" name="_NewReviewCycle">
    <vt:lpwstr/>
  </property>
  <property fmtid="{D5CDD505-2E9C-101B-9397-08002B2CF9AE}" pid="5" name="_EmailSubject">
    <vt:lpwstr>Presentation for this morning's meeting</vt:lpwstr>
  </property>
  <property fmtid="{D5CDD505-2E9C-101B-9397-08002B2CF9AE}" pid="6" name="_AuthorEmail">
    <vt:lpwstr>Kris.Wickett@aa.com</vt:lpwstr>
  </property>
  <property fmtid="{D5CDD505-2E9C-101B-9397-08002B2CF9AE}" pid="7" name="_AuthorEmailDisplayName">
    <vt:lpwstr>Wickett, Kris</vt:lpwstr>
  </property>
  <property fmtid="{D5CDD505-2E9C-101B-9397-08002B2CF9AE}" pid="8" name="_PreviousAdHocReviewCycleID">
    <vt:i4>-1847444477</vt:i4>
  </property>
</Properties>
</file>