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4"/>
  </p:sldMasterIdLst>
  <p:notesMasterIdLst>
    <p:notesMasterId r:id="rId17"/>
  </p:notesMasterIdLst>
  <p:handoutMasterIdLst>
    <p:handoutMasterId r:id="rId18"/>
  </p:handoutMasterIdLst>
  <p:sldIdLst>
    <p:sldId id="956" r:id="rId5"/>
    <p:sldId id="957" r:id="rId6"/>
    <p:sldId id="958" r:id="rId7"/>
    <p:sldId id="967" r:id="rId8"/>
    <p:sldId id="968" r:id="rId9"/>
    <p:sldId id="960" r:id="rId10"/>
    <p:sldId id="961" r:id="rId11"/>
    <p:sldId id="962" r:id="rId12"/>
    <p:sldId id="963" r:id="rId13"/>
    <p:sldId id="964" r:id="rId14"/>
    <p:sldId id="965" r:id="rId15"/>
    <p:sldId id="966" r:id="rId16"/>
  </p:sldIdLst>
  <p:sldSz cx="9144000" cy="6858000" type="screen4x3"/>
  <p:notesSz cx="6881813" cy="9296400"/>
  <p:defaultTextStyle>
    <a:defPPr>
      <a:defRPr lang="en-US"/>
    </a:defPPr>
    <a:lvl1pPr algn="l" rtl="0" fontAlgn="base">
      <a:spcBef>
        <a:spcPct val="0"/>
      </a:spcBef>
      <a:spcAft>
        <a:spcPct val="0"/>
      </a:spcAft>
      <a:defRPr kern="1200">
        <a:solidFill>
          <a:schemeClr val="accent1"/>
        </a:solidFill>
        <a:latin typeface="Arial" charset="0"/>
        <a:ea typeface="+mn-ea"/>
        <a:cs typeface="+mn-cs"/>
      </a:defRPr>
    </a:lvl1pPr>
    <a:lvl2pPr marL="457200" algn="l" rtl="0" fontAlgn="base">
      <a:spcBef>
        <a:spcPct val="0"/>
      </a:spcBef>
      <a:spcAft>
        <a:spcPct val="0"/>
      </a:spcAft>
      <a:defRPr kern="1200">
        <a:solidFill>
          <a:schemeClr val="accent1"/>
        </a:solidFill>
        <a:latin typeface="Arial" charset="0"/>
        <a:ea typeface="+mn-ea"/>
        <a:cs typeface="+mn-cs"/>
      </a:defRPr>
    </a:lvl2pPr>
    <a:lvl3pPr marL="914400" algn="l" rtl="0" fontAlgn="base">
      <a:spcBef>
        <a:spcPct val="0"/>
      </a:spcBef>
      <a:spcAft>
        <a:spcPct val="0"/>
      </a:spcAft>
      <a:defRPr kern="1200">
        <a:solidFill>
          <a:schemeClr val="accent1"/>
        </a:solidFill>
        <a:latin typeface="Arial" charset="0"/>
        <a:ea typeface="+mn-ea"/>
        <a:cs typeface="+mn-cs"/>
      </a:defRPr>
    </a:lvl3pPr>
    <a:lvl4pPr marL="1371600" algn="l" rtl="0" fontAlgn="base">
      <a:spcBef>
        <a:spcPct val="0"/>
      </a:spcBef>
      <a:spcAft>
        <a:spcPct val="0"/>
      </a:spcAft>
      <a:defRPr kern="1200">
        <a:solidFill>
          <a:schemeClr val="accent1"/>
        </a:solidFill>
        <a:latin typeface="Arial" charset="0"/>
        <a:ea typeface="+mn-ea"/>
        <a:cs typeface="+mn-cs"/>
      </a:defRPr>
    </a:lvl4pPr>
    <a:lvl5pPr marL="1828800" algn="l" rtl="0" fontAlgn="base">
      <a:spcBef>
        <a:spcPct val="0"/>
      </a:spcBef>
      <a:spcAft>
        <a:spcPct val="0"/>
      </a:spcAft>
      <a:defRPr kern="1200">
        <a:solidFill>
          <a:schemeClr val="accent1"/>
        </a:solidFill>
        <a:latin typeface="Arial" charset="0"/>
        <a:ea typeface="+mn-ea"/>
        <a:cs typeface="+mn-cs"/>
      </a:defRPr>
    </a:lvl5pPr>
    <a:lvl6pPr marL="2286000" algn="l" defTabSz="914400" rtl="0" eaLnBrk="1" latinLnBrk="0" hangingPunct="1">
      <a:defRPr kern="1200">
        <a:solidFill>
          <a:schemeClr val="accent1"/>
        </a:solidFill>
        <a:latin typeface="Arial" charset="0"/>
        <a:ea typeface="+mn-ea"/>
        <a:cs typeface="+mn-cs"/>
      </a:defRPr>
    </a:lvl6pPr>
    <a:lvl7pPr marL="2743200" algn="l" defTabSz="914400" rtl="0" eaLnBrk="1" latinLnBrk="0" hangingPunct="1">
      <a:defRPr kern="1200">
        <a:solidFill>
          <a:schemeClr val="accent1"/>
        </a:solidFill>
        <a:latin typeface="Arial" charset="0"/>
        <a:ea typeface="+mn-ea"/>
        <a:cs typeface="+mn-cs"/>
      </a:defRPr>
    </a:lvl7pPr>
    <a:lvl8pPr marL="3200400" algn="l" defTabSz="914400" rtl="0" eaLnBrk="1" latinLnBrk="0" hangingPunct="1">
      <a:defRPr kern="1200">
        <a:solidFill>
          <a:schemeClr val="accent1"/>
        </a:solidFill>
        <a:latin typeface="Arial" charset="0"/>
        <a:ea typeface="+mn-ea"/>
        <a:cs typeface="+mn-cs"/>
      </a:defRPr>
    </a:lvl8pPr>
    <a:lvl9pPr marL="3657600" algn="l" defTabSz="914400" rtl="0" eaLnBrk="1" latinLnBrk="0" hangingPunct="1">
      <a:defRPr kern="1200">
        <a:solidFill>
          <a:schemeClr val="accent1"/>
        </a:solidFill>
        <a:latin typeface="Arial"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a:srgbClr val="F4C990"/>
    <a:srgbClr val="FFFF99"/>
    <a:srgbClr val="89FFB0"/>
    <a:srgbClr val="66FF99"/>
    <a:srgbClr val="66FFCC"/>
    <a:srgbClr val="00FF99"/>
    <a:srgbClr val="0033CC"/>
    <a:srgbClr val="00FF00"/>
    <a:srgbClr val="1D80D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57" autoAdjust="0"/>
    <p:restoredTop sz="91799" autoAdjust="0"/>
  </p:normalViewPr>
  <p:slideViewPr>
    <p:cSldViewPr snapToGrid="0">
      <p:cViewPr>
        <p:scale>
          <a:sx n="90" d="100"/>
          <a:sy n="90" d="100"/>
        </p:scale>
        <p:origin x="-96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notesViewPr>
    <p:cSldViewPr snapToGrid="0">
      <p:cViewPr>
        <p:scale>
          <a:sx n="140" d="100"/>
          <a:sy n="140" d="100"/>
        </p:scale>
        <p:origin x="-72" y="456"/>
      </p:cViewPr>
      <p:guideLst>
        <p:guide orient="horz" pos="2928"/>
        <p:guide pos="216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2742" cy="465138"/>
          </a:xfrm>
          <a:prstGeom prst="rect">
            <a:avLst/>
          </a:prstGeom>
        </p:spPr>
        <p:txBody>
          <a:bodyPr vert="horz" lIns="93177" tIns="46589" rIns="93177" bIns="46589" rtlCol="0"/>
          <a:lstStyle>
            <a:lvl1pPr algn="l" eaLnBrk="0" hangingPunct="0">
              <a:defRPr sz="1200"/>
            </a:lvl1pPr>
          </a:lstStyle>
          <a:p>
            <a:pPr>
              <a:defRPr/>
            </a:pPr>
            <a:endParaRPr lang="en-US" dirty="0"/>
          </a:p>
        </p:txBody>
      </p:sp>
      <p:sp>
        <p:nvSpPr>
          <p:cNvPr id="3" name="Date Placeholder 2"/>
          <p:cNvSpPr>
            <a:spLocks noGrp="1"/>
          </p:cNvSpPr>
          <p:nvPr>
            <p:ph type="dt" sz="quarter" idx="1"/>
          </p:nvPr>
        </p:nvSpPr>
        <p:spPr>
          <a:xfrm>
            <a:off x="3897513" y="0"/>
            <a:ext cx="2982742" cy="465138"/>
          </a:xfrm>
          <a:prstGeom prst="rect">
            <a:avLst/>
          </a:prstGeom>
        </p:spPr>
        <p:txBody>
          <a:bodyPr vert="horz" lIns="93177" tIns="46589" rIns="93177" bIns="46589" rtlCol="0"/>
          <a:lstStyle>
            <a:lvl1pPr algn="r" eaLnBrk="0" hangingPunct="0">
              <a:defRPr sz="1200"/>
            </a:lvl1pPr>
          </a:lstStyle>
          <a:p>
            <a:pPr>
              <a:defRPr/>
            </a:pPr>
            <a:fld id="{4C52EA24-630C-4679-B3FD-93A29BD0A488}" type="datetimeFigureOut">
              <a:rPr lang="en-US"/>
              <a:pPr>
                <a:defRPr/>
              </a:pPr>
              <a:t>7/17/2014</a:t>
            </a:fld>
            <a:endParaRPr lang="en-US" dirty="0"/>
          </a:p>
        </p:txBody>
      </p:sp>
      <p:sp>
        <p:nvSpPr>
          <p:cNvPr id="5" name="Slide Number Placeholder 4"/>
          <p:cNvSpPr>
            <a:spLocks noGrp="1"/>
          </p:cNvSpPr>
          <p:nvPr>
            <p:ph type="sldNum" sz="quarter" idx="3"/>
          </p:nvPr>
        </p:nvSpPr>
        <p:spPr>
          <a:xfrm>
            <a:off x="3897513" y="8829675"/>
            <a:ext cx="2982742" cy="465138"/>
          </a:xfrm>
          <a:prstGeom prst="rect">
            <a:avLst/>
          </a:prstGeom>
        </p:spPr>
        <p:txBody>
          <a:bodyPr vert="horz" lIns="93177" tIns="46589" rIns="93177" bIns="46589" rtlCol="0" anchor="b"/>
          <a:lstStyle>
            <a:lvl1pPr algn="r" eaLnBrk="0" hangingPunct="0">
              <a:defRPr sz="1200"/>
            </a:lvl1pPr>
          </a:lstStyle>
          <a:p>
            <a:pPr>
              <a:defRPr/>
            </a:pPr>
            <a:fld id="{0314378B-2027-4A8A-8DC7-11468CB6F43A}" type="slidenum">
              <a:rPr lang="en-US"/>
              <a:pPr>
                <a:defRPr/>
              </a:pPr>
              <a:t>‹#›</a:t>
            </a:fld>
            <a:endParaRPr lang="en-US" dirty="0"/>
          </a:p>
        </p:txBody>
      </p:sp>
      <p:sp>
        <p:nvSpPr>
          <p:cNvPr id="6" name="Footer Placeholder 5"/>
          <p:cNvSpPr>
            <a:spLocks noGrp="1"/>
          </p:cNvSpPr>
          <p:nvPr>
            <p:ph type="ftr" sz="quarter" idx="2"/>
          </p:nvPr>
        </p:nvSpPr>
        <p:spPr>
          <a:xfrm>
            <a:off x="1" y="8829675"/>
            <a:ext cx="2982742" cy="465138"/>
          </a:xfrm>
          <a:prstGeom prst="rect">
            <a:avLst/>
          </a:prstGeom>
        </p:spPr>
        <p:txBody>
          <a:bodyPr vert="horz" lIns="93177" tIns="46589" rIns="93177" bIns="46589" rtlCol="0" anchor="b"/>
          <a:lstStyle>
            <a:lvl1pPr algn="l" eaLnBrk="0" hangingPunct="0">
              <a:defRPr sz="1200"/>
            </a:lvl1pPr>
          </a:lstStyle>
          <a:p>
            <a:pPr>
              <a:defRPr/>
            </a:pPr>
            <a:endParaRPr lang="en-US" dirty="0"/>
          </a:p>
        </p:txBody>
      </p:sp>
    </p:spTree>
    <p:extLst>
      <p:ext uri="{BB962C8B-B14F-4D97-AF65-F5344CB8AC3E}">
        <p14:creationId xmlns:p14="http://schemas.microsoft.com/office/powerpoint/2010/main" xmlns="" val="34686339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 y="0"/>
            <a:ext cx="2982742"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eaLnBrk="1" hangingPunct="1">
              <a:defRPr sz="1200">
                <a:solidFill>
                  <a:schemeClr val="tx1"/>
                </a:solidFill>
              </a:defRPr>
            </a:lvl1pPr>
          </a:lstStyle>
          <a:p>
            <a:pPr>
              <a:defRPr/>
            </a:pPr>
            <a:endParaRPr lang="en-US" dirty="0"/>
          </a:p>
        </p:txBody>
      </p:sp>
      <p:sp>
        <p:nvSpPr>
          <p:cNvPr id="24579" name="Rectangle 3"/>
          <p:cNvSpPr>
            <a:spLocks noGrp="1" noChangeArrowheads="1"/>
          </p:cNvSpPr>
          <p:nvPr>
            <p:ph type="dt" idx="1"/>
          </p:nvPr>
        </p:nvSpPr>
        <p:spPr bwMode="auto">
          <a:xfrm>
            <a:off x="3897513" y="0"/>
            <a:ext cx="2982742"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hangingPunct="1">
              <a:defRPr sz="1200">
                <a:solidFill>
                  <a:schemeClr val="tx1"/>
                </a:solidFill>
              </a:defRPr>
            </a:lvl1pPr>
          </a:lstStyle>
          <a:p>
            <a:pPr>
              <a:defRPr/>
            </a:pPr>
            <a:endParaRPr lang="en-US" dirty="0"/>
          </a:p>
        </p:txBody>
      </p:sp>
      <p:sp>
        <p:nvSpPr>
          <p:cNvPr id="156676" name="Rectangle 4"/>
          <p:cNvSpPr>
            <a:spLocks noGrp="1" noRot="1" noChangeAspect="1" noChangeArrowheads="1" noTextEdit="1"/>
          </p:cNvSpPr>
          <p:nvPr>
            <p:ph type="sldImg" idx="2"/>
          </p:nvPr>
        </p:nvSpPr>
        <p:spPr bwMode="auto">
          <a:xfrm>
            <a:off x="1117600" y="696913"/>
            <a:ext cx="4646613" cy="348615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88805" y="4416426"/>
            <a:ext cx="5504204"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4582" name="Rectangle 6"/>
          <p:cNvSpPr>
            <a:spLocks noGrp="1" noChangeArrowheads="1"/>
          </p:cNvSpPr>
          <p:nvPr>
            <p:ph type="ftr" sz="quarter" idx="4"/>
          </p:nvPr>
        </p:nvSpPr>
        <p:spPr bwMode="auto">
          <a:xfrm>
            <a:off x="1" y="8829675"/>
            <a:ext cx="2982742"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eaLnBrk="1" hangingPunct="1">
              <a:defRPr sz="1200">
                <a:solidFill>
                  <a:schemeClr val="tx1"/>
                </a:solidFill>
              </a:defRPr>
            </a:lvl1pPr>
          </a:lstStyle>
          <a:p>
            <a:pPr>
              <a:defRPr/>
            </a:pPr>
            <a:endParaRPr lang="en-US" dirty="0"/>
          </a:p>
        </p:txBody>
      </p:sp>
      <p:sp>
        <p:nvSpPr>
          <p:cNvPr id="24583" name="Rectangle 7"/>
          <p:cNvSpPr>
            <a:spLocks noGrp="1" noChangeArrowheads="1"/>
          </p:cNvSpPr>
          <p:nvPr>
            <p:ph type="sldNum" sz="quarter" idx="5"/>
          </p:nvPr>
        </p:nvSpPr>
        <p:spPr bwMode="auto">
          <a:xfrm>
            <a:off x="3897513" y="8829675"/>
            <a:ext cx="2982742"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a:solidFill>
                  <a:schemeClr val="tx1"/>
                </a:solidFill>
              </a:defRPr>
            </a:lvl1pPr>
          </a:lstStyle>
          <a:p>
            <a:pPr>
              <a:defRPr/>
            </a:pPr>
            <a:fld id="{AFA99AE7-C9B2-4EBA-8DBB-9A6B6FB0AAE4}" type="slidenum">
              <a:rPr lang="en-US"/>
              <a:pPr>
                <a:defRPr/>
              </a:pPr>
              <a:t>‹#›</a:t>
            </a:fld>
            <a:endParaRPr lang="en-US" dirty="0"/>
          </a:p>
        </p:txBody>
      </p:sp>
    </p:spTree>
    <p:extLst>
      <p:ext uri="{BB962C8B-B14F-4D97-AF65-F5344CB8AC3E}">
        <p14:creationId xmlns:p14="http://schemas.microsoft.com/office/powerpoint/2010/main" xmlns="" val="289331132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pteam.aa.com/sites/ITS/PAD"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department.jetnet.aa.com/itstechsourcing/index.shtm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ebmail.aa.com/owa/redir.aspx?C=0d45642739d44995971fa7b7f9b77c52&amp;URL=https://spteam.aa.com/sites/ITS/PAD"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ebmail.aa.com/owa/redir.aspx?C=0d45642739d44995971fa7b7f9b77c52&amp;URL=https://spteam.aa.com/sites/ITS/PAD"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ebmail.aa.com/owa/redir.aspx?C=0d45642739d44995971fa7b7f9b77c52&amp;URL=https://spteam.aa.com/sites/ITS/PAD"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ebmail.aa.com/owa/redir.aspx?C=0d45642739d44995971fa7b7f9b77c52&amp;URL=https://spteam.aa.com/sites/ITS/PAD"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a:t>
            </a:fld>
            <a:endParaRPr lang="en-US" dirty="0"/>
          </a:p>
        </p:txBody>
      </p:sp>
    </p:spTree>
    <p:extLst>
      <p:ext uri="{BB962C8B-B14F-4D97-AF65-F5344CB8AC3E}">
        <p14:creationId xmlns:p14="http://schemas.microsoft.com/office/powerpoint/2010/main" xmlns="" val="1468023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8805" y="4276726"/>
            <a:ext cx="5854870" cy="4322764"/>
          </a:xfrm>
        </p:spPr>
        <p:txBody>
          <a:bodyPr/>
          <a:lstStyle/>
          <a:p>
            <a:r>
              <a:rPr lang="en-US" sz="1000" dirty="0"/>
              <a:t>For more information regarding the funding process please refer to Project Place  </a:t>
            </a:r>
            <a:r>
              <a:rPr lang="en-US" sz="1000" u="sng" dirty="0">
                <a:hlinkClick r:id="rId3"/>
              </a:rPr>
              <a:t>https://spteam.aa.com/sites/ITS/PAD</a:t>
            </a:r>
            <a:r>
              <a:rPr lang="en-US" sz="1000" dirty="0"/>
              <a:t> </a:t>
            </a:r>
          </a:p>
          <a:p>
            <a:endParaRPr lang="en-US" sz="1000" dirty="0"/>
          </a:p>
          <a:p>
            <a:r>
              <a:rPr lang="en-US" sz="1000" dirty="0"/>
              <a:t>For guidance on IT Vendor Management (ITVM) and support when engaging vendors please refer to ITVM at </a:t>
            </a:r>
            <a:r>
              <a:rPr lang="en-US" sz="1000" u="sng" dirty="0">
                <a:hlinkClick r:id="rId4"/>
              </a:rPr>
              <a:t>https://department.jetnet.aa.com/itstechsourcing/index.shtml</a:t>
            </a:r>
            <a:r>
              <a:rPr lang="en-US" sz="1000" u="sng" dirty="0"/>
              <a:t>;</a:t>
            </a:r>
          </a:p>
          <a:p>
            <a:r>
              <a:rPr lang="en-US" sz="1000" dirty="0"/>
              <a:t>specifically note the links to all of vendor management’s processes on the left under Technology Sourcing </a:t>
            </a:r>
          </a:p>
          <a:p>
            <a:endParaRPr lang="en-US" sz="1000" dirty="0" smtClean="0"/>
          </a:p>
          <a:p>
            <a:r>
              <a:rPr lang="en-US" sz="1000" dirty="0" smtClean="0"/>
              <a:t>Two </a:t>
            </a:r>
            <a:r>
              <a:rPr lang="en-US" sz="1000" dirty="0"/>
              <a:t>helpful exercises to facilitate the creation of the Vision that can be conducted with the team are Elevator Pitch or Product Box. </a:t>
            </a:r>
            <a:r>
              <a:rPr lang="en-US" sz="1000" dirty="0" smtClean="0"/>
              <a:t>  An </a:t>
            </a:r>
            <a:r>
              <a:rPr lang="en-US" sz="1000" dirty="0"/>
              <a:t>elevator pitch exercise will give you the basic elements of this deliverable. It is designed to describe your project in the 2minute ride in an elevator.  The format would be  </a:t>
            </a:r>
          </a:p>
          <a:p>
            <a:r>
              <a:rPr lang="en-US" sz="1000" dirty="0"/>
              <a:t>          For (target customers)</a:t>
            </a:r>
          </a:p>
          <a:p>
            <a:r>
              <a:rPr lang="en-US" sz="1000" dirty="0"/>
              <a:t>          who (statement of need or opportunity) </a:t>
            </a:r>
          </a:p>
          <a:p>
            <a:r>
              <a:rPr lang="en-US" sz="1000" dirty="0"/>
              <a:t>          the (product name)  is a (product category) </a:t>
            </a:r>
          </a:p>
          <a:p>
            <a:r>
              <a:rPr lang="en-US" sz="1000" dirty="0"/>
              <a:t>          that (key features, differentiator, compelling reason to buy) </a:t>
            </a:r>
          </a:p>
          <a:p>
            <a:endParaRPr lang="en-US" sz="1000" dirty="0"/>
          </a:p>
          <a:p>
            <a:r>
              <a:rPr lang="en-US" sz="1000" dirty="0"/>
              <a:t>An alternative to this exercise is the Product box from Luke Hohman, Innovation Games. http://innovationgames.com/product-box/</a:t>
            </a:r>
          </a:p>
          <a:p>
            <a:r>
              <a:rPr lang="en-US" sz="1000" dirty="0"/>
              <a:t>If you would like to insert a slide into the deck to include your elevator statement you may do this also. </a:t>
            </a:r>
            <a:endParaRPr lang="en-US" sz="1000" dirty="0" smtClean="0"/>
          </a:p>
          <a:p>
            <a:endParaRPr lang="en-US" sz="1000" dirty="0"/>
          </a:p>
          <a:p>
            <a:r>
              <a:rPr lang="en-US" sz="1000" dirty="0" smtClean="0"/>
              <a:t>For </a:t>
            </a:r>
            <a:r>
              <a:rPr lang="en-US" sz="1000" dirty="0"/>
              <a:t>assistance with this or to schedule an Iteration 0 workshop, please contact the IT Project Performance Team or Agile Coach. </a:t>
            </a:r>
          </a:p>
          <a:p>
            <a:endParaRPr lang="en-US" sz="1000"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2</a:t>
            </a:fld>
            <a:endParaRPr lang="en-US" dirty="0"/>
          </a:p>
        </p:txBody>
      </p:sp>
    </p:spTree>
    <p:extLst>
      <p:ext uri="{BB962C8B-B14F-4D97-AF65-F5344CB8AC3E}">
        <p14:creationId xmlns:p14="http://schemas.microsoft.com/office/powerpoint/2010/main" xmlns="" val="1536026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3</a:t>
            </a:fld>
            <a:endParaRPr lang="en-US" dirty="0"/>
          </a:p>
        </p:txBody>
      </p:sp>
    </p:spTree>
    <p:extLst>
      <p:ext uri="{BB962C8B-B14F-4D97-AF65-F5344CB8AC3E}">
        <p14:creationId xmlns:p14="http://schemas.microsoft.com/office/powerpoint/2010/main" xmlns="" val="2629505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This information will be the same information needed to complete the Project Funding Document.</a:t>
            </a:r>
          </a:p>
          <a:p>
            <a:endParaRPr lang="en-US" sz="1000" dirty="0"/>
          </a:p>
          <a:p>
            <a:r>
              <a:rPr lang="en-US" sz="1000" dirty="0"/>
              <a:t>The description on this page will be the same as the Present Situation </a:t>
            </a:r>
            <a:r>
              <a:rPr lang="en-US" sz="1000" dirty="0" smtClean="0"/>
              <a:t>paragraph. </a:t>
            </a:r>
            <a:endParaRPr lang="en-US" sz="1000" dirty="0"/>
          </a:p>
          <a:p>
            <a:endParaRPr lang="en-US" sz="1000" dirty="0"/>
          </a:p>
          <a:p>
            <a:r>
              <a:rPr lang="en-US" sz="1000" dirty="0"/>
              <a:t>For more information regarding the funding process please refer to Project Place  </a:t>
            </a:r>
            <a:r>
              <a:rPr lang="en-US" sz="1000" u="sng" dirty="0">
                <a:hlinkClick r:id="rId3"/>
              </a:rPr>
              <a:t>https://spteam.aa.com/sites/ITS/PAD</a:t>
            </a:r>
            <a:r>
              <a:rPr lang="en-US" sz="1000" dirty="0"/>
              <a:t> </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4</a:t>
            </a:fld>
            <a:endParaRPr lang="en-US" dirty="0"/>
          </a:p>
        </p:txBody>
      </p:sp>
    </p:spTree>
    <p:extLst>
      <p:ext uri="{BB962C8B-B14F-4D97-AF65-F5344CB8AC3E}">
        <p14:creationId xmlns:p14="http://schemas.microsoft.com/office/powerpoint/2010/main" xmlns="" val="2959333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This information will be the same information needed to complete the Project Funding Document.</a:t>
            </a:r>
          </a:p>
          <a:p>
            <a:endParaRPr lang="en-US" sz="1000" dirty="0"/>
          </a:p>
          <a:p>
            <a:r>
              <a:rPr lang="en-US" sz="1000" dirty="0"/>
              <a:t>The description on this page will be the same as the Present Situation </a:t>
            </a:r>
            <a:r>
              <a:rPr lang="en-US" sz="1000" dirty="0" smtClean="0"/>
              <a:t>paragraph. </a:t>
            </a:r>
            <a:endParaRPr lang="en-US" sz="1000" dirty="0"/>
          </a:p>
          <a:p>
            <a:endParaRPr lang="en-US" sz="1000" dirty="0"/>
          </a:p>
          <a:p>
            <a:r>
              <a:rPr lang="en-US" sz="1000" dirty="0"/>
              <a:t>For more information regarding the funding process please refer to Project Place  </a:t>
            </a:r>
            <a:r>
              <a:rPr lang="en-US" sz="1000" u="sng" dirty="0">
                <a:hlinkClick r:id="rId3"/>
              </a:rPr>
              <a:t>https://spteam.aa.com/sites/ITS/PAD</a:t>
            </a:r>
            <a:r>
              <a:rPr lang="en-US" sz="1000" dirty="0"/>
              <a:t> </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5</a:t>
            </a:fld>
            <a:endParaRPr lang="en-US" dirty="0"/>
          </a:p>
        </p:txBody>
      </p:sp>
    </p:spTree>
    <p:extLst>
      <p:ext uri="{BB962C8B-B14F-4D97-AF65-F5344CB8AC3E}">
        <p14:creationId xmlns:p14="http://schemas.microsoft.com/office/powerpoint/2010/main" xmlns="" val="76766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From the </a:t>
            </a:r>
            <a:r>
              <a:rPr lang="en-US" sz="1000" i="1" dirty="0"/>
              <a:t>business’ perspective</a:t>
            </a:r>
            <a:r>
              <a:rPr lang="en-US" sz="1000" dirty="0"/>
              <a:t>, list the features/functions and technology changes that </a:t>
            </a:r>
            <a:r>
              <a:rPr lang="en-US" sz="1000" i="1" dirty="0"/>
              <a:t>will be included </a:t>
            </a:r>
            <a:r>
              <a:rPr lang="en-US" sz="1000" dirty="0"/>
              <a:t>in the scope of the effort.  </a:t>
            </a:r>
            <a:r>
              <a:rPr lang="en-US" sz="1000" dirty="0" smtClean="0"/>
              <a:t>Example </a:t>
            </a:r>
            <a:r>
              <a:rPr lang="en-US" sz="1000" dirty="0"/>
              <a:t>technology changes include web-enabling an application, making an application available via a mobile device, and non-functional requirements like improved Customer usability and improved performance.</a:t>
            </a:r>
          </a:p>
          <a:p>
            <a:r>
              <a:rPr lang="en-US" sz="1000" dirty="0"/>
              <a:t>These features will become the information in the Proposal section of the Project Funding Document. </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6</a:t>
            </a:fld>
            <a:endParaRPr lang="en-US" dirty="0"/>
          </a:p>
        </p:txBody>
      </p:sp>
    </p:spTree>
    <p:extLst>
      <p:ext uri="{BB962C8B-B14F-4D97-AF65-F5344CB8AC3E}">
        <p14:creationId xmlns:p14="http://schemas.microsoft.com/office/powerpoint/2010/main" xmlns="" val="3983585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From the </a:t>
            </a:r>
            <a:r>
              <a:rPr lang="en-US" sz="1000" i="1" dirty="0"/>
              <a:t>business’ perspective</a:t>
            </a:r>
            <a:r>
              <a:rPr lang="en-US" sz="1000" dirty="0"/>
              <a:t>, list the features/functions and technology changes that </a:t>
            </a:r>
            <a:r>
              <a:rPr lang="en-US" sz="1000" i="1" dirty="0"/>
              <a:t>will not be included </a:t>
            </a:r>
            <a:r>
              <a:rPr lang="en-US" sz="1000" dirty="0"/>
              <a:t>in the scope of the effort.  Example technology changes include web-enabling an application, making an application available via a mobile device, and non-functional requirements like improved Customer usability and improved performance</a:t>
            </a:r>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7</a:t>
            </a:fld>
            <a:endParaRPr lang="en-US" dirty="0"/>
          </a:p>
        </p:txBody>
      </p:sp>
    </p:spTree>
    <p:extLst>
      <p:ext uri="{BB962C8B-B14F-4D97-AF65-F5344CB8AC3E}">
        <p14:creationId xmlns:p14="http://schemas.microsoft.com/office/powerpoint/2010/main" xmlns="" val="2979455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000" dirty="0"/>
              <a:t>For more information regarding Business Value, please refer to Project Place  </a:t>
            </a:r>
            <a:r>
              <a:rPr lang="en-US" sz="1000" u="sng" dirty="0">
                <a:hlinkClick r:id="rId3"/>
              </a:rPr>
              <a:t>https://spteam.aa.com/sites/ITS/PAD</a:t>
            </a:r>
            <a:r>
              <a:rPr lang="en-US" sz="1000" dirty="0"/>
              <a:t> \</a:t>
            </a:r>
          </a:p>
          <a:p>
            <a:pPr>
              <a:defRPr/>
            </a:pPr>
            <a:r>
              <a:rPr lang="en-US" sz="1000" dirty="0"/>
              <a:t>This information again can be pasted into the Business Value and Justification section of the funding document. </a:t>
            </a:r>
          </a:p>
          <a:p>
            <a:endParaRPr lang="en-US" sz="1000" dirty="0"/>
          </a:p>
          <a:p>
            <a:r>
              <a:rPr lang="en-US" sz="1000" dirty="0"/>
              <a:t>Hard business benefits are those that can be defined, quantified and measured using real dollars</a:t>
            </a:r>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8</a:t>
            </a:fld>
            <a:endParaRPr lang="en-US" dirty="0"/>
          </a:p>
        </p:txBody>
      </p:sp>
    </p:spTree>
    <p:extLst>
      <p:ext uri="{BB962C8B-B14F-4D97-AF65-F5344CB8AC3E}">
        <p14:creationId xmlns:p14="http://schemas.microsoft.com/office/powerpoint/2010/main" xmlns="" val="2645853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For more information regarding Business Value, please refer to Project Place  </a:t>
            </a:r>
            <a:r>
              <a:rPr lang="en-US" sz="1000" u="sng" dirty="0">
                <a:hlinkClick r:id="rId3"/>
              </a:rPr>
              <a:t>https://spteam.aa.com/sites/ITS/PAD</a:t>
            </a:r>
            <a:r>
              <a:rPr lang="en-US" sz="1000" dirty="0"/>
              <a:t> </a:t>
            </a:r>
            <a:endParaRPr lang="en-US" sz="1000" b="1" dirty="0"/>
          </a:p>
          <a:p>
            <a:r>
              <a:rPr lang="en-US" sz="1000" dirty="0"/>
              <a:t>Soft business benefits are those that cannot be defined, quantified and measured using real dollars.</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9</a:t>
            </a:fld>
            <a:endParaRPr lang="en-US" dirty="0"/>
          </a:p>
        </p:txBody>
      </p:sp>
    </p:spTree>
    <p:extLst>
      <p:ext uri="{BB962C8B-B14F-4D97-AF65-F5344CB8AC3E}">
        <p14:creationId xmlns:p14="http://schemas.microsoft.com/office/powerpoint/2010/main" xmlns="" val="644250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10</a:t>
            </a:fld>
            <a:endParaRPr lang="en-US" dirty="0"/>
          </a:p>
        </p:txBody>
      </p:sp>
    </p:spTree>
    <p:extLst>
      <p:ext uri="{BB962C8B-B14F-4D97-AF65-F5344CB8AC3E}">
        <p14:creationId xmlns:p14="http://schemas.microsoft.com/office/powerpoint/2010/main" xmlns="" val="2709558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11</a:t>
            </a:fld>
            <a:endParaRPr lang="en-US" dirty="0"/>
          </a:p>
        </p:txBody>
      </p:sp>
    </p:spTree>
    <p:extLst>
      <p:ext uri="{BB962C8B-B14F-4D97-AF65-F5344CB8AC3E}">
        <p14:creationId xmlns:p14="http://schemas.microsoft.com/office/powerpoint/2010/main" xmlns="" val="353438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12</a:t>
            </a:fld>
            <a:endParaRPr lang="en-US" dirty="0"/>
          </a:p>
        </p:txBody>
      </p:sp>
    </p:spTree>
    <p:extLst>
      <p:ext uri="{BB962C8B-B14F-4D97-AF65-F5344CB8AC3E}">
        <p14:creationId xmlns:p14="http://schemas.microsoft.com/office/powerpoint/2010/main" xmlns="" val="13735439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1027" name="Picture 3" descr="D:\aa_ppt_elements\aa_aa_tm_hrz_1cp_grd_pos.png"/>
          <p:cNvPicPr>
            <a:picLocks noChangeAspect="1" noChangeArrowheads="1"/>
          </p:cNvPicPr>
          <p:nvPr/>
        </p:nvPicPr>
        <p:blipFill>
          <a:blip r:embed="rId2" cstate="print"/>
          <a:srcRect/>
          <a:stretch>
            <a:fillRect/>
          </a:stretch>
        </p:blipFill>
        <p:spPr bwMode="auto">
          <a:xfrm>
            <a:off x="5504688" y="495300"/>
            <a:ext cx="3195302" cy="484632"/>
          </a:xfrm>
          <a:prstGeom prst="rect">
            <a:avLst/>
          </a:prstGeom>
          <a:noFill/>
        </p:spPr>
      </p:pic>
      <p:pic>
        <p:nvPicPr>
          <p:cNvPr id="10" name="Picture 9" descr="aa_clda_PPT_rgb_23g.jpg"/>
          <p:cNvPicPr>
            <a:picLocks noChangeAspect="1"/>
          </p:cNvPicPr>
          <p:nvPr userDrawn="1"/>
        </p:nvPicPr>
        <p:blipFill>
          <a:blip r:embed="rId3" cstate="print"/>
          <a:stretch>
            <a:fillRect/>
          </a:stretch>
        </p:blipFill>
        <p:spPr bwMode="hidden">
          <a:xfrm>
            <a:off x="0" y="0"/>
            <a:ext cx="9144000" cy="6858000"/>
          </a:xfrm>
          <a:prstGeom prst="rect">
            <a:avLst/>
          </a:prstGeom>
        </p:spPr>
      </p:pic>
      <p:sp>
        <p:nvSpPr>
          <p:cNvPr id="2" name="Title 1"/>
          <p:cNvSpPr>
            <a:spLocks noGrp="1"/>
          </p:cNvSpPr>
          <p:nvPr>
            <p:ph type="ctrTitle" hasCustomPrompt="1"/>
          </p:nvPr>
        </p:nvSpPr>
        <p:spPr>
          <a:xfrm>
            <a:off x="457199" y="2043404"/>
            <a:ext cx="8232775" cy="970384"/>
          </a:xfrm>
        </p:spPr>
        <p:txBody>
          <a:bodyPr anchor="b" anchorCtr="0">
            <a:noAutofit/>
          </a:bodyPr>
          <a:lstStyle>
            <a:lvl1pPr>
              <a:lnSpc>
                <a:spcPts val="3200"/>
              </a:lnSpc>
              <a:defRPr>
                <a:solidFill>
                  <a:schemeClr val="tx2"/>
                </a:solidFill>
              </a:defRPr>
            </a:lvl1pPr>
          </a:lstStyle>
          <a:p>
            <a:r>
              <a:rPr lang="en-US" dirty="0" smtClean="0"/>
              <a:t>Click to edit cover slide title</a:t>
            </a:r>
            <a:endParaRPr lang="en-US" dirty="0"/>
          </a:p>
        </p:txBody>
      </p:sp>
      <p:sp>
        <p:nvSpPr>
          <p:cNvPr id="3" name="Subtitle 2"/>
          <p:cNvSpPr>
            <a:spLocks noGrp="1"/>
          </p:cNvSpPr>
          <p:nvPr>
            <p:ph type="subTitle" idx="1" hasCustomPrompt="1"/>
          </p:nvPr>
        </p:nvSpPr>
        <p:spPr>
          <a:xfrm>
            <a:off x="457199" y="3130422"/>
            <a:ext cx="8232775" cy="914400"/>
          </a:xfrm>
          <a:prstGeom prst="rect">
            <a:avLst/>
          </a:prstGeom>
        </p:spPr>
        <p:txBody>
          <a:bodyPr/>
          <a:lstStyle>
            <a:lvl1pPr marL="0" indent="0" algn="l">
              <a:lnSpc>
                <a:spcPts val="2000"/>
              </a:lnSpc>
              <a:spcBef>
                <a:spcPts val="0"/>
              </a:spcBef>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cover slide subtitle</a:t>
            </a:r>
            <a:endParaRPr lang="en-US" dirty="0"/>
          </a:p>
        </p:txBody>
      </p:sp>
      <p:pic>
        <p:nvPicPr>
          <p:cNvPr id="1026" name="Picture 2" descr="D:\aa_ppt_elements\aa_aa_tm_hrz_rgb_grd_pos.png"/>
          <p:cNvPicPr>
            <a:picLocks noChangeAspect="1" noChangeArrowheads="1"/>
          </p:cNvPicPr>
          <p:nvPr/>
        </p:nvPicPr>
        <p:blipFill>
          <a:blip r:embed="rId4" cstate="print"/>
          <a:srcRect/>
          <a:stretch>
            <a:fillRect/>
          </a:stretch>
        </p:blipFill>
        <p:spPr bwMode="hidden">
          <a:xfrm>
            <a:off x="5504688" y="493776"/>
            <a:ext cx="3195302" cy="484632"/>
          </a:xfrm>
          <a:prstGeom prst="rect">
            <a:avLst/>
          </a:prstGeom>
          <a:noFill/>
        </p:spPr>
      </p:pic>
      <p:pic>
        <p:nvPicPr>
          <p:cNvPr id="12" name="Picture 3" descr="D:\Oneworld_rgb_Logo.png"/>
          <p:cNvPicPr>
            <a:picLocks noChangeAspect="1" noChangeArrowheads="1"/>
          </p:cNvPicPr>
          <p:nvPr/>
        </p:nvPicPr>
        <p:blipFill>
          <a:blip r:embed="rId5" cstate="print"/>
          <a:srcRect/>
          <a:stretch>
            <a:fillRect/>
          </a:stretch>
        </p:blipFill>
        <p:spPr bwMode="auto">
          <a:xfrm>
            <a:off x="8245435" y="6040370"/>
            <a:ext cx="420687" cy="420688"/>
          </a:xfrm>
          <a:prstGeom prst="rect">
            <a:avLst/>
          </a:prstGeom>
          <a:noFill/>
        </p:spPr>
      </p:pic>
    </p:spTree>
    <p:extLst>
      <p:ext uri="{BB962C8B-B14F-4D97-AF65-F5344CB8AC3E}">
        <p14:creationId xmlns:p14="http://schemas.microsoft.com/office/powerpoint/2010/main" xmlns="" val="2779640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text slide title</a:t>
            </a:r>
            <a:endParaRPr lang="en-US" dirty="0"/>
          </a:p>
        </p:txBody>
      </p:sp>
      <p:sp>
        <p:nvSpPr>
          <p:cNvPr id="5" name="Footer Placeholder 4"/>
          <p:cNvSpPr>
            <a:spLocks noGrp="1"/>
          </p:cNvSpPr>
          <p:nvPr>
            <p:ph type="ftr" sz="quarter" idx="11"/>
          </p:nvPr>
        </p:nvSpPr>
        <p:spPr/>
        <p:txBody>
          <a:bodyPr/>
          <a:lstStyle/>
          <a:p>
            <a:r>
              <a:rPr lang="en-US" smtClean="0"/>
              <a:t>Vision Template v5.2</a:t>
            </a:r>
            <a:endParaRPr lang="en-US" dirty="0"/>
          </a:p>
        </p:txBody>
      </p:sp>
      <p:sp>
        <p:nvSpPr>
          <p:cNvPr id="6" name="Slide Number Placeholder 5"/>
          <p:cNvSpPr>
            <a:spLocks noGrp="1"/>
          </p:cNvSpPr>
          <p:nvPr>
            <p:ph type="sldNum" sz="quarter" idx="12"/>
          </p:nvPr>
        </p:nvSpPr>
        <p:spPr/>
        <p:txBody>
          <a:bodyPr/>
          <a:lstStyle/>
          <a:p>
            <a:fld id="{9E3C471D-FB94-43E4-8DFD-966A05A84658}" type="slidenum">
              <a:rPr lang="en-US" smtClean="0"/>
              <a:pPr/>
              <a:t>‹#›</a:t>
            </a:fld>
            <a:endParaRPr lang="en-US" dirty="0"/>
          </a:p>
        </p:txBody>
      </p:sp>
      <p:sp>
        <p:nvSpPr>
          <p:cNvPr id="12" name="Content Placeholder 10"/>
          <p:cNvSpPr>
            <a:spLocks noGrp="1"/>
          </p:cNvSpPr>
          <p:nvPr>
            <p:ph sz="quarter" idx="15"/>
          </p:nvPr>
        </p:nvSpPr>
        <p:spPr>
          <a:xfrm>
            <a:off x="457200" y="1184564"/>
            <a:ext cx="8232775" cy="4958542"/>
          </a:xfrm>
        </p:spPr>
        <p:txBody>
          <a:bodyPr/>
          <a:lstStyle>
            <a:lvl1pPr>
              <a:defRPr sz="2000" b="1"/>
            </a:lvl1pPr>
            <a:lvl2pPr>
              <a:buFont typeface="Wingdings" pitchFamily="2" charset="2"/>
              <a:buChar char="§"/>
              <a:defRPr sz="2000"/>
            </a:lvl2pPr>
            <a:lvl3pPr>
              <a:defRPr sz="1800"/>
            </a:lvl3pPr>
            <a:lvl4pPr>
              <a:buFont typeface="Courier New" pitchFamily="49" charset="0"/>
              <a:buChar char="o"/>
              <a:defRPr sz="1600"/>
            </a:lvl4pPr>
            <a:lvl5pPr>
              <a:buFont typeface="Courier New" pitchFamily="49" charset="0"/>
              <a:buChar char="o"/>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xmlns="" val="1718762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 Slide">
    <p:spTree>
      <p:nvGrpSpPr>
        <p:cNvPr id="1" name=""/>
        <p:cNvGrpSpPr/>
        <p:nvPr/>
      </p:nvGrpSpPr>
      <p:grpSpPr>
        <a:xfrm>
          <a:off x="0" y="0"/>
          <a:ext cx="0" cy="0"/>
          <a:chOff x="0" y="0"/>
          <a:chExt cx="0" cy="0"/>
        </a:xfrm>
      </p:grpSpPr>
      <p:pic>
        <p:nvPicPr>
          <p:cNvPr id="8" name="Picture 7" descr="aa_pc_PPT_rgb_23c_b.jpg"/>
          <p:cNvPicPr>
            <a:picLocks noChangeAspect="1"/>
          </p:cNvPicPr>
          <p:nvPr/>
        </p:nvPicPr>
        <p:blipFill>
          <a:blip r:embed="rId2" cstate="print"/>
          <a:stretch>
            <a:fillRect/>
          </a:stretch>
        </p:blipFill>
        <p:spPr bwMode="hidden">
          <a:xfrm>
            <a:off x="0" y="0"/>
            <a:ext cx="9144000" cy="6858000"/>
          </a:xfrm>
          <a:prstGeom prst="rect">
            <a:avLst/>
          </a:prstGeom>
        </p:spPr>
      </p:pic>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Vision Template v5.2</a:t>
            </a:r>
            <a:endParaRPr lang="en-US" dirty="0"/>
          </a:p>
        </p:txBody>
      </p:sp>
      <p:sp>
        <p:nvSpPr>
          <p:cNvPr id="11" name="Title 1"/>
          <p:cNvSpPr>
            <a:spLocks noGrp="1"/>
          </p:cNvSpPr>
          <p:nvPr>
            <p:ph type="title" hasCustomPrompt="1"/>
          </p:nvPr>
        </p:nvSpPr>
        <p:spPr>
          <a:xfrm>
            <a:off x="447869" y="739492"/>
            <a:ext cx="8242106" cy="1552857"/>
          </a:xfrm>
        </p:spPr>
        <p:txBody>
          <a:bodyPr anchor="t"/>
          <a:lstStyle>
            <a:lvl1pPr>
              <a:defRPr/>
            </a:lvl1pPr>
          </a:lstStyle>
          <a:p>
            <a:r>
              <a:rPr lang="en-US" dirty="0" smtClean="0"/>
              <a:t>Click to edit text slide title</a:t>
            </a:r>
            <a:endParaRPr lang="en-US" dirty="0"/>
          </a:p>
        </p:txBody>
      </p:sp>
    </p:spTree>
    <p:extLst>
      <p:ext uri="{BB962C8B-B14F-4D97-AF65-F5344CB8AC3E}">
        <p14:creationId xmlns:p14="http://schemas.microsoft.com/office/powerpoint/2010/main" xmlns="" val="391659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A Blu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Vision Template v5.2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4186194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A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Vision Template v5.2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3600100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A Light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Vision Template v5.2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706064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A Yellow Green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Vision Template v5.2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3966963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A Red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fld id="{9E3C471D-FB94-43E4-8DFD-966A05A84658}" type="slidenum">
              <a:rPr lang="en-US" smtClean="0"/>
              <a:pPr/>
              <a:t>‹#›</a:t>
            </a:fld>
            <a:endParaRPr lang="en-US" dirty="0"/>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Vision Template v5.2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1987189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thirds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5" name="Content Placeholder 14"/>
          <p:cNvSpPr>
            <a:spLocks noGrp="1"/>
          </p:cNvSpPr>
          <p:nvPr>
            <p:ph sz="quarter" idx="14"/>
          </p:nvPr>
        </p:nvSpPr>
        <p:spPr>
          <a:xfrm>
            <a:off x="5879592" y="1194955"/>
            <a:ext cx="2807208"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5"/>
          </p:nvPr>
        </p:nvSpPr>
        <p:spPr>
          <a:xfrm>
            <a:off x="457200" y="1194956"/>
            <a:ext cx="5157216" cy="488104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Slide Number Placeholder 10"/>
          <p:cNvSpPr>
            <a:spLocks noGrp="1"/>
          </p:cNvSpPr>
          <p:nvPr>
            <p:ph type="sldNum" sz="quarter" idx="17"/>
          </p:nvPr>
        </p:nvSpPr>
        <p:spPr/>
        <p:txBody>
          <a:bodyPr/>
          <a:lstStyle/>
          <a:p>
            <a:fld id="{9E3C471D-FB94-43E4-8DFD-966A05A84658}" type="slidenum">
              <a:rPr lang="en-US" smtClean="0"/>
              <a:pPr/>
              <a:t>‹#›</a:t>
            </a:fld>
            <a:endParaRPr lang="en-US" dirty="0"/>
          </a:p>
        </p:txBody>
      </p:sp>
      <p:sp>
        <p:nvSpPr>
          <p:cNvPr id="16" name="Footer Placeholder 15"/>
          <p:cNvSpPr>
            <a:spLocks noGrp="1"/>
          </p:cNvSpPr>
          <p:nvPr>
            <p:ph type="ftr" sz="quarter" idx="18"/>
          </p:nvPr>
        </p:nvSpPr>
        <p:spPr/>
        <p:txBody>
          <a:bodyPr/>
          <a:lstStyle/>
          <a:p>
            <a:r>
              <a:rPr lang="en-US" smtClean="0"/>
              <a:t>Vision Template v5.2</a:t>
            </a:r>
            <a:endParaRPr lang="en-US" dirty="0"/>
          </a:p>
        </p:txBody>
      </p:sp>
    </p:spTree>
    <p:extLst>
      <p:ext uri="{BB962C8B-B14F-4D97-AF65-F5344CB8AC3E}">
        <p14:creationId xmlns:p14="http://schemas.microsoft.com/office/powerpoint/2010/main" xmlns="" val="912201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third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3" name="Slide Number Placeholder 12"/>
          <p:cNvSpPr>
            <a:spLocks noGrp="1"/>
          </p:cNvSpPr>
          <p:nvPr>
            <p:ph type="sldNum" sz="quarter" idx="11"/>
          </p:nvPr>
        </p:nvSpPr>
        <p:spPr/>
        <p:txBody>
          <a:bodyPr/>
          <a:lstStyle/>
          <a:p>
            <a:fld id="{9E3C471D-FB94-43E4-8DFD-966A05A84658}" type="slidenum">
              <a:rPr lang="en-US" smtClean="0"/>
              <a:pPr/>
              <a:t>‹#›</a:t>
            </a:fld>
            <a:endParaRPr lang="en-US" dirty="0"/>
          </a:p>
        </p:txBody>
      </p:sp>
      <p:sp>
        <p:nvSpPr>
          <p:cNvPr id="14" name="Footer Placeholder 13"/>
          <p:cNvSpPr>
            <a:spLocks noGrp="1"/>
          </p:cNvSpPr>
          <p:nvPr>
            <p:ph type="ftr" sz="quarter" idx="12"/>
          </p:nvPr>
        </p:nvSpPr>
        <p:spPr/>
        <p:txBody>
          <a:bodyPr/>
          <a:lstStyle/>
          <a:p>
            <a:r>
              <a:rPr lang="en-US" smtClean="0"/>
              <a:t>Vision Template v5.2</a:t>
            </a:r>
            <a:endParaRPr lang="en-US" dirty="0"/>
          </a:p>
        </p:txBody>
      </p:sp>
      <p:sp>
        <p:nvSpPr>
          <p:cNvPr id="15" name="Content Placeholder 14"/>
          <p:cNvSpPr>
            <a:spLocks noGrp="1"/>
          </p:cNvSpPr>
          <p:nvPr>
            <p:ph sz="quarter" idx="13"/>
          </p:nvPr>
        </p:nvSpPr>
        <p:spPr>
          <a:xfrm>
            <a:off x="3529584" y="1184564"/>
            <a:ext cx="5157216" cy="48961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4"/>
          </p:nvPr>
        </p:nvSpPr>
        <p:spPr>
          <a:xfrm>
            <a:off x="457200" y="1174173"/>
            <a:ext cx="2807208" cy="4906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933442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alf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3" name="Slide Number Placeholder 12"/>
          <p:cNvSpPr>
            <a:spLocks noGrp="1"/>
          </p:cNvSpPr>
          <p:nvPr>
            <p:ph type="sldNum" sz="quarter" idx="11"/>
          </p:nvPr>
        </p:nvSpPr>
        <p:spPr/>
        <p:txBody>
          <a:bodyPr/>
          <a:lstStyle/>
          <a:p>
            <a:fld id="{9E3C471D-FB94-43E4-8DFD-966A05A84658}" type="slidenum">
              <a:rPr lang="en-US" smtClean="0"/>
              <a:pPr/>
              <a:t>‹#›</a:t>
            </a:fld>
            <a:endParaRPr lang="en-US" dirty="0"/>
          </a:p>
        </p:txBody>
      </p:sp>
      <p:sp>
        <p:nvSpPr>
          <p:cNvPr id="14" name="Footer Placeholder 13"/>
          <p:cNvSpPr>
            <a:spLocks noGrp="1"/>
          </p:cNvSpPr>
          <p:nvPr>
            <p:ph type="ftr" sz="quarter" idx="12"/>
          </p:nvPr>
        </p:nvSpPr>
        <p:spPr/>
        <p:txBody>
          <a:bodyPr/>
          <a:lstStyle/>
          <a:p>
            <a:r>
              <a:rPr lang="en-US" smtClean="0"/>
              <a:t>Vision Template v5.2</a:t>
            </a:r>
            <a:endParaRPr lang="en-US" dirty="0"/>
          </a:p>
        </p:txBody>
      </p:sp>
      <p:sp>
        <p:nvSpPr>
          <p:cNvPr id="15" name="Content Placeholder 14"/>
          <p:cNvSpPr>
            <a:spLocks noGrp="1"/>
          </p:cNvSpPr>
          <p:nvPr>
            <p:ph sz="quarter" idx="15"/>
          </p:nvPr>
        </p:nvSpPr>
        <p:spPr>
          <a:xfrm>
            <a:off x="4718304" y="1205345"/>
            <a:ext cx="3995928" cy="48754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6"/>
          </p:nvPr>
        </p:nvSpPr>
        <p:spPr>
          <a:xfrm>
            <a:off x="457200" y="1194955"/>
            <a:ext cx="3968496"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420759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ple Images with Captions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image with caption slide title</a:t>
            </a:r>
            <a:endParaRPr lang="en-US" dirty="0"/>
          </a:p>
        </p:txBody>
      </p:sp>
      <p:sp>
        <p:nvSpPr>
          <p:cNvPr id="3" name="Content Placeholder 2"/>
          <p:cNvSpPr>
            <a:spLocks noGrp="1"/>
          </p:cNvSpPr>
          <p:nvPr>
            <p:ph sz="half" idx="1"/>
          </p:nvPr>
        </p:nvSpPr>
        <p:spPr bwMode="gray">
          <a:xfrm>
            <a:off x="457199"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5946775"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6" name="Footer Placeholder 5"/>
          <p:cNvSpPr>
            <a:spLocks noGrp="1"/>
          </p:cNvSpPr>
          <p:nvPr>
            <p:ph type="ftr" sz="quarter" idx="11"/>
          </p:nvPr>
        </p:nvSpPr>
        <p:spPr/>
        <p:txBody>
          <a:bodyPr/>
          <a:lstStyle/>
          <a:p>
            <a:r>
              <a:rPr lang="en-US" smtClean="0"/>
              <a:t>Vision Template v5.2</a:t>
            </a:r>
            <a:endParaRPr lang="en-US" dirty="0"/>
          </a:p>
        </p:txBody>
      </p:sp>
      <p:sp>
        <p:nvSpPr>
          <p:cNvPr id="7" name="Slide Number Placeholder 6"/>
          <p:cNvSpPr>
            <a:spLocks noGrp="1"/>
          </p:cNvSpPr>
          <p:nvPr>
            <p:ph type="sldNum" sz="quarter" idx="12"/>
          </p:nvPr>
        </p:nvSpPr>
        <p:spPr/>
        <p:txBody>
          <a:bodyPr/>
          <a:lstStyle/>
          <a:p>
            <a:fld id="{9E3C471D-FB94-43E4-8DFD-966A05A84658}" type="slidenum">
              <a:rPr lang="en-US" smtClean="0"/>
              <a:pPr/>
              <a:t>‹#›</a:t>
            </a:fld>
            <a:endParaRPr lang="en-US" dirty="0"/>
          </a:p>
        </p:txBody>
      </p:sp>
      <p:sp>
        <p:nvSpPr>
          <p:cNvPr id="11" name="Content Placeholder 2"/>
          <p:cNvSpPr>
            <a:spLocks noGrp="1"/>
          </p:cNvSpPr>
          <p:nvPr>
            <p:ph sz="half" idx="13"/>
          </p:nvPr>
        </p:nvSpPr>
        <p:spPr bwMode="gray">
          <a:xfrm>
            <a:off x="3201988"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200400" y="3124200"/>
            <a:ext cx="2743200" cy="777240"/>
          </a:xfrm>
          <a:prstGeom prst="rect">
            <a:avLst/>
          </a:prstGeom>
          <a:solidFill>
            <a:schemeClr val="tx2"/>
          </a:solidFill>
          <a:ln>
            <a:noFill/>
          </a:ln>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200400" y="1730373"/>
            <a:ext cx="2743200" cy="1389888"/>
          </a:xfrm>
          <a:prstGeom prst="rect">
            <a:avLst/>
          </a:prstGeom>
          <a:solidFill>
            <a:schemeClr val="bg1"/>
          </a:solidFill>
          <a:ln>
            <a:noFill/>
          </a:ln>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2004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457200"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5946775"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8" name="Content Placeholder 2"/>
          <p:cNvSpPr>
            <a:spLocks noGrp="1"/>
          </p:cNvSpPr>
          <p:nvPr>
            <p:ph sz="half" idx="20"/>
          </p:nvPr>
        </p:nvSpPr>
        <p:spPr bwMode="gray">
          <a:xfrm>
            <a:off x="457200"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9" name="Content Placeholder 3"/>
          <p:cNvSpPr>
            <a:spLocks noGrp="1"/>
          </p:cNvSpPr>
          <p:nvPr>
            <p:ph sz="half" idx="21"/>
          </p:nvPr>
        </p:nvSpPr>
        <p:spPr bwMode="gray">
          <a:xfrm>
            <a:off x="5946775"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4572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5946775"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2247540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bleed Multiple Images and Callout Slide">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610076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036950" y="2286642"/>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036951" y="0"/>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036951" y="4573284"/>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610076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610076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2122227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7869" y="384313"/>
            <a:ext cx="8242106" cy="561260"/>
          </a:xfrm>
          <a:prstGeom prst="rect">
            <a:avLst/>
          </a:prstGeom>
        </p:spPr>
        <p:txBody>
          <a:bodyPr vert="horz" lIns="0" tIns="0" rIns="0" bIns="0" rtlCol="0" anchor="b" anchorCtr="0">
            <a:noAutofit/>
          </a:bodyPr>
          <a:lstStyle/>
          <a:p>
            <a:r>
              <a:rPr lang="en-US" smtClean="0"/>
              <a:t>Click to edit Master title style</a:t>
            </a:r>
            <a:endParaRPr lang="en-US" dirty="0"/>
          </a:p>
        </p:txBody>
      </p:sp>
      <p:sp>
        <p:nvSpPr>
          <p:cNvPr id="5" name="Footer Placeholder 4"/>
          <p:cNvSpPr>
            <a:spLocks noGrp="1"/>
          </p:cNvSpPr>
          <p:nvPr>
            <p:ph type="ftr" sz="quarter" idx="3"/>
          </p:nvPr>
        </p:nvSpPr>
        <p:spPr>
          <a:xfrm>
            <a:off x="457200" y="6629951"/>
            <a:ext cx="1772292" cy="128016"/>
          </a:xfrm>
          <a:prstGeom prst="rect">
            <a:avLst/>
          </a:prstGeom>
        </p:spPr>
        <p:txBody>
          <a:bodyPr vert="horz" lIns="0" tIns="0" rIns="0" bIns="0" rtlCol="0" anchor="t" anchorCtr="0"/>
          <a:lstStyle>
            <a:lvl1pPr algn="l">
              <a:defRPr sz="800">
                <a:solidFill>
                  <a:schemeClr val="bg2"/>
                </a:solidFill>
              </a:defRPr>
            </a:lvl1pPr>
          </a:lstStyle>
          <a:p>
            <a:r>
              <a:rPr lang="en-US" smtClean="0"/>
              <a:t>Vision Template v5.2</a:t>
            </a:r>
            <a:endParaRPr lang="en-US" dirty="0"/>
          </a:p>
        </p:txBody>
      </p:sp>
      <p:sp>
        <p:nvSpPr>
          <p:cNvPr id="6" name="Slide Number Placeholder 5"/>
          <p:cNvSpPr>
            <a:spLocks noGrp="1"/>
          </p:cNvSpPr>
          <p:nvPr>
            <p:ph type="sldNum" sz="quarter" idx="4"/>
          </p:nvPr>
        </p:nvSpPr>
        <p:spPr>
          <a:xfrm>
            <a:off x="8362950" y="6629950"/>
            <a:ext cx="323850" cy="136525"/>
          </a:xfrm>
          <a:prstGeom prst="rect">
            <a:avLst/>
          </a:prstGeom>
        </p:spPr>
        <p:txBody>
          <a:bodyPr vert="horz" lIns="0" tIns="0" rIns="0" bIns="0" rtlCol="0" anchor="t" anchorCtr="0"/>
          <a:lstStyle>
            <a:lvl1pPr algn="r">
              <a:defRPr sz="800">
                <a:solidFill>
                  <a:schemeClr val="bg2"/>
                </a:solidFill>
              </a:defRPr>
            </a:lvl1pPr>
          </a:lstStyle>
          <a:p>
            <a:fld id="{9E3C471D-FB94-43E4-8DFD-966A05A84658}" type="slidenum">
              <a:rPr lang="en-US" smtClean="0"/>
              <a:pPr/>
              <a:t>‹#›</a:t>
            </a:fld>
            <a:endParaRPr lang="en-US" dirty="0"/>
          </a:p>
        </p:txBody>
      </p:sp>
      <p:sp>
        <p:nvSpPr>
          <p:cNvPr id="11" name="Text Placeholder 10"/>
          <p:cNvSpPr>
            <a:spLocks noGrp="1"/>
          </p:cNvSpPr>
          <p:nvPr>
            <p:ph type="body" idx="1"/>
          </p:nvPr>
        </p:nvSpPr>
        <p:spPr>
          <a:xfrm>
            <a:off x="457200" y="1184563"/>
            <a:ext cx="8229600" cy="5327697"/>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8" name="Straight Connector 7"/>
          <p:cNvCxnSpPr/>
          <p:nvPr/>
        </p:nvCxnSpPr>
        <p:spPr>
          <a:xfrm>
            <a:off x="455613" y="1061674"/>
            <a:ext cx="8232775" cy="1588"/>
          </a:xfrm>
          <a:prstGeom prst="line">
            <a:avLst/>
          </a:prstGeom>
          <a:ln w="6350">
            <a:solidFill>
              <a:srgbClr val="0078D2"/>
            </a:solidFill>
          </a:ln>
        </p:spPr>
        <p:style>
          <a:lnRef idx="1">
            <a:schemeClr val="accent1"/>
          </a:lnRef>
          <a:fillRef idx="0">
            <a:schemeClr val="accent1"/>
          </a:fillRef>
          <a:effectRef idx="0">
            <a:schemeClr val="accent1"/>
          </a:effectRef>
          <a:fontRef idx="minor">
            <a:schemeClr val="tx1"/>
          </a:fontRef>
        </p:style>
      </p:cxnSp>
      <p:sp>
        <p:nvSpPr>
          <p:cNvPr id="10" name="Rectangle 25"/>
          <p:cNvSpPr>
            <a:spLocks noChangeArrowheads="1"/>
          </p:cNvSpPr>
          <p:nvPr userDrawn="1"/>
        </p:nvSpPr>
        <p:spPr bwMode="auto">
          <a:xfrm>
            <a:off x="1841500" y="6565900"/>
            <a:ext cx="5435600" cy="241300"/>
          </a:xfrm>
          <a:prstGeom prst="rect">
            <a:avLst/>
          </a:prstGeom>
          <a:noFill/>
          <a:ln w="9525">
            <a:noFill/>
            <a:miter lim="800000"/>
            <a:headEnd/>
            <a:tailEnd/>
          </a:ln>
          <a:effectLst/>
        </p:spPr>
        <p:txBody>
          <a:bodyPr wrap="none" lIns="92075" tIns="46038" rIns="92075" bIns="46038" anchor="ctr"/>
          <a:lstStyle/>
          <a:p>
            <a:pPr algn="ctr" eaLnBrk="0" hangingPunct="0">
              <a:defRPr/>
            </a:pPr>
            <a:r>
              <a:rPr lang="en-US" sz="1100" dirty="0">
                <a:solidFill>
                  <a:schemeClr val="tx1"/>
                </a:solidFill>
              </a:rPr>
              <a:t>American Airlines </a:t>
            </a:r>
            <a:r>
              <a:rPr lang="en-US" sz="1100" dirty="0" smtClean="0">
                <a:solidFill>
                  <a:schemeClr val="tx1"/>
                </a:solidFill>
                <a:effectLst/>
              </a:rPr>
              <a:t>Confidential and Proprietary: Do not copy or distribute</a:t>
            </a:r>
            <a:endParaRPr kumimoji="1" lang="en-US" sz="1100" dirty="0">
              <a:solidFill>
                <a:schemeClr val="tx1"/>
              </a:solidFill>
            </a:endParaRPr>
          </a:p>
        </p:txBody>
      </p:sp>
    </p:spTree>
    <p:extLst>
      <p:ext uri="{BB962C8B-B14F-4D97-AF65-F5344CB8AC3E}">
        <p14:creationId xmlns:p14="http://schemas.microsoft.com/office/powerpoint/2010/main" xmlns="" val="259573907"/>
      </p:ext>
    </p:extLst>
  </p:cSld>
  <p:clrMap bg1="lt1" tx1="dk1" bg2="lt2" tx2="dk2" accent1="accent1" accent2="accent2" accent3="accent3" accent4="accent4" accent5="accent5" accent6="accent6" hlink="hlink" folHlink="folHlink"/>
  <p:sldLayoutIdLst>
    <p:sldLayoutId id="2147484084" r:id="rId1"/>
    <p:sldLayoutId id="2147484085" r:id="rId2"/>
    <p:sldLayoutId id="2147484086" r:id="rId3"/>
    <p:sldLayoutId id="2147484087" r:id="rId4"/>
    <p:sldLayoutId id="2147484088" r:id="rId5"/>
    <p:sldLayoutId id="2147484089" r:id="rId6"/>
    <p:sldLayoutId id="2147484090" r:id="rId7"/>
    <p:sldLayoutId id="2147484091" r:id="rId8"/>
    <p:sldLayoutId id="2147484092" r:id="rId9"/>
    <p:sldLayoutId id="2147484093" r:id="rId10"/>
    <p:sldLayoutId id="2147484094" r:id="rId11"/>
    <p:sldLayoutId id="2147484095" r:id="rId12"/>
    <p:sldLayoutId id="2147484096" r:id="rId13"/>
  </p:sldLayoutIdLst>
  <p:hf hdr="0" dt="0"/>
  <p:txStyles>
    <p:titleStyle>
      <a:lvl1pPr algn="l" defTabSz="914400" rtl="0" eaLnBrk="1" latinLnBrk="0" hangingPunct="1">
        <a:spcBef>
          <a:spcPct val="0"/>
        </a:spcBef>
        <a:buNone/>
        <a:defRPr sz="2800" kern="1200" baseline="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b="1"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sz="20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8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Vision</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a:t>
            </a:fld>
            <a:endParaRPr lang="en-US" dirty="0"/>
          </a:p>
        </p:txBody>
      </p:sp>
      <p:sp>
        <p:nvSpPr>
          <p:cNvPr id="5" name="Content Placeholder 4"/>
          <p:cNvSpPr>
            <a:spLocks noGrp="1"/>
          </p:cNvSpPr>
          <p:nvPr>
            <p:ph sz="quarter" idx="15"/>
          </p:nvPr>
        </p:nvSpPr>
        <p:spPr/>
        <p:txBody>
          <a:bodyPr/>
          <a:lstStyle/>
          <a:p>
            <a:r>
              <a:rPr lang="en-US" smtClean="0"/>
              <a:t>Introduction</a:t>
            </a:r>
          </a:p>
          <a:p>
            <a:endParaRPr lang="en-US" smtClean="0"/>
          </a:p>
          <a:p>
            <a:pPr lvl="1"/>
            <a:r>
              <a:rPr lang="en-US" smtClean="0"/>
              <a:t>Purpose:</a:t>
            </a:r>
          </a:p>
          <a:p>
            <a:pPr lvl="2"/>
            <a:r>
              <a:rPr lang="en-US" smtClean="0"/>
              <a:t>Communicate a high level view of the product, project or program’s objectives, scope, and value to all stakeholders</a:t>
            </a:r>
          </a:p>
          <a:p>
            <a:pPr lvl="2"/>
            <a:r>
              <a:rPr lang="en-US" smtClean="0"/>
              <a:t>Help the team maintain a consistent vision and focus during planning</a:t>
            </a:r>
          </a:p>
          <a:p>
            <a:pPr lvl="2"/>
            <a:r>
              <a:rPr lang="en-US" smtClean="0"/>
              <a:t>Support the Project Funding process</a:t>
            </a:r>
          </a:p>
          <a:p>
            <a:pPr lvl="2"/>
            <a:endParaRPr lang="en-US" smtClean="0"/>
          </a:p>
          <a:p>
            <a:pPr lvl="1"/>
            <a:r>
              <a:rPr lang="en-US" smtClean="0"/>
              <a:t>Ownership:</a:t>
            </a:r>
          </a:p>
          <a:p>
            <a:pPr lvl="2"/>
            <a:r>
              <a:rPr lang="en-US" smtClean="0"/>
              <a:t>The Business Units are the owners of the vision</a:t>
            </a:r>
          </a:p>
          <a:p>
            <a:pPr lvl="2"/>
            <a:r>
              <a:rPr lang="en-US" smtClean="0"/>
              <a:t>The person designated to fulfill the role of Product Owner is accountable for creating and maintaining the Vision in collaboration with the Team</a:t>
            </a:r>
          </a:p>
          <a:p>
            <a:pPr lvl="1"/>
            <a:endParaRPr lang="en-US" smtClean="0"/>
          </a:p>
          <a:p>
            <a:pPr lvl="1"/>
            <a:r>
              <a:rPr lang="en-US" smtClean="0"/>
              <a:t>Maintenance Guidelines:</a:t>
            </a:r>
          </a:p>
          <a:p>
            <a:pPr lvl="2"/>
            <a:r>
              <a:rPr lang="en-US" smtClean="0"/>
              <a:t>Create the draft of the document prior to the Iteration 0 Workshop and complete with the team during the workshop</a:t>
            </a:r>
          </a:p>
          <a:p>
            <a:pPr lvl="2"/>
            <a:r>
              <a:rPr lang="en-US" smtClean="0"/>
              <a:t>Review and revise as required at each Iteration 0 Workshop, Release Planning or as needed during the project to keep in alignment with the plan</a:t>
            </a: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2</a:t>
            </a:fld>
            <a:endParaRPr lang="en-US" dirty="0"/>
          </a:p>
        </p:txBody>
      </p:sp>
      <p:sp>
        <p:nvSpPr>
          <p:cNvPr id="5" name="Content Placeholder 4"/>
          <p:cNvSpPr>
            <a:spLocks noGrp="1"/>
          </p:cNvSpPr>
          <p:nvPr>
            <p:ph sz="quarter" idx="15"/>
          </p:nvPr>
        </p:nvSpPr>
        <p:spPr/>
        <p:txBody>
          <a:bodyPr/>
          <a:lstStyle/>
          <a:p>
            <a:r>
              <a:rPr lang="en-US" dirty="0" smtClean="0"/>
              <a:t>Instructions</a:t>
            </a:r>
          </a:p>
          <a:p>
            <a:endParaRPr lang="en-US" dirty="0" smtClean="0"/>
          </a:p>
          <a:p>
            <a:pPr lvl="1"/>
            <a:r>
              <a:rPr lang="en-US" dirty="0" smtClean="0"/>
              <a:t>Create a copy of this template to serve as your Vision document</a:t>
            </a:r>
          </a:p>
          <a:p>
            <a:pPr lvl="1"/>
            <a:endParaRPr lang="en-US" dirty="0" smtClean="0"/>
          </a:p>
          <a:p>
            <a:pPr lvl="1"/>
            <a:r>
              <a:rPr lang="en-US" dirty="0" smtClean="0"/>
              <a:t>Delete the first two slides (Introduction, Instructions)</a:t>
            </a:r>
          </a:p>
          <a:p>
            <a:pPr lvl="1"/>
            <a:endParaRPr lang="en-US" dirty="0" smtClean="0"/>
          </a:p>
          <a:p>
            <a:pPr lvl="1"/>
            <a:r>
              <a:rPr lang="en-US" dirty="0" smtClean="0"/>
              <a:t>Replace the [bracketed] items on each page with information for your project</a:t>
            </a:r>
          </a:p>
          <a:p>
            <a:pPr lvl="1"/>
            <a:endParaRPr lang="en-US" dirty="0" smtClean="0"/>
          </a:p>
          <a:p>
            <a:pPr lvl="1"/>
            <a:r>
              <a:rPr lang="en-US" dirty="0" smtClean="0"/>
              <a:t>Include your document version number in the footer</a:t>
            </a:r>
          </a:p>
          <a:p>
            <a:pPr lvl="1"/>
            <a:endParaRPr lang="en-US" dirty="0" smtClean="0"/>
          </a:p>
          <a:p>
            <a:pPr lvl="1"/>
            <a:r>
              <a:rPr lang="en-US" dirty="0" smtClean="0"/>
              <a:t>Additional instructions and guidance can be found in the Notes section of the individual slides. (Optionally, the notes may be deleted to make room for talking points specific to your project)</a:t>
            </a:r>
          </a:p>
          <a:p>
            <a:pPr lvl="1"/>
            <a:endParaRPr lang="en-US" dirty="0" smtClean="0"/>
          </a:p>
          <a:p>
            <a:pPr lvl="1"/>
            <a:r>
              <a:rPr lang="en-US" dirty="0" smtClean="0"/>
              <a:t>Information from this document can and should be “copy/pasted” into your Project Funding Document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[Project Name]</a:t>
            </a:r>
            <a:endParaRPr lang="en-US" dirty="0"/>
          </a:p>
        </p:txBody>
      </p:sp>
      <p:sp>
        <p:nvSpPr>
          <p:cNvPr id="7" name="Subtitle 6"/>
          <p:cNvSpPr>
            <a:spLocks noGrp="1"/>
          </p:cNvSpPr>
          <p:nvPr>
            <p:ph type="subTitle" idx="1"/>
          </p:nvPr>
        </p:nvSpPr>
        <p:spPr/>
        <p:txBody>
          <a:bodyPr/>
          <a:lstStyle/>
          <a:p>
            <a:r>
              <a:rPr lang="en-US" dirty="0" smtClean="0"/>
              <a:t>Vision Statement</a:t>
            </a:r>
            <a:endParaRPr lang="en-US" dirty="0"/>
          </a:p>
        </p:txBody>
      </p:sp>
      <p:sp>
        <p:nvSpPr>
          <p:cNvPr id="4" name="Slide Number Placeholder 3"/>
          <p:cNvSpPr>
            <a:spLocks noGrp="1"/>
          </p:cNvSpPr>
          <p:nvPr>
            <p:ph type="sldNum" sz="quarter" idx="4294967295"/>
          </p:nvPr>
        </p:nvSpPr>
        <p:spPr>
          <a:xfrm>
            <a:off x="8820150" y="6629400"/>
            <a:ext cx="323850" cy="136525"/>
          </a:xfrm>
        </p:spPr>
        <p:txBody>
          <a:bodyPr/>
          <a:lstStyle/>
          <a:p>
            <a:fld id="{9E3C471D-FB94-43E4-8DFD-966A05A84658}" type="slidenum">
              <a:rPr lang="en-US" smtClean="0"/>
              <a:pPr/>
              <a:t>3</a:t>
            </a:fld>
            <a:endParaRPr lang="en-US" dirty="0"/>
          </a:p>
        </p:txBody>
      </p:sp>
      <p:sp>
        <p:nvSpPr>
          <p:cNvPr id="8" name="TextBox 7"/>
          <p:cNvSpPr txBox="1"/>
          <p:nvPr/>
        </p:nvSpPr>
        <p:spPr>
          <a:xfrm>
            <a:off x="197427" y="5613737"/>
            <a:ext cx="4949371" cy="1015663"/>
          </a:xfrm>
          <a:prstGeom prst="rect">
            <a:avLst/>
          </a:prstGeom>
          <a:noFill/>
        </p:spPr>
        <p:txBody>
          <a:bodyPr wrap="square" rtlCol="0">
            <a:spAutoFit/>
          </a:bodyPr>
          <a:lstStyle/>
          <a:p>
            <a:r>
              <a:rPr lang="en-US" sz="2000" dirty="0" smtClean="0">
                <a:solidFill>
                  <a:schemeClr val="bg1"/>
                </a:solidFill>
                <a:effectLst>
                  <a:outerShdw blurRad="38100" dist="38100" dir="2700000" algn="tl">
                    <a:srgbClr val="000000">
                      <a:alpha val="43137"/>
                    </a:srgbClr>
                  </a:outerShdw>
                </a:effectLst>
                <a:latin typeface="+mj-lt"/>
              </a:rPr>
              <a:t>Revision [Major.Minor]</a:t>
            </a:r>
          </a:p>
          <a:p>
            <a:r>
              <a:rPr lang="en-US" sz="2000" dirty="0" smtClean="0">
                <a:solidFill>
                  <a:schemeClr val="bg1"/>
                </a:solidFill>
                <a:effectLst>
                  <a:outerShdw blurRad="38100" dist="38100" dir="2700000" algn="tl">
                    <a:srgbClr val="000000">
                      <a:alpha val="43137"/>
                    </a:srgbClr>
                  </a:outerShdw>
                </a:effectLst>
                <a:latin typeface="+mj-lt"/>
              </a:rPr>
              <a:t>[Date]</a:t>
            </a:r>
          </a:p>
          <a:p>
            <a:r>
              <a:rPr lang="en-US" sz="2000" dirty="0" smtClean="0">
                <a:solidFill>
                  <a:schemeClr val="bg1"/>
                </a:solidFill>
                <a:effectLst>
                  <a:outerShdw blurRad="38100" dist="38100" dir="2700000" algn="tl">
                    <a:srgbClr val="000000">
                      <a:alpha val="43137"/>
                    </a:srgbClr>
                  </a:outerShdw>
                </a:effectLst>
                <a:latin typeface="+mj-lt"/>
              </a:rPr>
              <a:t>[PO Name], Product Owner</a:t>
            </a:r>
            <a:endParaRPr lang="en-US" sz="2000" dirty="0">
              <a:solidFill>
                <a:schemeClr val="bg1"/>
              </a:solidFill>
              <a:effectLst>
                <a:outerShdw blurRad="38100" dist="38100" dir="2700000" algn="tl">
                  <a:srgbClr val="000000">
                    <a:alpha val="43137"/>
                  </a:srgbClr>
                </a:outerShdw>
              </a:effectLst>
              <a:latin typeface="+mj-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 “elevator” Statement</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4</a:t>
            </a:fld>
            <a:endParaRPr lang="en-US" dirty="0"/>
          </a:p>
        </p:txBody>
      </p:sp>
      <p:sp>
        <p:nvSpPr>
          <p:cNvPr id="5" name="Content Placeholder 4"/>
          <p:cNvSpPr>
            <a:spLocks noGrp="1"/>
          </p:cNvSpPr>
          <p:nvPr>
            <p:ph sz="quarter" idx="15"/>
          </p:nvPr>
        </p:nvSpPr>
        <p:spPr/>
        <p:txBody>
          <a:bodyPr/>
          <a:lstStyle/>
          <a:p>
            <a:endParaRPr lang="en-US" dirty="0" smtClean="0"/>
          </a:p>
          <a:p>
            <a:r>
              <a:rPr lang="en-US" dirty="0" smtClean="0"/>
              <a:t>For </a:t>
            </a:r>
            <a:r>
              <a:rPr lang="en-US" b="0" dirty="0"/>
              <a:t>[</a:t>
            </a:r>
            <a:r>
              <a:rPr lang="en-US" b="0" dirty="0" smtClean="0"/>
              <a:t>target user]</a:t>
            </a:r>
          </a:p>
          <a:p>
            <a:endParaRPr lang="en-US" dirty="0" smtClean="0"/>
          </a:p>
          <a:p>
            <a:r>
              <a:rPr lang="en-US" dirty="0" smtClean="0"/>
              <a:t>Who </a:t>
            </a:r>
            <a:r>
              <a:rPr lang="en-US" b="0" dirty="0"/>
              <a:t>[</a:t>
            </a:r>
            <a:r>
              <a:rPr lang="en-US" b="0" dirty="0" smtClean="0"/>
              <a:t>needs]</a:t>
            </a:r>
          </a:p>
          <a:p>
            <a:endParaRPr lang="en-US" dirty="0" smtClean="0"/>
          </a:p>
          <a:p>
            <a:r>
              <a:rPr lang="en-US" dirty="0" smtClean="0"/>
              <a:t>The </a:t>
            </a:r>
            <a:r>
              <a:rPr lang="en-US" b="0" dirty="0"/>
              <a:t>[</a:t>
            </a:r>
            <a:r>
              <a:rPr lang="en-US" b="0" dirty="0" smtClean="0"/>
              <a:t>product name] </a:t>
            </a:r>
            <a:r>
              <a:rPr lang="en-US" dirty="0" smtClean="0"/>
              <a:t>Is A </a:t>
            </a:r>
            <a:r>
              <a:rPr lang="en-US" b="0" dirty="0" smtClean="0"/>
              <a:t>[category]</a:t>
            </a:r>
          </a:p>
          <a:p>
            <a:endParaRPr lang="en-US" dirty="0" smtClean="0"/>
          </a:p>
          <a:p>
            <a:r>
              <a:rPr lang="en-US" dirty="0" smtClean="0"/>
              <a:t>That </a:t>
            </a:r>
            <a:r>
              <a:rPr lang="en-US" b="0" dirty="0"/>
              <a:t>[</a:t>
            </a:r>
            <a:r>
              <a:rPr lang="en-US" b="0" dirty="0" smtClean="0"/>
              <a:t>benefit provided]</a:t>
            </a:r>
          </a:p>
          <a:p>
            <a:endParaRPr lang="en-US" dirty="0" smtClean="0"/>
          </a:p>
          <a:p>
            <a:r>
              <a:rPr lang="en-US" dirty="0" smtClean="0"/>
              <a:t>Unlike </a:t>
            </a:r>
            <a:r>
              <a:rPr lang="en-US" b="0" dirty="0"/>
              <a:t>[</a:t>
            </a:r>
            <a:r>
              <a:rPr lang="en-US" b="0" dirty="0" smtClean="0"/>
              <a:t>competition or alternative]</a:t>
            </a:r>
          </a:p>
          <a:p>
            <a:endParaRPr lang="en-US" dirty="0" smtClean="0"/>
          </a:p>
          <a:p>
            <a:r>
              <a:rPr lang="en-US" dirty="0" smtClean="0"/>
              <a:t>Our Product </a:t>
            </a:r>
            <a:r>
              <a:rPr lang="en-US" b="0" dirty="0"/>
              <a:t>[</a:t>
            </a:r>
            <a:r>
              <a:rPr lang="en-US" b="0" dirty="0" smtClean="0"/>
              <a:t>differentiation]</a:t>
            </a:r>
          </a:p>
        </p:txBody>
      </p:sp>
    </p:spTree>
    <p:extLst>
      <p:ext uri="{BB962C8B-B14F-4D97-AF65-F5344CB8AC3E}">
        <p14:creationId xmlns:p14="http://schemas.microsoft.com/office/powerpoint/2010/main" xmlns="" val="17573208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 Statement</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5</a:t>
            </a:fld>
            <a:endParaRPr lang="en-US" dirty="0"/>
          </a:p>
        </p:txBody>
      </p:sp>
      <p:sp>
        <p:nvSpPr>
          <p:cNvPr id="5" name="Content Placeholder 4"/>
          <p:cNvSpPr>
            <a:spLocks noGrp="1"/>
          </p:cNvSpPr>
          <p:nvPr>
            <p:ph sz="quarter" idx="15"/>
          </p:nvPr>
        </p:nvSpPr>
        <p:spPr/>
        <p:txBody>
          <a:bodyPr/>
          <a:lstStyle/>
          <a:p>
            <a:r>
              <a:rPr lang="en-US" dirty="0" smtClean="0"/>
              <a:t>Description</a:t>
            </a:r>
          </a:p>
          <a:p>
            <a:endParaRPr lang="en-US" dirty="0" smtClean="0"/>
          </a:p>
          <a:p>
            <a:pPr lvl="1"/>
            <a:r>
              <a:rPr lang="en-US" dirty="0" smtClean="0"/>
              <a:t>What is Needed?</a:t>
            </a:r>
          </a:p>
          <a:p>
            <a:pPr lvl="2"/>
            <a:r>
              <a:rPr lang="en-US" dirty="0" smtClean="0"/>
              <a:t>[brief, two sentence description of the project]</a:t>
            </a:r>
          </a:p>
          <a:p>
            <a:pPr lvl="2"/>
            <a:endParaRPr lang="en-US" dirty="0" smtClean="0"/>
          </a:p>
          <a:p>
            <a:pPr lvl="1"/>
            <a:r>
              <a:rPr lang="en-US" dirty="0" smtClean="0"/>
              <a:t>Why do we need it?</a:t>
            </a:r>
          </a:p>
          <a:p>
            <a:pPr lvl="2"/>
            <a:r>
              <a:rPr lang="en-US" dirty="0" smtClean="0"/>
              <a:t>[bullets defining the business need]</a:t>
            </a:r>
          </a:p>
          <a:p>
            <a:pPr lvl="2"/>
            <a:endParaRPr lang="en-US" dirty="0" smtClean="0"/>
          </a:p>
          <a:p>
            <a:pPr lvl="1"/>
            <a:r>
              <a:rPr lang="en-US" dirty="0" smtClean="0"/>
              <a:t>Who is it for?</a:t>
            </a:r>
          </a:p>
          <a:p>
            <a:pPr lvl="2"/>
            <a:r>
              <a:rPr lang="en-US" dirty="0" smtClean="0"/>
              <a:t>[bullets identifying the target Customer(s)/End-user(s)]</a:t>
            </a:r>
            <a:endParaRPr lang="en-US" dirty="0"/>
          </a:p>
        </p:txBody>
      </p:sp>
    </p:spTree>
    <p:extLst>
      <p:ext uri="{BB962C8B-B14F-4D97-AF65-F5344CB8AC3E}">
        <p14:creationId xmlns:p14="http://schemas.microsoft.com/office/powerpoint/2010/main" xmlns="" val="40915169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 Statement</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6</a:t>
            </a:fld>
            <a:endParaRPr lang="en-US" dirty="0"/>
          </a:p>
        </p:txBody>
      </p:sp>
      <p:sp>
        <p:nvSpPr>
          <p:cNvPr id="5" name="Content Placeholder 4"/>
          <p:cNvSpPr>
            <a:spLocks noGrp="1"/>
          </p:cNvSpPr>
          <p:nvPr>
            <p:ph sz="quarter" idx="15"/>
          </p:nvPr>
        </p:nvSpPr>
        <p:spPr/>
        <p:txBody>
          <a:bodyPr/>
          <a:lstStyle/>
          <a:p>
            <a:r>
              <a:rPr lang="en-US" dirty="0" smtClean="0"/>
              <a:t>Scope</a:t>
            </a:r>
          </a:p>
          <a:p>
            <a:endParaRPr lang="en-US" dirty="0" smtClean="0"/>
          </a:p>
          <a:p>
            <a:pPr lvl="1"/>
            <a:r>
              <a:rPr lang="en-US" dirty="0" smtClean="0"/>
              <a:t>What does it include?</a:t>
            </a:r>
          </a:p>
          <a:p>
            <a:pPr lvl="1"/>
            <a:endParaRPr lang="en-US" dirty="0" smtClean="0"/>
          </a:p>
          <a:p>
            <a:pPr lvl="2"/>
            <a:r>
              <a:rPr lang="en-US" dirty="0" smtClean="0"/>
              <a:t>High-level features/functions</a:t>
            </a:r>
          </a:p>
          <a:p>
            <a:pPr lvl="3"/>
            <a:r>
              <a:rPr lang="en-US" dirty="0" smtClean="0"/>
              <a:t>[5 – 10 bullets]</a:t>
            </a:r>
          </a:p>
          <a:p>
            <a:pPr lvl="3"/>
            <a:endParaRPr lang="en-US" dirty="0" smtClean="0"/>
          </a:p>
          <a:p>
            <a:pPr lvl="2"/>
            <a:r>
              <a:rPr lang="en-US" dirty="0" smtClean="0"/>
              <a:t>Technologies</a:t>
            </a:r>
          </a:p>
          <a:p>
            <a:pPr lvl="3"/>
            <a:r>
              <a:rPr lang="en-US" dirty="0" smtClean="0"/>
              <a:t>[technology changes (i.e. Mobile, Web-based access, improved performance,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 Statement</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7</a:t>
            </a:fld>
            <a:endParaRPr lang="en-US" dirty="0"/>
          </a:p>
        </p:txBody>
      </p:sp>
      <p:sp>
        <p:nvSpPr>
          <p:cNvPr id="5" name="Content Placeholder 4"/>
          <p:cNvSpPr>
            <a:spLocks noGrp="1"/>
          </p:cNvSpPr>
          <p:nvPr>
            <p:ph sz="quarter" idx="15"/>
          </p:nvPr>
        </p:nvSpPr>
        <p:spPr/>
        <p:txBody>
          <a:bodyPr/>
          <a:lstStyle/>
          <a:p>
            <a:r>
              <a:rPr lang="en-US" dirty="0" smtClean="0"/>
              <a:t>Exclusions</a:t>
            </a:r>
          </a:p>
          <a:p>
            <a:endParaRPr lang="en-US" dirty="0" smtClean="0"/>
          </a:p>
          <a:p>
            <a:pPr lvl="1"/>
            <a:r>
              <a:rPr lang="en-US" dirty="0" smtClean="0"/>
              <a:t>What is not in scope?</a:t>
            </a:r>
          </a:p>
          <a:p>
            <a:pPr lvl="1"/>
            <a:endParaRPr lang="en-US" dirty="0" smtClean="0"/>
          </a:p>
          <a:p>
            <a:pPr lvl="2"/>
            <a:r>
              <a:rPr lang="en-US" dirty="0" smtClean="0"/>
              <a:t>High-level features/functions</a:t>
            </a:r>
          </a:p>
          <a:p>
            <a:pPr lvl="3"/>
            <a:r>
              <a:rPr lang="en-US" dirty="0" smtClean="0"/>
              <a:t>[5-10 bullets]</a:t>
            </a:r>
          </a:p>
          <a:p>
            <a:pPr lvl="3"/>
            <a:endParaRPr lang="en-US" dirty="0" smtClean="0"/>
          </a:p>
          <a:p>
            <a:pPr lvl="2"/>
            <a:r>
              <a:rPr lang="en-US" dirty="0" smtClean="0"/>
              <a:t>Technologies</a:t>
            </a:r>
          </a:p>
          <a:p>
            <a:pPr lvl="3"/>
            <a:r>
              <a:rPr lang="en-US" dirty="0" smtClean="0"/>
              <a:t>[Technology changes (i.e. Mobile, web-based access, improved performance, …)]</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 Statement</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8</a:t>
            </a:fld>
            <a:endParaRPr lang="en-US" dirty="0"/>
          </a:p>
        </p:txBody>
      </p:sp>
      <p:sp>
        <p:nvSpPr>
          <p:cNvPr id="5" name="Content Placeholder 4"/>
          <p:cNvSpPr>
            <a:spLocks noGrp="1"/>
          </p:cNvSpPr>
          <p:nvPr>
            <p:ph sz="quarter" idx="15"/>
          </p:nvPr>
        </p:nvSpPr>
        <p:spPr/>
        <p:txBody>
          <a:bodyPr/>
          <a:lstStyle/>
          <a:p>
            <a:r>
              <a:rPr lang="en-US" dirty="0" smtClean="0"/>
              <a:t>Business Value</a:t>
            </a:r>
          </a:p>
          <a:p>
            <a:pPr lvl="1"/>
            <a:endParaRPr lang="en-US" dirty="0" smtClean="0"/>
          </a:p>
          <a:p>
            <a:pPr lvl="1"/>
            <a:r>
              <a:rPr lang="en-US" dirty="0" smtClean="0"/>
              <a:t>Rationale</a:t>
            </a:r>
          </a:p>
          <a:p>
            <a:pPr lvl="2"/>
            <a:r>
              <a:rPr lang="en-US" dirty="0" smtClean="0"/>
              <a:t>[describe the business rationale and how the business will benefit]</a:t>
            </a:r>
          </a:p>
          <a:p>
            <a:pPr lvl="2"/>
            <a:endParaRPr lang="en-US" dirty="0" smtClean="0"/>
          </a:p>
          <a:p>
            <a:pPr lvl="1"/>
            <a:r>
              <a:rPr lang="en-US" dirty="0" smtClean="0"/>
              <a:t>Quantifiable business impacts:</a:t>
            </a:r>
          </a:p>
          <a:p>
            <a:pPr lvl="2"/>
            <a:r>
              <a:rPr lang="en-US" dirty="0" smtClean="0"/>
              <a:t>Added revenue</a:t>
            </a:r>
          </a:p>
          <a:p>
            <a:pPr lvl="3"/>
            <a:r>
              <a:rPr lang="en-US" dirty="0" smtClean="0"/>
              <a:t>[immediate revenue, recurring revenue with periods and durations]</a:t>
            </a:r>
          </a:p>
          <a:p>
            <a:pPr lvl="3"/>
            <a:endParaRPr lang="en-US" dirty="0" smtClean="0"/>
          </a:p>
          <a:p>
            <a:pPr lvl="2"/>
            <a:r>
              <a:rPr lang="en-US" dirty="0" smtClean="0"/>
              <a:t>Reduced expenses</a:t>
            </a:r>
          </a:p>
          <a:p>
            <a:pPr lvl="3"/>
            <a:r>
              <a:rPr lang="en-US" dirty="0" smtClean="0"/>
              <a:t>[immediate fixed expense reductions, recurring savings (with periods and durations), expected headcount adjustments]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Vision Statement</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9</a:t>
            </a:fld>
            <a:endParaRPr lang="en-US" dirty="0"/>
          </a:p>
        </p:txBody>
      </p:sp>
      <p:sp>
        <p:nvSpPr>
          <p:cNvPr id="5" name="Content Placeholder 4"/>
          <p:cNvSpPr>
            <a:spLocks noGrp="1"/>
          </p:cNvSpPr>
          <p:nvPr>
            <p:ph sz="quarter" idx="15"/>
          </p:nvPr>
        </p:nvSpPr>
        <p:spPr/>
        <p:txBody>
          <a:bodyPr/>
          <a:lstStyle/>
          <a:p>
            <a:r>
              <a:rPr lang="en-US" dirty="0" smtClean="0"/>
              <a:t>Business Value</a:t>
            </a:r>
          </a:p>
          <a:p>
            <a:endParaRPr lang="en-US" dirty="0" smtClean="0"/>
          </a:p>
          <a:p>
            <a:pPr lvl="1"/>
            <a:r>
              <a:rPr lang="en-US" dirty="0" smtClean="0"/>
              <a:t>Non-Quantifiable impacts:</a:t>
            </a:r>
          </a:p>
          <a:p>
            <a:pPr lvl="2"/>
            <a:r>
              <a:rPr lang="en-US" dirty="0" smtClean="0"/>
              <a:t>Improved Employee Morale</a:t>
            </a:r>
          </a:p>
          <a:p>
            <a:pPr lvl="2"/>
            <a:r>
              <a:rPr lang="en-US" dirty="0" smtClean="0"/>
              <a:t>Increased Customer Satisfaction</a:t>
            </a:r>
          </a:p>
          <a:p>
            <a:pPr lvl="2"/>
            <a:r>
              <a:rPr lang="en-US" dirty="0" smtClean="0"/>
              <a:t>Other Benefits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Authors</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10</a:t>
            </a:fld>
            <a:endParaRPr lang="en-US" dirty="0"/>
          </a:p>
        </p:txBody>
      </p:sp>
      <p:sp>
        <p:nvSpPr>
          <p:cNvPr id="5" name="Content Placeholder 4"/>
          <p:cNvSpPr>
            <a:spLocks noGrp="1"/>
          </p:cNvSpPr>
          <p:nvPr>
            <p:ph sz="quarter" idx="15"/>
          </p:nvPr>
        </p:nvSpPr>
        <p:spPr/>
        <p:txBody>
          <a:bodyPr/>
          <a:lstStyle/>
          <a:p>
            <a:r>
              <a:rPr lang="en-US" dirty="0" smtClean="0"/>
              <a:t>Collaborative Team</a:t>
            </a:r>
          </a:p>
          <a:p>
            <a:endParaRPr lang="en-US" dirty="0" smtClean="0"/>
          </a:p>
          <a:p>
            <a:pPr lvl="1"/>
            <a:r>
              <a:rPr lang="en-US" dirty="0" smtClean="0"/>
              <a:t>[Name of Product Owner]</a:t>
            </a:r>
          </a:p>
          <a:p>
            <a:pPr lvl="1"/>
            <a:r>
              <a:rPr lang="en-US" dirty="0" smtClean="0"/>
              <a:t>[Name of Agile Project Lead]</a:t>
            </a:r>
          </a:p>
          <a:p>
            <a:pPr lvl="1"/>
            <a:r>
              <a:rPr lang="en-US" dirty="0" smtClean="0"/>
              <a:t>[Team member name]</a:t>
            </a:r>
          </a:p>
          <a:p>
            <a:pPr lvl="1"/>
            <a:r>
              <a:rPr lang="en-US" dirty="0" smtClean="0"/>
              <a:t>[Team member name]</a:t>
            </a:r>
          </a:p>
          <a:p>
            <a:pPr lvl="1"/>
            <a:r>
              <a:rPr lang="en-US" dirty="0" smtClean="0"/>
              <a:t>[Team member name]</a:t>
            </a:r>
          </a:p>
          <a:p>
            <a:pPr lvl="1"/>
            <a:r>
              <a:rPr lang="en-US" dirty="0" smtClean="0"/>
              <a:t>[…]</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History</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11</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494280"/>
        </p:xfrm>
        <a:graphic>
          <a:graphicData uri="http://schemas.openxmlformats.org/drawingml/2006/table">
            <a:tbl>
              <a:tblPr firstRow="1" bandRow="1">
                <a:tableStyleId>{00A15C55-8517-42AA-B614-E9B94910E393}</a:tableStyleId>
              </a:tblPr>
              <a:tblGrid>
                <a:gridCol w="1456660"/>
                <a:gridCol w="4031856"/>
                <a:gridCol w="2744258"/>
              </a:tblGrid>
              <a:tr h="370840">
                <a:tc>
                  <a:txBody>
                    <a:bodyPr/>
                    <a:lstStyle/>
                    <a:p>
                      <a:r>
                        <a:rPr lang="en-US" dirty="0" smtClean="0"/>
                        <a:t>Date</a:t>
                      </a:r>
                      <a:endParaRPr lang="en-US" dirty="0"/>
                    </a:p>
                  </a:txBody>
                  <a:tcPr/>
                </a:tc>
                <a:tc>
                  <a:txBody>
                    <a:bodyPr/>
                    <a:lstStyle/>
                    <a:p>
                      <a:r>
                        <a:rPr lang="en-US" dirty="0" smtClean="0"/>
                        <a:t>Activity</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Document created</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[name of activity (e.g. Release 2 planning)]</a:t>
                      </a:r>
                      <a:endParaRPr lang="en-US" dirty="0"/>
                    </a:p>
                  </a:txBody>
                  <a:tcPr/>
                </a:tc>
                <a:tc>
                  <a:txBody>
                    <a:bodyPr/>
                    <a:lstStyle/>
                    <a:p>
                      <a:r>
                        <a:rPr lang="en-US" dirty="0" smtClean="0"/>
                        <a:t>[comments]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History</a:t>
            </a:r>
            <a:endParaRPr lang="en-US" dirty="0"/>
          </a:p>
        </p:txBody>
      </p:sp>
      <p:sp>
        <p:nvSpPr>
          <p:cNvPr id="3" name="Footer Placeholder 2"/>
          <p:cNvSpPr>
            <a:spLocks noGrp="1"/>
          </p:cNvSpPr>
          <p:nvPr>
            <p:ph type="ftr" sz="quarter" idx="11"/>
          </p:nvPr>
        </p:nvSpPr>
        <p:spPr/>
        <p:txBody>
          <a:bodyPr/>
          <a:lstStyle/>
          <a:p>
            <a:r>
              <a:rPr lang="en-US" smtClean="0"/>
              <a:t>Vision Template v5.2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12</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225040"/>
        </p:xfrm>
        <a:graphic>
          <a:graphicData uri="http://schemas.openxmlformats.org/drawingml/2006/table">
            <a:tbl>
              <a:tblPr firstRow="1" bandRow="1">
                <a:tableStyleId>{00A15C55-8517-42AA-B614-E9B94910E393}</a:tableStyleId>
              </a:tblPr>
              <a:tblGrid>
                <a:gridCol w="1297172"/>
                <a:gridCol w="1158949"/>
                <a:gridCol w="5776653"/>
              </a:tblGrid>
              <a:tr h="370840">
                <a:tc>
                  <a:txBody>
                    <a:bodyPr/>
                    <a:lstStyle/>
                    <a:p>
                      <a:r>
                        <a:rPr lang="en-US" dirty="0" smtClean="0"/>
                        <a:t>Date</a:t>
                      </a:r>
                      <a:endParaRPr lang="en-US" dirty="0"/>
                    </a:p>
                  </a:txBody>
                  <a:tcPr/>
                </a:tc>
                <a:tc>
                  <a:txBody>
                    <a:bodyPr/>
                    <a:lstStyle/>
                    <a:p>
                      <a:r>
                        <a:rPr lang="en-US" dirty="0" smtClean="0"/>
                        <a:t>Version</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1.0</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a:t>
                      </a:r>
                      <a:r>
                        <a:rPr lang="en-US" dirty="0" err="1" smtClean="0"/>
                        <a:t>x.y</a:t>
                      </a:r>
                      <a:r>
                        <a:rPr lang="en-US" dirty="0" smtClean="0"/>
                        <a:t>]</a:t>
                      </a:r>
                      <a:endParaRPr lang="en-US" dirty="0"/>
                    </a:p>
                  </a:txBody>
                  <a:tcPr/>
                </a:tc>
                <a:tc>
                  <a:txBody>
                    <a:bodyPr/>
                    <a:lstStyle/>
                    <a:p>
                      <a:r>
                        <a:rPr lang="en-US" dirty="0" smtClean="0"/>
                        <a:t>[comments]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AA Presentation Template - PHS">
  <a:themeElements>
    <a:clrScheme name="AA color theme 09172012">
      <a:dk1>
        <a:srgbClr val="36495A"/>
      </a:dk1>
      <a:lt1>
        <a:sysClr val="window" lastClr="FFFFFF"/>
      </a:lt1>
      <a:dk2>
        <a:srgbClr val="0078D2"/>
      </a:dk2>
      <a:lt2>
        <a:srgbClr val="6E8999"/>
      </a:lt2>
      <a:accent1>
        <a:srgbClr val="FAAF00"/>
      </a:accent1>
      <a:accent2>
        <a:srgbClr val="FF7318"/>
      </a:accent2>
      <a:accent3>
        <a:srgbClr val="4DB4FA"/>
      </a:accent3>
      <a:accent4>
        <a:srgbClr val="0078D2"/>
      </a:accent4>
      <a:accent5>
        <a:srgbClr val="D1D532"/>
      </a:accent5>
      <a:accent6>
        <a:srgbClr val="F52305"/>
      </a:accent6>
      <a:hlink>
        <a:srgbClr val="0078D2"/>
      </a:hlink>
      <a:folHlink>
        <a:srgbClr val="C3001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dirty="0" err="1" smtClean="0"/>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2080E98040C8A40BE7C3359A3321215" ma:contentTypeVersion="0" ma:contentTypeDescription="Create a new document." ma:contentTypeScope="" ma:versionID="4aad4052934079d17fe980d7636dce5d">
  <xsd:schema xmlns:xsd="http://www.w3.org/2001/XMLSchema" xmlns:xs="http://www.w3.org/2001/XMLSchema" xmlns:p="http://schemas.microsoft.com/office/2006/metadata/properties" targetNamespace="http://schemas.microsoft.com/office/2006/metadata/properties" ma:root="true" ma:fieldsID="1a65b0a7b58520b367ade7b35cb84121">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90F9BE-6D37-414B-9019-C710513CF3D5}">
  <ds:schemaRefs>
    <ds:schemaRef ds:uri="http://schemas.microsoft.com/sharepoint/v3/contenttype/forms"/>
  </ds:schemaRefs>
</ds:datastoreItem>
</file>

<file path=customXml/itemProps2.xml><?xml version="1.0" encoding="utf-8"?>
<ds:datastoreItem xmlns:ds="http://schemas.openxmlformats.org/officeDocument/2006/customXml" ds:itemID="{E003495A-1ED7-49F4-963B-62F8E3CB1D55}">
  <ds:schemaRefs>
    <ds:schemaRef ds:uri="http://schemas.microsoft.com/office/2006/metadata/properties"/>
  </ds:schemaRefs>
</ds:datastoreItem>
</file>

<file path=customXml/itemProps3.xml><?xml version="1.0" encoding="utf-8"?>
<ds:datastoreItem xmlns:ds="http://schemas.openxmlformats.org/officeDocument/2006/customXml" ds:itemID="{F71437E3-BB96-4509-9866-957965E948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AA Presentation Template - PHS</Template>
  <TotalTime>88128</TotalTime>
  <Words>1102</Words>
  <Application>Microsoft Office PowerPoint</Application>
  <PresentationFormat>On-screen Show (4:3)</PresentationFormat>
  <Paragraphs>196</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AA Presentation Template - PHS</vt:lpstr>
      <vt:lpstr>Vision</vt:lpstr>
      <vt:lpstr>Vision</vt:lpstr>
      <vt:lpstr>[Project Name]</vt:lpstr>
      <vt:lpstr>Vision “elevator” Statement</vt:lpstr>
      <vt:lpstr>Vision Statement</vt:lpstr>
      <vt:lpstr>Vision Statement</vt:lpstr>
      <vt:lpstr>Vision Statement</vt:lpstr>
      <vt:lpstr>Vision Statement</vt:lpstr>
      <vt:lpstr>Vision Statement</vt:lpstr>
      <vt:lpstr>Authors</vt:lpstr>
      <vt:lpstr>Review History</vt:lpstr>
      <vt:lpstr>Revision History</vt:lpstr>
    </vt:vector>
  </TitlesOfParts>
  <Company>American Airlines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dc:title>
  <dc:creator>Don Smith</dc:creator>
  <cp:lastModifiedBy>wajahath</cp:lastModifiedBy>
  <cp:revision>1292</cp:revision>
  <cp:lastPrinted>2011-12-16T19:30:10Z</cp:lastPrinted>
  <dcterms:created xsi:type="dcterms:W3CDTF">2011-12-09T18:04:02Z</dcterms:created>
  <dcterms:modified xsi:type="dcterms:W3CDTF">2014-07-17T18:22:08Z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0x01010022080E98040C8A40BE7C3359A3321215</vt:lpwstr>
  </property>
  <property fmtid="{D5CDD505-2E9C-101B-9397-08002B2CF9AE}" pid="3" name="_AdHocReviewCycleID">
    <vt:i4>-1901236953</vt:i4>
  </property>
  <property fmtid="{D5CDD505-2E9C-101B-9397-08002B2CF9AE}" pid="4" name="_NewReviewCycle">
    <vt:lpwstr/>
  </property>
  <property fmtid="{D5CDD505-2E9C-101B-9397-08002B2CF9AE}" pid="5" name="_EmailSubject">
    <vt:lpwstr>Presentation for this morning's meeting</vt:lpwstr>
  </property>
  <property fmtid="{D5CDD505-2E9C-101B-9397-08002B2CF9AE}" pid="6" name="_AuthorEmail">
    <vt:lpwstr>Kris.Wickett@aa.com</vt:lpwstr>
  </property>
  <property fmtid="{D5CDD505-2E9C-101B-9397-08002B2CF9AE}" pid="7" name="_AuthorEmailDisplayName">
    <vt:lpwstr>Wickett, Kris</vt:lpwstr>
  </property>
  <property fmtid="{D5CDD505-2E9C-101B-9397-08002B2CF9AE}" pid="8" name="_PreviousAdHocReviewCycleID">
    <vt:i4>-1847444477</vt:i4>
  </property>
</Properties>
</file>