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10"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2"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15C0D9C-DD70-4DA5-B545-03949B0FD29C}" type="datetimeFigureOut">
              <a:rPr lang="en-US" smtClean="0"/>
              <a:t>6/1/2013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3832189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C0D9C-DD70-4DA5-B545-03949B0FD29C}" type="datetimeFigureOut">
              <a:rPr lang="en-US" smtClean="0"/>
              <a:t>6/1/2013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3624216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01"/>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4"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5C0D9C-DD70-4DA5-B545-03949B0FD29C}" type="datetimeFigureOut">
              <a:rPr lang="en-US" smtClean="0"/>
              <a:t>6/1/2013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191075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4" y="1600201"/>
            <a:ext cx="403860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1" y="1600201"/>
            <a:ext cx="403860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15C0D9C-DD70-4DA5-B545-03949B0FD29C}" type="datetimeFigureOut">
              <a:rPr lang="en-US" smtClean="0"/>
              <a:t>6/1/2013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3057297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3"/>
            <a:ext cx="4041774"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5C0D9C-DD70-4DA5-B545-03949B0FD29C}" type="datetimeFigureOut">
              <a:rPr lang="en-US" smtClean="0"/>
              <a:t>6/1/2013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2944764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15C0D9C-DD70-4DA5-B545-03949B0FD29C}" type="datetimeFigureOut">
              <a:rPr lang="en-US" smtClean="0"/>
              <a:t>6/1/2013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3635162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C0D9C-DD70-4DA5-B545-03949B0FD29C}" type="datetimeFigureOut">
              <a:rPr lang="en-US" smtClean="0"/>
              <a:t>6/1/2013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1260470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4" y="273054"/>
            <a:ext cx="511174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5C0D9C-DD70-4DA5-B545-03949B0FD29C}" type="datetimeFigureOut">
              <a:rPr lang="en-US" smtClean="0"/>
              <a:t>6/1/2013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202275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5C0D9C-DD70-4DA5-B545-03949B0FD29C}" type="datetimeFigureOut">
              <a:rPr lang="en-US" smtClean="0"/>
              <a:t>6/1/2013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342494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C0D9C-DD70-4DA5-B545-03949B0FD29C}" type="datetimeFigureOut">
              <a:rPr lang="en-US" smtClean="0"/>
              <a:t>6/1/2013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52446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2" y="274639"/>
            <a:ext cx="205740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1"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5C0D9C-DD70-4DA5-B545-03949B0FD29C}" type="datetimeFigureOut">
              <a:rPr lang="en-US" smtClean="0"/>
              <a:t>6/1/2013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45C2BB-DB0E-4B1D-AA7F-AEAE96705E33}" type="slidenum">
              <a:rPr lang="en-US" smtClean="0"/>
              <a:t>‹#›</a:t>
            </a:fld>
            <a:endParaRPr lang="en-US"/>
          </a:p>
        </p:txBody>
      </p:sp>
    </p:spTree>
    <p:extLst>
      <p:ext uri="{BB962C8B-B14F-4D97-AF65-F5344CB8AC3E}">
        <p14:creationId xmlns:p14="http://schemas.microsoft.com/office/powerpoint/2010/main" val="1239490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5C0D9C-DD70-4DA5-B545-03949B0FD29C}" type="datetimeFigureOut">
              <a:rPr lang="en-US" smtClean="0"/>
              <a:t>6/1/2013</a:t>
            </a:fld>
            <a:endParaRPr lang="en-US"/>
          </a:p>
        </p:txBody>
      </p:sp>
      <p:sp>
        <p:nvSpPr>
          <p:cNvPr id="5" name="Footer Placeholder 4"/>
          <p:cNvSpPr>
            <a:spLocks noGrp="1"/>
          </p:cNvSpPr>
          <p:nvPr>
            <p:ph type="ftr" sz="quarter" idx="3"/>
          </p:nvPr>
        </p:nvSpPr>
        <p:spPr>
          <a:xfrm>
            <a:off x="3124202"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45C2BB-DB0E-4B1D-AA7F-AEAE96705E33}" type="slidenum">
              <a:rPr lang="en-US" smtClean="0"/>
              <a:t>‹#›</a:t>
            </a:fld>
            <a:endParaRPr lang="en-US"/>
          </a:p>
        </p:txBody>
      </p:sp>
    </p:spTree>
    <p:extLst>
      <p:ext uri="{BB962C8B-B14F-4D97-AF65-F5344CB8AC3E}">
        <p14:creationId xmlns:p14="http://schemas.microsoft.com/office/powerpoint/2010/main" val="2787576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1771" y="177800"/>
            <a:ext cx="9144000" cy="5355312"/>
          </a:xfrm>
          <a:prstGeom prst="rect">
            <a:avLst/>
          </a:prstGeom>
        </p:spPr>
        <p:txBody>
          <a:bodyPr wrap="square">
            <a:spAutoFit/>
          </a:bodyPr>
          <a:lstStyle/>
          <a:p>
            <a:r>
              <a:rPr lang="en-US" dirty="0" smtClean="0"/>
              <a:t>The correct answer is A</a:t>
            </a:r>
          </a:p>
          <a:p>
            <a:r>
              <a:rPr lang="en-US" dirty="0" smtClean="0"/>
              <a:t>You have been asked to manage an Agile team, but you find that the team members are located in California, New Jersey, Dubai, and Dublin. You are concerned that the diverse locations will make the adoption of Agile methods difficult, if not impossible. What should you do?</a:t>
            </a:r>
          </a:p>
          <a:p>
            <a:endParaRPr lang="en-US" dirty="0" smtClean="0"/>
          </a:p>
          <a:p>
            <a:r>
              <a:rPr lang="en-US" dirty="0" smtClean="0"/>
              <a:t>A. Make use of wikis, instant messaging, shared servers, virtual whiteboards, and web cameras to encourage the team to collaborate</a:t>
            </a:r>
          </a:p>
          <a:p>
            <a:r>
              <a:rPr lang="en-US" dirty="0" smtClean="0"/>
              <a:t>B. Meet with the sponsor and ask for travel budget sufficient to allow the team to meet face-to-face once a month at a minimum</a:t>
            </a:r>
          </a:p>
          <a:p>
            <a:r>
              <a:rPr lang="en-US" dirty="0" smtClean="0"/>
              <a:t>C. Voice your concern to your manager, explaining that Agile methods are not suited for geographically dispersed teams</a:t>
            </a:r>
          </a:p>
          <a:p>
            <a:r>
              <a:rPr lang="en-US" dirty="0" smtClean="0"/>
              <a:t>D. Work with the existing team as best as possible but make plans to replace members in the future and cluster the team in 1 location</a:t>
            </a:r>
          </a:p>
          <a:p>
            <a:r>
              <a:rPr lang="en-US" dirty="0" smtClean="0"/>
              <a:t>  </a:t>
            </a:r>
          </a:p>
          <a:p>
            <a:r>
              <a:rPr lang="en-US" dirty="0" smtClean="0"/>
              <a:t>Ideally, it would be nice to lead an Agile team that is co-located; however, that is not always possible. Collaboration and team commitment is more challenging when members are sitting in different locations and not across the room, but it is not impossible. Answer A describes some of the Agile tooling that helps facilitate geographically dispersed teams. Answer B, C, and D may be tempting choices, but A is the best choice.</a:t>
            </a:r>
            <a:endParaRPr lang="en-US" dirty="0"/>
          </a:p>
        </p:txBody>
      </p:sp>
    </p:spTree>
    <p:extLst>
      <p:ext uri="{BB962C8B-B14F-4D97-AF65-F5344CB8AC3E}">
        <p14:creationId xmlns:p14="http://schemas.microsoft.com/office/powerpoint/2010/main" val="37593805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p:nvSpPr>
        <p:spPr>
          <a:xfrm>
            <a:off x="152400" y="533400"/>
            <a:ext cx="8763000" cy="3970318"/>
          </a:xfrm>
          <a:prstGeom prst="rect">
            <a:avLst/>
          </a:prstGeom>
        </p:spPr>
        <p:txBody>
          <a:bodyPr wrap="square">
            <a:spAutoFit/>
          </a:bodyPr>
          <a:lstStyle/>
          <a:p>
            <a:r>
              <a:rPr lang="en-US" dirty="0" smtClean="0"/>
              <a:t>The correct answer is C</a:t>
            </a:r>
          </a:p>
          <a:p>
            <a:r>
              <a:rPr lang="en-US" dirty="0" smtClean="0"/>
              <a:t>A </a:t>
            </a:r>
            <a:r>
              <a:rPr lang="en-US" dirty="0" err="1" smtClean="0"/>
              <a:t>ScrumMaster</a:t>
            </a:r>
            <a:r>
              <a:rPr lang="en-US" dirty="0" smtClean="0"/>
              <a:t> (SM) and Product Owner (PO) are discussing the team's desire to limit sprint commitments to the velocity. As the SM hears the PO's perspective of product demand and the need for higher velocity, he can relate to and understand the PO's concerns and needs. The SM is exhibiting:</a:t>
            </a:r>
          </a:p>
          <a:p>
            <a:endParaRPr lang="en-US" dirty="0" smtClean="0"/>
          </a:p>
          <a:p>
            <a:r>
              <a:rPr lang="en-US" dirty="0" smtClean="0"/>
              <a:t>A. Negotiation skills</a:t>
            </a:r>
          </a:p>
          <a:p>
            <a:r>
              <a:rPr lang="en-US" dirty="0" smtClean="0"/>
              <a:t>B. Communication listening skills</a:t>
            </a:r>
          </a:p>
          <a:p>
            <a:r>
              <a:rPr lang="en-US" dirty="0" smtClean="0"/>
              <a:t>C. Emotional intelligence</a:t>
            </a:r>
          </a:p>
          <a:p>
            <a:r>
              <a:rPr lang="en-US" dirty="0" smtClean="0"/>
              <a:t>D. Servant leadership</a:t>
            </a:r>
          </a:p>
          <a:p>
            <a:r>
              <a:rPr lang="en-US" dirty="0" smtClean="0"/>
              <a:t>  </a:t>
            </a:r>
          </a:p>
          <a:p>
            <a:r>
              <a:rPr lang="en-US" dirty="0" smtClean="0"/>
              <a:t>The emotional quotient of the </a:t>
            </a:r>
            <a:r>
              <a:rPr lang="en-US" dirty="0" err="1" smtClean="0"/>
              <a:t>ScrumMaster</a:t>
            </a:r>
            <a:r>
              <a:rPr lang="en-US" dirty="0" smtClean="0"/>
              <a:t> allows him to more readily relate and associate his feelings with those of the Product Owner to increase understanding and, in this case, negotiations.</a:t>
            </a:r>
            <a:endParaRPr lang="en-US" dirty="0"/>
          </a:p>
        </p:txBody>
      </p:sp>
    </p:spTree>
    <p:extLst>
      <p:ext uri="{BB962C8B-B14F-4D97-AF65-F5344CB8AC3E}">
        <p14:creationId xmlns:p14="http://schemas.microsoft.com/office/powerpoint/2010/main" val="142161967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3461"/>
            <a:ext cx="4572000" cy="5078313"/>
          </a:xfrm>
          <a:prstGeom prst="rect">
            <a:avLst/>
          </a:prstGeom>
        </p:spPr>
        <p:txBody>
          <a:bodyPr>
            <a:spAutoFit/>
          </a:bodyPr>
          <a:lstStyle/>
          <a:p>
            <a:r>
              <a:rPr lang="en-US" dirty="0" smtClean="0"/>
              <a:t>The correct answer is B</a:t>
            </a:r>
          </a:p>
          <a:p>
            <a:r>
              <a:rPr lang="en-US" dirty="0" smtClean="0"/>
              <a:t>In Agile methods, project planning may take place at 3 levels, such as visioning, release planning, and iteration planning. These 3 levels are examples of what?</a:t>
            </a:r>
          </a:p>
          <a:p>
            <a:endParaRPr lang="en-US" dirty="0" smtClean="0"/>
          </a:p>
          <a:p>
            <a:r>
              <a:rPr lang="en-US" dirty="0" smtClean="0"/>
              <a:t>A. Rolling wave refactoring</a:t>
            </a:r>
          </a:p>
          <a:p>
            <a:r>
              <a:rPr lang="en-US" dirty="0" smtClean="0"/>
              <a:t>B. Progressive elaboration</a:t>
            </a:r>
          </a:p>
          <a:p>
            <a:r>
              <a:rPr lang="en-US" dirty="0" smtClean="0"/>
              <a:t>C. Root-cause analysis</a:t>
            </a:r>
          </a:p>
          <a:p>
            <a:r>
              <a:rPr lang="en-US" dirty="0" smtClean="0"/>
              <a:t>D. The </a:t>
            </a:r>
            <a:r>
              <a:rPr lang="en-US" dirty="0" err="1" smtClean="0"/>
              <a:t>Kanban</a:t>
            </a:r>
            <a:r>
              <a:rPr lang="en-US" dirty="0" smtClean="0"/>
              <a:t> process</a:t>
            </a:r>
          </a:p>
          <a:p>
            <a:r>
              <a:rPr lang="en-US" dirty="0" smtClean="0"/>
              <a:t>  </a:t>
            </a:r>
          </a:p>
          <a:p>
            <a:r>
              <a:rPr lang="en-US" dirty="0" smtClean="0"/>
              <a:t>Progressive Elaboration, or B, is the best choice of the 4. Progressing from vision to release to iteration is an example of progressively elaborating on the plans for a project, from high-level to low-level. Answer-A is a made-up term combining rolling-wave planning with refactoring. C is not applicable, nor is D.</a:t>
            </a:r>
            <a:endParaRPr lang="en-US" dirty="0"/>
          </a:p>
        </p:txBody>
      </p:sp>
    </p:spTree>
    <p:extLst>
      <p:ext uri="{BB962C8B-B14F-4D97-AF65-F5344CB8AC3E}">
        <p14:creationId xmlns:p14="http://schemas.microsoft.com/office/powerpoint/2010/main" val="1333068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695202"/>
            <a:ext cx="4572000" cy="6186309"/>
          </a:xfrm>
          <a:prstGeom prst="rect">
            <a:avLst/>
          </a:prstGeom>
        </p:spPr>
        <p:txBody>
          <a:bodyPr>
            <a:spAutoFit/>
          </a:bodyPr>
          <a:lstStyle/>
          <a:p>
            <a:r>
              <a:rPr lang="en-US" dirty="0" smtClean="0"/>
              <a:t>The correct answer is A</a:t>
            </a:r>
          </a:p>
          <a:p>
            <a:r>
              <a:rPr lang="en-US" dirty="0" smtClean="0"/>
              <a:t>In an Agile project, why would a team carry out a vision meeting?</a:t>
            </a:r>
          </a:p>
          <a:p>
            <a:endParaRPr lang="en-US" dirty="0" smtClean="0"/>
          </a:p>
          <a:p>
            <a:r>
              <a:rPr lang="en-US" dirty="0" smtClean="0"/>
              <a:t>A. To explain the purpose of the project by sharing the vision and how the project addresses needs of the business</a:t>
            </a:r>
          </a:p>
          <a:p>
            <a:r>
              <a:rPr lang="en-US" dirty="0" smtClean="0"/>
              <a:t>B. To explain to the Product Owner how the Agile team will function and what expectations the team has for the Product Owner</a:t>
            </a:r>
          </a:p>
          <a:p>
            <a:r>
              <a:rPr lang="en-US" dirty="0" smtClean="0"/>
              <a:t>C. To allow the </a:t>
            </a:r>
            <a:r>
              <a:rPr lang="en-US" dirty="0" err="1" smtClean="0"/>
              <a:t>ScrumMaster</a:t>
            </a:r>
            <a:r>
              <a:rPr lang="en-US" dirty="0" smtClean="0"/>
              <a:t> or project manager the opportunity to interact with the team, assess their morale, and cast a vision</a:t>
            </a:r>
          </a:p>
          <a:p>
            <a:r>
              <a:rPr lang="en-US" dirty="0" smtClean="0"/>
              <a:t>D. To allow the customer to describe the types of reports and information radiators that would be most helpful to them</a:t>
            </a:r>
          </a:p>
          <a:p>
            <a:r>
              <a:rPr lang="en-US" dirty="0" smtClean="0"/>
              <a:t>  </a:t>
            </a:r>
          </a:p>
          <a:p>
            <a:r>
              <a:rPr lang="en-US" dirty="0" smtClean="0"/>
              <a:t>A is the correct answer. The goal of the vision meeting is to get the team on the same page - have them understand why the project is being undertaken - see how this project fits in the strategic goals of the organization.</a:t>
            </a:r>
            <a:endParaRPr lang="en-US" dirty="0"/>
          </a:p>
        </p:txBody>
      </p:sp>
    </p:spTree>
    <p:extLst>
      <p:ext uri="{BB962C8B-B14F-4D97-AF65-F5344CB8AC3E}">
        <p14:creationId xmlns:p14="http://schemas.microsoft.com/office/powerpoint/2010/main" val="223053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325871"/>
            <a:ext cx="4572000" cy="5632311"/>
          </a:xfrm>
          <a:prstGeom prst="rect">
            <a:avLst/>
          </a:prstGeom>
        </p:spPr>
        <p:txBody>
          <a:bodyPr>
            <a:spAutoFit/>
          </a:bodyPr>
          <a:lstStyle/>
          <a:p>
            <a:r>
              <a:rPr lang="en-US" dirty="0" smtClean="0"/>
              <a:t>The correct answer is D</a:t>
            </a:r>
          </a:p>
          <a:p>
            <a:r>
              <a:rPr lang="en-US" dirty="0" smtClean="0"/>
              <a:t>The value of collaboration in an Agile project might be best recognized in what practice?</a:t>
            </a:r>
          </a:p>
          <a:p>
            <a:endParaRPr lang="en-US" dirty="0" smtClean="0"/>
          </a:p>
          <a:p>
            <a:r>
              <a:rPr lang="en-US" dirty="0" smtClean="0"/>
              <a:t>A. Working together daily with the customer to have a non-confrontational contract negotiation</a:t>
            </a:r>
          </a:p>
          <a:p>
            <a:r>
              <a:rPr lang="en-US" dirty="0" smtClean="0"/>
              <a:t>B. Fostering an open, transparent environment in which communication flows easily to the team leader to help shape his decisions</a:t>
            </a:r>
          </a:p>
          <a:p>
            <a:r>
              <a:rPr lang="en-US" dirty="0" smtClean="0"/>
              <a:t>C. </a:t>
            </a:r>
            <a:r>
              <a:rPr lang="en-US" dirty="0" err="1" smtClean="0"/>
              <a:t>Timeboxing</a:t>
            </a:r>
            <a:r>
              <a:rPr lang="en-US" dirty="0" smtClean="0"/>
              <a:t> the daily stand up meetings to ensure enough time is provided for discussion</a:t>
            </a:r>
          </a:p>
          <a:p>
            <a:r>
              <a:rPr lang="en-US" dirty="0" smtClean="0"/>
              <a:t>D. Creating a team space with highly visible information radiators and face-to-face workstations</a:t>
            </a:r>
          </a:p>
          <a:p>
            <a:r>
              <a:rPr lang="en-US" dirty="0" smtClean="0"/>
              <a:t>  </a:t>
            </a:r>
          </a:p>
          <a:p>
            <a:r>
              <a:rPr lang="en-US" dirty="0" smtClean="0"/>
              <a:t>The team space design is a very integral collaboration ingredient of an Agile project. Decisions are made by the team, not the team leader.</a:t>
            </a:r>
            <a:endParaRPr lang="en-US" dirty="0"/>
          </a:p>
        </p:txBody>
      </p:sp>
    </p:spTree>
    <p:extLst>
      <p:ext uri="{BB962C8B-B14F-4D97-AF65-F5344CB8AC3E}">
        <p14:creationId xmlns:p14="http://schemas.microsoft.com/office/powerpoint/2010/main" val="2492295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8124"/>
            <a:ext cx="4572000" cy="4801314"/>
          </a:xfrm>
          <a:prstGeom prst="rect">
            <a:avLst/>
          </a:prstGeom>
        </p:spPr>
        <p:txBody>
          <a:bodyPr>
            <a:spAutoFit/>
          </a:bodyPr>
          <a:lstStyle/>
          <a:p>
            <a:r>
              <a:rPr lang="en-US" dirty="0" smtClean="0"/>
              <a:t>The correct answer is C</a:t>
            </a:r>
          </a:p>
          <a:p>
            <a:r>
              <a:rPr lang="en-US" dirty="0" smtClean="0"/>
              <a:t>A Daily Stand-Up Meeting is an example of the practice of limiting a duration of a meeting or activity so that the event has a non-negotiable start and stop defined. What term or phrase represents this method or practice?</a:t>
            </a:r>
          </a:p>
          <a:p>
            <a:endParaRPr lang="en-US" dirty="0" smtClean="0"/>
          </a:p>
          <a:p>
            <a:r>
              <a:rPr lang="en-US" dirty="0" smtClean="0"/>
              <a:t>A. Scrum of Scrums</a:t>
            </a:r>
          </a:p>
          <a:p>
            <a:r>
              <a:rPr lang="en-US" dirty="0" smtClean="0"/>
              <a:t>B. Value-driven time management</a:t>
            </a:r>
          </a:p>
          <a:p>
            <a:r>
              <a:rPr lang="en-US" dirty="0" smtClean="0"/>
              <a:t>C. </a:t>
            </a:r>
            <a:r>
              <a:rPr lang="en-US" dirty="0" err="1" smtClean="0"/>
              <a:t>Timeboxing</a:t>
            </a:r>
            <a:endParaRPr lang="en-US" dirty="0" smtClean="0"/>
          </a:p>
          <a:p>
            <a:r>
              <a:rPr lang="en-US" dirty="0" smtClean="0"/>
              <a:t>D. Patterson's Principle</a:t>
            </a:r>
          </a:p>
          <a:p>
            <a:r>
              <a:rPr lang="en-US" dirty="0" smtClean="0"/>
              <a:t>  </a:t>
            </a:r>
          </a:p>
          <a:p>
            <a:r>
              <a:rPr lang="en-US" dirty="0" smtClean="0"/>
              <a:t>C is the correct answer. </a:t>
            </a:r>
            <a:r>
              <a:rPr lang="en-US" dirty="0" err="1" smtClean="0"/>
              <a:t>Timeboxing</a:t>
            </a:r>
            <a:r>
              <a:rPr lang="en-US" dirty="0" smtClean="0"/>
              <a:t> or a time-box is the practice of limiting activities to a set amount of time. </a:t>
            </a:r>
            <a:r>
              <a:rPr lang="en-US" dirty="0" err="1" smtClean="0"/>
              <a:t>Timeboxing</a:t>
            </a:r>
            <a:r>
              <a:rPr lang="en-US" dirty="0" smtClean="0"/>
              <a:t> is common to all Agile methods. And, the Daily Stand-Up is a great example - it is limited to 15 minutes max.</a:t>
            </a:r>
            <a:endParaRPr lang="en-US" dirty="0"/>
          </a:p>
        </p:txBody>
      </p:sp>
    </p:spTree>
    <p:extLst>
      <p:ext uri="{BB962C8B-B14F-4D97-AF65-F5344CB8AC3E}">
        <p14:creationId xmlns:p14="http://schemas.microsoft.com/office/powerpoint/2010/main" val="1376591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0" y="228125"/>
            <a:ext cx="4572000" cy="4801314"/>
          </a:xfrm>
          <a:prstGeom prst="rect">
            <a:avLst/>
          </a:prstGeom>
        </p:spPr>
        <p:txBody>
          <a:bodyPr>
            <a:spAutoFit/>
          </a:bodyPr>
          <a:lstStyle/>
          <a:p>
            <a:r>
              <a:rPr lang="en-US" dirty="0" smtClean="0"/>
              <a:t>The correct answer is B</a:t>
            </a:r>
          </a:p>
          <a:p>
            <a:r>
              <a:rPr lang="en-US" dirty="0" smtClean="0"/>
              <a:t>An epic story might be reduced in size using what technique and accompanying result?</a:t>
            </a:r>
          </a:p>
          <a:p>
            <a:endParaRPr lang="en-US" dirty="0" smtClean="0"/>
          </a:p>
          <a:p>
            <a:r>
              <a:rPr lang="en-US" dirty="0" smtClean="0"/>
              <a:t>A. Decomposition and component stories</a:t>
            </a:r>
          </a:p>
          <a:p>
            <a:r>
              <a:rPr lang="en-US" dirty="0" smtClean="0"/>
              <a:t>B. Disaggregation and a story map</a:t>
            </a:r>
          </a:p>
          <a:p>
            <a:r>
              <a:rPr lang="en-US" dirty="0" smtClean="0"/>
              <a:t>C. Disaggregation and a pyramid of stories equating to 100% of the epic</a:t>
            </a:r>
          </a:p>
          <a:p>
            <a:r>
              <a:rPr lang="en-US" dirty="0" smtClean="0"/>
              <a:t>D. Decomposition and a work breakdown structure</a:t>
            </a:r>
          </a:p>
          <a:p>
            <a:r>
              <a:rPr lang="en-US" dirty="0" smtClean="0"/>
              <a:t>  </a:t>
            </a:r>
          </a:p>
          <a:p>
            <a:r>
              <a:rPr lang="en-US" dirty="0" smtClean="0"/>
              <a:t>A story map is not quite like a WBS in a waterfall project. The story map is comprised of component stories that do not need to add up to be 100% of the epic. They are typically shown in 2 dimensions, with story cards breaking down the component stories.</a:t>
            </a:r>
            <a:endParaRPr lang="en-US" dirty="0"/>
          </a:p>
        </p:txBody>
      </p:sp>
    </p:spTree>
    <p:extLst>
      <p:ext uri="{BB962C8B-B14F-4D97-AF65-F5344CB8AC3E}">
        <p14:creationId xmlns:p14="http://schemas.microsoft.com/office/powerpoint/2010/main" val="104688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782122"/>
            <a:ext cx="4572000" cy="3970318"/>
          </a:xfrm>
          <a:prstGeom prst="rect">
            <a:avLst/>
          </a:prstGeom>
        </p:spPr>
        <p:txBody>
          <a:bodyPr>
            <a:spAutoFit/>
          </a:bodyPr>
          <a:lstStyle/>
          <a:p>
            <a:r>
              <a:rPr lang="en-US" dirty="0" smtClean="0"/>
              <a:t>A stakeholder has created a description of a high-level capability that will need to be disaggregated into user stories before being placed into the iteration backlog. This capability is also called:</a:t>
            </a:r>
          </a:p>
          <a:p>
            <a:endParaRPr lang="en-US" dirty="0" smtClean="0"/>
          </a:p>
          <a:p>
            <a:r>
              <a:rPr lang="en-US" dirty="0" smtClean="0"/>
              <a:t>A. An epic</a:t>
            </a:r>
          </a:p>
          <a:p>
            <a:r>
              <a:rPr lang="en-US" dirty="0" smtClean="0"/>
              <a:t>B. A macro-story</a:t>
            </a:r>
          </a:p>
          <a:p>
            <a:r>
              <a:rPr lang="en-US" dirty="0" smtClean="0"/>
              <a:t>C. A planning component</a:t>
            </a:r>
          </a:p>
          <a:p>
            <a:r>
              <a:rPr lang="en-US" dirty="0" smtClean="0"/>
              <a:t>D. A theme</a:t>
            </a:r>
          </a:p>
          <a:p>
            <a:r>
              <a:rPr lang="en-US" dirty="0" smtClean="0"/>
              <a:t>  </a:t>
            </a:r>
          </a:p>
          <a:p>
            <a:r>
              <a:rPr lang="en-US" dirty="0" smtClean="0"/>
              <a:t>An Agile epic is a capability that is too large to be a single story, often too large to be accomplished within a single iteration.</a:t>
            </a:r>
            <a:endParaRPr lang="en-US" dirty="0"/>
          </a:p>
        </p:txBody>
      </p:sp>
    </p:spTree>
    <p:extLst>
      <p:ext uri="{BB962C8B-B14F-4D97-AF65-F5344CB8AC3E}">
        <p14:creationId xmlns:p14="http://schemas.microsoft.com/office/powerpoint/2010/main" val="504861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3834528"/>
            <a:ext cx="4572000" cy="10895290"/>
          </a:xfrm>
          <a:prstGeom prst="rect">
            <a:avLst/>
          </a:prstGeom>
        </p:spPr>
        <p:txBody>
          <a:bodyPr>
            <a:spAutoFit/>
          </a:bodyPr>
          <a:lstStyle/>
          <a:p>
            <a:r>
              <a:rPr lang="en-US" dirty="0" smtClean="0"/>
              <a:t>The correct answer is B</a:t>
            </a:r>
          </a:p>
          <a:p>
            <a:r>
              <a:rPr lang="en-US" dirty="0" smtClean="0"/>
              <a:t>The team meets to plan out the next iteration. Regarding the product backlog, what is the correct and appropriate expectation of the team?</a:t>
            </a:r>
          </a:p>
          <a:p>
            <a:endParaRPr lang="en-US" dirty="0" smtClean="0"/>
          </a:p>
          <a:p>
            <a:r>
              <a:rPr lang="en-US" dirty="0" smtClean="0"/>
              <a:t>A. The team expects to work in concert with the Product Owner during this iteration meeting to help rank and prioritize the product backlog</a:t>
            </a:r>
          </a:p>
          <a:p>
            <a:r>
              <a:rPr lang="en-US" dirty="0" smtClean="0"/>
              <a:t>B. The team expects the product backlog to be ranked and prioritized by the Product Owner prior to the start of this planning meeting</a:t>
            </a:r>
          </a:p>
          <a:p>
            <a:r>
              <a:rPr lang="en-US" dirty="0" smtClean="0"/>
              <a:t>C. The project manager or </a:t>
            </a:r>
            <a:r>
              <a:rPr lang="en-US" dirty="0" err="1" smtClean="0"/>
              <a:t>ScrumMaster</a:t>
            </a:r>
            <a:r>
              <a:rPr lang="en-US" dirty="0" smtClean="0"/>
              <a:t> will collaborate with the Product Owner during this planning meeting to groom and rank the product backlog</a:t>
            </a:r>
          </a:p>
          <a:p>
            <a:r>
              <a:rPr lang="en-US" dirty="0" smtClean="0"/>
              <a:t>D. The Product Owner will select those items from the product backlog that are of the greatest intrinsic value and commit the team to producing them in the next iteration, but only with the approval of the </a:t>
            </a:r>
            <a:r>
              <a:rPr lang="en-US" dirty="0" err="1" smtClean="0"/>
              <a:t>ScrumMaster</a:t>
            </a:r>
            <a:r>
              <a:rPr lang="en-US" dirty="0" smtClean="0"/>
              <a:t> or project manager</a:t>
            </a:r>
          </a:p>
          <a:p>
            <a:r>
              <a:rPr lang="en-US" dirty="0" smtClean="0"/>
              <a:t>  </a:t>
            </a:r>
          </a:p>
          <a:p>
            <a:r>
              <a:rPr lang="en-US" dirty="0" smtClean="0"/>
              <a:t>B is correct. This question deals with the topic of value-based prioritization. The Product Owner carries out value-based prioritization PRIOR to the iteration planning meeting by determining what features are most important - bring the greatest value. This value is reflected in the ranked product backlog. This is how the Product Owner communicates to the team what is of greatest importance. The team (not the Product Owner or </a:t>
            </a:r>
            <a:r>
              <a:rPr lang="en-US" dirty="0" err="1" smtClean="0"/>
              <a:t>ScrumMaster</a:t>
            </a:r>
            <a:r>
              <a:rPr lang="en-US" dirty="0" smtClean="0"/>
              <a:t>) commits to how many features or backlog items the team can produce in the next iteration or Sprint. Answer-A sounds appealing - it has a spirit of collectiveness and buy-in; however, it is wrong. B is the best choice.</a:t>
            </a:r>
            <a:endParaRPr lang="en-US" dirty="0"/>
          </a:p>
        </p:txBody>
      </p:sp>
    </p:spTree>
    <p:extLst>
      <p:ext uri="{BB962C8B-B14F-4D97-AF65-F5344CB8AC3E}">
        <p14:creationId xmlns:p14="http://schemas.microsoft.com/office/powerpoint/2010/main" val="1409230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618532"/>
            <a:ext cx="4572000" cy="7571303"/>
          </a:xfrm>
          <a:prstGeom prst="rect">
            <a:avLst/>
          </a:prstGeom>
        </p:spPr>
        <p:txBody>
          <a:bodyPr>
            <a:spAutoFit/>
          </a:bodyPr>
          <a:lstStyle/>
          <a:p>
            <a:r>
              <a:rPr lang="en-US" dirty="0" smtClean="0"/>
              <a:t>The correct answer is A</a:t>
            </a:r>
          </a:p>
          <a:p>
            <a:r>
              <a:rPr lang="en-US" dirty="0" smtClean="0"/>
              <a:t>Jose has many years of experience managing traditional projects. His boss has challenged Jose to embrace the Agile methodology for the new team. She wants to see Jose grow as a leader. Jose is comfortable with the Plan-Do-Check-Act approach, but he is being stretched by these Agile concepts, especially in how Jose manages change requests! What style of leadership should Jose learn and carry out for this Agile team?</a:t>
            </a:r>
          </a:p>
          <a:p>
            <a:endParaRPr lang="en-US" dirty="0" smtClean="0"/>
          </a:p>
          <a:p>
            <a:r>
              <a:rPr lang="en-US" dirty="0" smtClean="0"/>
              <a:t>A. Adaptive leadership</a:t>
            </a:r>
          </a:p>
          <a:p>
            <a:r>
              <a:rPr lang="en-US" dirty="0" smtClean="0"/>
              <a:t>B. Collaborative leadership</a:t>
            </a:r>
          </a:p>
          <a:p>
            <a:r>
              <a:rPr lang="en-US" dirty="0" smtClean="0"/>
              <a:t>C. Value-driven leadership</a:t>
            </a:r>
          </a:p>
          <a:p>
            <a:r>
              <a:rPr lang="en-US" dirty="0" smtClean="0"/>
              <a:t>D. Hands-off leadership</a:t>
            </a:r>
          </a:p>
          <a:p>
            <a:r>
              <a:rPr lang="en-US" dirty="0" smtClean="0"/>
              <a:t>  </a:t>
            </a:r>
          </a:p>
          <a:p>
            <a:r>
              <a:rPr lang="en-US" dirty="0" smtClean="0"/>
              <a:t>Answer-A: Jose needs to study the concept of adaptive leadership and embrace the approach of envisioning and exploring over detailed planning and controlling. Agile welcomes changing requirements as an opportunity to refine the product or work performed to deliver more value and competitive advantage to the Customer. Therefore, Jose needs to be an adaptive leader, ready to coach and serve his team members as plans change.</a:t>
            </a:r>
            <a:endParaRPr lang="en-US" dirty="0"/>
          </a:p>
        </p:txBody>
      </p:sp>
    </p:spTree>
    <p:extLst>
      <p:ext uri="{BB962C8B-B14F-4D97-AF65-F5344CB8AC3E}">
        <p14:creationId xmlns:p14="http://schemas.microsoft.com/office/powerpoint/2010/main" val="2379634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510540"/>
            <a:ext cx="4572000" cy="5909310"/>
          </a:xfrm>
          <a:prstGeom prst="rect">
            <a:avLst/>
          </a:prstGeom>
        </p:spPr>
        <p:txBody>
          <a:bodyPr>
            <a:spAutoFit/>
          </a:bodyPr>
          <a:lstStyle/>
          <a:p>
            <a:r>
              <a:rPr lang="en-US" dirty="0" smtClean="0"/>
              <a:t>The correct answer is B</a:t>
            </a:r>
          </a:p>
          <a:p>
            <a:r>
              <a:rPr lang="en-US" dirty="0" smtClean="0"/>
              <a:t>There are 5 levels of planning that are common to Agile projects. If these are listed from high-level to low-level planning, which of the following is correct?</a:t>
            </a:r>
          </a:p>
          <a:p>
            <a:endParaRPr lang="en-US" dirty="0" smtClean="0"/>
          </a:p>
          <a:p>
            <a:r>
              <a:rPr lang="en-US" dirty="0" smtClean="0"/>
              <a:t>A. Project charter, project vision, project roadmap, release plan, daily plan</a:t>
            </a:r>
          </a:p>
          <a:p>
            <a:r>
              <a:rPr lang="en-US" dirty="0" smtClean="0"/>
              <a:t>B. Product vision, product roadmap, release plan, iteration plan, daily plan</a:t>
            </a:r>
          </a:p>
          <a:p>
            <a:r>
              <a:rPr lang="en-US" dirty="0" smtClean="0"/>
              <a:t>C. Product roadmap, product vision, iteration plan, task plan, daily standup</a:t>
            </a:r>
          </a:p>
          <a:p>
            <a:r>
              <a:rPr lang="en-US" dirty="0" smtClean="0"/>
              <a:t>D. Release backlog, iteration backlog, sprint backlog, daily backlog, task board</a:t>
            </a:r>
          </a:p>
          <a:p>
            <a:r>
              <a:rPr lang="en-US" dirty="0" smtClean="0"/>
              <a:t>  </a:t>
            </a:r>
          </a:p>
          <a:p>
            <a:r>
              <a:rPr lang="en-US" dirty="0" smtClean="0"/>
              <a:t>B has the correct planning levels named and in the proper order. A is missing the iteration plan; therefore, it is wrong. C omits the release plan - wrong. D lists backlogs, yet leaves out the product backlog, so that's a bad answer, too.</a:t>
            </a:r>
            <a:endParaRPr lang="en-US" dirty="0"/>
          </a:p>
        </p:txBody>
      </p:sp>
    </p:spTree>
    <p:extLst>
      <p:ext uri="{BB962C8B-B14F-4D97-AF65-F5344CB8AC3E}">
        <p14:creationId xmlns:p14="http://schemas.microsoft.com/office/powerpoint/2010/main" val="64452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064534"/>
            <a:ext cx="4572000" cy="6740307"/>
          </a:xfrm>
          <a:prstGeom prst="rect">
            <a:avLst/>
          </a:prstGeom>
        </p:spPr>
        <p:txBody>
          <a:bodyPr>
            <a:spAutoFit/>
          </a:bodyPr>
          <a:lstStyle/>
          <a:p>
            <a:r>
              <a:rPr lang="en-US" dirty="0" smtClean="0"/>
              <a:t>The correct answer is B</a:t>
            </a:r>
          </a:p>
          <a:p>
            <a:r>
              <a:rPr lang="en-US" dirty="0" smtClean="0"/>
              <a:t>Which of the following statements is most valid concerning Net Present Value (NPV) and Present Value(PV)?</a:t>
            </a:r>
          </a:p>
          <a:p>
            <a:endParaRPr lang="en-US" dirty="0" smtClean="0"/>
          </a:p>
          <a:p>
            <a:r>
              <a:rPr lang="en-US" dirty="0" smtClean="0"/>
              <a:t>A. When using these measures to compare relative value of two projects, the project with the smaller PV or NPV is the better investment</a:t>
            </a:r>
          </a:p>
          <a:p>
            <a:r>
              <a:rPr lang="en-US" dirty="0" smtClean="0"/>
              <a:t>B. NPV factors in costs with benefits while PV only considers the benefits</a:t>
            </a:r>
          </a:p>
          <a:p>
            <a:r>
              <a:rPr lang="en-US" dirty="0" smtClean="0"/>
              <a:t>C. When considering the chartering of new projects which have future costs as well as future positive cash flows, the use of PV is more comprehensive than NPV as a relative benefit measurement</a:t>
            </a:r>
          </a:p>
          <a:p>
            <a:r>
              <a:rPr lang="en-US" dirty="0" smtClean="0"/>
              <a:t>D. The Internal Rate of Return is the same for both benefit measurement methods</a:t>
            </a:r>
          </a:p>
          <a:p>
            <a:r>
              <a:rPr lang="en-US" dirty="0" smtClean="0"/>
              <a:t>  </a:t>
            </a:r>
          </a:p>
          <a:p>
            <a:r>
              <a:rPr lang="en-US" dirty="0" smtClean="0"/>
              <a:t>Net Present Value is the discounted future project values of both benefits and costs while Present Value only discounts future benefits into today's value for relative measurement. In both methods, bigger is better for project selection and chartering.</a:t>
            </a:r>
            <a:endParaRPr lang="en-US" dirty="0"/>
          </a:p>
        </p:txBody>
      </p:sp>
    </p:spTree>
    <p:extLst>
      <p:ext uri="{BB962C8B-B14F-4D97-AF65-F5344CB8AC3E}">
        <p14:creationId xmlns:p14="http://schemas.microsoft.com/office/powerpoint/2010/main" val="2727639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325871"/>
            <a:ext cx="4572000" cy="5632311"/>
          </a:xfrm>
          <a:prstGeom prst="rect">
            <a:avLst/>
          </a:prstGeom>
        </p:spPr>
        <p:txBody>
          <a:bodyPr>
            <a:spAutoFit/>
          </a:bodyPr>
          <a:lstStyle/>
          <a:p>
            <a:r>
              <a:rPr lang="en-US" dirty="0" smtClean="0"/>
              <a:t>The correct answer is D</a:t>
            </a:r>
          </a:p>
          <a:p>
            <a:r>
              <a:rPr lang="en-US" dirty="0" smtClean="0"/>
              <a:t>Agile methods place a premium on open, frequent communication. Throughout the project, real-time communication occurs through the use of what?</a:t>
            </a:r>
          </a:p>
          <a:p>
            <a:endParaRPr lang="en-US" dirty="0" smtClean="0"/>
          </a:p>
          <a:p>
            <a:r>
              <a:rPr lang="en-US" dirty="0" smtClean="0"/>
              <a:t>A. Information </a:t>
            </a:r>
            <a:r>
              <a:rPr lang="en-US" dirty="0" err="1" smtClean="0"/>
              <a:t>kanbans</a:t>
            </a:r>
            <a:endParaRPr lang="en-US" dirty="0" smtClean="0"/>
          </a:p>
          <a:p>
            <a:r>
              <a:rPr lang="en-US" dirty="0" smtClean="0"/>
              <a:t>B. Highly valuable </a:t>
            </a:r>
            <a:r>
              <a:rPr lang="en-US" dirty="0" err="1" smtClean="0"/>
              <a:t>kanban</a:t>
            </a:r>
            <a:r>
              <a:rPr lang="en-US" dirty="0" smtClean="0"/>
              <a:t> signals</a:t>
            </a:r>
          </a:p>
          <a:p>
            <a:r>
              <a:rPr lang="en-US" dirty="0" smtClean="0"/>
              <a:t>C. Frequently distributed information reports</a:t>
            </a:r>
          </a:p>
          <a:p>
            <a:r>
              <a:rPr lang="en-US" dirty="0" smtClean="0"/>
              <a:t>D. Information radiators</a:t>
            </a:r>
          </a:p>
          <a:p>
            <a:r>
              <a:rPr lang="en-US" dirty="0" smtClean="0"/>
              <a:t>  </a:t>
            </a:r>
          </a:p>
          <a:p>
            <a:r>
              <a:rPr lang="en-US" dirty="0" smtClean="0"/>
              <a:t>Highly visible information radiators provide real-time communication to the team and other stakeholders. Reports radiate important information. Lean Manufacturing makes use of a signaling system called </a:t>
            </a:r>
            <a:r>
              <a:rPr lang="en-US" dirty="0" err="1" smtClean="0"/>
              <a:t>kanban</a:t>
            </a:r>
            <a:r>
              <a:rPr lang="en-US" dirty="0" smtClean="0"/>
              <a:t>. </a:t>
            </a:r>
            <a:r>
              <a:rPr lang="en-US" dirty="0" err="1" smtClean="0"/>
              <a:t>Kanban</a:t>
            </a:r>
            <a:r>
              <a:rPr lang="en-US" dirty="0" smtClean="0"/>
              <a:t> actually means signal or sign. Examples of information radiators include </a:t>
            </a:r>
            <a:r>
              <a:rPr lang="en-US" dirty="0" err="1" smtClean="0"/>
              <a:t>burndown</a:t>
            </a:r>
            <a:r>
              <a:rPr lang="en-US" dirty="0" smtClean="0"/>
              <a:t> charts, task boards, graphs of progress, and others. Answer D is the correct answer.</a:t>
            </a:r>
            <a:endParaRPr lang="en-US" dirty="0"/>
          </a:p>
        </p:txBody>
      </p:sp>
    </p:spTree>
    <p:extLst>
      <p:ext uri="{BB962C8B-B14F-4D97-AF65-F5344CB8AC3E}">
        <p14:creationId xmlns:p14="http://schemas.microsoft.com/office/powerpoint/2010/main" val="645575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8125"/>
            <a:ext cx="4572000" cy="4801314"/>
          </a:xfrm>
          <a:prstGeom prst="rect">
            <a:avLst/>
          </a:prstGeom>
        </p:spPr>
        <p:txBody>
          <a:bodyPr>
            <a:spAutoFit/>
          </a:bodyPr>
          <a:lstStyle/>
          <a:p>
            <a:r>
              <a:rPr lang="en-US" dirty="0" smtClean="0"/>
              <a:t>The correct answer is D</a:t>
            </a:r>
          </a:p>
          <a:p>
            <a:r>
              <a:rPr lang="en-US" dirty="0" smtClean="0"/>
              <a:t>'Buy a Feature' is:</a:t>
            </a:r>
          </a:p>
          <a:p>
            <a:endParaRPr lang="en-US" dirty="0" smtClean="0"/>
          </a:p>
          <a:p>
            <a:r>
              <a:rPr lang="en-US" dirty="0" smtClean="0"/>
              <a:t>A. A fun team-building activity to reduce stress between project iterations</a:t>
            </a:r>
          </a:p>
          <a:p>
            <a:r>
              <a:rPr lang="en-US" dirty="0" smtClean="0"/>
              <a:t>B. A stakeholder expectation management technique to correlate the project budget with stakeholders' needs and constraints</a:t>
            </a:r>
          </a:p>
          <a:p>
            <a:r>
              <a:rPr lang="en-US" dirty="0" smtClean="0"/>
              <a:t>C. A customer-centric method to establish an iteration backlog</a:t>
            </a:r>
          </a:p>
          <a:p>
            <a:r>
              <a:rPr lang="en-US" dirty="0" smtClean="0"/>
              <a:t>D. An innovation game to generate feedback from stakeholders about project features</a:t>
            </a:r>
          </a:p>
          <a:p>
            <a:r>
              <a:rPr lang="en-US" dirty="0" smtClean="0"/>
              <a:t>  </a:t>
            </a:r>
          </a:p>
          <a:p>
            <a:r>
              <a:rPr lang="en-US" dirty="0" smtClean="0"/>
              <a:t>Many innovation games exist to elicit feedback from stakeholders in a directed manner. 'Buy a Feature' allows stakeholders to purchase features at a price using pretend currency.</a:t>
            </a:r>
            <a:endParaRPr lang="en-US" dirty="0"/>
          </a:p>
        </p:txBody>
      </p:sp>
    </p:spTree>
    <p:extLst>
      <p:ext uri="{BB962C8B-B14F-4D97-AF65-F5344CB8AC3E}">
        <p14:creationId xmlns:p14="http://schemas.microsoft.com/office/powerpoint/2010/main" val="2824716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3462"/>
            <a:ext cx="4572000" cy="5078313"/>
          </a:xfrm>
          <a:prstGeom prst="rect">
            <a:avLst/>
          </a:prstGeom>
        </p:spPr>
        <p:txBody>
          <a:bodyPr>
            <a:spAutoFit/>
          </a:bodyPr>
          <a:lstStyle/>
          <a:p>
            <a:r>
              <a:rPr lang="en-US" dirty="0" smtClean="0"/>
              <a:t>The correct answer is B</a:t>
            </a:r>
          </a:p>
          <a:p>
            <a:r>
              <a:rPr lang="en-US" dirty="0" smtClean="0"/>
              <a:t>Consider the following 4 choices and select the one that best describes the proper timing for conducting a retrospective in an Agile project.</a:t>
            </a:r>
          </a:p>
          <a:p>
            <a:endParaRPr lang="en-US" dirty="0" smtClean="0"/>
          </a:p>
          <a:p>
            <a:r>
              <a:rPr lang="en-US" dirty="0" smtClean="0"/>
              <a:t>A. Before the iteration review meeting</a:t>
            </a:r>
          </a:p>
          <a:p>
            <a:r>
              <a:rPr lang="en-US" dirty="0" smtClean="0"/>
              <a:t>B. Before the next iteration planning meeting</a:t>
            </a:r>
          </a:p>
          <a:p>
            <a:r>
              <a:rPr lang="en-US" dirty="0" smtClean="0"/>
              <a:t>C. After the release planning meeting</a:t>
            </a:r>
          </a:p>
          <a:p>
            <a:r>
              <a:rPr lang="en-US" dirty="0" smtClean="0"/>
              <a:t>D. During the iteration review meeting</a:t>
            </a:r>
          </a:p>
          <a:p>
            <a:r>
              <a:rPr lang="en-US" dirty="0" smtClean="0"/>
              <a:t>  </a:t>
            </a:r>
          </a:p>
          <a:p>
            <a:r>
              <a:rPr lang="en-US" dirty="0" smtClean="0"/>
              <a:t>B is the best choice here. The proper sequence for an iteration (or Sprint) is iteration planning meeting, iteration review, followed immediately by the iteration retrospective. Then, repeat the cycle. Therefore, B is the best choice. A is incorrect. C is too broad - not as good a choice as B. D is incorrect - these two meetings are distinct and not combined.</a:t>
            </a:r>
            <a:endParaRPr lang="en-US" dirty="0"/>
          </a:p>
        </p:txBody>
      </p:sp>
    </p:spTree>
    <p:extLst>
      <p:ext uri="{BB962C8B-B14F-4D97-AF65-F5344CB8AC3E}">
        <p14:creationId xmlns:p14="http://schemas.microsoft.com/office/powerpoint/2010/main" val="3593055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597458"/>
            <a:ext cx="4572000" cy="4247317"/>
          </a:xfrm>
          <a:prstGeom prst="rect">
            <a:avLst/>
          </a:prstGeom>
        </p:spPr>
        <p:txBody>
          <a:bodyPr>
            <a:spAutoFit/>
          </a:bodyPr>
          <a:lstStyle/>
          <a:p>
            <a:r>
              <a:rPr lang="en-US" dirty="0" smtClean="0"/>
              <a:t>The correct answer is C</a:t>
            </a:r>
          </a:p>
          <a:p>
            <a:r>
              <a:rPr lang="en-US" dirty="0" smtClean="0"/>
              <a:t>Before committing to the next iteration backlog, an Agile team ranks stories from greatest effort to least effort. This technique is:</a:t>
            </a:r>
          </a:p>
          <a:p>
            <a:endParaRPr lang="en-US" dirty="0" smtClean="0"/>
          </a:p>
          <a:p>
            <a:r>
              <a:rPr lang="en-US" dirty="0" smtClean="0"/>
              <a:t>A. Wideband Delphi</a:t>
            </a:r>
          </a:p>
          <a:p>
            <a:r>
              <a:rPr lang="en-US" dirty="0" smtClean="0"/>
              <a:t>B. Affinity estimating</a:t>
            </a:r>
          </a:p>
          <a:p>
            <a:r>
              <a:rPr lang="en-US" dirty="0" smtClean="0"/>
              <a:t>C. Relative sizing</a:t>
            </a:r>
          </a:p>
          <a:p>
            <a:r>
              <a:rPr lang="en-US" dirty="0" smtClean="0"/>
              <a:t>D. Roadmap planning</a:t>
            </a:r>
          </a:p>
          <a:p>
            <a:r>
              <a:rPr lang="en-US" dirty="0" smtClean="0"/>
              <a:t>  </a:t>
            </a:r>
          </a:p>
          <a:p>
            <a:r>
              <a:rPr lang="en-US" dirty="0" smtClean="0"/>
              <a:t>Relative sizing facilitates estimating stories by placing them in a ranked order of relative effort. Then the story points might be assigned, using a modified Fibonacci series of 0,1,3,5,8,13,20,40,100, 200, etc.</a:t>
            </a:r>
            <a:endParaRPr lang="en-US" dirty="0"/>
          </a:p>
        </p:txBody>
      </p:sp>
    </p:spTree>
    <p:extLst>
      <p:ext uri="{BB962C8B-B14F-4D97-AF65-F5344CB8AC3E}">
        <p14:creationId xmlns:p14="http://schemas.microsoft.com/office/powerpoint/2010/main" val="3480662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541867"/>
            <a:ext cx="4572000" cy="8956298"/>
          </a:xfrm>
          <a:prstGeom prst="rect">
            <a:avLst/>
          </a:prstGeom>
        </p:spPr>
        <p:txBody>
          <a:bodyPr>
            <a:spAutoFit/>
          </a:bodyPr>
          <a:lstStyle/>
          <a:p>
            <a:r>
              <a:rPr lang="en-US" dirty="0" smtClean="0"/>
              <a:t>The correct answer is C</a:t>
            </a:r>
          </a:p>
          <a:p>
            <a:r>
              <a:rPr lang="en-US" dirty="0" smtClean="0"/>
              <a:t>Theresa has managed and coached Agile teams for 7 years, and she has seen quite a lot of conflict. Assuming that Theresa is an effective, top-performing project manager, what do you think her attitude would be regarding conflict management?</a:t>
            </a:r>
          </a:p>
          <a:p>
            <a:endParaRPr lang="en-US" dirty="0" smtClean="0"/>
          </a:p>
          <a:p>
            <a:r>
              <a:rPr lang="en-US" dirty="0" smtClean="0"/>
              <a:t>A. Conflict should be avoided because one of the Agile principles talks about the importance of creating a supportive, trusting project environment</a:t>
            </a:r>
          </a:p>
          <a:p>
            <a:r>
              <a:rPr lang="en-US" dirty="0" smtClean="0"/>
              <a:t>B. The manager can ignore conflict as long as the team is producing working software and delivering value to the Customer</a:t>
            </a:r>
          </a:p>
          <a:p>
            <a:r>
              <a:rPr lang="en-US" dirty="0" smtClean="0"/>
              <a:t>C. Conflict between some team members can prove helpful</a:t>
            </a:r>
          </a:p>
          <a:p>
            <a:r>
              <a:rPr lang="en-US" dirty="0" smtClean="0"/>
              <a:t>D. The manager must resolve conflict swiftly before it derails creativity and affects the team spirit</a:t>
            </a:r>
          </a:p>
          <a:p>
            <a:r>
              <a:rPr lang="en-US" dirty="0" smtClean="0"/>
              <a:t>  </a:t>
            </a:r>
          </a:p>
          <a:p>
            <a:r>
              <a:rPr lang="en-US" dirty="0" smtClean="0"/>
              <a:t>C is the shortest answer and in this case, the best choice. If managed properly, conflict between team members should be helpful as it helps the team explore different options and alternatives for getting the work done. Answer-A correctly references an Agile principle from the manifesto, but misapplies the explanation. B again touches on a tenet of Agile, but wrongly states that the manager can ignore conflict - bad choice. D is wrong as it goes against the correct answer directly.</a:t>
            </a:r>
            <a:endParaRPr lang="en-US" dirty="0"/>
          </a:p>
        </p:txBody>
      </p:sp>
    </p:spTree>
    <p:extLst>
      <p:ext uri="{BB962C8B-B14F-4D97-AF65-F5344CB8AC3E}">
        <p14:creationId xmlns:p14="http://schemas.microsoft.com/office/powerpoint/2010/main" val="2629876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541866"/>
            <a:ext cx="4572000" cy="8956298"/>
          </a:xfrm>
          <a:prstGeom prst="rect">
            <a:avLst/>
          </a:prstGeom>
        </p:spPr>
        <p:txBody>
          <a:bodyPr>
            <a:spAutoFit/>
          </a:bodyPr>
          <a:lstStyle/>
          <a:p>
            <a:r>
              <a:rPr lang="en-US" dirty="0" smtClean="0"/>
              <a:t>You walk into the work area of an Agile team and see an updated </a:t>
            </a:r>
            <a:r>
              <a:rPr lang="en-US" dirty="0" err="1" smtClean="0"/>
              <a:t>burndown</a:t>
            </a:r>
            <a:r>
              <a:rPr lang="en-US" dirty="0" smtClean="0"/>
              <a:t> chart depicting progress of the current iteration. The team is in day 10 of a 30-day iteration. The chart depicts the planned progress as a diagonal line in blue. Actuals are posted each day, forming a green line. On day 10, the green line is below the blue line. What does this communicate to stakeholders?</a:t>
            </a:r>
          </a:p>
          <a:p>
            <a:endParaRPr lang="en-US" dirty="0" smtClean="0"/>
          </a:p>
          <a:p>
            <a:r>
              <a:rPr lang="en-US" dirty="0" smtClean="0"/>
              <a:t>A. This iteration is going well - the team is ahead of the plan</a:t>
            </a:r>
          </a:p>
          <a:p>
            <a:r>
              <a:rPr lang="en-US" dirty="0" smtClean="0"/>
              <a:t>B. This iteration is not going well - actuals are below the plan</a:t>
            </a:r>
          </a:p>
          <a:p>
            <a:r>
              <a:rPr lang="en-US" dirty="0" smtClean="0"/>
              <a:t>C. The velocity of the team is greater than the prior iteration - the team is ahead of plan</a:t>
            </a:r>
          </a:p>
          <a:p>
            <a:r>
              <a:rPr lang="en-US" dirty="0" smtClean="0"/>
              <a:t>D. The velocity is less than it was in the prior iteration - the team is behind the plan</a:t>
            </a:r>
          </a:p>
          <a:p>
            <a:r>
              <a:rPr lang="en-US" dirty="0" smtClean="0"/>
              <a:t>  </a:t>
            </a:r>
          </a:p>
          <a:p>
            <a:r>
              <a:rPr lang="en-US" dirty="0" smtClean="0"/>
              <a:t>A is the best choice. The green line indicates the number of story points or related hours that have been completed. On day 10, the team is further along than anticipated, so the team has burned down further than expected - good news. B is incorrect. C and D are making assumptions about the velocity that are not correct. The velocity from one iteration to the next should be relatively similar but not exact. Over several iterations, the team velocity should become more predictable. However, we should not jump to the conclusions made in C and D.</a:t>
            </a:r>
            <a:endParaRPr lang="en-US" dirty="0"/>
          </a:p>
        </p:txBody>
      </p:sp>
    </p:spTree>
    <p:extLst>
      <p:ext uri="{BB962C8B-B14F-4D97-AF65-F5344CB8AC3E}">
        <p14:creationId xmlns:p14="http://schemas.microsoft.com/office/powerpoint/2010/main" val="544924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151454"/>
            <a:ext cx="4572000" cy="3416320"/>
          </a:xfrm>
          <a:prstGeom prst="rect">
            <a:avLst/>
          </a:prstGeom>
        </p:spPr>
        <p:txBody>
          <a:bodyPr>
            <a:spAutoFit/>
          </a:bodyPr>
          <a:lstStyle/>
          <a:p>
            <a:r>
              <a:rPr lang="en-US" dirty="0" smtClean="0"/>
              <a:t>The correct answer is B</a:t>
            </a:r>
          </a:p>
          <a:p>
            <a:r>
              <a:rPr lang="en-US" dirty="0" smtClean="0"/>
              <a:t>The smallest unit of functionality that is of value to the customer is:</a:t>
            </a:r>
          </a:p>
          <a:p>
            <a:endParaRPr lang="en-US" dirty="0" smtClean="0"/>
          </a:p>
          <a:p>
            <a:r>
              <a:rPr lang="en-US" dirty="0" smtClean="0"/>
              <a:t>A. A story point</a:t>
            </a:r>
          </a:p>
          <a:p>
            <a:r>
              <a:rPr lang="en-US" dirty="0" smtClean="0"/>
              <a:t>B. A minimally marketable feature</a:t>
            </a:r>
          </a:p>
          <a:p>
            <a:r>
              <a:rPr lang="en-US" dirty="0" smtClean="0"/>
              <a:t>C. The lowest story on the product backlog</a:t>
            </a:r>
          </a:p>
          <a:p>
            <a:r>
              <a:rPr lang="en-US" dirty="0" smtClean="0"/>
              <a:t>D. A sub-epic</a:t>
            </a:r>
          </a:p>
          <a:p>
            <a:r>
              <a:rPr lang="en-US" dirty="0" smtClean="0"/>
              <a:t>  </a:t>
            </a:r>
          </a:p>
          <a:p>
            <a:r>
              <a:rPr lang="en-US" dirty="0" smtClean="0"/>
              <a:t>A minimally marketable feature is a subset of functionality that, once delivered, is something of value to the customer.</a:t>
            </a:r>
            <a:endParaRPr lang="en-US" dirty="0"/>
          </a:p>
        </p:txBody>
      </p:sp>
    </p:spTree>
    <p:extLst>
      <p:ext uri="{BB962C8B-B14F-4D97-AF65-F5344CB8AC3E}">
        <p14:creationId xmlns:p14="http://schemas.microsoft.com/office/powerpoint/2010/main" val="1251540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879872"/>
            <a:ext cx="4572000" cy="6463308"/>
          </a:xfrm>
          <a:prstGeom prst="rect">
            <a:avLst/>
          </a:prstGeom>
        </p:spPr>
        <p:txBody>
          <a:bodyPr>
            <a:spAutoFit/>
          </a:bodyPr>
          <a:lstStyle/>
          <a:p>
            <a:r>
              <a:rPr lang="en-US" dirty="0" smtClean="0"/>
              <a:t>The correct answer is C</a:t>
            </a:r>
          </a:p>
          <a:p>
            <a:r>
              <a:rPr lang="en-US" dirty="0" smtClean="0"/>
              <a:t>Why is frequent verification and validation emphasized in Agile projects?</a:t>
            </a:r>
          </a:p>
          <a:p>
            <a:endParaRPr lang="en-US" dirty="0" smtClean="0"/>
          </a:p>
          <a:p>
            <a:r>
              <a:rPr lang="en-US" dirty="0" smtClean="0"/>
              <a:t>A. The Customer must receive a high-quality product at a low cost; therefore, these tenets are essential</a:t>
            </a:r>
          </a:p>
          <a:p>
            <a:r>
              <a:rPr lang="en-US" dirty="0" smtClean="0"/>
              <a:t>B. Bugs and defects are costly downstream and cause the Customer to lose confidence in the project team; therefore, frequent testing is a must</a:t>
            </a:r>
          </a:p>
          <a:p>
            <a:r>
              <a:rPr lang="en-US" dirty="0" smtClean="0"/>
              <a:t>C. It aligns with the principle of satisfying the Customer through early and continuous delivery of valuable software</a:t>
            </a:r>
          </a:p>
          <a:p>
            <a:r>
              <a:rPr lang="en-US" dirty="0" smtClean="0"/>
              <a:t>D. The Agile Manifesto states that continuous integration and verification are the primary means of delivering quality and value to the Customer</a:t>
            </a:r>
          </a:p>
          <a:p>
            <a:r>
              <a:rPr lang="en-US" dirty="0" smtClean="0"/>
              <a:t>  </a:t>
            </a:r>
          </a:p>
          <a:p>
            <a:r>
              <a:rPr lang="en-US" dirty="0" smtClean="0"/>
              <a:t>C is the best choice of the 4. There are portions of truth in all statements, but C is best. C actually describes the first principle of the Agile Manifesto.</a:t>
            </a:r>
            <a:endParaRPr lang="en-US" dirty="0"/>
          </a:p>
        </p:txBody>
      </p:sp>
    </p:spTree>
    <p:extLst>
      <p:ext uri="{BB962C8B-B14F-4D97-AF65-F5344CB8AC3E}">
        <p14:creationId xmlns:p14="http://schemas.microsoft.com/office/powerpoint/2010/main" val="2910970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0" y="782123"/>
            <a:ext cx="4572000" cy="3970318"/>
          </a:xfrm>
          <a:prstGeom prst="rect">
            <a:avLst/>
          </a:prstGeom>
        </p:spPr>
        <p:txBody>
          <a:bodyPr>
            <a:spAutoFit/>
          </a:bodyPr>
          <a:lstStyle/>
          <a:p>
            <a:r>
              <a:rPr lang="en-US" dirty="0" smtClean="0"/>
              <a:t>The correct answer is B</a:t>
            </a:r>
          </a:p>
          <a:p>
            <a:r>
              <a:rPr lang="en-US" dirty="0" smtClean="0"/>
              <a:t>Driving factors and restraining factors are considered is what type of analysis?</a:t>
            </a:r>
          </a:p>
          <a:p>
            <a:endParaRPr lang="en-US" dirty="0" smtClean="0"/>
          </a:p>
          <a:p>
            <a:r>
              <a:rPr lang="en-US" dirty="0" smtClean="0"/>
              <a:t>A. Cost/benefit Analysis</a:t>
            </a:r>
          </a:p>
          <a:p>
            <a:r>
              <a:rPr lang="en-US" dirty="0" smtClean="0"/>
              <a:t>B. Force field analysis</a:t>
            </a:r>
          </a:p>
          <a:p>
            <a:r>
              <a:rPr lang="en-US" dirty="0" smtClean="0"/>
              <a:t>C. Change factor analysis</a:t>
            </a:r>
          </a:p>
          <a:p>
            <a:r>
              <a:rPr lang="en-US" dirty="0" smtClean="0"/>
              <a:t>D. Five-why analysis</a:t>
            </a:r>
          </a:p>
          <a:p>
            <a:r>
              <a:rPr lang="en-US" dirty="0" smtClean="0"/>
              <a:t>  </a:t>
            </a:r>
          </a:p>
          <a:p>
            <a:r>
              <a:rPr lang="en-US" dirty="0" smtClean="0"/>
              <a:t>Force field analysis provides an objective method to rank and analyze the opposing forces for change and against change, facilitating decisions about if and how to proceed.</a:t>
            </a:r>
            <a:endParaRPr lang="en-US" dirty="0"/>
          </a:p>
        </p:txBody>
      </p:sp>
    </p:spTree>
    <p:extLst>
      <p:ext uri="{BB962C8B-B14F-4D97-AF65-F5344CB8AC3E}">
        <p14:creationId xmlns:p14="http://schemas.microsoft.com/office/powerpoint/2010/main" val="12247189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357197"/>
            <a:ext cx="4572000" cy="8679299"/>
          </a:xfrm>
          <a:prstGeom prst="rect">
            <a:avLst/>
          </a:prstGeom>
        </p:spPr>
        <p:txBody>
          <a:bodyPr>
            <a:spAutoFit/>
          </a:bodyPr>
          <a:lstStyle/>
          <a:p>
            <a:r>
              <a:rPr lang="en-US" dirty="0" smtClean="0"/>
              <a:t>The correct answer is D</a:t>
            </a:r>
          </a:p>
          <a:p>
            <a:r>
              <a:rPr lang="en-US" dirty="0" smtClean="0"/>
              <a:t>The project selection team is meeting in the conference room to finalize plans for the next year. </a:t>
            </a:r>
            <a:r>
              <a:rPr lang="en-US" dirty="0" err="1" smtClean="0"/>
              <a:t>Hiroto</a:t>
            </a:r>
            <a:r>
              <a:rPr lang="en-US" dirty="0" smtClean="0"/>
              <a:t> has been advised to compute both PV and NPV for the 5 projects that are under consideration. Which of the following statements is not true?</a:t>
            </a:r>
          </a:p>
          <a:p>
            <a:endParaRPr lang="en-US" dirty="0" smtClean="0"/>
          </a:p>
          <a:p>
            <a:r>
              <a:rPr lang="en-US" dirty="0" smtClean="0"/>
              <a:t>A. Once </a:t>
            </a:r>
            <a:r>
              <a:rPr lang="en-US" dirty="0" err="1" smtClean="0"/>
              <a:t>Hiroto</a:t>
            </a:r>
            <a:r>
              <a:rPr lang="en-US" dirty="0" smtClean="0"/>
              <a:t> computes the PV for each of the 5 projects, all he needs in order to compute the NPV is the cost</a:t>
            </a:r>
          </a:p>
          <a:p>
            <a:r>
              <a:rPr lang="en-US" dirty="0" smtClean="0"/>
              <a:t>B. If </a:t>
            </a:r>
            <a:r>
              <a:rPr lang="en-US" dirty="0" err="1" smtClean="0"/>
              <a:t>Hiroto</a:t>
            </a:r>
            <a:r>
              <a:rPr lang="en-US" dirty="0" smtClean="0"/>
              <a:t> were told to use PV only, </a:t>
            </a:r>
            <a:r>
              <a:rPr lang="en-US" dirty="0" err="1" smtClean="0"/>
              <a:t>Hiroto</a:t>
            </a:r>
            <a:r>
              <a:rPr lang="en-US" dirty="0" smtClean="0"/>
              <a:t> would recommend selection of the project that has the greatest PV</a:t>
            </a:r>
          </a:p>
          <a:p>
            <a:r>
              <a:rPr lang="en-US" dirty="0" smtClean="0"/>
              <a:t>C. In this context, PV stands for present value and not planned value</a:t>
            </a:r>
          </a:p>
          <a:p>
            <a:r>
              <a:rPr lang="en-US" dirty="0" smtClean="0"/>
              <a:t>D. Once </a:t>
            </a:r>
            <a:r>
              <a:rPr lang="en-US" dirty="0" err="1" smtClean="0"/>
              <a:t>Hiroto</a:t>
            </a:r>
            <a:r>
              <a:rPr lang="en-US" dirty="0" smtClean="0"/>
              <a:t> computes PV and determines the best project choice, he does not need to compute NPV because it will lead to the same conclusion</a:t>
            </a:r>
          </a:p>
          <a:p>
            <a:r>
              <a:rPr lang="en-US" dirty="0" smtClean="0"/>
              <a:t>  </a:t>
            </a:r>
          </a:p>
          <a:p>
            <a:r>
              <a:rPr lang="en-US" dirty="0" smtClean="0"/>
              <a:t>In this context of project selection, PV stands for present value, and NPV is net present value. The difference in the two is that NPV takes cost into consideration, reducing PV by discounted costs to reach NPV. Therefore, D is the correct choice - the statement that is false. Just because a project has the highest PV, you may not assume that it will have the highest NPV. That depends on the discounted cost value for each of the choices.</a:t>
            </a:r>
            <a:endParaRPr lang="en-US" dirty="0"/>
          </a:p>
        </p:txBody>
      </p:sp>
    </p:spTree>
    <p:extLst>
      <p:ext uri="{BB962C8B-B14F-4D97-AF65-F5344CB8AC3E}">
        <p14:creationId xmlns:p14="http://schemas.microsoft.com/office/powerpoint/2010/main" val="1418628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0" y="-3280531"/>
            <a:ext cx="4572000" cy="10064294"/>
          </a:xfrm>
          <a:prstGeom prst="rect">
            <a:avLst/>
          </a:prstGeom>
        </p:spPr>
        <p:txBody>
          <a:bodyPr>
            <a:spAutoFit/>
          </a:bodyPr>
          <a:lstStyle/>
          <a:p>
            <a:r>
              <a:rPr lang="en-US" dirty="0" smtClean="0"/>
              <a:t>The correct answer is D</a:t>
            </a:r>
          </a:p>
          <a:p>
            <a:r>
              <a:rPr lang="en-US" dirty="0" smtClean="0"/>
              <a:t>Consider the following 4 statements about the practice-based methodology of modeling and documenting the development of software-based systems. Choose the answer that is the most accurate of the 4.</a:t>
            </a:r>
          </a:p>
          <a:p>
            <a:endParaRPr lang="en-US" dirty="0" smtClean="0"/>
          </a:p>
          <a:p>
            <a:r>
              <a:rPr lang="en-US" dirty="0" smtClean="0"/>
              <a:t>A. Agile modeling should be performed early in the project exclusively by the self-organized team and sets proper expectations for other stakeholders</a:t>
            </a:r>
          </a:p>
          <a:p>
            <a:r>
              <a:rPr lang="en-US" dirty="0" smtClean="0"/>
              <a:t>B. Agile chartering is the initial phase of each development project and includes creation of workflow models and diagrams</a:t>
            </a:r>
          </a:p>
          <a:p>
            <a:r>
              <a:rPr lang="en-US" dirty="0" smtClean="0"/>
              <a:t>C. Agile modeling is the preferred methodology for non-distributed, co-located teams that can commit to and follow a visible depiction of best practices</a:t>
            </a:r>
          </a:p>
          <a:p>
            <a:r>
              <a:rPr lang="en-US" dirty="0" smtClean="0"/>
              <a:t>D. Agile modeling should include all project stakeholders and encourage effective communication, simple solutions, and frequent feedback</a:t>
            </a:r>
          </a:p>
          <a:p>
            <a:r>
              <a:rPr lang="en-US" dirty="0" smtClean="0"/>
              <a:t>  </a:t>
            </a:r>
          </a:p>
          <a:p>
            <a:r>
              <a:rPr lang="en-US" dirty="0" smtClean="0"/>
              <a:t>Answer D is the best choice. The description in the question indicates this topic of Agile modeling - a methodology for documenting and modeling software systems that is effective in development projects. Answer-A is not good - these tasks should include all stakeholders to bring about the clear communication described correctly in D. B is off-track with the chartering name. C sounds as if this Agile modeling can only be performed by teams when everyone is located in the same workspace - not true. D is the best answer.</a:t>
            </a:r>
            <a:endParaRPr lang="en-US" dirty="0"/>
          </a:p>
        </p:txBody>
      </p:sp>
    </p:spTree>
    <p:extLst>
      <p:ext uri="{BB962C8B-B14F-4D97-AF65-F5344CB8AC3E}">
        <p14:creationId xmlns:p14="http://schemas.microsoft.com/office/powerpoint/2010/main" val="1293553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3462"/>
            <a:ext cx="4572000" cy="5078313"/>
          </a:xfrm>
          <a:prstGeom prst="rect">
            <a:avLst/>
          </a:prstGeom>
        </p:spPr>
        <p:txBody>
          <a:bodyPr>
            <a:spAutoFit/>
          </a:bodyPr>
          <a:lstStyle/>
          <a:p>
            <a:r>
              <a:rPr lang="en-US" dirty="0" smtClean="0"/>
              <a:t>The correct answer is D</a:t>
            </a:r>
          </a:p>
          <a:p>
            <a:r>
              <a:rPr lang="en-US" dirty="0" smtClean="0"/>
              <a:t>If an organization is following Agile practices for a project, who comes up with the definition of done for a feature?</a:t>
            </a:r>
          </a:p>
          <a:p>
            <a:endParaRPr lang="en-US" dirty="0" smtClean="0"/>
          </a:p>
          <a:p>
            <a:r>
              <a:rPr lang="en-US" dirty="0" smtClean="0"/>
              <a:t>A. The customer</a:t>
            </a:r>
          </a:p>
          <a:p>
            <a:r>
              <a:rPr lang="en-US" dirty="0" smtClean="0"/>
              <a:t>B. The sponsor</a:t>
            </a:r>
          </a:p>
          <a:p>
            <a:r>
              <a:rPr lang="en-US" dirty="0" smtClean="0"/>
              <a:t>C. The quality-control specialist</a:t>
            </a:r>
          </a:p>
          <a:p>
            <a:r>
              <a:rPr lang="en-US" dirty="0" smtClean="0"/>
              <a:t>D. The team</a:t>
            </a:r>
          </a:p>
          <a:p>
            <a:r>
              <a:rPr lang="en-US" dirty="0" smtClean="0"/>
              <a:t>  </a:t>
            </a:r>
          </a:p>
          <a:p>
            <a:r>
              <a:rPr lang="en-US" dirty="0" smtClean="0"/>
              <a:t>D is correct - the team defines what done means. The team sets the criteria that means a feature is complete. That typically means that the feature has been designed, coded, tested, and accepted by the Product Owner. Even though the sponsor, the customer, the quality-control specialist or others may be involved, ultimately it is the team that defines done.</a:t>
            </a:r>
            <a:endParaRPr lang="en-US" dirty="0"/>
          </a:p>
        </p:txBody>
      </p:sp>
    </p:spTree>
    <p:extLst>
      <p:ext uri="{BB962C8B-B14F-4D97-AF65-F5344CB8AC3E}">
        <p14:creationId xmlns:p14="http://schemas.microsoft.com/office/powerpoint/2010/main" val="4051186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3462"/>
            <a:ext cx="4572000" cy="5078313"/>
          </a:xfrm>
          <a:prstGeom prst="rect">
            <a:avLst/>
          </a:prstGeom>
        </p:spPr>
        <p:txBody>
          <a:bodyPr>
            <a:spAutoFit/>
          </a:bodyPr>
          <a:lstStyle/>
          <a:p>
            <a:r>
              <a:rPr lang="en-US" dirty="0" smtClean="0"/>
              <a:t>The correct answer is A</a:t>
            </a:r>
          </a:p>
          <a:p>
            <a:r>
              <a:rPr lang="en-US" dirty="0" smtClean="0"/>
              <a:t>Servant leadership is:</a:t>
            </a:r>
          </a:p>
          <a:p>
            <a:endParaRPr lang="en-US" dirty="0" smtClean="0"/>
          </a:p>
          <a:p>
            <a:r>
              <a:rPr lang="en-US" dirty="0" smtClean="0"/>
              <a:t>A. Participative leadership, facilitative, and involved hands-on with the daily activities of the team</a:t>
            </a:r>
          </a:p>
          <a:p>
            <a:r>
              <a:rPr lang="en-US" dirty="0" smtClean="0"/>
              <a:t>B. Exemplified when the most knowledgeable person on the team is tapped as the leader</a:t>
            </a:r>
          </a:p>
          <a:p>
            <a:r>
              <a:rPr lang="en-US" dirty="0" smtClean="0"/>
              <a:t>C. A directing style that aligns the team's service to the defined objectives</a:t>
            </a:r>
          </a:p>
          <a:p>
            <a:r>
              <a:rPr lang="en-US" dirty="0" smtClean="0"/>
              <a:t>D. A very flat hierarchical organizational structure in which the leader is actually a bi-vocational member of the team</a:t>
            </a:r>
          </a:p>
          <a:p>
            <a:r>
              <a:rPr lang="en-US" dirty="0" smtClean="0"/>
              <a:t>  </a:t>
            </a:r>
          </a:p>
          <a:p>
            <a:r>
              <a:rPr lang="en-US" dirty="0" smtClean="0"/>
              <a:t>The key to servant leadership is that the leader is a servant first and a leader second - Participative, hands-on, facilitative, and involved daily.</a:t>
            </a:r>
            <a:endParaRPr lang="en-US" dirty="0"/>
          </a:p>
        </p:txBody>
      </p:sp>
    </p:spTree>
    <p:extLst>
      <p:ext uri="{BB962C8B-B14F-4D97-AF65-F5344CB8AC3E}">
        <p14:creationId xmlns:p14="http://schemas.microsoft.com/office/powerpoint/2010/main" val="1687129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987865"/>
            <a:ext cx="4572000" cy="8125301"/>
          </a:xfrm>
          <a:prstGeom prst="rect">
            <a:avLst/>
          </a:prstGeom>
        </p:spPr>
        <p:txBody>
          <a:bodyPr>
            <a:spAutoFit/>
          </a:bodyPr>
          <a:lstStyle/>
          <a:p>
            <a:r>
              <a:rPr lang="en-US" dirty="0" smtClean="0"/>
              <a:t>The correct answer is A</a:t>
            </a:r>
          </a:p>
          <a:p>
            <a:r>
              <a:rPr lang="en-US" dirty="0" smtClean="0"/>
              <a:t>Agile makes use of a communication tool that is a high-level depiction of the features planned for each release and may include information about the Customer who is targeted and the business value associated with each feature. This representation of the plan will likely change or evolve through time. What is this communication tool called?</a:t>
            </a:r>
          </a:p>
          <a:p>
            <a:endParaRPr lang="en-US" dirty="0" smtClean="0"/>
          </a:p>
          <a:p>
            <a:r>
              <a:rPr lang="en-US" dirty="0" smtClean="0"/>
              <a:t>A. Product roadmap</a:t>
            </a:r>
          </a:p>
          <a:p>
            <a:r>
              <a:rPr lang="en-US" dirty="0" smtClean="0"/>
              <a:t>B. Release backlog</a:t>
            </a:r>
          </a:p>
          <a:p>
            <a:r>
              <a:rPr lang="en-US" dirty="0" smtClean="0"/>
              <a:t>C. Product backlog</a:t>
            </a:r>
          </a:p>
          <a:p>
            <a:r>
              <a:rPr lang="en-US" dirty="0" smtClean="0"/>
              <a:t>D. Vision statement</a:t>
            </a:r>
          </a:p>
          <a:p>
            <a:r>
              <a:rPr lang="en-US" dirty="0" smtClean="0"/>
              <a:t>  </a:t>
            </a:r>
          </a:p>
          <a:p>
            <a:r>
              <a:rPr lang="en-US" dirty="0" smtClean="0"/>
              <a:t>The product roadmap shows the plans for how the product will evolve, what features are scheduled for releases, when, customers targeted, value expected, architecture needed, and other items. The product roadmap is developed early in the project during initiating steps such as the Agile vision meeting. Think of the product backlog as being more focused than the product roadmap. The product backlog lists the items to be implemented - the features. Whereas, the product roadmap holds more high-level information about the features, release dates, value added, and the like.</a:t>
            </a:r>
            <a:endParaRPr lang="en-US" dirty="0"/>
          </a:p>
        </p:txBody>
      </p:sp>
    </p:spTree>
    <p:extLst>
      <p:ext uri="{BB962C8B-B14F-4D97-AF65-F5344CB8AC3E}">
        <p14:creationId xmlns:p14="http://schemas.microsoft.com/office/powerpoint/2010/main" val="1522185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4"/>
            <a:ext cx="4572000" cy="4524315"/>
          </a:xfrm>
          <a:prstGeom prst="rect">
            <a:avLst/>
          </a:prstGeom>
        </p:spPr>
        <p:txBody>
          <a:bodyPr>
            <a:spAutoFit/>
          </a:bodyPr>
          <a:lstStyle/>
          <a:p>
            <a:r>
              <a:rPr lang="en-US" dirty="0" smtClean="0"/>
              <a:t>The correct answer is D</a:t>
            </a:r>
          </a:p>
          <a:p>
            <a:r>
              <a:rPr lang="en-US" dirty="0" smtClean="0"/>
              <a:t>Which of the following lists best describes the attributes of a good user story?</a:t>
            </a:r>
          </a:p>
          <a:p>
            <a:endParaRPr lang="en-US" dirty="0" smtClean="0"/>
          </a:p>
          <a:p>
            <a:r>
              <a:rPr lang="en-US" dirty="0" smtClean="0"/>
              <a:t>A. Small, estimable, dependent, negotiable</a:t>
            </a:r>
          </a:p>
          <a:p>
            <a:r>
              <a:rPr lang="en-US" dirty="0" smtClean="0"/>
              <a:t>B. Testable, estimable, renewable, valuable</a:t>
            </a:r>
          </a:p>
          <a:p>
            <a:r>
              <a:rPr lang="en-US" dirty="0" smtClean="0"/>
              <a:t>C. Negotiable, small, explainable, </a:t>
            </a:r>
            <a:r>
              <a:rPr lang="en-US" dirty="0" err="1" smtClean="0"/>
              <a:t>validatable</a:t>
            </a:r>
            <a:endParaRPr lang="en-US" dirty="0" smtClean="0"/>
          </a:p>
          <a:p>
            <a:r>
              <a:rPr lang="en-US" dirty="0" smtClean="0"/>
              <a:t>D. Valuable, estimable, independent, small</a:t>
            </a:r>
          </a:p>
          <a:p>
            <a:r>
              <a:rPr lang="en-US" dirty="0" smtClean="0"/>
              <a:t>  </a:t>
            </a:r>
          </a:p>
          <a:p>
            <a:r>
              <a:rPr lang="en-US" dirty="0" smtClean="0"/>
              <a:t>D is the only choice containing 4 accurate attributes of a good user story. There are 6 key characteristics, and they spell out INVEST - Independent, Negotiable, Valuable, Estimable, Small, and Testable. Bill Wake is given credit for this memory device of INVEST - a great way to recall those 6 attributes.</a:t>
            </a:r>
            <a:endParaRPr lang="en-US" dirty="0"/>
          </a:p>
        </p:txBody>
      </p:sp>
    </p:spTree>
    <p:extLst>
      <p:ext uri="{BB962C8B-B14F-4D97-AF65-F5344CB8AC3E}">
        <p14:creationId xmlns:p14="http://schemas.microsoft.com/office/powerpoint/2010/main" val="1952173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325870"/>
            <a:ext cx="4572000" cy="5632311"/>
          </a:xfrm>
          <a:prstGeom prst="rect">
            <a:avLst/>
          </a:prstGeom>
        </p:spPr>
        <p:txBody>
          <a:bodyPr>
            <a:spAutoFit/>
          </a:bodyPr>
          <a:lstStyle/>
          <a:p>
            <a:r>
              <a:rPr lang="en-US" dirty="0" smtClean="0"/>
              <a:t>The correct answer is B</a:t>
            </a:r>
          </a:p>
          <a:p>
            <a:r>
              <a:rPr lang="en-US" dirty="0" smtClean="0"/>
              <a:t>Reducing the number of items in the team's immediate focus is effected using which strategy and goal?</a:t>
            </a:r>
          </a:p>
          <a:p>
            <a:endParaRPr lang="en-US" dirty="0" smtClean="0"/>
          </a:p>
          <a:p>
            <a:r>
              <a:rPr lang="en-US" dirty="0" smtClean="0"/>
              <a:t>A. Lean and increased customer value with fewer resources</a:t>
            </a:r>
          </a:p>
          <a:p>
            <a:r>
              <a:rPr lang="en-US" dirty="0" smtClean="0"/>
              <a:t>B. WIP Limits and increased productivity and quality</a:t>
            </a:r>
          </a:p>
          <a:p>
            <a:r>
              <a:rPr lang="en-US" dirty="0" smtClean="0"/>
              <a:t>C. Release planning and matching iterations to team velocity</a:t>
            </a:r>
          </a:p>
          <a:p>
            <a:r>
              <a:rPr lang="en-US" dirty="0" smtClean="0"/>
              <a:t>D. </a:t>
            </a:r>
            <a:r>
              <a:rPr lang="en-US" dirty="0" err="1" smtClean="0"/>
              <a:t>Kanban</a:t>
            </a:r>
            <a:r>
              <a:rPr lang="en-US" dirty="0" smtClean="0"/>
              <a:t> task boards and creation of cumulative flow diagrams</a:t>
            </a:r>
          </a:p>
          <a:p>
            <a:r>
              <a:rPr lang="en-US" dirty="0" smtClean="0"/>
              <a:t>  </a:t>
            </a:r>
          </a:p>
          <a:p>
            <a:r>
              <a:rPr lang="en-US" dirty="0" smtClean="0"/>
              <a:t>The core focus of </a:t>
            </a:r>
            <a:r>
              <a:rPr lang="en-US" dirty="0" err="1" smtClean="0"/>
              <a:t>Kanban</a:t>
            </a:r>
            <a:r>
              <a:rPr lang="en-US" dirty="0" smtClean="0"/>
              <a:t> is to reduce the Work In Progress. WIP limits (limiting how many tasks can exist in each task board queue) are effective at increasing the productivity and quality of the team's work with the power of focus.</a:t>
            </a:r>
            <a:endParaRPr lang="en-US" dirty="0"/>
          </a:p>
        </p:txBody>
      </p:sp>
    </p:spTree>
    <p:extLst>
      <p:ext uri="{BB962C8B-B14F-4D97-AF65-F5344CB8AC3E}">
        <p14:creationId xmlns:p14="http://schemas.microsoft.com/office/powerpoint/2010/main" val="354602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911199"/>
            <a:ext cx="4572000" cy="9510296"/>
          </a:xfrm>
          <a:prstGeom prst="rect">
            <a:avLst/>
          </a:prstGeom>
        </p:spPr>
        <p:txBody>
          <a:bodyPr>
            <a:spAutoFit/>
          </a:bodyPr>
          <a:lstStyle/>
          <a:p>
            <a:r>
              <a:rPr lang="en-US" dirty="0" smtClean="0"/>
              <a:t>The correct answer is D</a:t>
            </a:r>
          </a:p>
          <a:p>
            <a:r>
              <a:rPr lang="en-US" dirty="0" smtClean="0"/>
              <a:t>The team has a few hours to plan for the upcoming iteration, which starts tomorrow. The Product Owner has described the backlog, and now the team is discussing how many of the features the team can build in the upcoming iteration. Initially, what should the team do?</a:t>
            </a:r>
          </a:p>
          <a:p>
            <a:endParaRPr lang="en-US" dirty="0" smtClean="0"/>
          </a:p>
          <a:p>
            <a:r>
              <a:rPr lang="en-US" dirty="0" smtClean="0"/>
              <a:t>A. Spread cards out on the table so that all team members can vote using a Fibonacci sequence</a:t>
            </a:r>
          </a:p>
          <a:p>
            <a:r>
              <a:rPr lang="en-US" dirty="0" smtClean="0"/>
              <a:t>B. Prioritize the list of features based on the amount of value each feature will bring to the product</a:t>
            </a:r>
          </a:p>
          <a:p>
            <a:r>
              <a:rPr lang="en-US" dirty="0" smtClean="0"/>
              <a:t>C. Reflect on what went well in the last iteration and what should be improved on this one</a:t>
            </a:r>
          </a:p>
          <a:p>
            <a:r>
              <a:rPr lang="en-US" dirty="0" smtClean="0"/>
              <a:t>D. Discuss how the team will measure story points</a:t>
            </a:r>
          </a:p>
          <a:p>
            <a:r>
              <a:rPr lang="en-US" dirty="0" smtClean="0"/>
              <a:t>  </a:t>
            </a:r>
          </a:p>
          <a:p>
            <a:r>
              <a:rPr lang="en-US" dirty="0" smtClean="0"/>
              <a:t>All 4 answers sound nice; however, D is the correct answer. The team is estimating, so they should determine how they will go about assigning story points to features or stories. Answer-A describes planning poker, which is a valid means of estimating stories. But, A is not as complete an answer as D; there are other means of estimating. B is wrong - the team does not prioritize the product backlog; that's the responsibility of the Product Owner. C is not appropriate here; these reflections should take place prior to the iteration planning meeting in the retrospective.</a:t>
            </a:r>
            <a:endParaRPr lang="en-US" dirty="0"/>
          </a:p>
        </p:txBody>
      </p:sp>
    </p:spTree>
    <p:extLst>
      <p:ext uri="{BB962C8B-B14F-4D97-AF65-F5344CB8AC3E}">
        <p14:creationId xmlns:p14="http://schemas.microsoft.com/office/powerpoint/2010/main" val="1929152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510540"/>
            <a:ext cx="4572000" cy="5909310"/>
          </a:xfrm>
          <a:prstGeom prst="rect">
            <a:avLst/>
          </a:prstGeom>
        </p:spPr>
        <p:txBody>
          <a:bodyPr>
            <a:spAutoFit/>
          </a:bodyPr>
          <a:lstStyle/>
          <a:p>
            <a:r>
              <a:rPr lang="en-US" dirty="0" smtClean="0"/>
              <a:t>The correct answer is A</a:t>
            </a:r>
          </a:p>
          <a:p>
            <a:r>
              <a:rPr lang="en-US" dirty="0" smtClean="0"/>
              <a:t>Which of the following statements about a charter is false?</a:t>
            </a:r>
          </a:p>
          <a:p>
            <a:endParaRPr lang="en-US" dirty="0" smtClean="0"/>
          </a:p>
          <a:p>
            <a:r>
              <a:rPr lang="en-US" dirty="0" smtClean="0"/>
              <a:t>A. The charter is less applicable to agile teams than traditional project teams</a:t>
            </a:r>
          </a:p>
          <a:p>
            <a:r>
              <a:rPr lang="en-US" dirty="0" smtClean="0"/>
              <a:t>B. The charter authorizes the team to work on the project</a:t>
            </a:r>
          </a:p>
          <a:p>
            <a:r>
              <a:rPr lang="en-US" dirty="0" smtClean="0"/>
              <a:t>C. The charter should be a signed document</a:t>
            </a:r>
          </a:p>
          <a:p>
            <a:r>
              <a:rPr lang="en-US" dirty="0" smtClean="0"/>
              <a:t>D. The charter should describe the purpose or goals of the project</a:t>
            </a:r>
          </a:p>
          <a:p>
            <a:r>
              <a:rPr lang="en-US" dirty="0" smtClean="0"/>
              <a:t>  </a:t>
            </a:r>
          </a:p>
          <a:p>
            <a:r>
              <a:rPr lang="en-US" dirty="0" smtClean="0"/>
              <a:t>Answer-A is a false statement. The project charter is useful for Agile teams as it is for traditional project teams. The charter should be signed by management or the sponsor; it delivers authority for budget and resources to the team; the charter should describe why the project is being carried out. All these attributes of the charter are useful, regardless of the method used to manage the project.</a:t>
            </a:r>
            <a:endParaRPr lang="en-US" dirty="0"/>
          </a:p>
        </p:txBody>
      </p:sp>
    </p:spTree>
    <p:extLst>
      <p:ext uri="{BB962C8B-B14F-4D97-AF65-F5344CB8AC3E}">
        <p14:creationId xmlns:p14="http://schemas.microsoft.com/office/powerpoint/2010/main" val="1084176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695202"/>
            <a:ext cx="4572000" cy="6186309"/>
          </a:xfrm>
          <a:prstGeom prst="rect">
            <a:avLst/>
          </a:prstGeom>
        </p:spPr>
        <p:txBody>
          <a:bodyPr>
            <a:spAutoFit/>
          </a:bodyPr>
          <a:lstStyle/>
          <a:p>
            <a:r>
              <a:rPr lang="en-US" dirty="0" smtClean="0"/>
              <a:t>The correct answer is C</a:t>
            </a:r>
          </a:p>
          <a:p>
            <a:r>
              <a:rPr lang="en-US" dirty="0" smtClean="0"/>
              <a:t>Which statement is the most valid about burn up and burn down charts?</a:t>
            </a:r>
          </a:p>
          <a:p>
            <a:endParaRPr lang="en-US" dirty="0" smtClean="0"/>
          </a:p>
          <a:p>
            <a:r>
              <a:rPr lang="en-US" dirty="0" smtClean="0"/>
              <a:t>A. Burn up charts are used in sprints and burn down charts are used in backlogs</a:t>
            </a:r>
          </a:p>
          <a:p>
            <a:r>
              <a:rPr lang="en-US" dirty="0" smtClean="0"/>
              <a:t>B. Burn down charts indicate the velocity of the release and burn up charts indicate the velocity of the iteration</a:t>
            </a:r>
          </a:p>
          <a:p>
            <a:r>
              <a:rPr lang="en-US" dirty="0" smtClean="0"/>
              <a:t>C. Burn down charts indicate a reduction in unfulfilled story points while burn up charts indicate accumulation of completed story points</a:t>
            </a:r>
          </a:p>
          <a:p>
            <a:r>
              <a:rPr lang="en-US" dirty="0" smtClean="0"/>
              <a:t>D. Burn down charts are used in iterations and burn up charts are used in releases</a:t>
            </a:r>
          </a:p>
          <a:p>
            <a:r>
              <a:rPr lang="en-US" dirty="0" smtClean="0"/>
              <a:t>  </a:t>
            </a:r>
          </a:p>
          <a:p>
            <a:r>
              <a:rPr lang="en-US" dirty="0" smtClean="0"/>
              <a:t>Burn up/down charts are used to indicate the current state of either the iteration or product backlog in terms of story points (value). In an iteration application, the team's velocity is indicated by the chart. Which chart (burn up or burn down) is used is discretionary.</a:t>
            </a:r>
            <a:endParaRPr lang="en-US" dirty="0"/>
          </a:p>
        </p:txBody>
      </p:sp>
    </p:spTree>
    <p:extLst>
      <p:ext uri="{BB962C8B-B14F-4D97-AF65-F5344CB8AC3E}">
        <p14:creationId xmlns:p14="http://schemas.microsoft.com/office/powerpoint/2010/main" val="4098109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3"/>
            <a:ext cx="4572000" cy="4524315"/>
          </a:xfrm>
          <a:prstGeom prst="rect">
            <a:avLst/>
          </a:prstGeom>
        </p:spPr>
        <p:txBody>
          <a:bodyPr>
            <a:spAutoFit/>
          </a:bodyPr>
          <a:lstStyle/>
          <a:p>
            <a:r>
              <a:rPr lang="en-US" dirty="0" smtClean="0"/>
              <a:t>The correct answer is B</a:t>
            </a:r>
          </a:p>
          <a:p>
            <a:r>
              <a:rPr lang="en-US" dirty="0" smtClean="0"/>
              <a:t>All of the following are valid about Agile personas except:</a:t>
            </a:r>
          </a:p>
          <a:p>
            <a:endParaRPr lang="en-US" dirty="0" smtClean="0"/>
          </a:p>
          <a:p>
            <a:r>
              <a:rPr lang="en-US" dirty="0" smtClean="0"/>
              <a:t>A. They allow user stories to be more specific than general</a:t>
            </a:r>
          </a:p>
          <a:p>
            <a:r>
              <a:rPr lang="en-US" dirty="0" smtClean="0"/>
              <a:t>B. They are descriptions of specific, actual users</a:t>
            </a:r>
          </a:p>
          <a:p>
            <a:r>
              <a:rPr lang="en-US" dirty="0" smtClean="0"/>
              <a:t>C. They include the name and description of the user and possibly a photograph</a:t>
            </a:r>
          </a:p>
          <a:p>
            <a:r>
              <a:rPr lang="en-US" dirty="0" smtClean="0"/>
              <a:t>D. They improve user stories by the consideration of how the product will be used</a:t>
            </a:r>
          </a:p>
          <a:p>
            <a:r>
              <a:rPr lang="en-US" dirty="0" smtClean="0"/>
              <a:t>  </a:t>
            </a:r>
          </a:p>
          <a:p>
            <a:r>
              <a:rPr lang="en-US" dirty="0" smtClean="0"/>
              <a:t>Personas are fictional users created to make user stories lifelike, applicable, and comprehensive.</a:t>
            </a:r>
            <a:endParaRPr lang="en-US" dirty="0"/>
          </a:p>
        </p:txBody>
      </p:sp>
    </p:spTree>
    <p:extLst>
      <p:ext uri="{BB962C8B-B14F-4D97-AF65-F5344CB8AC3E}">
        <p14:creationId xmlns:p14="http://schemas.microsoft.com/office/powerpoint/2010/main" val="2914403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3"/>
            <a:ext cx="4572000" cy="4524315"/>
          </a:xfrm>
          <a:prstGeom prst="rect">
            <a:avLst/>
          </a:prstGeom>
        </p:spPr>
        <p:txBody>
          <a:bodyPr>
            <a:spAutoFit/>
          </a:bodyPr>
          <a:lstStyle/>
          <a:p>
            <a:r>
              <a:rPr lang="en-US" dirty="0" smtClean="0"/>
              <a:t>The correct answer is A</a:t>
            </a:r>
          </a:p>
          <a:p>
            <a:r>
              <a:rPr lang="en-US" dirty="0" smtClean="0"/>
              <a:t>Regarding the concept of collaboration, which of the following is the correct value pair of those listed in the Agile Manifesto?</a:t>
            </a:r>
          </a:p>
          <a:p>
            <a:endParaRPr lang="en-US" dirty="0" smtClean="0"/>
          </a:p>
          <a:p>
            <a:r>
              <a:rPr lang="en-US" dirty="0" smtClean="0"/>
              <a:t>A. Customer collaboration over contract negotiation</a:t>
            </a:r>
          </a:p>
          <a:p>
            <a:r>
              <a:rPr lang="en-US" dirty="0" smtClean="0"/>
              <a:t>B. Team collaboration over individual expertise</a:t>
            </a:r>
          </a:p>
          <a:p>
            <a:r>
              <a:rPr lang="en-US" dirty="0" smtClean="0"/>
              <a:t>C. Collaboration is more valuable than management-driven decision making</a:t>
            </a:r>
          </a:p>
          <a:p>
            <a:r>
              <a:rPr lang="en-US" dirty="0" smtClean="0"/>
              <a:t>D. Team collaboration is valued over processes and tools</a:t>
            </a:r>
          </a:p>
          <a:p>
            <a:r>
              <a:rPr lang="en-US" dirty="0" smtClean="0"/>
              <a:t>  </a:t>
            </a:r>
          </a:p>
          <a:p>
            <a:r>
              <a:rPr lang="en-US" dirty="0" smtClean="0"/>
              <a:t>A is correct. The Agile Manifesto lists 4 value pairs. One of those pairs reads exactly as Answer-A states.</a:t>
            </a:r>
            <a:endParaRPr lang="en-US" dirty="0"/>
          </a:p>
        </p:txBody>
      </p:sp>
    </p:spTree>
    <p:extLst>
      <p:ext uri="{BB962C8B-B14F-4D97-AF65-F5344CB8AC3E}">
        <p14:creationId xmlns:p14="http://schemas.microsoft.com/office/powerpoint/2010/main" val="4098828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573190"/>
            <a:ext cx="4572000" cy="11726287"/>
          </a:xfrm>
          <a:prstGeom prst="rect">
            <a:avLst/>
          </a:prstGeom>
        </p:spPr>
        <p:txBody>
          <a:bodyPr>
            <a:spAutoFit/>
          </a:bodyPr>
          <a:lstStyle/>
          <a:p>
            <a:r>
              <a:rPr lang="en-US" dirty="0" smtClean="0"/>
              <a:t>The correct answer is C</a:t>
            </a:r>
          </a:p>
          <a:p>
            <a:r>
              <a:rPr lang="en-US" dirty="0" smtClean="0"/>
              <a:t>Which of the following statements best describes the benefits of using the Wideband Delphi technique?</a:t>
            </a:r>
          </a:p>
          <a:p>
            <a:endParaRPr lang="en-US" dirty="0" smtClean="0"/>
          </a:p>
          <a:p>
            <a:r>
              <a:rPr lang="en-US" dirty="0" smtClean="0"/>
              <a:t>A. This technique is an excellent method for a team to estimate work effort because team members can avoid groupthink while still assigning actual points to stories</a:t>
            </a:r>
          </a:p>
          <a:p>
            <a:r>
              <a:rPr lang="en-US" dirty="0" smtClean="0"/>
              <a:t>B. This technique is a preferred method for estimating effort because it uses the Delphi approach and avoids groupthink while involving a wide range of stakeholders with diverse experiences and opinions</a:t>
            </a:r>
          </a:p>
          <a:p>
            <a:r>
              <a:rPr lang="en-US" dirty="0" smtClean="0"/>
              <a:t>C. This technique is an effective means for a team to estimate work because team members can form individual estimates without group pressure while still leveraging the perspectives and wisdom of all team members when reaching consensus</a:t>
            </a:r>
          </a:p>
          <a:p>
            <a:r>
              <a:rPr lang="en-US" dirty="0" smtClean="0"/>
              <a:t>D. This technique is a favored approach for identifying risk because it solicits expert opinion while avoiding the pressure to conform with the group and not mention potential risks in a group setting that may be deemed controversial or politically undesirable</a:t>
            </a:r>
          </a:p>
          <a:p>
            <a:r>
              <a:rPr lang="en-US" dirty="0" smtClean="0"/>
              <a:t>  </a:t>
            </a:r>
          </a:p>
          <a:p>
            <a:r>
              <a:rPr lang="en-US" dirty="0" smtClean="0"/>
              <a:t>C is the best choice for this description of the Wideband Delphi technique. It is an approach some teams use to estimate the work required to deliver features or complete a story. The steps with Wideband Delphi involve describing the story to all participants, each participant submits an estimate anonymously, estimates are averaged and revealed to the group, group discusses highs and lows and averages, group reaches consensus on best estimate. So, this technique takes some of the traditional elements of Delphi and adds collaboration to it to reach a best estimate of work. Answers A and B are accurate, but C is the best description and best answer.</a:t>
            </a:r>
          </a:p>
        </p:txBody>
      </p:sp>
    </p:spTree>
    <p:extLst>
      <p:ext uri="{BB962C8B-B14F-4D97-AF65-F5344CB8AC3E}">
        <p14:creationId xmlns:p14="http://schemas.microsoft.com/office/powerpoint/2010/main" val="27122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782123"/>
            <a:ext cx="4572000" cy="3970318"/>
          </a:xfrm>
          <a:prstGeom prst="rect">
            <a:avLst/>
          </a:prstGeom>
        </p:spPr>
        <p:txBody>
          <a:bodyPr>
            <a:spAutoFit/>
          </a:bodyPr>
          <a:lstStyle/>
          <a:p>
            <a:r>
              <a:rPr lang="en-US" dirty="0" smtClean="0"/>
              <a:t>The correct answer is A</a:t>
            </a:r>
          </a:p>
          <a:p>
            <a:r>
              <a:rPr lang="en-US" dirty="0" smtClean="0"/>
              <a:t>During an iteration planning meeting, the team is estimating the size of the effort for each story by assigning each story to a shirt size of XS, S, M, L, XL, or XXL. What estimation method is being used?</a:t>
            </a:r>
          </a:p>
          <a:p>
            <a:endParaRPr lang="en-US" dirty="0" smtClean="0"/>
          </a:p>
          <a:p>
            <a:r>
              <a:rPr lang="en-US" dirty="0" smtClean="0"/>
              <a:t>A. Affinity estimating</a:t>
            </a:r>
          </a:p>
          <a:p>
            <a:r>
              <a:rPr lang="en-US" dirty="0" smtClean="0"/>
              <a:t>B. Planning poker</a:t>
            </a:r>
          </a:p>
          <a:p>
            <a:r>
              <a:rPr lang="en-US" dirty="0" smtClean="0"/>
              <a:t>C. Guess My Size innovation game</a:t>
            </a:r>
          </a:p>
          <a:p>
            <a:r>
              <a:rPr lang="en-US" dirty="0" smtClean="0"/>
              <a:t>D. Analogous estimating</a:t>
            </a:r>
          </a:p>
          <a:p>
            <a:r>
              <a:rPr lang="en-US" dirty="0" smtClean="0"/>
              <a:t>  </a:t>
            </a:r>
          </a:p>
          <a:p>
            <a:r>
              <a:rPr lang="en-US" dirty="0" smtClean="0"/>
              <a:t>The estimating scenario described is affinity estimating.</a:t>
            </a:r>
            <a:endParaRPr lang="en-US" dirty="0"/>
          </a:p>
        </p:txBody>
      </p:sp>
    </p:spTree>
    <p:extLst>
      <p:ext uri="{BB962C8B-B14F-4D97-AF65-F5344CB8AC3E}">
        <p14:creationId xmlns:p14="http://schemas.microsoft.com/office/powerpoint/2010/main" val="3433439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782122"/>
            <a:ext cx="4572000" cy="3970318"/>
          </a:xfrm>
          <a:prstGeom prst="rect">
            <a:avLst/>
          </a:prstGeom>
        </p:spPr>
        <p:txBody>
          <a:bodyPr>
            <a:spAutoFit/>
          </a:bodyPr>
          <a:lstStyle/>
          <a:p>
            <a:r>
              <a:rPr lang="en-US" dirty="0" smtClean="0"/>
              <a:t>The correct answer is A</a:t>
            </a:r>
          </a:p>
          <a:p>
            <a:r>
              <a:rPr lang="en-US" dirty="0" smtClean="0"/>
              <a:t>The </a:t>
            </a:r>
            <a:r>
              <a:rPr lang="en-US" dirty="0" err="1" smtClean="0"/>
              <a:t>Kanban</a:t>
            </a:r>
            <a:r>
              <a:rPr lang="en-US" dirty="0" smtClean="0"/>
              <a:t> board is of value only when it reflects current realities. What role holds the responsibility of the </a:t>
            </a:r>
            <a:r>
              <a:rPr lang="en-US" dirty="0" err="1" smtClean="0"/>
              <a:t>Kanban</a:t>
            </a:r>
            <a:r>
              <a:rPr lang="en-US" dirty="0" smtClean="0"/>
              <a:t> board providing value?</a:t>
            </a:r>
          </a:p>
          <a:p>
            <a:endParaRPr lang="en-US" dirty="0" smtClean="0"/>
          </a:p>
          <a:p>
            <a:r>
              <a:rPr lang="en-US" dirty="0" smtClean="0"/>
              <a:t>A. The team, when work has progressed</a:t>
            </a:r>
          </a:p>
          <a:p>
            <a:r>
              <a:rPr lang="en-US" dirty="0" smtClean="0"/>
              <a:t>B. The </a:t>
            </a:r>
            <a:r>
              <a:rPr lang="en-US" dirty="0" err="1" smtClean="0"/>
              <a:t>XPCoach</a:t>
            </a:r>
            <a:r>
              <a:rPr lang="en-US" dirty="0" smtClean="0"/>
              <a:t>, as tasks are completed</a:t>
            </a:r>
          </a:p>
          <a:p>
            <a:r>
              <a:rPr lang="en-US" dirty="0" smtClean="0"/>
              <a:t>C. The Product Owner, when stories are accepted</a:t>
            </a:r>
          </a:p>
          <a:p>
            <a:r>
              <a:rPr lang="en-US" dirty="0" smtClean="0"/>
              <a:t>D. The tester, when tasks are validated</a:t>
            </a:r>
          </a:p>
          <a:p>
            <a:r>
              <a:rPr lang="en-US" dirty="0" smtClean="0"/>
              <a:t>  </a:t>
            </a:r>
          </a:p>
          <a:p>
            <a:r>
              <a:rPr lang="en-US" dirty="0" smtClean="0"/>
              <a:t>The team moves tasks through the stages and queues of the task board, or </a:t>
            </a:r>
            <a:r>
              <a:rPr lang="en-US" dirty="0" err="1" smtClean="0"/>
              <a:t>Kanban</a:t>
            </a:r>
            <a:r>
              <a:rPr lang="en-US" dirty="0" smtClean="0"/>
              <a:t> board.</a:t>
            </a:r>
            <a:endParaRPr lang="en-US" dirty="0"/>
          </a:p>
        </p:txBody>
      </p:sp>
    </p:spTree>
    <p:extLst>
      <p:ext uri="{BB962C8B-B14F-4D97-AF65-F5344CB8AC3E}">
        <p14:creationId xmlns:p14="http://schemas.microsoft.com/office/powerpoint/2010/main" val="4136611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3"/>
            <a:ext cx="4572000" cy="4524315"/>
          </a:xfrm>
          <a:prstGeom prst="rect">
            <a:avLst/>
          </a:prstGeom>
        </p:spPr>
        <p:txBody>
          <a:bodyPr>
            <a:spAutoFit/>
          </a:bodyPr>
          <a:lstStyle/>
          <a:p>
            <a:r>
              <a:rPr lang="en-US" dirty="0" smtClean="0"/>
              <a:t>The correct answer is A</a:t>
            </a:r>
          </a:p>
          <a:p>
            <a:r>
              <a:rPr lang="en-US" dirty="0" smtClean="0"/>
              <a:t>With the Agile concept of frequent verification and validation of code development, checking in and testing all code changes daily is a strategy known as:</a:t>
            </a:r>
          </a:p>
          <a:p>
            <a:endParaRPr lang="en-US" dirty="0" smtClean="0"/>
          </a:p>
          <a:p>
            <a:r>
              <a:rPr lang="en-US" dirty="0" smtClean="0"/>
              <a:t>A. Continuous integration</a:t>
            </a:r>
          </a:p>
          <a:p>
            <a:r>
              <a:rPr lang="en-US" dirty="0" smtClean="0"/>
              <a:t>B. Wireframe </a:t>
            </a:r>
            <a:r>
              <a:rPr lang="en-US" dirty="0" err="1" smtClean="0"/>
              <a:t>timeboxing</a:t>
            </a:r>
            <a:endParaRPr lang="en-US" dirty="0" smtClean="0"/>
          </a:p>
          <a:p>
            <a:r>
              <a:rPr lang="en-US" dirty="0" smtClean="0"/>
              <a:t>C. Regression testing</a:t>
            </a:r>
          </a:p>
          <a:p>
            <a:r>
              <a:rPr lang="en-US" dirty="0" smtClean="0"/>
              <a:t>D. Collective swarming</a:t>
            </a:r>
          </a:p>
          <a:p>
            <a:r>
              <a:rPr lang="en-US" dirty="0" smtClean="0"/>
              <a:t>  </a:t>
            </a:r>
          </a:p>
          <a:p>
            <a:r>
              <a:rPr lang="en-US" dirty="0" smtClean="0"/>
              <a:t>With many team members working simultaneously, unforeseen problems can arise when separate components are brought together. Daily testing discovers such issues quickly without a huge loss in productivity.</a:t>
            </a:r>
            <a:endParaRPr lang="en-US" dirty="0"/>
          </a:p>
        </p:txBody>
      </p:sp>
    </p:spTree>
    <p:extLst>
      <p:ext uri="{BB962C8B-B14F-4D97-AF65-F5344CB8AC3E}">
        <p14:creationId xmlns:p14="http://schemas.microsoft.com/office/powerpoint/2010/main" val="2677877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3095860"/>
            <a:ext cx="4572000" cy="9787295"/>
          </a:xfrm>
          <a:prstGeom prst="rect">
            <a:avLst/>
          </a:prstGeom>
        </p:spPr>
        <p:txBody>
          <a:bodyPr>
            <a:spAutoFit/>
          </a:bodyPr>
          <a:lstStyle/>
          <a:p>
            <a:r>
              <a:rPr lang="en-US" dirty="0" smtClean="0"/>
              <a:t>The correct answer is B</a:t>
            </a:r>
          </a:p>
          <a:p>
            <a:r>
              <a:rPr lang="en-US" dirty="0" smtClean="0"/>
              <a:t>Which is the best description of the thought or philosophy that drives test-driven or test-first development?</a:t>
            </a:r>
          </a:p>
          <a:p>
            <a:endParaRPr lang="en-US" dirty="0" smtClean="0"/>
          </a:p>
          <a:p>
            <a:r>
              <a:rPr lang="en-US" dirty="0" smtClean="0"/>
              <a:t>A. Program the software to pass a predefined acceptance test and the team will produce error-free systems faster</a:t>
            </a:r>
          </a:p>
          <a:p>
            <a:r>
              <a:rPr lang="en-US" dirty="0" smtClean="0"/>
              <a:t>B. Write the code with the focus on passing the acceptance test and the resulting software is more likely to be free of errors while the code is more likely to remain simple and clean</a:t>
            </a:r>
          </a:p>
          <a:p>
            <a:r>
              <a:rPr lang="en-US" dirty="0" smtClean="0"/>
              <a:t>C. Create software aimed at passing acceptance tests and the team will produce fewer errors, maximize velocity, and decrease project costs</a:t>
            </a:r>
          </a:p>
          <a:p>
            <a:r>
              <a:rPr lang="en-US" dirty="0" smtClean="0"/>
              <a:t>D. For a Scrum team, this approach places importance on the Scrum Testers to understand scope and requirements quickly so that accurate tests are written up front</a:t>
            </a:r>
          </a:p>
          <a:p>
            <a:r>
              <a:rPr lang="en-US" dirty="0" smtClean="0"/>
              <a:t>  </a:t>
            </a:r>
          </a:p>
          <a:p>
            <a:r>
              <a:rPr lang="en-US" dirty="0" smtClean="0"/>
              <a:t>B is the best choice, but these are all very close. Let's look at each. The language in Answer-A is too restrictive - the mention of error-free software eliminates A! C steps too far by indicating that test-driven development will max the velocity and cut costs. That may be true for some projects and teams, but not for all cases. D is problematic because it refers to a role of Scrum Tester... not accurate. With Scrum, the team are all programmers who wear various hats...no specialization in true Scrum. B is the best choice, accurately describing the likely benefits of test-driven or test-first development.</a:t>
            </a:r>
            <a:endParaRPr lang="en-US" dirty="0"/>
          </a:p>
        </p:txBody>
      </p:sp>
    </p:spTree>
    <p:extLst>
      <p:ext uri="{BB962C8B-B14F-4D97-AF65-F5344CB8AC3E}">
        <p14:creationId xmlns:p14="http://schemas.microsoft.com/office/powerpoint/2010/main" val="2512727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726529"/>
            <a:ext cx="4572000" cy="9233297"/>
          </a:xfrm>
          <a:prstGeom prst="rect">
            <a:avLst/>
          </a:prstGeom>
        </p:spPr>
        <p:txBody>
          <a:bodyPr>
            <a:spAutoFit/>
          </a:bodyPr>
          <a:lstStyle/>
          <a:p>
            <a:r>
              <a:rPr lang="en-US" dirty="0" smtClean="0"/>
              <a:t>The correct answer is D</a:t>
            </a:r>
          </a:p>
          <a:p>
            <a:r>
              <a:rPr lang="en-US" dirty="0" smtClean="0"/>
              <a:t>An Agile team is deep into their iteration planning meeting. They have reviewed the Product Backlog with the Product Owner and are determining how many stories the team should commit to in this next iteration. The team is bogging down in the estimation details and losing momentum. The </a:t>
            </a:r>
            <a:r>
              <a:rPr lang="en-US" dirty="0" err="1" smtClean="0"/>
              <a:t>ScrumMaster</a:t>
            </a:r>
            <a:r>
              <a:rPr lang="en-US" dirty="0" smtClean="0"/>
              <a:t> suggests that each member focus on the task effort alone and exclude other activities from the estimate and assume no distractions or interruptions of the work. What is the name of this approach?</a:t>
            </a:r>
          </a:p>
          <a:p>
            <a:endParaRPr lang="en-US" dirty="0" smtClean="0"/>
          </a:p>
          <a:p>
            <a:r>
              <a:rPr lang="en-US" dirty="0" smtClean="0"/>
              <a:t>A. Minimal story effort</a:t>
            </a:r>
          </a:p>
          <a:p>
            <a:r>
              <a:rPr lang="en-US" dirty="0" smtClean="0"/>
              <a:t>B. Critical chain method</a:t>
            </a:r>
          </a:p>
          <a:p>
            <a:r>
              <a:rPr lang="en-US" dirty="0" smtClean="0"/>
              <a:t>C. Activity duration estimate</a:t>
            </a:r>
          </a:p>
          <a:p>
            <a:r>
              <a:rPr lang="en-US" dirty="0" smtClean="0"/>
              <a:t>D. Ideal time</a:t>
            </a:r>
          </a:p>
          <a:p>
            <a:r>
              <a:rPr lang="en-US" dirty="0" smtClean="0"/>
              <a:t>  </a:t>
            </a:r>
          </a:p>
          <a:p>
            <a:r>
              <a:rPr lang="en-US" dirty="0" smtClean="0"/>
              <a:t>D is correct - ideal time. With this approach, the team is asked to estimate how long a task will take if there are no distractions, no interruptions, and the proper resources are available. Intact teams may develop ideal time estimates and compare those with the actual time required. Over time, those teams will have more data and experience to translate ideal time to actual. For example, the team may find that an ideal time estimate of 1 hour translates to 2 or 2.5 hours of actual, elapsed time. Ideal time simplifies the picture by isolating variables and allowing resources to estimate tasks.</a:t>
            </a:r>
            <a:endParaRPr lang="en-US" dirty="0"/>
          </a:p>
        </p:txBody>
      </p:sp>
    </p:spTree>
    <p:extLst>
      <p:ext uri="{BB962C8B-B14F-4D97-AF65-F5344CB8AC3E}">
        <p14:creationId xmlns:p14="http://schemas.microsoft.com/office/powerpoint/2010/main" val="2254836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4"/>
            <a:ext cx="4572000" cy="4524315"/>
          </a:xfrm>
          <a:prstGeom prst="rect">
            <a:avLst/>
          </a:prstGeom>
        </p:spPr>
        <p:txBody>
          <a:bodyPr>
            <a:spAutoFit/>
          </a:bodyPr>
          <a:lstStyle/>
          <a:p>
            <a:r>
              <a:rPr lang="en-US" dirty="0" smtClean="0"/>
              <a:t>The correct answer is D</a:t>
            </a:r>
          </a:p>
          <a:p>
            <a:r>
              <a:rPr lang="en-US" dirty="0" smtClean="0"/>
              <a:t>Which of the following statements is least valid about test-first development?</a:t>
            </a:r>
          </a:p>
          <a:p>
            <a:endParaRPr lang="en-US" dirty="0" smtClean="0"/>
          </a:p>
          <a:p>
            <a:r>
              <a:rPr lang="en-US" dirty="0" smtClean="0"/>
              <a:t>A. The product should conform to the test rather than the test conform to the product</a:t>
            </a:r>
          </a:p>
          <a:p>
            <a:r>
              <a:rPr lang="en-US" dirty="0" smtClean="0"/>
              <a:t>B. Tests should be shown to fail before the product is developed to pass the test</a:t>
            </a:r>
          </a:p>
          <a:p>
            <a:r>
              <a:rPr lang="en-US" dirty="0" smtClean="0"/>
              <a:t>C. It is supported by the philosophy that a developer should know how a product will be used before creating the product</a:t>
            </a:r>
          </a:p>
          <a:p>
            <a:r>
              <a:rPr lang="en-US" dirty="0" smtClean="0"/>
              <a:t>D. Developers should write the test cases</a:t>
            </a:r>
          </a:p>
          <a:p>
            <a:r>
              <a:rPr lang="en-US" dirty="0" smtClean="0"/>
              <a:t>  </a:t>
            </a:r>
          </a:p>
          <a:p>
            <a:r>
              <a:rPr lang="en-US" dirty="0" smtClean="0"/>
              <a:t>Developers may often write test cases, but they may also be written by others, for example, a quality control group.</a:t>
            </a:r>
            <a:endParaRPr lang="en-US" dirty="0"/>
          </a:p>
        </p:txBody>
      </p:sp>
    </p:spTree>
    <p:extLst>
      <p:ext uri="{BB962C8B-B14F-4D97-AF65-F5344CB8AC3E}">
        <p14:creationId xmlns:p14="http://schemas.microsoft.com/office/powerpoint/2010/main" val="1941531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433866"/>
            <a:ext cx="4572000" cy="7294305"/>
          </a:xfrm>
          <a:prstGeom prst="rect">
            <a:avLst/>
          </a:prstGeom>
        </p:spPr>
        <p:txBody>
          <a:bodyPr>
            <a:spAutoFit/>
          </a:bodyPr>
          <a:lstStyle/>
          <a:p>
            <a:r>
              <a:rPr lang="en-US" dirty="0" smtClean="0"/>
              <a:t>The correct answer is B</a:t>
            </a:r>
          </a:p>
          <a:p>
            <a:r>
              <a:rPr lang="en-US" dirty="0" smtClean="0"/>
              <a:t>Should the Product Owner be involved in iteration planning?</a:t>
            </a:r>
          </a:p>
          <a:p>
            <a:endParaRPr lang="en-US" dirty="0" smtClean="0"/>
          </a:p>
          <a:p>
            <a:r>
              <a:rPr lang="en-US" dirty="0" smtClean="0"/>
              <a:t>A. No, the Agile team is responsible for getting the work done, and only the team is allowed to commit to the number of features or stories that will be accomplished in an iteration</a:t>
            </a:r>
          </a:p>
          <a:p>
            <a:r>
              <a:rPr lang="en-US" dirty="0" smtClean="0"/>
              <a:t>B. Yes, the Product Owner grooms or maintains the Product Backlog and will prioritize that backlog based on those features or stories that will add the most value</a:t>
            </a:r>
          </a:p>
          <a:p>
            <a:r>
              <a:rPr lang="en-US" dirty="0" smtClean="0"/>
              <a:t>C. No, the Product Owner is not involved in iteration planning unless he or she is a subject matter expert and truly part of the working team</a:t>
            </a:r>
          </a:p>
          <a:p>
            <a:r>
              <a:rPr lang="en-US" dirty="0" smtClean="0"/>
              <a:t>D. Yes, the Product Owner is included in iteration planning as a chicken - observe and listen without interrupting</a:t>
            </a:r>
          </a:p>
          <a:p>
            <a:r>
              <a:rPr lang="en-US" dirty="0" smtClean="0"/>
              <a:t>  </a:t>
            </a:r>
          </a:p>
          <a:p>
            <a:r>
              <a:rPr lang="en-US" dirty="0" smtClean="0"/>
              <a:t>B is the best choice of the 4. The Product Owner creates and maintains the backlog for the product; therefore, the Product Owner directs the team activities by prioritizing items in the backlog based on anticipated value of each item.</a:t>
            </a:r>
            <a:endParaRPr lang="en-US" dirty="0"/>
          </a:p>
        </p:txBody>
      </p:sp>
    </p:spTree>
    <p:extLst>
      <p:ext uri="{BB962C8B-B14F-4D97-AF65-F5344CB8AC3E}">
        <p14:creationId xmlns:p14="http://schemas.microsoft.com/office/powerpoint/2010/main" val="1608795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510540"/>
            <a:ext cx="4572000" cy="5909310"/>
          </a:xfrm>
          <a:prstGeom prst="rect">
            <a:avLst/>
          </a:prstGeom>
        </p:spPr>
        <p:txBody>
          <a:bodyPr>
            <a:spAutoFit/>
          </a:bodyPr>
          <a:lstStyle/>
          <a:p>
            <a:r>
              <a:rPr lang="en-US" dirty="0" smtClean="0"/>
              <a:t>The correct answer is C</a:t>
            </a:r>
          </a:p>
          <a:p>
            <a:r>
              <a:rPr lang="en-US" dirty="0" smtClean="0"/>
              <a:t>Which is the least valid idea about negotiation in Agile projects?</a:t>
            </a:r>
          </a:p>
          <a:p>
            <a:endParaRPr lang="en-US" dirty="0" smtClean="0"/>
          </a:p>
          <a:p>
            <a:r>
              <a:rPr lang="en-US" dirty="0" smtClean="0"/>
              <a:t>A. The content of a user story is highly negotiable</a:t>
            </a:r>
          </a:p>
          <a:p>
            <a:r>
              <a:rPr lang="en-US" dirty="0" smtClean="0"/>
              <a:t>B. Customer collaboration is more valued than contract negotiations</a:t>
            </a:r>
          </a:p>
          <a:p>
            <a:r>
              <a:rPr lang="en-US" dirty="0" smtClean="0"/>
              <a:t>C. The Product Owner drives the project priorities while the team coach drives trade-offs to protect the team's rights</a:t>
            </a:r>
          </a:p>
          <a:p>
            <a:r>
              <a:rPr lang="en-US" dirty="0" smtClean="0"/>
              <a:t>D. Because negotiations can easily become adversarial, the customer should collaboratively help make the best decisions with the project team</a:t>
            </a:r>
          </a:p>
          <a:p>
            <a:r>
              <a:rPr lang="en-US" dirty="0" smtClean="0"/>
              <a:t>  </a:t>
            </a:r>
          </a:p>
          <a:p>
            <a:r>
              <a:rPr lang="en-US" dirty="0" smtClean="0"/>
              <a:t>Choices A,B, and D are valid. Answer-C is the least valid in that the team coach or </a:t>
            </a:r>
            <a:r>
              <a:rPr lang="en-US" dirty="0" err="1" smtClean="0"/>
              <a:t>ScrumMaster</a:t>
            </a:r>
            <a:r>
              <a:rPr lang="en-US" dirty="0" smtClean="0"/>
              <a:t> protects the Agile values and process and is not the negotiator for the team's rights.</a:t>
            </a:r>
            <a:endParaRPr lang="en-US" dirty="0"/>
          </a:p>
        </p:txBody>
      </p:sp>
    </p:spTree>
    <p:extLst>
      <p:ext uri="{BB962C8B-B14F-4D97-AF65-F5344CB8AC3E}">
        <p14:creationId xmlns:p14="http://schemas.microsoft.com/office/powerpoint/2010/main" val="2857685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3"/>
            <a:ext cx="4572000" cy="4524315"/>
          </a:xfrm>
          <a:prstGeom prst="rect">
            <a:avLst/>
          </a:prstGeom>
        </p:spPr>
        <p:txBody>
          <a:bodyPr>
            <a:spAutoFit/>
          </a:bodyPr>
          <a:lstStyle/>
          <a:p>
            <a:r>
              <a:rPr lang="en-US" dirty="0" smtClean="0"/>
              <a:t>The correct answer is C</a:t>
            </a:r>
          </a:p>
          <a:p>
            <a:r>
              <a:rPr lang="en-US" dirty="0" smtClean="0"/>
              <a:t>A wireframe is not useful in which of the following ways?</a:t>
            </a:r>
          </a:p>
          <a:p>
            <a:endParaRPr lang="en-US" dirty="0" smtClean="0"/>
          </a:p>
          <a:p>
            <a:r>
              <a:rPr lang="en-US" dirty="0" smtClean="0"/>
              <a:t>A. It minimizes the need for heavy documentation to convey design details</a:t>
            </a:r>
          </a:p>
          <a:p>
            <a:r>
              <a:rPr lang="en-US" dirty="0" smtClean="0"/>
              <a:t>B. No coding is required to create it</a:t>
            </a:r>
          </a:p>
          <a:p>
            <a:r>
              <a:rPr lang="en-US" dirty="0" smtClean="0"/>
              <a:t>C. It provides the customer with value as an early working prototype</a:t>
            </a:r>
          </a:p>
          <a:p>
            <a:r>
              <a:rPr lang="en-US" dirty="0" smtClean="0"/>
              <a:t>D. It provides a starting point for users and developers to create a system</a:t>
            </a:r>
          </a:p>
          <a:p>
            <a:r>
              <a:rPr lang="en-US" dirty="0" smtClean="0"/>
              <a:t>  </a:t>
            </a:r>
          </a:p>
          <a:p>
            <a:r>
              <a:rPr lang="en-US" dirty="0" smtClean="0"/>
              <a:t>A wireframe is not a working prototype. It is an illustration of how a user will interact with a system without the encumbrance of heavy requirements documentation.</a:t>
            </a:r>
            <a:endParaRPr lang="en-US" dirty="0"/>
          </a:p>
        </p:txBody>
      </p:sp>
    </p:spTree>
    <p:extLst>
      <p:ext uri="{BB962C8B-B14F-4D97-AF65-F5344CB8AC3E}">
        <p14:creationId xmlns:p14="http://schemas.microsoft.com/office/powerpoint/2010/main" val="1909237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597459"/>
            <a:ext cx="4572000" cy="4247317"/>
          </a:xfrm>
          <a:prstGeom prst="rect">
            <a:avLst/>
          </a:prstGeom>
        </p:spPr>
        <p:txBody>
          <a:bodyPr>
            <a:spAutoFit/>
          </a:bodyPr>
          <a:lstStyle/>
          <a:p>
            <a:r>
              <a:rPr lang="en-US" dirty="0" smtClean="0"/>
              <a:t>The correct answer is D</a:t>
            </a:r>
          </a:p>
          <a:p>
            <a:r>
              <a:rPr lang="en-US" dirty="0" smtClean="0"/>
              <a:t>What tactic has the primary purpose of helping the team coordinate work and communicate issues?</a:t>
            </a:r>
          </a:p>
          <a:p>
            <a:endParaRPr lang="en-US" dirty="0" smtClean="0"/>
          </a:p>
          <a:p>
            <a:r>
              <a:rPr lang="en-US" dirty="0" smtClean="0"/>
              <a:t>A. Information radiators</a:t>
            </a:r>
          </a:p>
          <a:p>
            <a:r>
              <a:rPr lang="en-US" dirty="0" smtClean="0"/>
              <a:t>B. </a:t>
            </a:r>
            <a:r>
              <a:rPr lang="en-US" dirty="0" err="1" smtClean="0"/>
              <a:t>Kanban</a:t>
            </a:r>
            <a:r>
              <a:rPr lang="en-US" dirty="0" smtClean="0"/>
              <a:t> board</a:t>
            </a:r>
          </a:p>
          <a:p>
            <a:r>
              <a:rPr lang="en-US" dirty="0" smtClean="0"/>
              <a:t>C. Iteration planning meetings</a:t>
            </a:r>
          </a:p>
          <a:p>
            <a:r>
              <a:rPr lang="en-US" dirty="0" smtClean="0"/>
              <a:t>D. Daily standup meetings</a:t>
            </a:r>
          </a:p>
          <a:p>
            <a:r>
              <a:rPr lang="en-US" dirty="0" smtClean="0"/>
              <a:t>  </a:t>
            </a:r>
          </a:p>
          <a:p>
            <a:r>
              <a:rPr lang="en-US" dirty="0" smtClean="0"/>
              <a:t>Each choice has a contribution to make here, but the optimum choice is the daily standup meeting, which allows the team to share what has been accomplished, what is planned, and what issues are present.</a:t>
            </a:r>
            <a:endParaRPr lang="en-US" dirty="0"/>
          </a:p>
        </p:txBody>
      </p:sp>
    </p:spTree>
    <p:extLst>
      <p:ext uri="{BB962C8B-B14F-4D97-AF65-F5344CB8AC3E}">
        <p14:creationId xmlns:p14="http://schemas.microsoft.com/office/powerpoint/2010/main" val="2016603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695202"/>
            <a:ext cx="4572000" cy="6186309"/>
          </a:xfrm>
          <a:prstGeom prst="rect">
            <a:avLst/>
          </a:prstGeom>
        </p:spPr>
        <p:txBody>
          <a:bodyPr>
            <a:spAutoFit/>
          </a:bodyPr>
          <a:lstStyle/>
          <a:p>
            <a:r>
              <a:rPr lang="en-US" dirty="0" smtClean="0"/>
              <a:t>The correct answer is C</a:t>
            </a:r>
          </a:p>
          <a:p>
            <a:r>
              <a:rPr lang="en-US" dirty="0" smtClean="0"/>
              <a:t>Members of the team reference and post updates to a graph that shows the progression of features to being 'Done.' Examples of the stages of progress include Backlog, Development, Testing, Done. What is the name of this graph?</a:t>
            </a:r>
          </a:p>
          <a:p>
            <a:endParaRPr lang="en-US" dirty="0" smtClean="0"/>
          </a:p>
          <a:p>
            <a:r>
              <a:rPr lang="en-US" dirty="0" smtClean="0"/>
              <a:t>A. Rolling wave plan</a:t>
            </a:r>
          </a:p>
          <a:p>
            <a:r>
              <a:rPr lang="en-US" dirty="0" smtClean="0"/>
              <a:t>B. Product roadmap</a:t>
            </a:r>
          </a:p>
          <a:p>
            <a:r>
              <a:rPr lang="en-US" dirty="0" smtClean="0"/>
              <a:t>C. Cumulative flow diagram</a:t>
            </a:r>
          </a:p>
          <a:p>
            <a:r>
              <a:rPr lang="en-US" dirty="0" smtClean="0"/>
              <a:t>D. Iteration </a:t>
            </a:r>
            <a:r>
              <a:rPr lang="en-US" dirty="0" err="1" smtClean="0"/>
              <a:t>burndown</a:t>
            </a:r>
            <a:r>
              <a:rPr lang="en-US" dirty="0" smtClean="0"/>
              <a:t> chart</a:t>
            </a:r>
          </a:p>
          <a:p>
            <a:r>
              <a:rPr lang="en-US" dirty="0" smtClean="0"/>
              <a:t>  </a:t>
            </a:r>
          </a:p>
          <a:p>
            <a:r>
              <a:rPr lang="en-US" dirty="0" smtClean="0"/>
              <a:t>C is correct. A cumulative flow diagram depicts the progression of a set of features from start to finish. Typically, the diagram lists features in the first column on the left. Moving left to right, the features flow through the diagram with labeled columns, such as Backlog, Started, Analysis, Coding, Testing, and Done. A stakeholder can find a feature on the chart and spot the current status easily - high visibility.</a:t>
            </a:r>
            <a:endParaRPr lang="en-US" dirty="0"/>
          </a:p>
        </p:txBody>
      </p:sp>
    </p:spTree>
    <p:extLst>
      <p:ext uri="{BB962C8B-B14F-4D97-AF65-F5344CB8AC3E}">
        <p14:creationId xmlns:p14="http://schemas.microsoft.com/office/powerpoint/2010/main" val="1312366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714" y="177800"/>
            <a:ext cx="8534400" cy="3970318"/>
          </a:xfrm>
          <a:prstGeom prst="rect">
            <a:avLst/>
          </a:prstGeom>
        </p:spPr>
        <p:txBody>
          <a:bodyPr wrap="square">
            <a:spAutoFit/>
          </a:bodyPr>
          <a:lstStyle/>
          <a:p>
            <a:r>
              <a:rPr lang="en-US" dirty="0" smtClean="0"/>
              <a:t>The correct answer is B</a:t>
            </a:r>
          </a:p>
          <a:p>
            <a:r>
              <a:rPr lang="en-US" dirty="0" smtClean="0"/>
              <a:t>Which of these statements is the best reflection of the Agile concept of continuous integration?</a:t>
            </a:r>
          </a:p>
          <a:p>
            <a:endParaRPr lang="en-US" dirty="0" smtClean="0"/>
          </a:p>
          <a:p>
            <a:r>
              <a:rPr lang="en-US" dirty="0" smtClean="0"/>
              <a:t>A. The Daily Standup Meeting</a:t>
            </a:r>
          </a:p>
          <a:p>
            <a:r>
              <a:rPr lang="en-US" dirty="0" smtClean="0"/>
              <a:t>B. The daily build including any new features</a:t>
            </a:r>
          </a:p>
          <a:p>
            <a:r>
              <a:rPr lang="en-US" dirty="0" smtClean="0"/>
              <a:t>C. Periodic offsite meetings with vendors and subcontractors contributing to the product</a:t>
            </a:r>
          </a:p>
          <a:p>
            <a:r>
              <a:rPr lang="en-US" dirty="0" smtClean="0"/>
              <a:t>D. Frequent user-acceptance tests</a:t>
            </a:r>
          </a:p>
          <a:p>
            <a:r>
              <a:rPr lang="en-US" dirty="0" smtClean="0"/>
              <a:t>  </a:t>
            </a:r>
          </a:p>
          <a:p>
            <a:r>
              <a:rPr lang="en-US" dirty="0" smtClean="0"/>
              <a:t>B is the best choice. Checking in completed features daily, compiling all code, and a routine, daily build reflect this concept of continuous integration. This practice ensures that problems embedded in new features are discovered almost immediately. If the new attribute breaks the code, you'll know it. Answer-A is a decoy - the Daily Standup Meeting is for communication purposes, primarily. Likewise, C and D are not correct.</a:t>
            </a:r>
            <a:endParaRPr lang="en-US" dirty="0"/>
          </a:p>
        </p:txBody>
      </p:sp>
    </p:spTree>
    <p:extLst>
      <p:ext uri="{BB962C8B-B14F-4D97-AF65-F5344CB8AC3E}">
        <p14:creationId xmlns:p14="http://schemas.microsoft.com/office/powerpoint/2010/main" val="12930367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966791"/>
            <a:ext cx="4572000" cy="3693319"/>
          </a:xfrm>
          <a:prstGeom prst="rect">
            <a:avLst/>
          </a:prstGeom>
        </p:spPr>
        <p:txBody>
          <a:bodyPr>
            <a:spAutoFit/>
          </a:bodyPr>
          <a:lstStyle/>
          <a:p>
            <a:r>
              <a:rPr lang="en-US" dirty="0" smtClean="0"/>
              <a:t>The correct answer is D</a:t>
            </a:r>
          </a:p>
          <a:p>
            <a:r>
              <a:rPr lang="en-US" dirty="0" smtClean="0"/>
              <a:t>For communications reasons, the ideal size of a team using Scrum is:</a:t>
            </a:r>
          </a:p>
          <a:p>
            <a:endParaRPr lang="en-US" dirty="0" smtClean="0"/>
          </a:p>
          <a:p>
            <a:r>
              <a:rPr lang="en-US" dirty="0" smtClean="0"/>
              <a:t>A. 7 +/- 3</a:t>
            </a:r>
          </a:p>
          <a:p>
            <a:r>
              <a:rPr lang="en-US" dirty="0" smtClean="0"/>
              <a:t>B. 10 for co-located teams and 12 for distributed teams</a:t>
            </a:r>
          </a:p>
          <a:p>
            <a:r>
              <a:rPr lang="en-US" dirty="0" smtClean="0"/>
              <a:t>C. Based on the Agile value of individuals and iterations over processes and tools</a:t>
            </a:r>
          </a:p>
          <a:p>
            <a:r>
              <a:rPr lang="en-US" dirty="0" smtClean="0"/>
              <a:t>D. From 5 to 9</a:t>
            </a:r>
          </a:p>
          <a:p>
            <a:r>
              <a:rPr lang="en-US" dirty="0" smtClean="0"/>
              <a:t>  </a:t>
            </a:r>
          </a:p>
          <a:p>
            <a:r>
              <a:rPr lang="en-US" dirty="0" smtClean="0"/>
              <a:t>The ideal Scrum team size is sometimes quoted as 7 +/- 2, which is 5-9.</a:t>
            </a:r>
            <a:endParaRPr lang="en-US" dirty="0"/>
          </a:p>
        </p:txBody>
      </p:sp>
    </p:spTree>
    <p:extLst>
      <p:ext uri="{BB962C8B-B14F-4D97-AF65-F5344CB8AC3E}">
        <p14:creationId xmlns:p14="http://schemas.microsoft.com/office/powerpoint/2010/main" val="1647291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8124"/>
            <a:ext cx="4572000" cy="4801314"/>
          </a:xfrm>
          <a:prstGeom prst="rect">
            <a:avLst/>
          </a:prstGeom>
        </p:spPr>
        <p:txBody>
          <a:bodyPr>
            <a:spAutoFit/>
          </a:bodyPr>
          <a:lstStyle/>
          <a:p>
            <a:r>
              <a:rPr lang="en-US" dirty="0" smtClean="0"/>
              <a:t>The correct answer is C</a:t>
            </a:r>
          </a:p>
          <a:p>
            <a:r>
              <a:rPr lang="en-US" dirty="0" smtClean="0"/>
              <a:t>In creating the team space, what feature provides the most effective method of communication?</a:t>
            </a:r>
          </a:p>
          <a:p>
            <a:endParaRPr lang="en-US" dirty="0" smtClean="0"/>
          </a:p>
          <a:p>
            <a:r>
              <a:rPr lang="en-US" dirty="0" smtClean="0"/>
              <a:t>A. A quiet environment, facilitating osmotic communications</a:t>
            </a:r>
          </a:p>
          <a:p>
            <a:r>
              <a:rPr lang="en-US" dirty="0" smtClean="0"/>
              <a:t>B. Agile tooling, providing a common form of messaging and documentation</a:t>
            </a:r>
          </a:p>
          <a:p>
            <a:r>
              <a:rPr lang="en-US" dirty="0" smtClean="0"/>
              <a:t>C. Desk positioning, creating team face-to-face situations</a:t>
            </a:r>
          </a:p>
          <a:p>
            <a:r>
              <a:rPr lang="en-US" dirty="0" smtClean="0"/>
              <a:t>D. Continuous integration, creating a common, up-to-date test environment</a:t>
            </a:r>
          </a:p>
          <a:p>
            <a:r>
              <a:rPr lang="en-US" dirty="0" smtClean="0"/>
              <a:t>  </a:t>
            </a:r>
          </a:p>
          <a:p>
            <a:r>
              <a:rPr lang="en-US" dirty="0" smtClean="0"/>
              <a:t>Face-to-face communications are the most effective; the majority of face-to-face conversation content is non-verbal.</a:t>
            </a:r>
            <a:endParaRPr lang="en-US" dirty="0"/>
          </a:p>
        </p:txBody>
      </p:sp>
    </p:spTree>
    <p:extLst>
      <p:ext uri="{BB962C8B-B14F-4D97-AF65-F5344CB8AC3E}">
        <p14:creationId xmlns:p14="http://schemas.microsoft.com/office/powerpoint/2010/main" val="38957720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412794"/>
            <a:ext cx="4572000" cy="4524315"/>
          </a:xfrm>
          <a:prstGeom prst="rect">
            <a:avLst/>
          </a:prstGeom>
        </p:spPr>
        <p:txBody>
          <a:bodyPr>
            <a:spAutoFit/>
          </a:bodyPr>
          <a:lstStyle/>
          <a:p>
            <a:r>
              <a:rPr lang="en-US" dirty="0" smtClean="0"/>
              <a:t>The correct answer is B</a:t>
            </a:r>
          </a:p>
          <a:p>
            <a:r>
              <a:rPr lang="en-US" dirty="0" smtClean="0"/>
              <a:t>Which of the following series conveys the most appropriate order of consideration when prioritizing Agile stories?</a:t>
            </a:r>
          </a:p>
          <a:p>
            <a:endParaRPr lang="en-US" dirty="0" smtClean="0"/>
          </a:p>
          <a:p>
            <a:r>
              <a:rPr lang="en-US" dirty="0" smtClean="0"/>
              <a:t>A. Working software, value base, compliance</a:t>
            </a:r>
          </a:p>
          <a:p>
            <a:r>
              <a:rPr lang="en-US" dirty="0" smtClean="0"/>
              <a:t>B. Compliance, value base, working software</a:t>
            </a:r>
          </a:p>
          <a:p>
            <a:r>
              <a:rPr lang="en-US" dirty="0" smtClean="0"/>
              <a:t>C. Value base, compliance, working software</a:t>
            </a:r>
          </a:p>
          <a:p>
            <a:r>
              <a:rPr lang="en-US" dirty="0" smtClean="0"/>
              <a:t>D. Value base, working software, compliance</a:t>
            </a:r>
          </a:p>
          <a:p>
            <a:r>
              <a:rPr lang="en-US" dirty="0" smtClean="0"/>
              <a:t>  </a:t>
            </a:r>
          </a:p>
          <a:p>
            <a:r>
              <a:rPr lang="en-US" dirty="0" smtClean="0"/>
              <a:t>Compliance to external regulations and usually internal policy is not optional, and must be considered before financial priorities. Complying with government regulations, for example, is often at the expense of otherwise less costly approaches.</a:t>
            </a:r>
            <a:endParaRPr lang="en-US" dirty="0"/>
          </a:p>
        </p:txBody>
      </p:sp>
    </p:spTree>
    <p:extLst>
      <p:ext uri="{BB962C8B-B14F-4D97-AF65-F5344CB8AC3E}">
        <p14:creationId xmlns:p14="http://schemas.microsoft.com/office/powerpoint/2010/main" val="3228576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28124"/>
            <a:ext cx="4572000" cy="4801314"/>
          </a:xfrm>
          <a:prstGeom prst="rect">
            <a:avLst/>
          </a:prstGeom>
        </p:spPr>
        <p:txBody>
          <a:bodyPr>
            <a:spAutoFit/>
          </a:bodyPr>
          <a:lstStyle/>
          <a:p>
            <a:r>
              <a:rPr lang="en-US" dirty="0" smtClean="0"/>
              <a:t>The correct answer is A</a:t>
            </a:r>
          </a:p>
          <a:p>
            <a:r>
              <a:rPr lang="en-US" dirty="0" smtClean="0"/>
              <a:t>A challenging aspect of Agile projects is that processes and methods should be adapted to fit the project. This analysis and adaptation is known as:</a:t>
            </a:r>
          </a:p>
          <a:p>
            <a:endParaRPr lang="en-US" dirty="0" smtClean="0"/>
          </a:p>
          <a:p>
            <a:r>
              <a:rPr lang="en-US" dirty="0" smtClean="0"/>
              <a:t>A. Process tailoring</a:t>
            </a:r>
          </a:p>
          <a:p>
            <a:r>
              <a:rPr lang="en-US" dirty="0" smtClean="0"/>
              <a:t>B. Value stream mapping</a:t>
            </a:r>
          </a:p>
          <a:p>
            <a:r>
              <a:rPr lang="en-US" dirty="0" smtClean="0"/>
              <a:t>C. The chameleon effect</a:t>
            </a:r>
          </a:p>
          <a:p>
            <a:r>
              <a:rPr lang="en-US" dirty="0" smtClean="0"/>
              <a:t>D. Project adaptation</a:t>
            </a:r>
          </a:p>
          <a:p>
            <a:r>
              <a:rPr lang="en-US" dirty="0" smtClean="0"/>
              <a:t>  </a:t>
            </a:r>
          </a:p>
          <a:p>
            <a:r>
              <a:rPr lang="en-US" dirty="0" smtClean="0"/>
              <a:t>The concept that drives process tailoring is that the process should add value to the project - not vice versa. Projects should not be shaped to fit the process or tools - the shapes of processes and tools should be driven by the project need.</a:t>
            </a:r>
            <a:endParaRPr lang="en-US" dirty="0"/>
          </a:p>
        </p:txBody>
      </p:sp>
    </p:spTree>
    <p:extLst>
      <p:ext uri="{BB962C8B-B14F-4D97-AF65-F5344CB8AC3E}">
        <p14:creationId xmlns:p14="http://schemas.microsoft.com/office/powerpoint/2010/main" val="1341053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30</TotalTime>
  <Words>6968</Words>
  <Application>Microsoft Office PowerPoint</Application>
  <PresentationFormat>On-screen Show (4:3)</PresentationFormat>
  <Paragraphs>448</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AMR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Mahmood Siddiqui</dc:creator>
  <cp:lastModifiedBy>Mahmood Siddiqui</cp:lastModifiedBy>
  <cp:revision>3</cp:revision>
  <dcterms:created xsi:type="dcterms:W3CDTF">2013-06-02T04:13:10Z</dcterms:created>
  <dcterms:modified xsi:type="dcterms:W3CDTF">2013-06-02T04:43:30Z</dcterms:modified>
</cp:coreProperties>
</file>