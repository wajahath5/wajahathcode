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4"/>
  </p:sldMasterIdLst>
  <p:notesMasterIdLst>
    <p:notesMasterId r:id="rId17"/>
  </p:notesMasterIdLst>
  <p:handoutMasterIdLst>
    <p:handoutMasterId r:id="rId18"/>
  </p:handoutMasterIdLst>
  <p:sldIdLst>
    <p:sldId id="960" r:id="rId5"/>
    <p:sldId id="892" r:id="rId6"/>
    <p:sldId id="974" r:id="rId7"/>
    <p:sldId id="952" r:id="rId8"/>
    <p:sldId id="963" r:id="rId9"/>
    <p:sldId id="964" r:id="rId10"/>
    <p:sldId id="966" r:id="rId11"/>
    <p:sldId id="896" r:id="rId12"/>
    <p:sldId id="959" r:id="rId13"/>
    <p:sldId id="975" r:id="rId14"/>
    <p:sldId id="969" r:id="rId15"/>
    <p:sldId id="970" r:id="rId16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F4C990"/>
    <a:srgbClr val="FFFF99"/>
    <a:srgbClr val="89FFB0"/>
    <a:srgbClr val="66FF99"/>
    <a:srgbClr val="66FFCC"/>
    <a:srgbClr val="00FF99"/>
    <a:srgbClr val="0033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84" autoAdjust="0"/>
    <p:restoredTop sz="99664" autoAdjust="0"/>
  </p:normalViewPr>
  <p:slideViewPr>
    <p:cSldViewPr snapToGrid="0">
      <p:cViewPr>
        <p:scale>
          <a:sx n="100" d="100"/>
          <a:sy n="100" d="100"/>
        </p:scale>
        <p:origin x="-810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-2538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513" y="0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C52EA24-630C-4679-B3FD-93A29BD0A488}" type="datetimeFigureOut">
              <a:rPr lang="en-US"/>
              <a:pPr>
                <a:defRPr/>
              </a:pPr>
              <a:t>11/18/2013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513" y="8829675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314378B-2027-4A8A-8DC7-11468CB6F4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633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7513" y="0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6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66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805" y="4416426"/>
            <a:ext cx="5504204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675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513" y="8829675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FA99AE7-C9B2-4EBA-8DBB-9A6B6FB0A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113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Attending the Project</a:t>
            </a:r>
            <a:r>
              <a:rPr lang="en-GB" baseline="0" dirty="0" smtClean="0">
                <a:solidFill>
                  <a:schemeClr val="bg1">
                    <a:lumMod val="50000"/>
                  </a:schemeClr>
                </a:solidFill>
              </a:rPr>
              <a:t> Management in an Agile world class will teach PM’s how to create and use this document. </a:t>
            </a:r>
          </a:p>
          <a:p>
            <a:r>
              <a:rPr lang="en-GB" baseline="0" dirty="0" smtClean="0">
                <a:solidFill>
                  <a:schemeClr val="bg1">
                    <a:lumMod val="50000"/>
                  </a:schemeClr>
                </a:solidFill>
              </a:rPr>
              <a:t>Teams will begin to fill out project specific documentation when they attend the “Iteration 0”. </a:t>
            </a:r>
          </a:p>
          <a:p>
            <a:endParaRPr lang="en-GB" baseline="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baseline="0" dirty="0" smtClean="0">
                <a:solidFill>
                  <a:schemeClr val="bg1">
                    <a:lumMod val="50000"/>
                  </a:schemeClr>
                </a:solidFill>
              </a:rPr>
              <a:t>Schedule in Iteration 0 Agile Project Teams Workshop by contacting your IT Project Performance mentor or Agile Coach. </a:t>
            </a: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Attending the Project</a:t>
            </a:r>
            <a:r>
              <a:rPr lang="en-GB" baseline="0" dirty="0" smtClean="0">
                <a:solidFill>
                  <a:schemeClr val="bg1">
                    <a:lumMod val="50000"/>
                  </a:schemeClr>
                </a:solidFill>
              </a:rPr>
              <a:t> Management in an Agile world class will teach PM’s how to create and use this document. </a:t>
            </a:r>
          </a:p>
          <a:p>
            <a:r>
              <a:rPr lang="en-GB" baseline="0" dirty="0" smtClean="0">
                <a:solidFill>
                  <a:schemeClr val="bg1">
                    <a:lumMod val="50000"/>
                  </a:schemeClr>
                </a:solidFill>
              </a:rPr>
              <a:t>Teams will begin to fill out project specific documentation when they attend the “Iteration 0”. </a:t>
            </a:r>
          </a:p>
          <a:p>
            <a:endParaRPr lang="en-GB" baseline="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baseline="0" dirty="0" smtClean="0">
                <a:solidFill>
                  <a:schemeClr val="bg1">
                    <a:lumMod val="50000"/>
                  </a:schemeClr>
                </a:solidFill>
              </a:rPr>
              <a:t>Schedule in Iteration 0 Agile Project Teams Workshop by contacting your IT Project Performance mentor or Agile Coach. </a:t>
            </a: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This information will</a:t>
            </a:r>
            <a:r>
              <a:rPr lang="en-US" baseline="0" dirty="0" smtClean="0"/>
              <a:t> also be in your PAD documents. </a:t>
            </a:r>
          </a:p>
          <a:p>
            <a:endParaRPr lang="en-US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For more information regarding the funding</a:t>
            </a:r>
            <a:r>
              <a:rPr lang="en-US" dirty="0" smtClean="0"/>
              <a:t> process please refer to the 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</a:t>
            </a:r>
            <a:endParaRPr lang="en-US" baseline="0" dirty="0" smtClean="0"/>
          </a:p>
          <a:p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4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an explanation of</a:t>
            </a:r>
            <a:r>
              <a:rPr lang="en-US" baseline="0" dirty="0" smtClean="0"/>
              <a:t> team roles and responsibilities, please see the ITPPT Jetnet Site.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A99AE7-C9B2-4EBA-8DBB-9A6B6FB0AAE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is going to be the costs for any needed softwar</a:t>
            </a:r>
            <a:r>
              <a:rPr lang="en-US" baseline="0" dirty="0" smtClean="0"/>
              <a:t>e or hardware for the project to be completed. </a:t>
            </a:r>
          </a:p>
          <a:p>
            <a:endParaRPr lang="en-US" baseline="0" dirty="0" smtClean="0"/>
          </a:p>
          <a:p>
            <a:r>
              <a:rPr lang="en-US" dirty="0" smtClean="0"/>
              <a:t>This information will</a:t>
            </a:r>
            <a:r>
              <a:rPr lang="en-US" baseline="0" dirty="0" smtClean="0"/>
              <a:t> also be in your PAD documents. </a:t>
            </a:r>
          </a:p>
          <a:p>
            <a:endParaRPr lang="en-US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For more information regarding the funding</a:t>
            </a:r>
            <a:r>
              <a:rPr lang="en-US" dirty="0" smtClean="0"/>
              <a:t> process please refer to the 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</a:t>
            </a:r>
            <a:endParaRPr lang="en-US" baseline="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A99AE7-C9B2-4EBA-8DBB-9A6B6FB0AAE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A Risk Assessment should be performed during Iteration 0 and each iteration thereafter. The risks should be assessed to rank order from the critical to the trivial making it possible to prioritize the actions to address the risks</a:t>
            </a:r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 roadmap will show the risks that have been identified during this assessment.  Risk Management will occur during the Release and contained in the Release Plan.</a:t>
            </a:r>
            <a:endParaRPr lang="en-US" sz="1200" kern="120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endParaRPr lang="en-US" dirty="0" smtClean="0"/>
          </a:p>
          <a:p>
            <a:r>
              <a:rPr lang="en-US" dirty="0" smtClean="0"/>
              <a:t>For further guidance</a:t>
            </a:r>
            <a:r>
              <a:rPr lang="en-US" baseline="0" dirty="0" smtClean="0"/>
              <a:t> on Risk Management please refer to the Risk Guide published on Jetnet by the IT Project Performance Team.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A99AE7-C9B2-4EBA-8DBB-9A6B6FB0AAE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42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The purpose of this slide is to describe any assumptions impacting</a:t>
            </a:r>
            <a:r>
              <a:rPr lang="en-US" baseline="0" dirty="0" smtClean="0"/>
              <a:t> the </a:t>
            </a:r>
            <a:r>
              <a:rPr lang="en-US" dirty="0" smtClean="0"/>
              <a:t>Product/Project Roadmap.  Assumptions related to internal/external</a:t>
            </a:r>
            <a:r>
              <a:rPr lang="en-US" baseline="0" dirty="0" smtClean="0"/>
              <a:t> resource needs, hardware/software requirements, and Team availability should be noted.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Constraints are also listed and include a type category.  Type could be technology, regulatory, contract or other. </a:t>
            </a:r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8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Backgrou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Picture 9" descr="PPBar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6172200"/>
            <a:ext cx="9144000" cy="365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463675"/>
            <a:ext cx="7315200" cy="1470025"/>
          </a:xfrm>
        </p:spPr>
        <p:txBody>
          <a:bodyPr/>
          <a:lstStyle>
            <a:lvl1pPr>
              <a:lnSpc>
                <a:spcPts val="3900"/>
              </a:lnSpc>
              <a:spcAft>
                <a:spcPts val="0"/>
              </a:spcAft>
              <a:defRPr sz="4000" kern="1200" spc="-160" baseline="0"/>
            </a:lvl1pPr>
          </a:lstStyle>
          <a:p>
            <a:r>
              <a:rPr lang="en-US" dirty="0" smtClean="0"/>
              <a:t>Click To Edit Master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934222"/>
            <a:ext cx="5689600" cy="838200"/>
          </a:xfrm>
        </p:spPr>
        <p:txBody>
          <a:bodyPr lIns="0">
            <a:normAutofit/>
          </a:bodyPr>
          <a:lstStyle>
            <a:lvl1pPr marL="0" indent="0" algn="l">
              <a:buNone/>
              <a:defRPr sz="2600" b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1686" y="6172200"/>
            <a:ext cx="2133600" cy="365125"/>
          </a:xfrm>
        </p:spPr>
        <p:txBody>
          <a:bodyPr/>
          <a:lstStyle>
            <a:lvl1pPr algn="l">
              <a:defRPr/>
            </a:lvl1pPr>
          </a:lstStyle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‹#›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341312"/>
            <a:ext cx="274320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b="1" dirty="0" smtClean="0">
                <a:solidFill>
                  <a:srgbClr val="003E7B"/>
                </a:solidFill>
                <a:latin typeface="Helvetica" pitchFamily="34" charset="0"/>
                <a:cs typeface="Helvetica" pitchFamily="34" charset="0"/>
              </a:rPr>
              <a:t>5/21/09</a:t>
            </a:r>
            <a:endParaRPr lang="en-US" b="1" dirty="0">
              <a:solidFill>
                <a:srgbClr val="003E7B"/>
              </a:solidFill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8" name="Picture 7" descr="PPBackgrou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PPBar3woneworld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6162040"/>
            <a:ext cx="9144000" cy="365760"/>
          </a:xfrm>
          <a:prstGeom prst="rect">
            <a:avLst/>
          </a:prstGeom>
        </p:spPr>
      </p:pic>
      <p:sp>
        <p:nvSpPr>
          <p:cNvPr id="12" name="Rectangle 25"/>
          <p:cNvSpPr>
            <a:spLocks noChangeArrowheads="1"/>
          </p:cNvSpPr>
          <p:nvPr userDrawn="1"/>
        </p:nvSpPr>
        <p:spPr bwMode="auto">
          <a:xfrm>
            <a:off x="1841500" y="6565900"/>
            <a:ext cx="5435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>
                <a:solidFill>
                  <a:srgbClr val="7F7F7F"/>
                </a:solidFill>
                <a:latin typeface="Arial" charset="0"/>
              </a:rPr>
              <a:t>American Airlines confidential document.  Do not copy or distribute.</a:t>
            </a:r>
            <a:endParaRPr kumimoji="1" lang="en-US" sz="1100" dirty="0">
              <a:solidFill>
                <a:srgbClr val="7F7F7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10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bIns="4572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‹#›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>
          <a:xfrm>
            <a:off x="457200" y="1028700"/>
            <a:ext cx="8255000" cy="500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7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bIns="4572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‹#›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0" y="939800"/>
            <a:ext cx="8242300" cy="4445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69900" y="1460500"/>
            <a:ext cx="8229600" cy="4597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7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Bar3woneworld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6162040"/>
            <a:ext cx="9144000" cy="36576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6000"/>
            <a:ext cx="8229600" cy="511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5200" y="6159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  <a:latin typeface="Helvetica" pitchFamily="34" charset="0"/>
                <a:cs typeface="Helvetica" pitchFamily="34" charset="0"/>
              </a:defRPr>
            </a:lvl1pPr>
          </a:lstStyle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‹#›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1841500" y="6565900"/>
            <a:ext cx="5435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lang="en-US" sz="1100" dirty="0">
                <a:solidFill>
                  <a:srgbClr val="7F7F7F"/>
                </a:solidFill>
              </a:rPr>
              <a:t>American Airlines confidential document.  Do not copy or distribute.</a:t>
            </a:r>
            <a:endParaRPr kumimoji="1" lang="en-US" sz="11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3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160" baseline="0">
          <a:solidFill>
            <a:srgbClr val="003E7B"/>
          </a:solidFill>
          <a:latin typeface="Helvetica" pitchFamily="34" charset="0"/>
          <a:ea typeface="+mj-ea"/>
          <a:cs typeface="Helvetic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5867400" y="228600"/>
            <a:ext cx="2286000" cy="1676400"/>
          </a:xfrm>
        </p:spPr>
        <p:txBody>
          <a:bodyPr/>
          <a:lstStyle/>
          <a:p>
            <a:pPr eaLnBrk="1" hangingPunct="1"/>
            <a:endParaRPr lang="en-US" sz="3200" i="1" dirty="0" smtClean="0"/>
          </a:p>
          <a:p>
            <a:pPr eaLnBrk="1" hangingPunct="1"/>
            <a:endParaRPr lang="en-US" sz="3200" i="1" dirty="0" smtClean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1463675"/>
            <a:ext cx="7315200" cy="1470025"/>
          </a:xfrm>
          <a:prstGeom prst="rect">
            <a:avLst/>
          </a:prstGeom>
        </p:spPr>
        <p:txBody>
          <a:bodyPr vert="horz" lIns="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900"/>
              </a:lnSpc>
              <a:spcBef>
                <a:spcPct val="0"/>
              </a:spcBef>
              <a:spcAft>
                <a:spcPts val="0"/>
              </a:spcAft>
              <a:buNone/>
              <a:defRPr sz="4000" b="1" kern="1200" spc="-160" baseline="0">
                <a:solidFill>
                  <a:srgbClr val="003E7B"/>
                </a:solidFill>
                <a:latin typeface="Helvetica" pitchFamily="34" charset="0"/>
                <a:ea typeface="+mj-ea"/>
                <a:cs typeface="Helvetica" pitchFamily="34" charset="0"/>
              </a:defRPr>
            </a:lvl1pPr>
          </a:lstStyle>
          <a:p>
            <a:r>
              <a:rPr lang="en-US" dirty="0" smtClean="0"/>
              <a:t>International Doc verification</a:t>
            </a:r>
            <a:endParaRPr lang="en-US" dirty="0"/>
          </a:p>
        </p:txBody>
      </p:sp>
      <p:sp>
        <p:nvSpPr>
          <p:cNvPr id="11" name="Subtitle 3"/>
          <p:cNvSpPr txBox="1">
            <a:spLocks/>
          </p:cNvSpPr>
          <p:nvPr/>
        </p:nvSpPr>
        <p:spPr>
          <a:xfrm>
            <a:off x="914400" y="2934222"/>
            <a:ext cx="5689600" cy="8382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600" b="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Roadmap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399" y="4343400"/>
            <a:ext cx="49493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Revision 1.0</a:t>
            </a:r>
          </a:p>
          <a:p>
            <a:r>
              <a:rPr lang="en-US" sz="2000" dirty="0" smtClean="0">
                <a:latin typeface="+mj-lt"/>
              </a:rPr>
              <a:t>9</a:t>
            </a:r>
            <a:r>
              <a:rPr lang="en-US" sz="2000" baseline="30000" dirty="0" smtClean="0">
                <a:latin typeface="+mj-lt"/>
              </a:rPr>
              <a:t>th</a:t>
            </a:r>
            <a:r>
              <a:rPr lang="en-US" sz="2000" dirty="0" smtClean="0">
                <a:latin typeface="+mj-lt"/>
              </a:rPr>
              <a:t> Oct 2013</a:t>
            </a:r>
          </a:p>
          <a:p>
            <a:r>
              <a:rPr lang="en-US" sz="2000" dirty="0" smtClean="0">
                <a:latin typeface="+mj-lt"/>
              </a:rPr>
              <a:t>Wajahath Quraishi, Agile Project Lead</a:t>
            </a:r>
          </a:p>
          <a:p>
            <a:r>
              <a:rPr lang="en-US" sz="2000" dirty="0" smtClean="0">
                <a:latin typeface="+mj-lt"/>
              </a:rPr>
              <a:t>Alison Anderson, Product Owner</a:t>
            </a:r>
            <a:endParaRPr lang="en-US" sz="2000" dirty="0">
              <a:latin typeface="+mj-lt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0" y="6642556"/>
            <a:ext cx="294606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Roadmap template V4.7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1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5204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45325" y="120263"/>
            <a:ext cx="8229600" cy="485379"/>
          </a:xfrm>
        </p:spPr>
        <p:txBody>
          <a:bodyPr/>
          <a:lstStyle/>
          <a:p>
            <a:r>
              <a:rPr lang="en-US" sz="3200" dirty="0" smtClean="0"/>
              <a:t>Delivery Plan</a:t>
            </a:r>
            <a:endParaRPr lang="en-US" sz="2800" dirty="0" smtClean="0"/>
          </a:p>
        </p:txBody>
      </p:sp>
      <p:graphicFrame>
        <p:nvGraphicFramePr>
          <p:cNvPr id="22" name="Content Placeholder 7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42598862"/>
              </p:ext>
            </p:extLst>
          </p:nvPr>
        </p:nvGraphicFramePr>
        <p:xfrm>
          <a:off x="142875" y="137160"/>
          <a:ext cx="8867775" cy="5558808"/>
        </p:xfrm>
        <a:graphic>
          <a:graphicData uri="http://schemas.openxmlformats.org/drawingml/2006/table">
            <a:tbl>
              <a:tblPr/>
              <a:tblGrid>
                <a:gridCol w="1973461"/>
                <a:gridCol w="3312914"/>
                <a:gridCol w="3581400"/>
              </a:tblGrid>
              <a:tr h="329509">
                <a:tc rowSpan="2">
                  <a:txBody>
                    <a:bodyPr/>
                    <a:lstStyle/>
                    <a:p>
                      <a:pPr algn="l" fontAlgn="b"/>
                      <a:endParaRPr lang="en-US" sz="1600" b="1" i="1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FFFFFF"/>
                          </a:solidFill>
                          <a:latin typeface="+mn-lt"/>
                        </a:rPr>
                        <a:t>Release 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+mn-lt"/>
                        </a:rPr>
                        <a:t>Release 2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995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sz="1400" dirty="0" smtClean="0">
                          <a:solidFill>
                            <a:srgbClr val="000000"/>
                          </a:solidFill>
                        </a:rPr>
                        <a:t>/2013 - 01/2013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</a:rPr>
                        <a:t>02/2014 – 05/2014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58412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Market / Customers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Airport Services Agents , Report Analyst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 Airport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Service Agents,</a:t>
                      </a:r>
                      <a:r>
                        <a:rPr lang="en-US" sz="1100" b="0" i="0" u="none" strike="noStrike" dirty="0" smtClean="0">
                          <a:latin typeface="Arial"/>
                        </a:rPr>
                        <a:t> Report Analyst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426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Themes/Features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the new service to determine  ATO retaining existing display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what’s needed for Tasks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 responses from services from IATA ( Go /No Go)</a:t>
                      </a: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baseline="0" dirty="0" smtClean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 tasks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</a:p>
                    <a:p>
                      <a:pPr algn="l" fontAlgn="b"/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Benefits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latin typeface="Arial"/>
                        </a:rPr>
                        <a:t>Less agent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take-overs</a:t>
                      </a:r>
                    </a:p>
                    <a:p>
                      <a:pPr algn="l" fontAlgn="b"/>
                      <a:r>
                        <a:rPr lang="en-US" sz="1100" b="0" i="0" u="none" strike="noStrike" baseline="0" dirty="0" smtClean="0">
                          <a:latin typeface="Arial"/>
                        </a:rPr>
                        <a:t>Release 1 /  1B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 Reduce fines</a:t>
                      </a:r>
                    </a:p>
                    <a:p>
                      <a:pPr algn="l" fontAlgn="b"/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91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Architecture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Decisions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Architecture doc update due to task maintenance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N/A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653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Dependencies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eCloud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freeze</a:t>
                      </a:r>
                    </a:p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 is ready</a:t>
                      </a:r>
                    </a:p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Architecture design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rules engine</a:t>
                      </a:r>
                      <a:endParaRPr lang="en-US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baseline="0" dirty="0" smtClean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 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91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Business Decisions/Impacts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 Communication to field if we are displaying the reasons</a:t>
                      </a:r>
                      <a:br>
                        <a:rPr lang="en-US" sz="1100" b="0" i="0" u="none" strike="noStrike" baseline="0" dirty="0" smtClean="0">
                          <a:latin typeface="Arial"/>
                        </a:rPr>
                      </a:br>
                      <a:endParaRPr lang="en-US" sz="1100" b="0" i="0" u="none" strike="noStrike" dirty="0" smtClean="0">
                        <a:latin typeface="Arial"/>
                      </a:endParaRPr>
                    </a:p>
                    <a:p>
                      <a:pPr algn="l" fontAlgn="b"/>
                      <a:endParaRPr lang="en-US" sz="8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>
                          <a:latin typeface="Arial"/>
                        </a:rPr>
                        <a:t> 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Communication to field if we are displaying the reasons.</a:t>
                      </a: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New role ( tasks to reasons mapping returned by IATA) 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2</a:t>
            </a:fld>
            <a:endParaRPr 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45325" y="120263"/>
            <a:ext cx="8229600" cy="485379"/>
          </a:xfrm>
        </p:spPr>
        <p:txBody>
          <a:bodyPr/>
          <a:lstStyle/>
          <a:p>
            <a:r>
              <a:rPr lang="en-US" sz="3200" dirty="0" smtClean="0"/>
              <a:t>Delivery Plan</a:t>
            </a:r>
            <a:endParaRPr lang="en-US" sz="2800" dirty="0" smtClean="0"/>
          </a:p>
        </p:txBody>
      </p:sp>
      <p:graphicFrame>
        <p:nvGraphicFramePr>
          <p:cNvPr id="22" name="Content Placeholder 7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031805216"/>
              </p:ext>
            </p:extLst>
          </p:nvPr>
        </p:nvGraphicFramePr>
        <p:xfrm>
          <a:off x="142875" y="137160"/>
          <a:ext cx="9165154" cy="7600462"/>
        </p:xfrm>
        <a:graphic>
          <a:graphicData uri="http://schemas.openxmlformats.org/drawingml/2006/table">
            <a:tbl>
              <a:tblPr/>
              <a:tblGrid>
                <a:gridCol w="1973461"/>
                <a:gridCol w="3431540"/>
                <a:gridCol w="3760153"/>
              </a:tblGrid>
              <a:tr h="329509">
                <a:tc rowSpan="2">
                  <a:txBody>
                    <a:bodyPr/>
                    <a:lstStyle/>
                    <a:p>
                      <a:pPr algn="l" fontAlgn="b"/>
                      <a:endParaRPr lang="en-US" sz="1600" b="1" i="1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FFFFFF"/>
                          </a:solidFill>
                          <a:latin typeface="+mn-lt"/>
                        </a:rPr>
                        <a:t>Release 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+mn-lt"/>
                        </a:rPr>
                        <a:t>Release </a:t>
                      </a:r>
                      <a:r>
                        <a:rPr lang="en-US" sz="1600" b="1" i="0" u="none" strike="noStrike" dirty="0" smtClean="0">
                          <a:solidFill>
                            <a:srgbClr val="FFFFFF"/>
                          </a:solidFill>
                          <a:latin typeface="+mn-lt"/>
                        </a:rPr>
                        <a:t>4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2995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07/2013</a:t>
                      </a:r>
                      <a:r>
                        <a:rPr lang="en-US" sz="14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– 09/2013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</a:rPr>
                        <a:t>10/2013</a:t>
                      </a:r>
                      <a:r>
                        <a:rPr lang="en-US" sz="1400" baseline="0" dirty="0" smtClean="0">
                          <a:solidFill>
                            <a:srgbClr val="000000"/>
                          </a:solidFill>
                        </a:rPr>
                        <a:t> – 12/2013</a:t>
                      </a:r>
                      <a:endParaRPr lang="en-US" sz="140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58412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Market / Customers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SSM Application</a:t>
                      </a:r>
                    </a:p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SSM Admin</a:t>
                      </a:r>
                    </a:p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err="1" smtClean="0">
                          <a:latin typeface="Arial"/>
                        </a:rPr>
                        <a:t>VzB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SSM Application</a:t>
                      </a:r>
                    </a:p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SSM Admin</a:t>
                      </a:r>
                    </a:p>
                    <a:p>
                      <a:pPr algn="l" fontAlgn="b">
                        <a:buFont typeface="Arial" pitchFamily="34" charset="0"/>
                        <a:buNone/>
                      </a:pPr>
                      <a:r>
                        <a:rPr lang="en-US" sz="1100" b="0" i="0" u="none" strike="noStrike" dirty="0" err="1" smtClean="0">
                          <a:latin typeface="Arial"/>
                        </a:rPr>
                        <a:t>VzB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4263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Themes/Features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Port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Components from Oracle to </a:t>
                      </a:r>
                      <a:r>
                        <a:rPr lang="en-US" sz="1100" b="0" i="0" u="none" strike="noStrike" baseline="0" dirty="0" err="1" smtClean="0">
                          <a:latin typeface="Arial"/>
                        </a:rPr>
                        <a:t>vPostgress</a:t>
                      </a:r>
                      <a:endParaRPr lang="en-US" sz="1100" b="0" i="0" u="none" strike="noStrike" baseline="0" dirty="0" smtClean="0">
                        <a:latin typeface="Arial"/>
                      </a:endParaRP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User Functions</a:t>
                      </a: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Sequences</a:t>
                      </a: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Triggers</a:t>
                      </a: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Packages/Procedures</a:t>
                      </a: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Views</a:t>
                      </a:r>
                    </a:p>
                    <a:p>
                      <a:pPr lvl="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Mapping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file to work with both Oracle and </a:t>
                      </a:r>
                      <a:r>
                        <a:rPr lang="en-US" sz="1100" b="0" i="0" u="none" strike="noStrike" baseline="0" dirty="0" err="1" smtClean="0">
                          <a:latin typeface="Arial"/>
                        </a:rPr>
                        <a:t>Postgres</a:t>
                      </a:r>
                      <a:endParaRPr lang="en-US" sz="1100" b="0" i="0" u="none" strike="noStrike" baseline="0" dirty="0" smtClean="0">
                        <a:latin typeface="Arial"/>
                      </a:endParaRP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SSM</a:t>
                      </a: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Curbside</a:t>
                      </a:r>
                    </a:p>
                    <a:p>
                      <a:pPr lvl="1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err="1" smtClean="0">
                          <a:latin typeface="Arial"/>
                        </a:rPr>
                        <a:t>Bagdrop</a:t>
                      </a:r>
                      <a:endParaRPr lang="en-US" sz="1100" b="0" i="0" u="none" strike="noStrike" dirty="0" smtClean="0">
                        <a:latin typeface="Arial"/>
                      </a:endParaRP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>
                          <a:latin typeface="Arial"/>
                        </a:rPr>
                        <a:t> </a:t>
                      </a:r>
                      <a:r>
                        <a:rPr lang="en-US" sz="1100" b="0" i="0" u="none" strike="noStrike" dirty="0" smtClean="0">
                          <a:latin typeface="Arial"/>
                        </a:rPr>
                        <a:t>3</a:t>
                      </a:r>
                      <a:r>
                        <a:rPr lang="en-US" sz="1100" b="0" i="0" u="none" strike="noStrike" baseline="30000" dirty="0" smtClean="0">
                          <a:latin typeface="Arial"/>
                        </a:rPr>
                        <a:t>rd</a:t>
                      </a:r>
                      <a:r>
                        <a:rPr lang="en-US" sz="1100" b="0" i="0" u="none" strike="noStrike" dirty="0" smtClean="0">
                          <a:latin typeface="Arial"/>
                        </a:rPr>
                        <a:t> URL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addition to clients</a:t>
                      </a: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Removal of CDC URL</a:t>
                      </a: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Shutdown CDC</a:t>
                      </a: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baseline="0" dirty="0" smtClean="0">
                        <a:latin typeface="Arial"/>
                      </a:endParaRPr>
                    </a:p>
                    <a:p>
                      <a:pPr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Stop using sunset DC</a:t>
                      </a:r>
                    </a:p>
                    <a:p>
                      <a:pPr marL="171450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SPLUNK Dashboard creation for </a:t>
                      </a:r>
                    </a:p>
                    <a:p>
                      <a:pPr marL="628650" lvl="1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Passenger</a:t>
                      </a:r>
                    </a:p>
                    <a:p>
                      <a:pPr marL="628650" lvl="1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Session</a:t>
                      </a:r>
                    </a:p>
                    <a:p>
                      <a:pPr marL="628650" lvl="1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Revenue</a:t>
                      </a:r>
                    </a:p>
                    <a:p>
                      <a:pPr marL="171450" lvl="0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SPLUNK Dashboard creation for specific criteria</a:t>
                      </a:r>
                    </a:p>
                    <a:p>
                      <a:pPr marL="628650" lvl="1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Agent takeover</a:t>
                      </a:r>
                    </a:p>
                    <a:p>
                      <a:pPr marL="628650" lvl="1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Revenue from spec/each kiosk</a:t>
                      </a:r>
                    </a:p>
                    <a:p>
                      <a:pPr marL="628650" lvl="1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Bag charges</a:t>
                      </a:r>
                    </a:p>
                    <a:p>
                      <a:pPr marL="628650" lvl="1" indent="-171450"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baseline="0" dirty="0" smtClean="0">
                        <a:latin typeface="Arial"/>
                      </a:endParaRPr>
                    </a:p>
                    <a:p>
                      <a:pPr marL="171450" indent="-171450"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baseline="0" dirty="0" smtClean="0">
                        <a:latin typeface="Arial"/>
                      </a:endParaRPr>
                    </a:p>
                    <a:p>
                      <a:pPr algn="l" fontAlgn="b"/>
                      <a:r>
                        <a:rPr lang="en-US" sz="1100" b="0" i="0" u="none" strike="noStrike" baseline="0" dirty="0" smtClean="0">
                          <a:latin typeface="Arial"/>
                        </a:rPr>
                        <a:t>. 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30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Benefits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2</a:t>
                      </a:r>
                      <a:r>
                        <a:rPr lang="en-US" sz="1100" b="0" i="0" u="none" strike="noStrike" baseline="30000" dirty="0" smtClean="0">
                          <a:latin typeface="Arial"/>
                        </a:rPr>
                        <a:t>nd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Cloud (move to Cloud environment completely)</a:t>
                      </a:r>
                    </a:p>
                    <a:p>
                      <a:pPr marL="171450" indent="-171450"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Move to </a:t>
                      </a:r>
                      <a:r>
                        <a:rPr lang="en-US" sz="1100" b="0" i="0" u="none" strike="noStrike" baseline="0" dirty="0" err="1" smtClean="0">
                          <a:latin typeface="Arial"/>
                        </a:rPr>
                        <a:t>vPostgress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completely</a:t>
                      </a:r>
                    </a:p>
                    <a:p>
                      <a:pPr marL="171450" marR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Cost Reduction due to Oracle licenses</a:t>
                      </a:r>
                    </a:p>
                    <a:p>
                      <a:pPr marL="171450" marR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100" b="0" i="0" u="none" strike="noStrike" baseline="0" dirty="0" smtClean="0">
                          <a:latin typeface="Arial"/>
                        </a:rPr>
                        <a:t>Better Infrastructure</a:t>
                      </a:r>
                    </a:p>
                    <a:p>
                      <a:pPr marL="171450" indent="-171450"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30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Architecture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Decisions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 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dirty="0" smtClean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653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Dependencies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r>
                        <a:rPr lang="en-US" sz="1100" b="0" i="0" u="none" strike="noStrike" dirty="0" smtClean="0">
                          <a:latin typeface="Arial"/>
                        </a:rPr>
                        <a:t>2</a:t>
                      </a:r>
                      <a:r>
                        <a:rPr lang="en-US" sz="1100" b="0" i="0" u="none" strike="noStrike" baseline="30000" dirty="0" smtClean="0">
                          <a:latin typeface="Arial"/>
                        </a:rPr>
                        <a:t>nd</a:t>
                      </a:r>
                      <a:r>
                        <a:rPr lang="en-US" sz="1100" b="0" i="0" u="none" strike="noStrike" baseline="0" dirty="0" smtClean="0">
                          <a:latin typeface="Arial"/>
                        </a:rPr>
                        <a:t> Cloud environment</a:t>
                      </a: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Font typeface="Arial" pitchFamily="34" charset="0"/>
                        <a:buChar char="•"/>
                      </a:pPr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8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Business Decisions/Impacts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3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52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Roadmap </a:t>
            </a:r>
            <a:endParaRPr lang="en-US" sz="2800" dirty="0" smtClean="0"/>
          </a:p>
        </p:txBody>
      </p:sp>
      <p:sp>
        <p:nvSpPr>
          <p:cNvPr id="6" name="Subtitle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Financials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701417"/>
              </p:ext>
            </p:extLst>
          </p:nvPr>
        </p:nvGraphicFramePr>
        <p:xfrm>
          <a:off x="690171" y="1519523"/>
          <a:ext cx="80308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805"/>
                <a:gridCol w="1666961"/>
                <a:gridCol w="1474839"/>
                <a:gridCol w="15802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Costs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Planned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Actual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Variance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Roadmap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[$</a:t>
                      </a:r>
                      <a:r>
                        <a:rPr lang="en-US" b="1" dirty="0" err="1" smtClean="0"/>
                        <a:t>amt</a:t>
                      </a:r>
                      <a:r>
                        <a:rPr lang="en-US" b="1" dirty="0" smtClean="0"/>
                        <a:t>]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dirty="0" smtClean="0"/>
                        <a:t>Release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dirty="0" smtClean="0"/>
                        <a:t>Release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dirty="0" smtClean="0"/>
                        <a:t>Release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4</a:t>
            </a:fld>
            <a:endParaRPr lang="en-US" dirty="0">
              <a:solidFill>
                <a:srgbClr val="7F7F7F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701417"/>
              </p:ext>
            </p:extLst>
          </p:nvPr>
        </p:nvGraphicFramePr>
        <p:xfrm>
          <a:off x="708459" y="3629501"/>
          <a:ext cx="8016441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904"/>
                <a:gridCol w="2363415"/>
                <a:gridCol w="2313067"/>
                <a:gridCol w="159105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Benefits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Expected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(Savings/Revenue)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Actual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(Savings/Revenue)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Variance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Roadmap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[$</a:t>
                      </a:r>
                      <a:r>
                        <a:rPr lang="en-US" b="1" dirty="0" err="1" smtClean="0"/>
                        <a:t>amt</a:t>
                      </a:r>
                      <a:r>
                        <a:rPr lang="en-US" b="1" dirty="0" smtClean="0"/>
                        <a:t>]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[$</a:t>
                      </a:r>
                      <a:r>
                        <a:rPr lang="en-US" b="1" dirty="0" err="1" smtClean="0"/>
                        <a:t>amt</a:t>
                      </a:r>
                      <a:r>
                        <a:rPr lang="en-US" b="1" dirty="0" smtClean="0"/>
                        <a:t>]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dirty="0" smtClean="0"/>
                        <a:t>Release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dirty="0" smtClean="0"/>
                        <a:t>Release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dirty="0" smtClean="0"/>
                        <a:t>Release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[$</a:t>
                      </a:r>
                      <a:r>
                        <a:rPr lang="en-US" dirty="0" err="1" smtClean="0"/>
                        <a:t>amt</a:t>
                      </a:r>
                      <a:r>
                        <a:rPr lang="en-US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15912"/>
          </a:xfrm>
        </p:spPr>
        <p:txBody>
          <a:bodyPr/>
          <a:lstStyle/>
          <a:p>
            <a:r>
              <a:rPr lang="en-US" dirty="0" smtClean="0"/>
              <a:t>People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7200" y="901163"/>
            <a:ext cx="8242300" cy="444500"/>
          </a:xfrm>
        </p:spPr>
        <p:txBody>
          <a:bodyPr/>
          <a:lstStyle/>
          <a:p>
            <a:r>
              <a:rPr lang="en-US" dirty="0" smtClean="0"/>
              <a:t>Team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42533123"/>
              </p:ext>
            </p:extLst>
          </p:nvPr>
        </p:nvGraphicFramePr>
        <p:xfrm>
          <a:off x="469900" y="1421863"/>
          <a:ext cx="82296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952"/>
                <a:gridCol w="2484808"/>
                <a:gridCol w="158384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Allocation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 Owner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[% allocation]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Wajahath</a:t>
                      </a:r>
                      <a:r>
                        <a:rPr lang="en-US" baseline="0" dirty="0" smtClean="0"/>
                        <a:t> Quraishi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Agile Project</a:t>
                      </a:r>
                      <a:r>
                        <a:rPr lang="en-US" baseline="0" dirty="0" smtClean="0"/>
                        <a:t> Lead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[% allocation]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Santosh</a:t>
                      </a:r>
                      <a:r>
                        <a:rPr lang="en-US" baseline="0" dirty="0" smtClean="0"/>
                        <a:t> Kulkarni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[role]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[% allocation]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Balaji</a:t>
                      </a:r>
                      <a:r>
                        <a:rPr lang="en-US" baseline="0" dirty="0" smtClean="0"/>
                        <a:t> Thayi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[role]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[% allocation]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Gopi</a:t>
                      </a:r>
                      <a:r>
                        <a:rPr lang="en-US" baseline="0" dirty="0" smtClean="0"/>
                        <a:t> Krishna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[role]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[% allocation]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Anita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159" marR="91159"/>
                </a:tc>
              </a:tr>
            </a:tbl>
          </a:graphicData>
        </a:graphic>
      </p:graphicFrame>
      <p:sp>
        <p:nvSpPr>
          <p:cNvPr id="10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5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2" name="Text Placeholder 7"/>
          <p:cNvSpPr txBox="1">
            <a:spLocks/>
          </p:cNvSpPr>
          <p:nvPr/>
        </p:nvSpPr>
        <p:spPr>
          <a:xfrm>
            <a:off x="457200" y="4276130"/>
            <a:ext cx="8242300" cy="444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34" charset="0"/>
                <a:ea typeface="+mn-ea"/>
                <a:cs typeface="Helvetica" pitchFamily="34" charset="0"/>
              </a:rPr>
              <a:t>Sponsors and Stakeholders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Helvetica" pitchFamily="34" charset="0"/>
            </a:endParaRPr>
          </a:p>
        </p:txBody>
      </p:sp>
      <p:graphicFrame>
        <p:nvGraphicFramePr>
          <p:cNvPr id="13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1153687"/>
              </p:ext>
            </p:extLst>
          </p:nvPr>
        </p:nvGraphicFramePr>
        <p:xfrm>
          <a:off x="469900" y="4781549"/>
          <a:ext cx="82169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4653"/>
                <a:gridCol w="3072247"/>
              </a:tblGrid>
              <a:tr h="32941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Title/Role</a:t>
                      </a:r>
                      <a:endParaRPr lang="en-US" dirty="0"/>
                    </a:p>
                  </a:txBody>
                  <a:tcPr marL="91159" marR="91159"/>
                </a:tc>
              </a:tr>
              <a:tr h="329416">
                <a:tc>
                  <a:txBody>
                    <a:bodyPr/>
                    <a:lstStyle/>
                    <a:p>
                      <a:r>
                        <a:rPr lang="en-US" dirty="0" smtClean="0"/>
                        <a:t>Jim</a:t>
                      </a:r>
                      <a:r>
                        <a:rPr lang="en-US" baseline="0" dirty="0" smtClean="0"/>
                        <a:t> Phoenix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M.D  (Airport</a:t>
                      </a:r>
                      <a:r>
                        <a:rPr lang="en-US" baseline="0" dirty="0" smtClean="0"/>
                        <a:t> Automation)</a:t>
                      </a:r>
                      <a:endParaRPr lang="en-US" dirty="0"/>
                    </a:p>
                  </a:txBody>
                  <a:tcPr marL="91159" marR="91159"/>
                </a:tc>
              </a:tr>
              <a:tr h="329416">
                <a:tc>
                  <a:txBody>
                    <a:bodyPr/>
                    <a:lstStyle/>
                    <a:p>
                      <a:r>
                        <a:rPr lang="en-US" dirty="0" smtClean="0"/>
                        <a:t>James</a:t>
                      </a:r>
                      <a:r>
                        <a:rPr lang="en-US" baseline="0" dirty="0" smtClean="0"/>
                        <a:t> Barker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Sr. Manager</a:t>
                      </a:r>
                      <a:endParaRPr lang="en-US" dirty="0"/>
                    </a:p>
                  </a:txBody>
                  <a:tcPr marL="91159" marR="91159"/>
                </a:tc>
              </a:tr>
              <a:tr h="329416">
                <a:tc>
                  <a:txBody>
                    <a:bodyPr/>
                    <a:lstStyle/>
                    <a:p>
                      <a:r>
                        <a:rPr lang="en-US" dirty="0" smtClean="0"/>
                        <a:t>Art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Perra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Sr. Project Manager</a:t>
                      </a:r>
                      <a:endParaRPr lang="en-US" dirty="0"/>
                    </a:p>
                  </a:txBody>
                  <a:tcPr marL="91159" marR="91159"/>
                </a:tc>
              </a:tr>
            </a:tbl>
          </a:graphicData>
        </a:graphic>
      </p:graphicFrame>
      <p:graphicFrame>
        <p:nvGraphicFramePr>
          <p:cNvPr id="9" name="Content Placeholder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00501718"/>
              </p:ext>
            </p:extLst>
          </p:nvPr>
        </p:nvGraphicFramePr>
        <p:xfrm>
          <a:off x="434975" y="638178"/>
          <a:ext cx="819467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293"/>
                <a:gridCol w="2474262"/>
                <a:gridCol w="157712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Allocation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 Owner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[% allocation]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dirty="0" smtClean="0"/>
                        <a:t>Wajahath</a:t>
                      </a:r>
                      <a:r>
                        <a:rPr lang="en-US" baseline="0" dirty="0" smtClean="0"/>
                        <a:t> Quraishi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Agile Project</a:t>
                      </a:r>
                      <a:r>
                        <a:rPr lang="en-US" baseline="0" dirty="0" smtClean="0"/>
                        <a:t> Lead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50%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Sheethal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Shenoy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Onsite</a:t>
                      </a:r>
                      <a:r>
                        <a:rPr lang="en-US" baseline="0" dirty="0" smtClean="0"/>
                        <a:t> Tech Lead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Manjunath</a:t>
                      </a:r>
                      <a:r>
                        <a:rPr lang="en-US" sz="1800" dirty="0" smtClean="0"/>
                        <a:t>  </a:t>
                      </a:r>
                      <a:r>
                        <a:rPr lang="en-US" sz="1800" dirty="0" err="1" smtClean="0"/>
                        <a:t>Ashwathpur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Offshore</a:t>
                      </a:r>
                      <a:r>
                        <a:rPr lang="en-US" baseline="0" dirty="0" smtClean="0"/>
                        <a:t> Tech Lead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Chandrasekhar Reddy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Anil </a:t>
                      </a:r>
                      <a:r>
                        <a:rPr lang="en-US" sz="1800" dirty="0" err="1" smtClean="0"/>
                        <a:t>Maddukuri</a:t>
                      </a:r>
                      <a:r>
                        <a:rPr lang="en-US" sz="1800" dirty="0" smtClean="0"/>
                        <a:t> 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Erina Das </a:t>
                      </a:r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dirty="0" smtClean="0"/>
                        <a:t>Lynne</a:t>
                      </a:r>
                      <a:r>
                        <a:rPr lang="en-US" baseline="0" dirty="0" smtClean="0"/>
                        <a:t> Hajdyla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Testing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30%</a:t>
                      </a:r>
                      <a:endParaRPr lang="en-US" dirty="0"/>
                    </a:p>
                  </a:txBody>
                  <a:tcPr marL="91159" marR="91159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lang="en-US" dirty="0" smtClean="0"/>
                        <a:t>Anita C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91159" marR="91159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33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6" name="Text Placeholder 7"/>
          <p:cNvSpPr txBox="1">
            <a:spLocks/>
          </p:cNvSpPr>
          <p:nvPr/>
        </p:nvSpPr>
        <p:spPr>
          <a:xfrm>
            <a:off x="447372" y="1096892"/>
            <a:ext cx="8242300" cy="444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 spc="0">
                <a:solidFill>
                  <a:schemeClr val="tx1"/>
                </a:solidFill>
                <a:latin typeface="Helvetica" pitchFamily="34" charset="0"/>
                <a:ea typeface="+mn-ea"/>
                <a:cs typeface="Helvetica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 spc="0">
                <a:solidFill>
                  <a:schemeClr val="tx1"/>
                </a:solidFill>
                <a:latin typeface="Helvetica" pitchFamily="34" charset="0"/>
                <a:ea typeface="+mn-ea"/>
                <a:cs typeface="Helvetica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spc="0">
                <a:solidFill>
                  <a:schemeClr val="tx1"/>
                </a:solidFill>
                <a:latin typeface="Helvetica" pitchFamily="34" charset="0"/>
                <a:ea typeface="+mn-ea"/>
                <a:cs typeface="Helvetica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 spc="0">
                <a:solidFill>
                  <a:schemeClr val="tx1"/>
                </a:solidFill>
                <a:latin typeface="Helvetica" pitchFamily="34" charset="0"/>
                <a:ea typeface="+mn-ea"/>
                <a:cs typeface="Helvetica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 spc="0">
                <a:solidFill>
                  <a:schemeClr val="tx1"/>
                </a:solidFill>
                <a:latin typeface="Helvetica" pitchFamily="34" charset="0"/>
                <a:ea typeface="+mn-ea"/>
                <a:cs typeface="Helvetic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Software and Hardware</a:t>
            </a:r>
            <a:endParaRPr lang="en-US" dirty="0"/>
          </a:p>
        </p:txBody>
      </p:sp>
      <p:graphicFrame>
        <p:nvGraphicFramePr>
          <p:cNvPr id="9" name="Content Placeholder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4066158"/>
              </p:ext>
            </p:extLst>
          </p:nvPr>
        </p:nvGraphicFramePr>
        <p:xfrm>
          <a:off x="474820" y="1602844"/>
          <a:ext cx="82169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186"/>
                <a:gridCol w="41787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Item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[item]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[purpose]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[item]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[purpose]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[item]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[purpose]</a:t>
                      </a:r>
                      <a:endParaRPr lang="en-US" dirty="0"/>
                    </a:p>
                  </a:txBody>
                  <a:tcPr marL="91159" marR="91159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[…]</a:t>
                      </a:r>
                      <a:endParaRPr lang="en-US" dirty="0"/>
                    </a:p>
                  </a:txBody>
                  <a:tcPr marL="91159" marR="91159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1159" marR="91159"/>
                </a:tc>
              </a:tr>
            </a:tbl>
          </a:graphicData>
        </a:graphic>
      </p:graphicFrame>
      <p:sp>
        <p:nvSpPr>
          <p:cNvPr id="11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6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10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Risk Identification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67443092"/>
              </p:ext>
            </p:extLst>
          </p:nvPr>
        </p:nvGraphicFramePr>
        <p:xfrm>
          <a:off x="359946" y="1574800"/>
          <a:ext cx="8399043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23"/>
                <a:gridCol w="3840480"/>
                <a:gridCol w="1109980"/>
                <a:gridCol w="1541780"/>
                <a:gridCol w="12115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Pri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Release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Prob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Impact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Critical resources</a:t>
                      </a:r>
                      <a:r>
                        <a:rPr lang="en-US" baseline="0" dirty="0" smtClean="0"/>
                        <a:t> are spread thin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External</a:t>
                      </a:r>
                      <a:r>
                        <a:rPr lang="en-US" baseline="0" dirty="0" smtClean="0"/>
                        <a:t> vendors responsiveness to queries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Ability to translate</a:t>
                      </a:r>
                      <a:r>
                        <a:rPr lang="en-US" baseline="0" dirty="0" smtClean="0"/>
                        <a:t> responses to tasks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5221" y="5504175"/>
            <a:ext cx="82937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For </a:t>
            </a:r>
            <a:r>
              <a:rPr lang="en-US" sz="1600" i="1" dirty="0" smtClean="0"/>
              <a:t>guidance </a:t>
            </a:r>
            <a:r>
              <a:rPr lang="en-US" sz="1600" i="1" dirty="0"/>
              <a:t>on Risk Management please refer to the Risk Guide published on Jetnet by the IT Project Performance Team. </a:t>
            </a: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7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06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Roadmap</a:t>
            </a:r>
            <a:endParaRPr lang="en-US" sz="2800" dirty="0" smtClean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US" dirty="0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86131392"/>
              </p:ext>
            </p:extLst>
          </p:nvPr>
        </p:nvGraphicFramePr>
        <p:xfrm>
          <a:off x="469900" y="1460500"/>
          <a:ext cx="831088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1600"/>
                <a:gridCol w="5892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the response has the Sufficient information=YES we ignore the warning or information returned.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Information passed back with be clearer and easier for the agent to understand.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8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0" name="Subtitle 4"/>
          <p:cNvSpPr txBox="1">
            <a:spLocks/>
          </p:cNvSpPr>
          <p:nvPr/>
        </p:nvSpPr>
        <p:spPr>
          <a:xfrm>
            <a:off x="429294" y="4191000"/>
            <a:ext cx="8242300" cy="266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34" charset="0"/>
                <a:ea typeface="+mn-ea"/>
                <a:cs typeface="Helvetica" pitchFamily="34" charset="0"/>
              </a:rPr>
              <a:t>Constraints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Helvetica" pitchFamily="34" charset="0"/>
            </a:endParaRPr>
          </a:p>
        </p:txBody>
      </p:sp>
      <p:graphicFrame>
        <p:nvGraphicFramePr>
          <p:cNvPr id="11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0388826"/>
              </p:ext>
            </p:extLst>
          </p:nvPr>
        </p:nvGraphicFramePr>
        <p:xfrm>
          <a:off x="441994" y="4620453"/>
          <a:ext cx="8229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381"/>
                <a:gridCol w="5019675"/>
                <a:gridCol w="2556544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Design of the database</a:t>
                      </a:r>
                      <a:r>
                        <a:rPr lang="en-US" baseline="0" dirty="0" smtClean="0"/>
                        <a:t> or a properties files to have rules and tasks mapping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Architecture design approval and</a:t>
                      </a:r>
                      <a:r>
                        <a:rPr lang="en-US" baseline="0" dirty="0" smtClean="0"/>
                        <a:t> VZB constraints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[…]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Disaster Recovery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Disaster Recovery Designation</a:t>
            </a:r>
          </a:p>
          <a:p>
            <a:pPr lvl="1">
              <a:buFont typeface="Wingdings" pitchFamily="2" charset="2"/>
              <a:buChar char="q"/>
            </a:pP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Discretionary 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9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43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>
            <a:normAutofit/>
          </a:bodyPr>
          <a:lstStyle/>
          <a:p>
            <a:r>
              <a:rPr lang="en-US" dirty="0"/>
              <a:t>Alison Anderson ( Product Owner)</a:t>
            </a:r>
          </a:p>
          <a:p>
            <a:r>
              <a:rPr lang="en-US" dirty="0"/>
              <a:t>Wajahath Quraishi ( PM)</a:t>
            </a:r>
          </a:p>
          <a:p>
            <a:r>
              <a:rPr lang="en-US" dirty="0" err="1"/>
              <a:t>Sheethal</a:t>
            </a:r>
            <a:r>
              <a:rPr lang="en-US" dirty="0"/>
              <a:t> </a:t>
            </a:r>
            <a:r>
              <a:rPr lang="en-US" dirty="0" err="1"/>
              <a:t>Shenoy</a:t>
            </a:r>
            <a:r>
              <a:rPr lang="en-US" dirty="0"/>
              <a:t> ( Tech Lead)</a:t>
            </a:r>
          </a:p>
          <a:p>
            <a:r>
              <a:rPr lang="en-US" dirty="0" err="1"/>
              <a:t>Manjunath</a:t>
            </a:r>
            <a:r>
              <a:rPr lang="en-US" dirty="0"/>
              <a:t> </a:t>
            </a:r>
            <a:r>
              <a:rPr lang="en-US" dirty="0" err="1"/>
              <a:t>Ashwathpur</a:t>
            </a:r>
            <a:r>
              <a:rPr lang="en-US" dirty="0"/>
              <a:t> ( Offshore Lead)</a:t>
            </a:r>
          </a:p>
          <a:p>
            <a:r>
              <a:rPr lang="en-US" dirty="0"/>
              <a:t>Chandrasekhar Reddy (Developer)</a:t>
            </a:r>
          </a:p>
          <a:p>
            <a:r>
              <a:rPr lang="en-US" dirty="0"/>
              <a:t>Anil </a:t>
            </a:r>
            <a:r>
              <a:rPr lang="en-US" dirty="0" err="1"/>
              <a:t>Maddukuri</a:t>
            </a:r>
            <a:r>
              <a:rPr lang="en-US" dirty="0"/>
              <a:t> (Developer)</a:t>
            </a:r>
          </a:p>
          <a:p>
            <a:r>
              <a:rPr lang="en-US" dirty="0"/>
              <a:t>Erina Das (Developer)</a:t>
            </a:r>
          </a:p>
          <a:p>
            <a:r>
              <a:rPr lang="en-US" dirty="0"/>
              <a:t>Lynne Hajdyla ( QA team)</a:t>
            </a:r>
          </a:p>
          <a:p>
            <a:r>
              <a:rPr lang="en-US" dirty="0"/>
              <a:t>Gregg Nicklaus ( QA team)</a:t>
            </a:r>
          </a:p>
          <a:p>
            <a:r>
              <a:rPr lang="en-US" dirty="0"/>
              <a:t>Wendy Spears ( Automation Tester)</a:t>
            </a:r>
          </a:p>
          <a:p>
            <a:r>
              <a:rPr lang="en-US" dirty="0"/>
              <a:t>Elmer Harris ( Architect)</a:t>
            </a:r>
          </a:p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Collaborative Team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660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History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271399799"/>
              </p:ext>
            </p:extLst>
          </p:nvPr>
        </p:nvGraphicFramePr>
        <p:xfrm>
          <a:off x="457200" y="1028700"/>
          <a:ext cx="82550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3398520"/>
                <a:gridCol w="342392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9/10/2013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</a:t>
                      </a:r>
                      <a:r>
                        <a:rPr lang="en-US" baseline="0" dirty="0" smtClean="0"/>
                        <a:t> created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Version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11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153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Revision History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584721101"/>
              </p:ext>
            </p:extLst>
          </p:nvPr>
        </p:nvGraphicFramePr>
        <p:xfrm>
          <a:off x="457200" y="1028700"/>
          <a:ext cx="82550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325880"/>
                <a:gridCol w="54965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[date]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[comments]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10/9/2013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[1.0]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Iteration 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7868993" y="6642556"/>
            <a:ext cx="11254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Roadmap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>
                <a:solidFill>
                  <a:srgbClr val="7F7F7F"/>
                </a:solidFill>
              </a:rPr>
              <a:pPr/>
              <a:t>12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783382"/>
      </p:ext>
    </p:extLst>
  </p:cSld>
  <p:clrMapOvr>
    <a:masterClrMapping/>
  </p:clrMapOvr>
</p:sld>
</file>

<file path=ppt/theme/theme1.xml><?xml version="1.0" encoding="utf-8"?>
<a:theme xmlns:a="http://schemas.openxmlformats.org/drawingml/2006/main" name="1_AATheme">
  <a:themeElements>
    <a:clrScheme name="AA Template">
      <a:dk1>
        <a:srgbClr val="7F7F7F"/>
      </a:dk1>
      <a:lt1>
        <a:srgbClr val="FFFFFF"/>
      </a:lt1>
      <a:dk2>
        <a:srgbClr val="7F7F7F"/>
      </a:dk2>
      <a:lt2>
        <a:srgbClr val="FFFFFF"/>
      </a:lt2>
      <a:accent1>
        <a:srgbClr val="003E7B"/>
      </a:accent1>
      <a:accent2>
        <a:srgbClr val="F31730"/>
      </a:accent2>
      <a:accent3>
        <a:srgbClr val="0071E2"/>
      </a:accent3>
      <a:accent4>
        <a:srgbClr val="7F7F7F"/>
      </a:accent4>
      <a:accent5>
        <a:srgbClr val="BD091E"/>
      </a:accent5>
      <a:accent6>
        <a:srgbClr val="BFBFBF"/>
      </a:accent6>
      <a:hlink>
        <a:srgbClr val="FFFFFF"/>
      </a:hlink>
      <a:folHlink>
        <a:srgbClr val="BFBFBF"/>
      </a:folHlink>
    </a:clrScheme>
    <a:fontScheme name="AA The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554826F8A3544A9CC61241755FF959" ma:contentTypeVersion="0" ma:contentTypeDescription="Create a new document." ma:contentTypeScope="" ma:versionID="608ab3894c7513c52d9ca356b1edbd1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AF4E0B-095A-4EDF-A579-A844041FF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003495A-1ED7-49F4-963B-62F8E3CB1D55}">
  <ds:schemaRefs>
    <ds:schemaRef ds:uri="http://schemas.microsoft.com/office/infopath/2007/PartnerControl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</ds:schemaRefs>
</ds:datastoreItem>
</file>

<file path=customXml/itemProps3.xml><?xml version="1.0" encoding="utf-8"?>
<ds:datastoreItem xmlns:ds="http://schemas.openxmlformats.org/officeDocument/2006/customXml" ds:itemID="{6490F9BE-6D37-414B-9019-C710513CF3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92116</TotalTime>
  <Words>1058</Words>
  <Application>Microsoft Office PowerPoint</Application>
  <PresentationFormat>On-screen Show (4:3)</PresentationFormat>
  <Paragraphs>312</Paragraphs>
  <Slides>12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1_AATheme</vt:lpstr>
      <vt:lpstr>PowerPoint Presentation</vt:lpstr>
      <vt:lpstr>Delivery Plan</vt:lpstr>
      <vt:lpstr>Delivery Plan</vt:lpstr>
      <vt:lpstr>Roadmap </vt:lpstr>
      <vt:lpstr>People</vt:lpstr>
      <vt:lpstr>Resources</vt:lpstr>
      <vt:lpstr>Roadmap</vt:lpstr>
      <vt:lpstr>Roadmap</vt:lpstr>
      <vt:lpstr>Roadmap</vt:lpstr>
      <vt:lpstr>Authors</vt:lpstr>
      <vt:lpstr>Review History</vt:lpstr>
      <vt:lpstr>Revision History</vt:lpstr>
    </vt:vector>
  </TitlesOfParts>
  <Company>American Airlines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101 Training - Day 1 - v4.1</dc:title>
  <dc:creator>Don Smith</dc:creator>
  <cp:lastModifiedBy>Saida</cp:lastModifiedBy>
  <cp:revision>1376</cp:revision>
  <cp:lastPrinted>2011-12-17T03:27:43Z</cp:lastPrinted>
  <dcterms:created xsi:type="dcterms:W3CDTF">2011-12-09T18:04:02Z</dcterms:created>
  <dcterms:modified xsi:type="dcterms:W3CDTF">2013-11-18T16:31:31Z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0x010100C6554826F8A3544A9CC61241755FF959</vt:lpwstr>
  </property>
  <property fmtid="{D5CDD505-2E9C-101B-9397-08002B2CF9AE}" pid="3" name="_NewReviewCycle">
    <vt:lpwstr/>
  </property>
</Properties>
</file>