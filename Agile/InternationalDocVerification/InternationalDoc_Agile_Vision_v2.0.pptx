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7" r:id="rId4"/>
  </p:sldMasterIdLst>
  <p:notesMasterIdLst>
    <p:notesMasterId r:id="rId15"/>
  </p:notesMasterIdLst>
  <p:handoutMasterIdLst>
    <p:handoutMasterId r:id="rId16"/>
  </p:handoutMasterIdLst>
  <p:sldIdLst>
    <p:sldId id="309" r:id="rId5"/>
    <p:sldId id="956" r:id="rId6"/>
    <p:sldId id="948" r:id="rId7"/>
    <p:sldId id="886" r:id="rId8"/>
    <p:sldId id="890" r:id="rId9"/>
    <p:sldId id="887" r:id="rId10"/>
    <p:sldId id="950" r:id="rId11"/>
    <p:sldId id="953" r:id="rId12"/>
    <p:sldId id="954" r:id="rId13"/>
    <p:sldId id="955" r:id="rId14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4C990"/>
    <a:srgbClr val="FFFF99"/>
    <a:srgbClr val="89FFB0"/>
    <a:srgbClr val="66FF99"/>
    <a:srgbClr val="66FFCC"/>
    <a:srgbClr val="00FF99"/>
    <a:srgbClr val="0033CC"/>
    <a:srgbClr val="00FF00"/>
    <a:srgbClr val="1D8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4521" autoAdjust="0"/>
    <p:restoredTop sz="97647" autoAdjust="0"/>
  </p:normalViewPr>
  <p:slideViewPr>
    <p:cSldViewPr snapToGrid="0">
      <p:cViewPr>
        <p:scale>
          <a:sx n="66" d="100"/>
          <a:sy n="66" d="100"/>
        </p:scale>
        <p:origin x="-966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1680"/>
    </p:cViewPr>
  </p:sorterViewPr>
  <p:notesViewPr>
    <p:cSldViewPr snapToGrid="0">
      <p:cViewPr>
        <p:scale>
          <a:sx n="100" d="100"/>
          <a:sy n="100" d="100"/>
        </p:scale>
        <p:origin x="-1626" y="2040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513" y="0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C52EA24-630C-4679-B3FD-93A29BD0A488}" type="datetimeFigureOut">
              <a:rPr lang="en-US"/>
              <a:pPr>
                <a:defRPr/>
              </a:pPr>
              <a:t>10/9/2013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513" y="8829675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314378B-2027-4A8A-8DC7-11468CB6F4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6339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7513" y="0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6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66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805" y="4416426"/>
            <a:ext cx="5504204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675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513" y="8829675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FA99AE7-C9B2-4EBA-8DBB-9A6B6FB0A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113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mail.aa.com/owa/redir.aspx?C=0d45642739d44995971fa7b7f9b77c52&amp;URL=https://spteam.aa.com/sites/ITS/PAD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mail.aa.com/owa/redir.aspx?C=0d45642739d44995971fa7b7f9b77c52&amp;URL=https://spteam.aa.com/sites/ITS/PAD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ebmail.aa.com/owa/redir.aspx?C=0d45642739d44995971fa7b7f9b77c52&amp;URL=https://spteam.aa.com/sites/ITS/PAD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aseline="0" dirty="0" smtClean="0"/>
              <a:t>This information will be the same information needed to complete the Project Funding Document.  </a:t>
            </a:r>
          </a:p>
          <a:p>
            <a:r>
              <a:rPr lang="en-US" baseline="0" dirty="0" smtClean="0"/>
              <a:t>The description on this page will be the same as the Present Situation paragaph. </a:t>
            </a:r>
          </a:p>
          <a:p>
            <a:r>
              <a:rPr lang="en-US" baseline="0" dirty="0" smtClean="0"/>
              <a:t>For more information regarding the funding</a:t>
            </a:r>
            <a:r>
              <a:rPr lang="en-US" dirty="0" smtClean="0"/>
              <a:t> process please refer to the IT finance wiki  at  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https://spteam.aa.com/sites/ITS/PAD</a:t>
            </a:r>
            <a:r>
              <a:rPr lang="en-US" dirty="0" smtClean="0"/>
              <a:t> </a:t>
            </a:r>
            <a:endParaRPr lang="en-US" baseline="0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From the </a:t>
            </a:r>
            <a:r>
              <a:rPr lang="en-US" b="0" i="1" dirty="0" smtClean="0"/>
              <a:t>business’ perspective</a:t>
            </a:r>
            <a:r>
              <a:rPr lang="en-US" dirty="0" smtClean="0"/>
              <a:t>, list the features/functions and technology changes that </a:t>
            </a:r>
            <a:r>
              <a:rPr lang="en-US" i="1" dirty="0" smtClean="0"/>
              <a:t>will be included </a:t>
            </a:r>
            <a:r>
              <a:rPr lang="en-US" dirty="0" smtClean="0"/>
              <a:t>in the scope of the effort.  Example</a:t>
            </a:r>
            <a:r>
              <a:rPr lang="en-US" baseline="0" dirty="0" smtClean="0"/>
              <a:t> technology changes include web-enabling an application, making an application available via a mobile device, and non-functional requirements like improved Customer usability and improved performance.</a:t>
            </a:r>
          </a:p>
          <a:p>
            <a:r>
              <a:rPr lang="en-US" baseline="0" dirty="0" smtClean="0"/>
              <a:t>These features will become the information in the Proposal section of the Project Funding Document. </a:t>
            </a:r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4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From the </a:t>
            </a:r>
            <a:r>
              <a:rPr lang="en-US" b="0" i="1" dirty="0" smtClean="0"/>
              <a:t>business’ perspective</a:t>
            </a:r>
            <a:r>
              <a:rPr lang="en-US" dirty="0" smtClean="0"/>
              <a:t>, list the features/functions and technology changes that </a:t>
            </a:r>
            <a:r>
              <a:rPr lang="en-US" i="1" dirty="0" smtClean="0"/>
              <a:t>will not be included </a:t>
            </a:r>
            <a:r>
              <a:rPr lang="en-US" dirty="0" smtClean="0"/>
              <a:t>in the scope of the effort.  Example</a:t>
            </a:r>
            <a:r>
              <a:rPr lang="en-US" baseline="0" dirty="0" smtClean="0"/>
              <a:t> technology changes include web-enabling an application, making an application available via a mobile device, and non-functional requirements like improved Customer usability and improved performance.</a:t>
            </a:r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5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For more information regarding Business Value, please refer to the </a:t>
            </a:r>
            <a:r>
              <a:rPr lang="en-US" dirty="0" smtClean="0"/>
              <a:t>IT finance wiki  at  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https://spteam.aa.com/sites/ITS/PAD</a:t>
            </a:r>
            <a:r>
              <a:rPr lang="en-US" dirty="0" smtClean="0"/>
              <a:t> \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This information again can be pasted into the Business Value and Justification section of the funding document. </a:t>
            </a:r>
          </a:p>
          <a:p>
            <a:endParaRPr lang="en-US" dirty="0" smtClean="0"/>
          </a:p>
          <a:p>
            <a:r>
              <a:rPr lang="en-US" dirty="0" smtClean="0"/>
              <a:t>Hard business benefits are those that can be defined</a:t>
            </a:r>
            <a:r>
              <a:rPr lang="en-US" baseline="0" dirty="0" smtClean="0"/>
              <a:t>, quantified and measured using real dollars.</a:t>
            </a:r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6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aseline="0" dirty="0" smtClean="0"/>
              <a:t>For more information regarding Business Value, please refer to the </a:t>
            </a:r>
            <a:r>
              <a:rPr lang="en-US" dirty="0" smtClean="0"/>
              <a:t>IT finance wiki  at  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https://spteam.aa.com/sites/ITS/PAD</a:t>
            </a:r>
            <a:r>
              <a:rPr lang="en-US" dirty="0" smtClean="0"/>
              <a:t> </a:t>
            </a:r>
            <a:endParaRPr lang="en-US" b="1" dirty="0" smtClean="0"/>
          </a:p>
          <a:p>
            <a:r>
              <a:rPr lang="en-US" dirty="0" smtClean="0"/>
              <a:t>Soft business benefits are those that cannot be defined</a:t>
            </a:r>
            <a:r>
              <a:rPr lang="en-US" baseline="0" dirty="0" smtClean="0"/>
              <a:t>, quantified and measured using real dollars.</a:t>
            </a:r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7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A99AE7-C9B2-4EBA-8DBB-9A6B6FB0AAE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530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Backgrou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Picture 9" descr="PPBar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6172200"/>
            <a:ext cx="9144000" cy="365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463675"/>
            <a:ext cx="7315200" cy="1470025"/>
          </a:xfrm>
        </p:spPr>
        <p:txBody>
          <a:bodyPr/>
          <a:lstStyle>
            <a:lvl1pPr>
              <a:lnSpc>
                <a:spcPts val="3900"/>
              </a:lnSpc>
              <a:spcAft>
                <a:spcPts val="0"/>
              </a:spcAft>
              <a:defRPr sz="4000" kern="1200" spc="-160" baseline="0"/>
            </a:lvl1pPr>
          </a:lstStyle>
          <a:p>
            <a:r>
              <a:rPr lang="en-US" dirty="0" smtClean="0"/>
              <a:t>Click To Edit Master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934222"/>
            <a:ext cx="5689600" cy="838200"/>
          </a:xfrm>
        </p:spPr>
        <p:txBody>
          <a:bodyPr lIns="0">
            <a:normAutofit/>
          </a:bodyPr>
          <a:lstStyle>
            <a:lvl1pPr marL="0" indent="0" algn="l">
              <a:buNone/>
              <a:defRPr sz="2600" b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1686" y="6172200"/>
            <a:ext cx="2133600" cy="365125"/>
          </a:xfrm>
        </p:spPr>
        <p:txBody>
          <a:bodyPr/>
          <a:lstStyle>
            <a:lvl1pPr algn="l">
              <a:defRPr/>
            </a:lvl1pPr>
          </a:lstStyle>
          <a:p>
            <a:fld id="{9E3C471D-FB94-43E4-8DFD-966A05A846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341312"/>
            <a:ext cx="274320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b="1" dirty="0" smtClean="0">
                <a:solidFill>
                  <a:srgbClr val="003E7B"/>
                </a:solidFill>
                <a:latin typeface="Helvetica" pitchFamily="34" charset="0"/>
                <a:cs typeface="Helvetica" pitchFamily="34" charset="0"/>
              </a:rPr>
              <a:t>5/21/09</a:t>
            </a:r>
            <a:endParaRPr lang="en-US" b="1" dirty="0">
              <a:solidFill>
                <a:srgbClr val="003E7B"/>
              </a:solidFill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8" name="Picture 7" descr="PPBackgrou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PPBar3woneworld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6162040"/>
            <a:ext cx="9144000" cy="365760"/>
          </a:xfrm>
          <a:prstGeom prst="rect">
            <a:avLst/>
          </a:prstGeom>
        </p:spPr>
      </p:pic>
      <p:sp>
        <p:nvSpPr>
          <p:cNvPr id="12" name="Rectangle 25"/>
          <p:cNvSpPr>
            <a:spLocks noChangeArrowheads="1"/>
          </p:cNvSpPr>
          <p:nvPr userDrawn="1"/>
        </p:nvSpPr>
        <p:spPr bwMode="auto">
          <a:xfrm>
            <a:off x="1841500" y="6565900"/>
            <a:ext cx="5435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dirty="0">
                <a:solidFill>
                  <a:srgbClr val="7F7F7F"/>
                </a:solidFill>
                <a:latin typeface="Arial" charset="0"/>
              </a:rPr>
              <a:t>American Airlines confidential document.  Do not copy or distribute.</a:t>
            </a:r>
            <a:endParaRPr kumimoji="1" lang="en-US" sz="1100" dirty="0">
              <a:solidFill>
                <a:srgbClr val="7F7F7F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bIns="4572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>
          <a:xfrm>
            <a:off x="457200" y="1028700"/>
            <a:ext cx="8255000" cy="500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8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bIns="4572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0" y="939800"/>
            <a:ext cx="8242300" cy="4445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69900" y="1460500"/>
            <a:ext cx="8229600" cy="4597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6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Bar3woneworld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6162040"/>
            <a:ext cx="9144000" cy="36576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6000"/>
            <a:ext cx="8229600" cy="511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5200" y="6159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  <a:latin typeface="Helvetica" pitchFamily="34" charset="0"/>
                <a:cs typeface="Helvetica" pitchFamily="34" charset="0"/>
              </a:defRPr>
            </a:lvl1pPr>
          </a:lstStyle>
          <a:p>
            <a:fld id="{9E3C471D-FB94-43E4-8DFD-966A05A846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1841500" y="6565900"/>
            <a:ext cx="5435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lang="en-US" sz="1100" dirty="0">
                <a:solidFill>
                  <a:schemeClr val="tx1"/>
                </a:solidFill>
              </a:rPr>
              <a:t>American Airlines confidential document.  Do not copy or distribute.</a:t>
            </a:r>
            <a:endParaRPr kumimoji="1" lang="en-US" sz="11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66" r:id="rId2"/>
    <p:sldLayoutId id="2147484068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160" baseline="0">
          <a:solidFill>
            <a:srgbClr val="003E7B"/>
          </a:solidFill>
          <a:latin typeface="Helvetica" pitchFamily="34" charset="0"/>
          <a:ea typeface="+mj-ea"/>
          <a:cs typeface="Helvetic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5867400" y="228600"/>
            <a:ext cx="2286000" cy="1676400"/>
          </a:xfrm>
        </p:spPr>
        <p:txBody>
          <a:bodyPr/>
          <a:lstStyle/>
          <a:p>
            <a:pPr eaLnBrk="1" hangingPunct="1"/>
            <a:endParaRPr lang="en-US" sz="3200" i="1" dirty="0" smtClean="0"/>
          </a:p>
          <a:p>
            <a:pPr eaLnBrk="1" hangingPunct="1"/>
            <a:endParaRPr lang="en-US" sz="3200" i="1" dirty="0" smtClean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4400" y="1463675"/>
            <a:ext cx="7315200" cy="1470025"/>
          </a:xfrm>
          <a:prstGeom prst="rect">
            <a:avLst/>
          </a:prstGeom>
        </p:spPr>
        <p:txBody>
          <a:bodyPr vert="horz" lIns="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ts val="3900"/>
              </a:lnSpc>
              <a:spcBef>
                <a:spcPct val="0"/>
              </a:spcBef>
              <a:spcAft>
                <a:spcPts val="0"/>
              </a:spcAft>
              <a:buNone/>
              <a:defRPr sz="4000" b="1" kern="1200" spc="-160" baseline="0">
                <a:solidFill>
                  <a:srgbClr val="003E7B"/>
                </a:solidFill>
                <a:latin typeface="Helvetica" pitchFamily="34" charset="0"/>
                <a:ea typeface="+mj-ea"/>
                <a:cs typeface="Helvetica" pitchFamily="34" charset="0"/>
              </a:defRPr>
            </a:lvl1pPr>
          </a:lstStyle>
          <a:p>
            <a:r>
              <a:rPr lang="en-US" dirty="0" smtClean="0"/>
              <a:t>International Doc Verification</a:t>
            </a:r>
            <a:endParaRPr lang="en-US" dirty="0"/>
          </a:p>
        </p:txBody>
      </p:sp>
      <p:sp>
        <p:nvSpPr>
          <p:cNvPr id="11" name="Subtitle 3"/>
          <p:cNvSpPr txBox="1">
            <a:spLocks/>
          </p:cNvSpPr>
          <p:nvPr/>
        </p:nvSpPr>
        <p:spPr>
          <a:xfrm>
            <a:off x="914400" y="2934222"/>
            <a:ext cx="5689600" cy="8382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600" b="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Vision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399" y="4343400"/>
            <a:ext cx="49493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Revision 1.0</a:t>
            </a:r>
          </a:p>
          <a:p>
            <a:r>
              <a:rPr lang="en-US" sz="2000" dirty="0" smtClean="0">
                <a:latin typeface="+mj-lt"/>
              </a:rPr>
              <a:t> Oct 9th </a:t>
            </a:r>
            <a:r>
              <a:rPr lang="en-US" sz="2000" dirty="0" smtClean="0">
                <a:latin typeface="+mj-lt"/>
              </a:rPr>
              <a:t>2013</a:t>
            </a:r>
          </a:p>
          <a:p>
            <a:r>
              <a:rPr lang="en-US" sz="2000" dirty="0" smtClean="0">
                <a:latin typeface="+mj-lt"/>
              </a:rPr>
              <a:t>Alison Anderson, </a:t>
            </a:r>
            <a:r>
              <a:rPr lang="en-US" sz="2000" dirty="0" smtClean="0">
                <a:latin typeface="+mj-lt"/>
              </a:rPr>
              <a:t>Product Owner</a:t>
            </a:r>
            <a:endParaRPr lang="en-US" sz="2000" dirty="0">
              <a:latin typeface="+mj-lt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0" y="6642556"/>
            <a:ext cx="294606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Vision template v4.6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13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Elevator Statement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FOR :- All Airport check-in </a:t>
            </a:r>
            <a:r>
              <a:rPr lang="en-US" dirty="0" smtClean="0"/>
              <a:t>agents</a:t>
            </a:r>
            <a:endParaRPr lang="en-US" dirty="0" smtClean="0"/>
          </a:p>
          <a:p>
            <a:r>
              <a:rPr lang="en-US" dirty="0" smtClean="0"/>
              <a:t>WHO:- </a:t>
            </a:r>
            <a:r>
              <a:rPr lang="en-US" dirty="0" smtClean="0"/>
              <a:t> validate travel docs</a:t>
            </a:r>
          </a:p>
          <a:p>
            <a:r>
              <a:rPr lang="en-US" dirty="0" smtClean="0"/>
              <a:t>THE</a:t>
            </a:r>
            <a:r>
              <a:rPr lang="en-US" dirty="0" smtClean="0"/>
              <a:t>:- </a:t>
            </a:r>
            <a:r>
              <a:rPr lang="en-US" dirty="0" smtClean="0"/>
              <a:t> new screens on SSM</a:t>
            </a:r>
            <a:endParaRPr lang="en-US" dirty="0"/>
          </a:p>
          <a:p>
            <a:r>
              <a:rPr lang="en-US" dirty="0" smtClean="0"/>
              <a:t>IS A:- </a:t>
            </a:r>
            <a:r>
              <a:rPr lang="en-US" dirty="0" smtClean="0"/>
              <a:t> web service interface to IATA</a:t>
            </a:r>
            <a:endParaRPr lang="en-US" dirty="0" smtClean="0"/>
          </a:p>
          <a:p>
            <a:r>
              <a:rPr lang="en-US" dirty="0" smtClean="0"/>
              <a:t>THAT:- </a:t>
            </a:r>
          </a:p>
          <a:p>
            <a:pPr lvl="1"/>
            <a:r>
              <a:rPr lang="en-US" dirty="0" smtClean="0"/>
              <a:t>Reduces fines </a:t>
            </a:r>
          </a:p>
          <a:p>
            <a:pPr lvl="1"/>
            <a:r>
              <a:rPr lang="en-US" dirty="0" smtClean="0"/>
              <a:t>Reduce agent take overs  and manpower</a:t>
            </a:r>
          </a:p>
          <a:p>
            <a:pPr lvl="1"/>
            <a:r>
              <a:rPr lang="en-US" dirty="0" smtClean="0"/>
              <a:t>Clear written condensed message returned from </a:t>
            </a:r>
            <a:r>
              <a:rPr lang="en-US" dirty="0" err="1" smtClean="0"/>
              <a:t>Timatic</a:t>
            </a:r>
            <a:r>
              <a:rPr lang="en-US" smtClean="0"/>
              <a:t> </a:t>
            </a:r>
            <a:endParaRPr lang="en-US" dirty="0" smtClean="0"/>
          </a:p>
          <a:p>
            <a:pPr lvl="1"/>
            <a:r>
              <a:rPr lang="en-US" dirty="0" smtClean="0"/>
              <a:t>Leverages </a:t>
            </a:r>
            <a:r>
              <a:rPr lang="en-US" dirty="0" smtClean="0"/>
              <a:t>IATA services for validating international docs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8328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endParaRPr lang="en-US" sz="2800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/>
          <a:lstStyle/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What is needed?</a:t>
            </a:r>
          </a:p>
          <a:p>
            <a:pPr lvl="1"/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Why do we need it?</a:t>
            </a:r>
          </a:p>
          <a:p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Who is it for?</a:t>
            </a:r>
          </a:p>
          <a:p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endParaRPr lang="en-US" sz="2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7200" y="1448625"/>
            <a:ext cx="8242300" cy="4584700"/>
          </a:xfrm>
        </p:spPr>
        <p:txBody>
          <a:bodyPr>
            <a:normAutofit fontScale="47500" lnSpcReduction="20000"/>
          </a:bodyPr>
          <a:lstStyle/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What does it include?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High-level features/functions </a:t>
            </a:r>
          </a:p>
          <a:p>
            <a:pPr lvl="1"/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 smtClean="0"/>
              <a:t>1</a:t>
            </a:r>
            <a:r>
              <a:rPr lang="en-GB" dirty="0"/>
              <a:t>. Migration from WAS6 to WAS8</a:t>
            </a:r>
            <a:endParaRPr lang="en-US" dirty="0"/>
          </a:p>
          <a:p>
            <a:r>
              <a:rPr lang="en-GB" dirty="0"/>
              <a:t>2. Implement Application Replication</a:t>
            </a:r>
            <a:endParaRPr lang="en-US" dirty="0"/>
          </a:p>
          <a:p>
            <a:r>
              <a:rPr lang="en-GB" dirty="0"/>
              <a:t>3. DC Affinity for </a:t>
            </a:r>
            <a:r>
              <a:rPr lang="en-GB" dirty="0" err="1"/>
              <a:t>Bagdrop</a:t>
            </a:r>
            <a:r>
              <a:rPr lang="en-GB" dirty="0"/>
              <a:t> stations only</a:t>
            </a:r>
            <a:endParaRPr lang="en-US" dirty="0"/>
          </a:p>
          <a:p>
            <a:r>
              <a:rPr lang="en-GB" dirty="0"/>
              <a:t>4. All the EJB timer jobs-(Release 1 &amp; 2)</a:t>
            </a:r>
            <a:endParaRPr lang="en-US" dirty="0"/>
          </a:p>
          <a:p>
            <a:r>
              <a:rPr lang="en-GB" dirty="0"/>
              <a:t>5. Load testing in current environment with replication on </a:t>
            </a:r>
            <a:endParaRPr lang="en-US" dirty="0"/>
          </a:p>
          <a:p>
            <a:r>
              <a:rPr lang="en-GB" dirty="0"/>
              <a:t>6. Session Reports to SPLUNK (Dashboards) (Release 1 &amp; 2)</a:t>
            </a:r>
            <a:endParaRPr lang="en-US" dirty="0"/>
          </a:p>
          <a:p>
            <a:r>
              <a:rPr lang="en-GB" dirty="0"/>
              <a:t>7. Migration from current </a:t>
            </a:r>
            <a:r>
              <a:rPr lang="en-GB" dirty="0" err="1"/>
              <a:t>Dev</a:t>
            </a:r>
            <a:r>
              <a:rPr lang="en-GB" dirty="0"/>
              <a:t> to pre-</a:t>
            </a:r>
            <a:r>
              <a:rPr lang="en-GB" dirty="0" err="1"/>
              <a:t>eCloud_dev</a:t>
            </a:r>
            <a:r>
              <a:rPr lang="en-GB" dirty="0"/>
              <a:t> </a:t>
            </a:r>
            <a:endParaRPr lang="en-US" dirty="0"/>
          </a:p>
          <a:p>
            <a:r>
              <a:rPr lang="en-GB" dirty="0"/>
              <a:t>8. Build out from QA to </a:t>
            </a:r>
            <a:r>
              <a:rPr lang="en-GB" dirty="0" err="1"/>
              <a:t>vBlock</a:t>
            </a:r>
            <a:r>
              <a:rPr lang="en-GB" dirty="0"/>
              <a:t> QA</a:t>
            </a:r>
            <a:endParaRPr lang="en-US" dirty="0"/>
          </a:p>
          <a:p>
            <a:r>
              <a:rPr lang="en-GB" dirty="0"/>
              <a:t>9. Build out stage to </a:t>
            </a:r>
            <a:r>
              <a:rPr lang="en-GB" dirty="0" err="1"/>
              <a:t>vBlock</a:t>
            </a:r>
            <a:r>
              <a:rPr lang="en-GB" dirty="0"/>
              <a:t> Stage</a:t>
            </a:r>
            <a:endParaRPr lang="en-US" dirty="0"/>
          </a:p>
          <a:p>
            <a:r>
              <a:rPr lang="en-GB" dirty="0"/>
              <a:t>10. Build out prod to </a:t>
            </a:r>
            <a:r>
              <a:rPr lang="en-GB" dirty="0" err="1"/>
              <a:t>Vblock</a:t>
            </a:r>
            <a:r>
              <a:rPr lang="en-GB" dirty="0"/>
              <a:t> Prod</a:t>
            </a:r>
            <a:endParaRPr lang="en-US" dirty="0"/>
          </a:p>
          <a:p>
            <a:r>
              <a:rPr lang="en-GB" dirty="0"/>
              <a:t>Migration from CDC to </a:t>
            </a:r>
            <a:r>
              <a:rPr lang="en-GB" dirty="0" err="1"/>
              <a:t>Vblock</a:t>
            </a:r>
            <a:r>
              <a:rPr lang="en-GB" dirty="0"/>
              <a:t> </a:t>
            </a:r>
            <a:endParaRPr lang="en-US" dirty="0"/>
          </a:p>
          <a:p>
            <a:r>
              <a:rPr lang="en-GB" dirty="0"/>
              <a:t>Migration from Oracle10g to vPostgres9.x</a:t>
            </a:r>
            <a:endParaRPr lang="en-US" dirty="0"/>
          </a:p>
          <a:p>
            <a:r>
              <a:rPr lang="en-GB" dirty="0" err="1"/>
              <a:t>Splunk</a:t>
            </a:r>
            <a:r>
              <a:rPr lang="en-GB" dirty="0"/>
              <a:t> on </a:t>
            </a:r>
            <a:r>
              <a:rPr lang="en-GB" dirty="0" err="1"/>
              <a:t>Vblock</a:t>
            </a:r>
            <a:r>
              <a:rPr lang="en-GB" dirty="0"/>
              <a:t> (New environment)</a:t>
            </a:r>
            <a:endParaRPr lang="en-US" dirty="0"/>
          </a:p>
          <a:p>
            <a:r>
              <a:rPr lang="en-GB" dirty="0"/>
              <a:t>Remove Database replication (ensure jobs should run without impact)</a:t>
            </a:r>
            <a:endParaRPr lang="en-US" dirty="0"/>
          </a:p>
          <a:p>
            <a:r>
              <a:rPr lang="en-GB" dirty="0"/>
              <a:t>Support for N Cluster (application side without client side deployment)</a:t>
            </a:r>
            <a:endParaRPr lang="en-US" dirty="0"/>
          </a:p>
          <a:p>
            <a:r>
              <a:rPr lang="en-GB" dirty="0"/>
              <a:t>Add </a:t>
            </a:r>
            <a:r>
              <a:rPr lang="en-GB" dirty="0" err="1"/>
              <a:t>Dynatrace</a:t>
            </a:r>
            <a:r>
              <a:rPr lang="en-GB" dirty="0"/>
              <a:t> on server (New environment)</a:t>
            </a:r>
            <a:endParaRPr lang="en-US" dirty="0"/>
          </a:p>
          <a:p>
            <a:r>
              <a:rPr lang="en-GB" dirty="0"/>
              <a:t>Load testing in current environment with replication off</a:t>
            </a:r>
            <a:endParaRPr lang="en-US" dirty="0"/>
          </a:p>
          <a:p>
            <a:r>
              <a:rPr lang="en-GB" dirty="0"/>
              <a:t>Load testing in new environment with replication off</a:t>
            </a:r>
            <a:endParaRPr lang="en-US" dirty="0"/>
          </a:p>
          <a:p>
            <a:r>
              <a:rPr lang="en-GB" dirty="0"/>
              <a:t>Sunset old environments</a:t>
            </a:r>
            <a:endParaRPr lang="en-US" dirty="0"/>
          </a:p>
          <a:p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914400" lvl="2" indent="0">
              <a:buNone/>
            </a:pP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Technologies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RHEL 6.x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Java/JDK1.6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vPostgres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WAS8</a:t>
            </a:r>
          </a:p>
          <a:p>
            <a:pPr lvl="2"/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Scope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endParaRPr lang="en-US" sz="2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/>
          <a:lstStyle/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What is not in scope?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High-level features/functions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Reprint BagTag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No Reporting changes except for Session (</a:t>
            </a:r>
            <a:r>
              <a:rPr lang="en-GB" dirty="0" err="1" smtClean="0">
                <a:solidFill>
                  <a:schemeClr val="bg1">
                    <a:lumMod val="50000"/>
                  </a:schemeClr>
                </a:solidFill>
              </a:rPr>
              <a:t>Splunk</a:t>
            </a: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2"/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914400" lvl="2" indent="0">
              <a:buNone/>
            </a:pP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Technologies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Database streaming/replication</a:t>
            </a:r>
          </a:p>
          <a:p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Exclusions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endParaRPr lang="en-US" sz="2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>
            <a:normAutofit lnSpcReduction="10000"/>
          </a:bodyPr>
          <a:lstStyle/>
          <a:p>
            <a:r>
              <a:rPr lang="en-GB" sz="2200" dirty="0">
                <a:solidFill>
                  <a:schemeClr val="bg1">
                    <a:lumMod val="50000"/>
                  </a:schemeClr>
                </a:solidFill>
              </a:rPr>
              <a:t>Rationale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Increased Stability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Meet existing response times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Long-term availability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Leverage the elastic capability of the Cloud</a:t>
            </a:r>
          </a:p>
          <a:p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Quantifiable business impacts: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Added revenue</a:t>
            </a:r>
          </a:p>
          <a:p>
            <a:pPr lvl="2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Increased reliability and stability will increase customer loyalty.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Quicker </a:t>
            </a:r>
            <a:r>
              <a:rPr lang="en-GB" sz="2200" dirty="0">
                <a:solidFill>
                  <a:schemeClr val="bg1">
                    <a:lumMod val="50000"/>
                  </a:schemeClr>
                </a:solidFill>
              </a:rPr>
              <a:t>response time to issues</a:t>
            </a:r>
            <a:endParaRPr lang="en-GB" sz="2200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Reduced expenses</a:t>
            </a:r>
          </a:p>
          <a:p>
            <a:pPr lvl="2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Recurring savings on maintenance .</a:t>
            </a:r>
          </a:p>
          <a:p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Business Value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endParaRPr lang="en-US" sz="2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>
            <a:normAutofit/>
          </a:bodyPr>
          <a:lstStyle/>
          <a:p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Non-Quantifiable impacts: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Increased Customer Satisfaction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Increased Customer Loyalty</a:t>
            </a:r>
          </a:p>
          <a:p>
            <a:pPr lvl="1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Leveraging Current technologies</a:t>
            </a:r>
          </a:p>
          <a:p>
            <a:pPr lvl="1"/>
            <a:endParaRPr lang="en-GB" sz="2200" dirty="0" smtClean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en-GB" sz="2200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Business Value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James Barker (PO)</a:t>
            </a:r>
          </a:p>
          <a:p>
            <a:r>
              <a:rPr lang="en-US" dirty="0" smtClean="0"/>
              <a:t>Michele (PO)</a:t>
            </a:r>
          </a:p>
          <a:p>
            <a:r>
              <a:rPr lang="en-US" dirty="0" smtClean="0"/>
              <a:t>Srinivas </a:t>
            </a:r>
            <a:r>
              <a:rPr lang="en-US" dirty="0" err="1" smtClean="0"/>
              <a:t>Sriperumbudur</a:t>
            </a:r>
            <a:r>
              <a:rPr lang="en-US" dirty="0" smtClean="0"/>
              <a:t> </a:t>
            </a:r>
            <a:r>
              <a:rPr lang="en-US" dirty="0"/>
              <a:t>(Application Architecture)</a:t>
            </a:r>
            <a:endParaRPr lang="en-US" dirty="0" smtClean="0"/>
          </a:p>
          <a:p>
            <a:r>
              <a:rPr lang="en-US" dirty="0" smtClean="0"/>
              <a:t>Arun </a:t>
            </a:r>
            <a:r>
              <a:rPr lang="en-US" dirty="0" err="1" smtClean="0"/>
              <a:t>Dhanabal</a:t>
            </a:r>
            <a:r>
              <a:rPr lang="en-US" dirty="0" smtClean="0"/>
              <a:t> (</a:t>
            </a:r>
            <a:r>
              <a:rPr lang="en-US" dirty="0"/>
              <a:t>Manager Application Architecture)</a:t>
            </a:r>
            <a:endParaRPr lang="en-US" dirty="0" smtClean="0"/>
          </a:p>
          <a:p>
            <a:r>
              <a:rPr lang="en-US" dirty="0" smtClean="0"/>
              <a:t>Wajahath Quraishi/ </a:t>
            </a:r>
            <a:r>
              <a:rPr lang="en-US" dirty="0" err="1" smtClean="0"/>
              <a:t>Sajid</a:t>
            </a:r>
            <a:r>
              <a:rPr lang="en-US" dirty="0" smtClean="0"/>
              <a:t> (PM)</a:t>
            </a:r>
          </a:p>
          <a:p>
            <a:r>
              <a:rPr lang="en-US" dirty="0" smtClean="0"/>
              <a:t>Mohammed </a:t>
            </a:r>
            <a:r>
              <a:rPr lang="en-US" dirty="0" err="1" smtClean="0"/>
              <a:t>Almansouri</a:t>
            </a:r>
            <a:r>
              <a:rPr lang="en-US" dirty="0" smtClean="0"/>
              <a:t> ( DBA)</a:t>
            </a:r>
          </a:p>
          <a:p>
            <a:r>
              <a:rPr lang="en-US" dirty="0" smtClean="0"/>
              <a:t>Gregg (QA)</a:t>
            </a:r>
            <a:endParaRPr lang="en-US" dirty="0"/>
          </a:p>
          <a:p>
            <a:r>
              <a:rPr lang="en-US" dirty="0" smtClean="0"/>
              <a:t>Santosh Kulkarni (Onsite Tech Lead)</a:t>
            </a:r>
          </a:p>
          <a:p>
            <a:r>
              <a:rPr lang="en-US" dirty="0" smtClean="0"/>
              <a:t>Balaji </a:t>
            </a:r>
            <a:r>
              <a:rPr lang="en-US" dirty="0"/>
              <a:t>Thayi </a:t>
            </a:r>
            <a:r>
              <a:rPr lang="en-US" dirty="0" smtClean="0"/>
              <a:t>(Offshore </a:t>
            </a:r>
            <a:r>
              <a:rPr lang="en-US" dirty="0"/>
              <a:t>Tech Lead)</a:t>
            </a:r>
          </a:p>
          <a:p>
            <a:r>
              <a:rPr lang="en-US" dirty="0" err="1" smtClean="0"/>
              <a:t>Noothan</a:t>
            </a:r>
            <a:r>
              <a:rPr lang="en-US" dirty="0"/>
              <a:t> (Developer)</a:t>
            </a:r>
          </a:p>
          <a:p>
            <a:r>
              <a:rPr lang="en-US" dirty="0"/>
              <a:t>Gopi (Developer)</a:t>
            </a:r>
            <a:endParaRPr lang="en-US" dirty="0" smtClean="0"/>
          </a:p>
          <a:p>
            <a:r>
              <a:rPr lang="en-US" dirty="0" smtClean="0"/>
              <a:t>Rama </a:t>
            </a:r>
            <a:r>
              <a:rPr lang="en-US" dirty="0"/>
              <a:t>Lakshmi (Developer)</a:t>
            </a:r>
            <a:endParaRPr lang="en-US" dirty="0" smtClean="0"/>
          </a:p>
          <a:p>
            <a:r>
              <a:rPr lang="en-US" dirty="0"/>
              <a:t>Anitha (Developer)</a:t>
            </a:r>
            <a:endParaRPr lang="en-US" dirty="0" smtClean="0"/>
          </a:p>
          <a:p>
            <a:r>
              <a:rPr lang="en-US" dirty="0" err="1" smtClean="0"/>
              <a:t>Akaash</a:t>
            </a:r>
            <a:r>
              <a:rPr lang="en-US" dirty="0" smtClean="0"/>
              <a:t> (Developer)</a:t>
            </a:r>
          </a:p>
          <a:p>
            <a:r>
              <a:rPr lang="en-US" dirty="0" smtClean="0"/>
              <a:t>Lakshmi (Automation testing)</a:t>
            </a:r>
          </a:p>
          <a:p>
            <a:r>
              <a:rPr lang="en-US" dirty="0" err="1" smtClean="0"/>
              <a:t>Anupama</a:t>
            </a:r>
            <a:r>
              <a:rPr lang="en-US" dirty="0"/>
              <a:t> (Automation testing</a:t>
            </a:r>
            <a:r>
              <a:rPr lang="en-US" dirty="0" smtClean="0"/>
              <a:t>)</a:t>
            </a:r>
          </a:p>
          <a:p>
            <a:r>
              <a:rPr lang="en-US" dirty="0" smtClean="0"/>
              <a:t>Anil Gajendra ( Infrastructure)</a:t>
            </a:r>
          </a:p>
          <a:p>
            <a:r>
              <a:rPr lang="en-US" dirty="0" smtClean="0"/>
              <a:t>Cara Cusack ( Infrastructure PM)</a:t>
            </a:r>
          </a:p>
          <a:p>
            <a:r>
              <a:rPr lang="en-US" dirty="0" smtClean="0"/>
              <a:t>Subbarao ( </a:t>
            </a:r>
            <a:r>
              <a:rPr lang="en-US" dirty="0" err="1" smtClean="0"/>
              <a:t>Appsupport</a:t>
            </a:r>
            <a:r>
              <a:rPr lang="en-US" dirty="0" smtClean="0"/>
              <a:t> lead)</a:t>
            </a:r>
          </a:p>
          <a:p>
            <a:r>
              <a:rPr lang="en-US" dirty="0" smtClean="0"/>
              <a:t>Jeri Karr ( Operations)</a:t>
            </a:r>
          </a:p>
          <a:p>
            <a:r>
              <a:rPr lang="en-US" dirty="0" smtClean="0"/>
              <a:t>Aaron Salamanca ( Infrastructure)</a:t>
            </a:r>
          </a:p>
          <a:p>
            <a:r>
              <a:rPr lang="en-US" dirty="0" smtClean="0"/>
              <a:t>Brent Wilson ( VBZ Contact person)</a:t>
            </a:r>
          </a:p>
          <a:p>
            <a:r>
              <a:rPr lang="en-US" dirty="0" smtClean="0"/>
              <a:t>Sara Perez ( Mosaic)</a:t>
            </a:r>
          </a:p>
          <a:p>
            <a:r>
              <a:rPr lang="en-US" dirty="0" smtClean="0"/>
              <a:t>Thomas / Danny Bean ( Reporting team)</a:t>
            </a:r>
          </a:p>
          <a:p>
            <a:r>
              <a:rPr lang="en-US" dirty="0" smtClean="0"/>
              <a:t>Carlos ( Manager  Load testing)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Collaborative Team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92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History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035977547"/>
              </p:ext>
            </p:extLst>
          </p:nvPr>
        </p:nvGraphicFramePr>
        <p:xfrm>
          <a:off x="457200" y="1028700"/>
          <a:ext cx="845312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3398520"/>
                <a:gridCol w="342392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Jan 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Document</a:t>
                      </a:r>
                      <a:r>
                        <a:rPr lang="en-US" baseline="0" dirty="0" smtClean="0"/>
                        <a:t> created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Initial Version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May 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Updated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84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Revision History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610521121"/>
              </p:ext>
            </p:extLst>
          </p:nvPr>
        </p:nvGraphicFramePr>
        <p:xfrm>
          <a:off x="457200" y="1028700"/>
          <a:ext cx="845312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325880"/>
                <a:gridCol w="54965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Jan 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Initial Version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2840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ATheme">
  <a:themeElements>
    <a:clrScheme name="AA Template">
      <a:dk1>
        <a:srgbClr val="7F7F7F"/>
      </a:dk1>
      <a:lt1>
        <a:srgbClr val="FFFFFF"/>
      </a:lt1>
      <a:dk2>
        <a:srgbClr val="7F7F7F"/>
      </a:dk2>
      <a:lt2>
        <a:srgbClr val="FFFFFF"/>
      </a:lt2>
      <a:accent1>
        <a:srgbClr val="003E7B"/>
      </a:accent1>
      <a:accent2>
        <a:srgbClr val="F31730"/>
      </a:accent2>
      <a:accent3>
        <a:srgbClr val="0071E2"/>
      </a:accent3>
      <a:accent4>
        <a:srgbClr val="7F7F7F"/>
      </a:accent4>
      <a:accent5>
        <a:srgbClr val="BD091E"/>
      </a:accent5>
      <a:accent6>
        <a:srgbClr val="BFBFBF"/>
      </a:accent6>
      <a:hlink>
        <a:srgbClr val="FFFFFF"/>
      </a:hlink>
      <a:folHlink>
        <a:srgbClr val="BFBFBF"/>
      </a:folHlink>
    </a:clrScheme>
    <a:fontScheme name="AA The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554826F8A3544A9CC61241755FF959" ma:contentTypeVersion="0" ma:contentTypeDescription="Create a new document." ma:contentTypeScope="" ma:versionID="608ab3894c7513c52d9ca356b1edbd1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1972A832-E2EA-4902-84DE-A930198FE1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490F9BE-6D37-414B-9019-C710513CF3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03495A-1ED7-49F4-963B-62F8E3CB1D55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89852</TotalTime>
  <Words>813</Words>
  <Application>Microsoft Office PowerPoint</Application>
  <PresentationFormat>On-screen Show (4:3)</PresentationFormat>
  <Paragraphs>164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AATheme</vt:lpstr>
      <vt:lpstr>PowerPoint Presentation</vt:lpstr>
      <vt:lpstr>Elevator Statement</vt:lpstr>
      <vt:lpstr>Vision Statement</vt:lpstr>
      <vt:lpstr>Vision Statement </vt:lpstr>
      <vt:lpstr>Vision Statement </vt:lpstr>
      <vt:lpstr>Vision Statement </vt:lpstr>
      <vt:lpstr>Vision Statement </vt:lpstr>
      <vt:lpstr>Authors</vt:lpstr>
      <vt:lpstr>Review History</vt:lpstr>
      <vt:lpstr>Revision History</vt:lpstr>
    </vt:vector>
  </TitlesOfParts>
  <Company>American Airlines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101 Training - Day 1 - v4.1</dc:title>
  <dc:creator>Don Smith</dc:creator>
  <cp:lastModifiedBy>Saida</cp:lastModifiedBy>
  <cp:revision>1340</cp:revision>
  <cp:lastPrinted>2011-12-16T19:30:10Z</cp:lastPrinted>
  <dcterms:created xsi:type="dcterms:W3CDTF">2011-12-09T18:04:02Z</dcterms:created>
  <dcterms:modified xsi:type="dcterms:W3CDTF">2013-10-09T15:37:17Z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0x010100C6554826F8A3544A9CC61241755FF959</vt:lpwstr>
  </property>
  <property fmtid="{D5CDD505-2E9C-101B-9397-08002B2CF9AE}" pid="3" name="_NewReviewCycle">
    <vt:lpwstr/>
  </property>
</Properties>
</file>