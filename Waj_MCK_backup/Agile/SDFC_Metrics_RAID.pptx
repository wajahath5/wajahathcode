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9" r:id="rId2"/>
    <p:sldId id="282" r:id="rId3"/>
    <p:sldId id="281" r:id="rId4"/>
    <p:sldId id="257" r:id="rId5"/>
    <p:sldId id="271" r:id="rId6"/>
    <p:sldId id="283" r:id="rId7"/>
    <p:sldId id="258" r:id="rId8"/>
    <p:sldId id="280" r:id="rId9"/>
    <p:sldId id="278" r:id="rId10"/>
    <p:sldId id="272" r:id="rId11"/>
    <p:sldId id="276" r:id="rId12"/>
    <p:sldId id="265" r:id="rId13"/>
    <p:sldId id="266" r:id="rId14"/>
    <p:sldId id="264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582" y="-192"/>
      </p:cViewPr>
      <p:guideLst>
        <p:guide orient="horz" pos="3830"/>
        <p:guide orient="horz" pos="1444"/>
        <p:guide orient="horz" pos="2884"/>
        <p:guide orient="horz" pos="4120"/>
        <p:guide pos="288"/>
        <p:guide pos="5474"/>
        <p:guide pos="1926"/>
        <p:guide pos="38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639616"/>
        <c:axId val="51984000"/>
      </c:barChart>
      <c:catAx>
        <c:axId val="46639616"/>
        <c:scaling>
          <c:orientation val="minMax"/>
        </c:scaling>
        <c:delete val="0"/>
        <c:axPos val="b"/>
        <c:majorTickMark val="out"/>
        <c:minorTickMark val="none"/>
        <c:tickLblPos val="nextTo"/>
        <c:crossAx val="51984000"/>
        <c:crosses val="autoZero"/>
        <c:auto val="1"/>
        <c:lblAlgn val="ctr"/>
        <c:lblOffset val="100"/>
        <c:noMultiLvlLbl val="0"/>
      </c:catAx>
      <c:valAx>
        <c:axId val="519840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66396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B0D54-3DD0-43CD-9087-7072A5B4A392}" type="datetime4">
              <a:rPr lang="en-US" smtClean="0"/>
              <a:pPr/>
              <a:t>March 7,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C631C-078A-4987-B0CD-9ADE9B442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2486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B2772-4E8E-45F5-98E8-217A419B487D}" type="datetime4">
              <a:rPr lang="en-US" smtClean="0"/>
              <a:pPr/>
              <a:t>March 7, 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15AFE-CDDE-4CAB-B321-50B3BF263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285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aa_ppt_elements\aa_aa_tm_hrz_1cp_grd_po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504688" y="495300"/>
            <a:ext cx="3195302" cy="484632"/>
          </a:xfrm>
          <a:prstGeom prst="rect">
            <a:avLst/>
          </a:prstGeom>
          <a:noFill/>
        </p:spPr>
      </p:pic>
      <p:pic>
        <p:nvPicPr>
          <p:cNvPr id="10" name="Picture 9" descr="aa_clda_PPT_rgb_23g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57199" y="2043404"/>
            <a:ext cx="8232775" cy="970384"/>
          </a:xfrm>
        </p:spPr>
        <p:txBody>
          <a:bodyPr anchor="b" anchorCtr="0">
            <a:noAutofit/>
          </a:bodyPr>
          <a:lstStyle>
            <a:lvl1pPr>
              <a:lnSpc>
                <a:spcPts val="32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cover slide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57199" y="3130422"/>
            <a:ext cx="8232775" cy="914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000"/>
              </a:lnSpc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cover slide subtitle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1801368"/>
            <a:ext cx="2825496" cy="219456"/>
          </a:xfrm>
        </p:spPr>
        <p:txBody>
          <a:bodyPr/>
          <a:lstStyle>
            <a:lvl1pPr algn="l">
              <a:defRPr sz="1600"/>
            </a:lvl1pPr>
          </a:lstStyle>
          <a:p>
            <a:fld id="{DCA09CB5-E2C9-47AF-9BA9-51F47CB63BD0}" type="datetime1">
              <a:rPr lang="en-US" smtClean="0"/>
              <a:t>3/7/2013</a:t>
            </a:fld>
            <a:endParaRPr lang="en-US" dirty="0"/>
          </a:p>
        </p:txBody>
      </p:sp>
      <p:pic>
        <p:nvPicPr>
          <p:cNvPr id="1026" name="Picture 2" descr="D:\aa_ppt_elements\aa_aa_tm_hrz_rgb_grd_pos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hidden">
          <a:xfrm>
            <a:off x="5504688" y="493776"/>
            <a:ext cx="3195302" cy="484632"/>
          </a:xfrm>
          <a:prstGeom prst="rect">
            <a:avLst/>
          </a:prstGeom>
          <a:noFill/>
        </p:spPr>
      </p:pic>
      <p:pic>
        <p:nvPicPr>
          <p:cNvPr id="12" name="Picture 3" descr="D:\Oneworld_rgb_Logo.png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8245435" y="6040370"/>
            <a:ext cx="420687" cy="42068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687E50-74D8-42FB-A862-D53106ED53BE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1737360"/>
            <a:ext cx="8232775" cy="4343400"/>
          </a:xfrm>
        </p:spPr>
        <p:txBody>
          <a:bodyPr/>
          <a:lstStyle>
            <a:lvl1pPr marL="461963" indent="-461963">
              <a:buClr>
                <a:schemeClr val="tx2"/>
              </a:buClr>
              <a:buFont typeface="+mj-lt"/>
              <a:buAutoNum type="arabicPeriod"/>
              <a:defRPr sz="2000"/>
            </a:lvl1pPr>
            <a:lvl2pPr marL="461963" indent="-461963">
              <a:buClr>
                <a:schemeClr val="tx2"/>
              </a:buClr>
              <a:buFont typeface="+mj-lt"/>
              <a:buAutoNum type="arabicPeriod"/>
              <a:defRPr sz="2000"/>
            </a:lvl2pPr>
            <a:lvl3pPr marL="461963" indent="-461963">
              <a:buClr>
                <a:schemeClr val="tx2"/>
              </a:buClr>
              <a:buFont typeface="+mj-lt"/>
              <a:buAutoNum type="arabicPeriod"/>
              <a:defRPr sz="2000"/>
            </a:lvl3pPr>
            <a:lvl4pPr marL="461963" indent="-461963">
              <a:buClr>
                <a:schemeClr val="tx2"/>
              </a:buClr>
              <a:buFont typeface="+mj-lt"/>
              <a:buAutoNum type="arabicPeriod"/>
              <a:defRPr sz="2000"/>
            </a:lvl4pPr>
            <a:lvl5pPr marL="461963" indent="-461963">
              <a:buClr>
                <a:schemeClr val="tx2"/>
              </a:buClr>
              <a:buFont typeface="+mj-lt"/>
              <a:buAutoNum type="arabicPeriod"/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5613" y="1342231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0C3FEA-46FC-4132-8202-D30887D4A40C}" type="datetime1">
              <a:rPr lang="en-US" smtClean="0"/>
              <a:t>3/7/2013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342231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1737360"/>
            <a:ext cx="8232775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a_pc_PPT_rgb_23c_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D40F72-5E8E-4E0E-ACC3-F52CA8436EB7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7869" y="739492"/>
            <a:ext cx="8242106" cy="1552857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Quotes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ABBA7F-D37A-4227-A687-3949750FFBFF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</a:defRPr>
            </a:lvl1pPr>
            <a:lvl2pPr marL="171450" indent="-171450">
              <a:buNone/>
              <a:defRPr sz="40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Orange Quotes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2D6CC-A470-454A-8333-CF8E1B20A5F8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</a:defRPr>
            </a:lvl1pPr>
            <a:lvl2pPr marL="171450" indent="-171450">
              <a:buNone/>
              <a:defRPr sz="40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Light Orange Quotes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CFF558-BDEB-4018-8B8B-B2847872E77B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</a:defRPr>
            </a:lvl1pPr>
            <a:lvl2pPr marL="171450" indent="-171450">
              <a:buNone/>
              <a:defRPr sz="40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Yellow Green Quotes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2266071-8AAF-4247-BD6E-BDE0324488E7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</a:defRPr>
            </a:lvl1pPr>
            <a:lvl2pPr marL="171450" indent="-171450">
              <a:buNone/>
              <a:defRPr sz="40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Red Quotes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95AE4E-78BF-492A-A6E7-EC13C1D9D8C1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</a:defRPr>
            </a:lvl1pPr>
            <a:lvl2pPr marL="171450" indent="-171450">
              <a:buNone/>
              <a:defRPr sz="40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1737360"/>
            <a:ext cx="2807208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1737360"/>
            <a:ext cx="5157216" cy="43386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342231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DBAE3B1-89D9-4651-A402-81F295742101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CCB4-857D-4ECE-9B42-F42315C32C3D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1737360"/>
            <a:ext cx="5157216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2807208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342231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814F3-25C5-4C71-816D-CB7C16F068F7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1737360"/>
            <a:ext cx="3995928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1737360"/>
            <a:ext cx="3968496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342231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3124200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0988" indent="-10953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5946775" y="3124200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0988" indent="-10953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3"/>
          </p:nvPr>
        </p:nvSpPr>
        <p:spPr bwMode="gray">
          <a:xfrm>
            <a:off x="3201988" y="5294503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0988" indent="-10953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3200400" y="3124200"/>
            <a:ext cx="2743200" cy="7772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0988" indent="-10953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5"/>
          </p:nvPr>
        </p:nvSpPr>
        <p:spPr bwMode="gray">
          <a:xfrm>
            <a:off x="3200400" y="1730373"/>
            <a:ext cx="2743200" cy="1389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171450" indent="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6"/>
          </p:nvPr>
        </p:nvSpPr>
        <p:spPr bwMode="gray">
          <a:xfrm>
            <a:off x="3200400" y="3905250"/>
            <a:ext cx="2743200" cy="138988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171450" indent="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1730373"/>
            <a:ext cx="2743200" cy="138988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171450" indent="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5946775" y="1730373"/>
            <a:ext cx="2743200" cy="138988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171450" indent="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385FCAF-59A9-490B-97D9-EAD17BE41627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457200" y="5294503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0988" indent="-10953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1"/>
          </p:nvPr>
        </p:nvSpPr>
        <p:spPr bwMode="gray">
          <a:xfrm>
            <a:off x="5946775" y="5294503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0988" indent="-10953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457200" y="3905250"/>
            <a:ext cx="2743200" cy="138988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171450" indent="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6775" y="3905250"/>
            <a:ext cx="2743200" cy="138988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171450" indent="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1342231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Multiple Images and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1" y="2286642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6100761" y="2286642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3036950" y="2286642"/>
            <a:ext cx="3063240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5"/>
          </p:nvPr>
        </p:nvSpPr>
        <p:spPr bwMode="gray">
          <a:xfrm>
            <a:off x="3036951" y="0"/>
            <a:ext cx="3063240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6"/>
          </p:nvPr>
        </p:nvSpPr>
        <p:spPr bwMode="gray">
          <a:xfrm>
            <a:off x="3036951" y="4573284"/>
            <a:ext cx="3063240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1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100761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1" y="4573284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6100761" y="4573284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20650" indent="-1206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869" y="384313"/>
            <a:ext cx="8242106" cy="9144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29951"/>
            <a:ext cx="38862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62950" y="6629950"/>
            <a:ext cx="323850" cy="1365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4572000" y="6629951"/>
            <a:ext cx="22860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 algn="l">
              <a:defRPr sz="800">
                <a:solidFill>
                  <a:schemeClr val="bg2"/>
                </a:solidFill>
              </a:defRPr>
            </a:lvl1pPr>
          </a:lstStyle>
          <a:p>
            <a:fld id="{DAFD33A8-6F48-430C-93BD-D02B12341DD1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737360"/>
            <a:ext cx="8229600" cy="4343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0" r:id="rId2"/>
    <p:sldLayoutId id="2147483678" r:id="rId3"/>
    <p:sldLayoutId id="2147483672" r:id="rId4"/>
    <p:sldLayoutId id="2147483679" r:id="rId5"/>
    <p:sldLayoutId id="2147483673" r:id="rId6"/>
    <p:sldLayoutId id="2147483674" r:id="rId7"/>
    <p:sldLayoutId id="2147483675" r:id="rId8"/>
    <p:sldLayoutId id="2147483676" r:id="rId9"/>
    <p:sldLayoutId id="2147483652" r:id="rId10"/>
    <p:sldLayoutId id="2147483663" r:id="rId11"/>
    <p:sldLayoutId id="2147483664" r:id="rId12"/>
    <p:sldLayoutId id="2147483659" r:id="rId13"/>
    <p:sldLayoutId id="2147483667" r:id="rId14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None/>
        <a:tabLst/>
        <a:defRPr sz="2000" kern="1200" baseline="0">
          <a:solidFill>
            <a:schemeClr val="tx1"/>
          </a:solidFill>
          <a:latin typeface="+mj-lt"/>
          <a:ea typeface="+mn-ea"/>
          <a:cs typeface="+mn-cs"/>
        </a:defRPr>
      </a:lvl1pPr>
      <a:lvl2pPr marL="171450" marR="0" indent="-1714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Char char="•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2pPr>
      <a:lvl3pPr marL="354013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Char char="•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506413" marR="0" indent="-1714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Char char="•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687388" marR="0" indent="-17145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Char char="•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2292350"/>
            <a:ext cx="8232775" cy="721438"/>
          </a:xfrm>
        </p:spPr>
        <p:txBody>
          <a:bodyPr/>
          <a:lstStyle/>
          <a:p>
            <a:r>
              <a:rPr lang="en-US" dirty="0" smtClean="0"/>
              <a:t>Confirmed Flight change – SDFCS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Metrics and RAID analysis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687E50-74D8-42FB-A862-D53106ED53BE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1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</a:t>
            </a:r>
            <a:r>
              <a:rPr lang="en-US" dirty="0" smtClean="0"/>
              <a:t>14: JAN 29</a:t>
            </a:r>
            <a:r>
              <a:rPr lang="en-US" baseline="30000" dirty="0" smtClean="0"/>
              <a:t>th</a:t>
            </a:r>
            <a:r>
              <a:rPr lang="en-US" dirty="0" smtClean="0"/>
              <a:t>- Feb 11</a:t>
            </a:r>
            <a:r>
              <a:rPr lang="en-US" baseline="30000" dirty="0" smtClean="0"/>
              <a:t>th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687E50-74D8-42FB-A862-D53106ED53BE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Planned points   : </a:t>
            </a:r>
            <a:r>
              <a:rPr lang="en-US" dirty="0" smtClean="0"/>
              <a:t>6</a:t>
            </a:r>
            <a:endParaRPr lang="en-US" b="1" dirty="0"/>
          </a:p>
          <a:p>
            <a:r>
              <a:rPr lang="en-US" dirty="0"/>
              <a:t>Accepted: </a:t>
            </a:r>
            <a:r>
              <a:rPr lang="en-US" b="1" dirty="0">
                <a:solidFill>
                  <a:srgbClr val="00B050"/>
                </a:solidFill>
              </a:rPr>
              <a:t>3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Collected after iteration end: </a:t>
            </a:r>
            <a:r>
              <a:rPr lang="en-US" b="1" dirty="0">
                <a:solidFill>
                  <a:srgbClr val="92D050"/>
                </a:solidFill>
              </a:rPr>
              <a:t>3</a:t>
            </a:r>
          </a:p>
          <a:p>
            <a:r>
              <a:rPr lang="en-US" dirty="0"/>
              <a:t>Not collected: </a:t>
            </a:r>
            <a:r>
              <a:rPr lang="en-US" b="1" dirty="0" smtClean="0">
                <a:solidFill>
                  <a:srgbClr val="FF0000"/>
                </a:solidFill>
              </a:rPr>
              <a:t>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Summary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Planned           </a:t>
            </a:r>
            <a:r>
              <a:rPr lang="en-US" dirty="0" smtClean="0"/>
              <a:t>-  </a:t>
            </a:r>
            <a:r>
              <a:rPr lang="en-US" dirty="0"/>
              <a:t>6</a:t>
            </a:r>
            <a:r>
              <a:rPr lang="en-US" dirty="0" smtClean="0"/>
              <a:t>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Total Accepted  -  </a:t>
            </a:r>
            <a:r>
              <a:rPr lang="en-US" dirty="0" smtClean="0"/>
              <a:t>3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Not Collected   - </a:t>
            </a:r>
            <a:r>
              <a:rPr lang="en-US" dirty="0" smtClean="0"/>
              <a:t> 3  (Defects identified and classified as “High”)</a:t>
            </a:r>
          </a:p>
        </p:txBody>
      </p:sp>
    </p:spTree>
    <p:extLst>
      <p:ext uri="{BB962C8B-B14F-4D97-AF65-F5344CB8AC3E}">
        <p14:creationId xmlns:p14="http://schemas.microsoft.com/office/powerpoint/2010/main" val="3111815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Iteration </a:t>
            </a:r>
            <a:r>
              <a:rPr lang="en-US" dirty="0"/>
              <a:t>15: Feb 12</a:t>
            </a:r>
            <a:r>
              <a:rPr lang="en-US" baseline="30000" dirty="0"/>
              <a:t>th</a:t>
            </a:r>
            <a:r>
              <a:rPr lang="en-US" dirty="0"/>
              <a:t>- 25</a:t>
            </a:r>
            <a:r>
              <a:rPr lang="en-US" baseline="30000" dirty="0"/>
              <a:t>th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311AFF-69C7-47AD-808A-22C0F721AC70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Planned points   : </a:t>
            </a:r>
            <a:r>
              <a:rPr lang="en-US" b="1" dirty="0"/>
              <a:t>11</a:t>
            </a:r>
          </a:p>
          <a:p>
            <a:r>
              <a:rPr lang="en-US" dirty="0" smtClean="0"/>
              <a:t>Accepted</a:t>
            </a:r>
            <a:r>
              <a:rPr lang="en-US" dirty="0"/>
              <a:t>: </a:t>
            </a:r>
            <a:r>
              <a:rPr lang="en-US" b="1" dirty="0">
                <a:solidFill>
                  <a:srgbClr val="00B050"/>
                </a:solidFill>
              </a:rPr>
              <a:t>5</a:t>
            </a:r>
          </a:p>
          <a:p>
            <a:r>
              <a:rPr lang="en-US" dirty="0" smtClean="0"/>
              <a:t>Collected </a:t>
            </a:r>
            <a:r>
              <a:rPr lang="en-US" dirty="0"/>
              <a:t>after iteration end: </a:t>
            </a:r>
            <a:r>
              <a:rPr lang="en-US" b="1" dirty="0">
                <a:solidFill>
                  <a:srgbClr val="92D050"/>
                </a:solidFill>
              </a:rPr>
              <a:t>3</a:t>
            </a:r>
          </a:p>
          <a:p>
            <a:r>
              <a:rPr lang="en-US" dirty="0" smtClean="0"/>
              <a:t>Not </a:t>
            </a:r>
            <a:r>
              <a:rPr lang="en-US" dirty="0"/>
              <a:t>collected: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/>
              <a:t> </a:t>
            </a:r>
            <a:r>
              <a:rPr lang="en-US" dirty="0"/>
              <a:t>(iTKTs - PVC issue)</a:t>
            </a:r>
          </a:p>
          <a:p>
            <a:r>
              <a:rPr lang="en-US" dirty="0"/>
              <a:t>Other </a:t>
            </a:r>
            <a:r>
              <a:rPr lang="en-US" dirty="0" smtClean="0"/>
              <a:t>factors </a:t>
            </a:r>
            <a:r>
              <a:rPr lang="en-US" dirty="0"/>
              <a:t>- </a:t>
            </a:r>
            <a:r>
              <a:rPr lang="en-US" dirty="0" smtClean="0"/>
              <a:t> India’s Nation </a:t>
            </a:r>
            <a:r>
              <a:rPr lang="en-US" dirty="0"/>
              <a:t>wide strike 20,21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US" dirty="0" smtClean="0"/>
              <a:t> Feb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Summary</a:t>
            </a:r>
            <a:r>
              <a:rPr lang="en-US" dirty="0" smtClean="0"/>
              <a:t>: </a:t>
            </a:r>
          </a:p>
          <a:p>
            <a:pPr marL="0" indent="0">
              <a:buNone/>
            </a:pPr>
            <a:r>
              <a:rPr lang="en-US" dirty="0" smtClean="0"/>
              <a:t>    Planned           - 11  </a:t>
            </a:r>
          </a:p>
          <a:p>
            <a:pPr marL="0" indent="0">
              <a:buNone/>
            </a:pPr>
            <a:r>
              <a:rPr lang="en-US" dirty="0" smtClean="0"/>
              <a:t>   Total Accepted  -  8  </a:t>
            </a:r>
          </a:p>
          <a:p>
            <a:pPr marL="0" indent="0">
              <a:buNone/>
            </a:pPr>
            <a:r>
              <a:rPr lang="en-US" dirty="0" smtClean="0"/>
              <a:t>    Not Collected   - 3 ( External dependency iTKTs )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Item (3),  cannot reproduce defect. No fix needed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 Case </a:t>
            </a:r>
            <a:r>
              <a:rPr lang="en-US" dirty="0"/>
              <a:t>Headline in AA Blue, Arial 28pt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bg2"/>
                </a:solidFill>
              </a:rPr>
              <a:t>With sentence case subtitle in AA Gray, Arial 28pt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457200" y="1739900"/>
            <a:ext cx="8232775" cy="4340225"/>
          </a:xfrm>
        </p:spPr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“Increase List Level” button in AA Dark Gray, Arial 16pt</a:t>
            </a:r>
          </a:p>
          <a:p>
            <a:pPr lvl="2"/>
            <a:r>
              <a:rPr lang="en-US" dirty="0" smtClean="0"/>
              <a:t>Bullet two using “Increase List Level” button </a:t>
            </a:r>
            <a:r>
              <a:rPr lang="en-US" dirty="0"/>
              <a:t>in AA Dark Gray, Arial </a:t>
            </a:r>
            <a:r>
              <a:rPr lang="en-US" dirty="0" smtClean="0"/>
              <a:t>16pt</a:t>
            </a:r>
          </a:p>
          <a:p>
            <a:pPr lvl="3"/>
            <a:r>
              <a:rPr lang="en-US" dirty="0" smtClean="0"/>
              <a:t>Bullet </a:t>
            </a:r>
            <a:r>
              <a:rPr lang="en-US" dirty="0"/>
              <a:t>three using </a:t>
            </a:r>
            <a:r>
              <a:rPr lang="en-US" dirty="0" smtClean="0"/>
              <a:t>“Increase List Level” button </a:t>
            </a:r>
            <a:r>
              <a:rPr lang="en-US" dirty="0"/>
              <a:t>in AA Dark Gray, Arial </a:t>
            </a:r>
            <a:r>
              <a:rPr lang="en-US" dirty="0" smtClean="0"/>
              <a:t>14pt</a:t>
            </a:r>
          </a:p>
          <a:p>
            <a:pPr lvl="4"/>
            <a:r>
              <a:rPr lang="en-US" dirty="0" smtClean="0"/>
              <a:t>Bullet </a:t>
            </a:r>
            <a:r>
              <a:rPr lang="en-US" dirty="0"/>
              <a:t>four using </a:t>
            </a:r>
            <a:r>
              <a:rPr lang="en-US" dirty="0" smtClean="0"/>
              <a:t>“Increase List Level” button </a:t>
            </a:r>
            <a:r>
              <a:rPr lang="en-US" dirty="0"/>
              <a:t>in AA Dark Gray, Arial </a:t>
            </a:r>
            <a:r>
              <a:rPr lang="en-US" dirty="0" smtClean="0"/>
              <a:t>14pt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F22D9CD-AB5D-44D0-B896-6164E9DAFA7B}" type="datetime1">
              <a:rPr lang="en-US" smtClean="0"/>
              <a:t>3/7/2013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 16 -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687E50-74D8-42FB-A862-D53106ED53BE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ITKTs issue, </a:t>
            </a:r>
            <a:r>
              <a:rPr lang="en-US" smtClean="0"/>
              <a:t>response returned </a:t>
            </a:r>
            <a:r>
              <a:rPr lang="en-US" dirty="0" smtClean="0"/>
              <a:t>for multi segment not consistent for SDFC and SDS</a:t>
            </a:r>
          </a:p>
          <a:p>
            <a:r>
              <a:rPr lang="en-US" dirty="0" smtClean="0"/>
              <a:t>As per </a:t>
            </a:r>
            <a:r>
              <a:rPr lang="en-US" dirty="0" err="1" smtClean="0"/>
              <a:t>iTKTs</a:t>
            </a:r>
            <a:r>
              <a:rPr lang="en-US" dirty="0" smtClean="0"/>
              <a:t>  the SDFC interface for made “</a:t>
            </a:r>
            <a:r>
              <a:rPr lang="en-US" dirty="0" err="1" smtClean="0"/>
              <a:t>stateful</a:t>
            </a:r>
            <a:r>
              <a:rPr lang="en-US" dirty="0" smtClean="0"/>
              <a:t>” to work around the handle </a:t>
            </a:r>
            <a:r>
              <a:rPr lang="en-US" dirty="0"/>
              <a:t>married connection scenarios; otherwise, the segments are treated in a stateless </a:t>
            </a:r>
            <a:r>
              <a:rPr lang="en-US" dirty="0" smtClean="0"/>
              <a:t>manner.</a:t>
            </a:r>
          </a:p>
          <a:p>
            <a:r>
              <a:rPr lang="en-US" dirty="0" smtClean="0"/>
              <a:t>And </a:t>
            </a:r>
            <a:r>
              <a:rPr lang="en-US" dirty="0"/>
              <a:t>we can’t change SDS now otherwise that will break DC.</a:t>
            </a:r>
          </a:p>
          <a:p>
            <a:r>
              <a:rPr lang="en-US" dirty="0"/>
              <a:t> </a:t>
            </a:r>
            <a:r>
              <a:rPr lang="en-US" dirty="0" smtClean="0"/>
              <a:t>In </a:t>
            </a:r>
            <a:r>
              <a:rPr lang="en-US" dirty="0"/>
              <a:t>actuality, most all of </a:t>
            </a:r>
            <a:r>
              <a:rPr lang="en-US" dirty="0" err="1"/>
              <a:t>iTKTS</a:t>
            </a:r>
            <a:r>
              <a:rPr lang="en-US" dirty="0"/>
              <a:t> products work like SDS; it was only SDFC that we had to modify for the “</a:t>
            </a:r>
            <a:r>
              <a:rPr lang="en-US" dirty="0" err="1"/>
              <a:t>stateful</a:t>
            </a:r>
            <a:r>
              <a:rPr lang="en-US" dirty="0"/>
              <a:t>” segment itineraries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9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 Case Headline in AA Blue, Arial 28pt on Two Lines to Demonstrate a Long Headline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457200" y="1739900"/>
            <a:ext cx="8232775" cy="4340225"/>
          </a:xfrm>
        </p:spPr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“Increase List Level” button in AA Dark Gray, Arial 16pt</a:t>
            </a:r>
          </a:p>
          <a:p>
            <a:pPr lvl="2"/>
            <a:r>
              <a:rPr lang="en-US" dirty="0" smtClean="0"/>
              <a:t>Bullet two using “Increase List Level” button in AA Dark Gray, Arial 16pt</a:t>
            </a:r>
          </a:p>
          <a:p>
            <a:pPr lvl="3"/>
            <a:r>
              <a:rPr lang="en-US" dirty="0" smtClean="0"/>
              <a:t>Bullet three using “Increase List Level” button in AA Dark Gray, Arial 14pt</a:t>
            </a:r>
          </a:p>
          <a:p>
            <a:pPr lvl="4"/>
            <a:r>
              <a:rPr lang="en-US" dirty="0" smtClean="0"/>
              <a:t>Bullet four using “Increase List Level” button in AA Dark Gray, Arial 14pt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530B01-16B8-4A15-A838-BCD213F9C1AF}" type="datetime1">
              <a:rPr lang="en-US" smtClean="0"/>
              <a:t>3/7/2013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591D92-3A98-4A61-BA95-85592BC8AEE9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1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1C50-E1E5-4A90-AB24-0CB12B57890A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Divider slide in AA Blue, Arial 28pt with single </a:t>
            </a:r>
            <a:br>
              <a:rPr lang="en-US" dirty="0" smtClean="0"/>
            </a:br>
            <a:r>
              <a:rPr lang="en-US" dirty="0" smtClean="0"/>
              <a:t>line spacing on one or two lines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2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B4E0-92ED-4E81-B938-E3938CA856D3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US" dirty="0" smtClean="0"/>
              <a:t>“Quote slide in approved brand </a:t>
            </a:r>
            <a:br>
              <a:rPr lang="en-US" dirty="0" smtClean="0"/>
            </a:br>
            <a:r>
              <a:rPr lang="en-US" dirty="0" smtClean="0"/>
              <a:t>colors (see layout options) with text in white, Arial 40pt with single line spacing. Remove the hanging quotation marks by clicking the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Decrease List Level </a:t>
            </a:r>
            <a:r>
              <a:rPr lang="en-US" dirty="0" smtClean="0"/>
              <a:t>button”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7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</a:t>
            </a:r>
            <a:r>
              <a:rPr lang="en-US" dirty="0"/>
              <a:t>thirds Image Slide with Image or Chart on Left</a:t>
            </a:r>
            <a:br>
              <a:rPr lang="en-US" dirty="0"/>
            </a:br>
            <a:r>
              <a:rPr lang="en-US" dirty="0">
                <a:solidFill>
                  <a:schemeClr val="bg2"/>
                </a:solidFill>
              </a:rPr>
              <a:t>Text is </a:t>
            </a:r>
            <a:r>
              <a:rPr lang="en-US" dirty="0" smtClean="0">
                <a:solidFill>
                  <a:schemeClr val="bg2"/>
                </a:solidFill>
              </a:rPr>
              <a:t>always </a:t>
            </a:r>
            <a:r>
              <a:rPr lang="en-US" dirty="0">
                <a:solidFill>
                  <a:schemeClr val="bg2"/>
                </a:solidFill>
              </a:rPr>
              <a:t>on the </a:t>
            </a:r>
            <a:r>
              <a:rPr lang="en-US" dirty="0" smtClean="0">
                <a:solidFill>
                  <a:schemeClr val="bg2"/>
                </a:solidFill>
              </a:rPr>
              <a:t>right side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2FC4549-1C30-4648-BD84-BBC0CB4EEF9A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</a:t>
            </a:r>
            <a:r>
              <a:rPr lang="en-US" dirty="0"/>
              <a:t>thirds Image Slide with Image or </a:t>
            </a:r>
            <a:r>
              <a:rPr lang="en-US" dirty="0" smtClean="0"/>
              <a:t>Chart on Left</a:t>
            </a:r>
            <a:br>
              <a:rPr lang="en-US" dirty="0" smtClean="0"/>
            </a:br>
            <a:r>
              <a:rPr lang="en-US" dirty="0" smtClean="0">
                <a:solidFill>
                  <a:schemeClr val="bg2"/>
                </a:solidFill>
              </a:rPr>
              <a:t>Text </a:t>
            </a:r>
            <a:r>
              <a:rPr lang="en-US" dirty="0">
                <a:solidFill>
                  <a:schemeClr val="bg2"/>
                </a:solidFill>
              </a:rPr>
              <a:t>is </a:t>
            </a:r>
            <a:r>
              <a:rPr lang="en-US" dirty="0" smtClean="0">
                <a:solidFill>
                  <a:schemeClr val="bg2"/>
                </a:solidFill>
              </a:rPr>
              <a:t>always </a:t>
            </a:r>
            <a:r>
              <a:rPr lang="en-US" dirty="0">
                <a:solidFill>
                  <a:schemeClr val="bg2"/>
                </a:solidFill>
              </a:rPr>
              <a:t>on the </a:t>
            </a:r>
            <a:r>
              <a:rPr lang="en-US" dirty="0" smtClean="0">
                <a:solidFill>
                  <a:schemeClr val="bg2"/>
                </a:solidFill>
              </a:rPr>
              <a:t>right side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97BD-B5B7-4D11-87F3-DD424427FD04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3"/>
            <a:r>
              <a:rPr lang="en-US" dirty="0" smtClean="0"/>
              <a:t>Bullet three using indent button in AA Dark Gray, Arial 14pt</a:t>
            </a:r>
          </a:p>
          <a:p>
            <a:pPr lvl="4"/>
            <a:r>
              <a:rPr lang="en-US" dirty="0" smtClean="0"/>
              <a:t>Bullet four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Half </a:t>
            </a:r>
            <a:r>
              <a:rPr lang="en-US" dirty="0"/>
              <a:t>Image Slide with Image or Chart on Left</a:t>
            </a:r>
            <a:br>
              <a:rPr lang="en-US" dirty="0"/>
            </a:br>
            <a:r>
              <a:rPr lang="en-US" dirty="0">
                <a:solidFill>
                  <a:schemeClr val="bg2"/>
                </a:solidFill>
              </a:rPr>
              <a:t>Text is </a:t>
            </a:r>
            <a:r>
              <a:rPr lang="en-US" dirty="0" smtClean="0">
                <a:solidFill>
                  <a:schemeClr val="bg2"/>
                </a:solidFill>
              </a:rPr>
              <a:t>always </a:t>
            </a:r>
            <a:r>
              <a:rPr lang="en-US" dirty="0">
                <a:solidFill>
                  <a:schemeClr val="bg2"/>
                </a:solidFill>
              </a:rPr>
              <a:t>on the </a:t>
            </a:r>
            <a:r>
              <a:rPr lang="en-US" dirty="0" smtClean="0">
                <a:solidFill>
                  <a:schemeClr val="bg2"/>
                </a:solidFill>
              </a:rPr>
              <a:t>right side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8239F-F867-4A96-8E91-0A21A8DF86F5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Bullet one using indent button in AA Dark Gray, 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Pie Chart with Text Slide</a:t>
            </a: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5"/>
          </p:nvPr>
        </p:nvGraphicFramePr>
        <p:xfrm>
          <a:off x="457200" y="1736725"/>
          <a:ext cx="5157788" cy="4338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E3CBA01-EAF7-47A0-88FF-8F375A137432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smtClean="0"/>
              <a:t>Bar Chart </a:t>
            </a:r>
            <a:r>
              <a:rPr lang="en-US" dirty="0"/>
              <a:t>with Text Slide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5"/>
          </p:nvPr>
        </p:nvGraphicFramePr>
        <p:xfrm>
          <a:off x="457200" y="1736725"/>
          <a:ext cx="5157788" cy="4338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B88ACEF-A4E6-46F8-BE0B-397100EC6785}" type="datetime1">
              <a:rPr lang="en-US" smtClean="0"/>
              <a:t>3/7/2013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a_ppt_4x3_v1_130109[1]">
  <a:themeElements>
    <a:clrScheme name="AA color theme 09172012">
      <a:dk1>
        <a:srgbClr val="36495A"/>
      </a:dk1>
      <a:lt1>
        <a:sysClr val="window" lastClr="FFFFFF"/>
      </a:lt1>
      <a:dk2>
        <a:srgbClr val="0078D2"/>
      </a:dk2>
      <a:lt2>
        <a:srgbClr val="6E8999"/>
      </a:lt2>
      <a:accent1>
        <a:srgbClr val="FAAF00"/>
      </a:accent1>
      <a:accent2>
        <a:srgbClr val="FF7318"/>
      </a:accent2>
      <a:accent3>
        <a:srgbClr val="4DB4FA"/>
      </a:accent3>
      <a:accent4>
        <a:srgbClr val="0078D2"/>
      </a:accent4>
      <a:accent5>
        <a:srgbClr val="D1D532"/>
      </a:accent5>
      <a:accent6>
        <a:srgbClr val="F52305"/>
      </a:accent6>
      <a:hlink>
        <a:srgbClr val="0078D2"/>
      </a:hlink>
      <a:folHlink>
        <a:srgbClr val="C3001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aa_ppt_4x3_v1_130109[1]</Template>
  <TotalTime>171</TotalTime>
  <Words>606</Words>
  <Application>Microsoft Office PowerPoint</Application>
  <PresentationFormat>On-screen Show (4:3)</PresentationFormat>
  <Paragraphs>109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aa_ppt_4x3_v1_130109[1]</vt:lpstr>
      <vt:lpstr>Confirmed Flight change – SDFCS </vt:lpstr>
      <vt:lpstr>PowerPoint Presentation</vt:lpstr>
      <vt:lpstr>Iteration 14: JAN 29th- Feb 11th</vt:lpstr>
      <vt:lpstr> Iteration 15: Feb 12th- 25th</vt:lpstr>
      <vt:lpstr>Title Case Headline in AA Blue, Arial 28pt   With sentence case subtitle in AA Gray, Arial 28pt</vt:lpstr>
      <vt:lpstr>Iteration 16 -</vt:lpstr>
      <vt:lpstr>Title Case Headline in AA Blue, Arial 28pt on Two Lines to Demonstrate a Long Headline</vt:lpstr>
      <vt:lpstr>PowerPoint Presentation</vt:lpstr>
      <vt:lpstr>Divider slide in AA Blue, Arial 28pt with single  line spacing on one or two lines </vt:lpstr>
      <vt:lpstr>PowerPoint Presentation</vt:lpstr>
      <vt:lpstr>Two-thirds Image Slide with Image or Chart on Left Text is always on the right side</vt:lpstr>
      <vt:lpstr>One-thirds Image Slide with Image or Chart on Left Text is always on the right side</vt:lpstr>
      <vt:lpstr>Half Image Slide with Image or Chart on Left Text is always on the right side</vt:lpstr>
      <vt:lpstr>Sample Pie Chart with Text Slide</vt:lpstr>
      <vt:lpstr>Sample Bar Chart with Text Slide</vt:lpstr>
    </vt:vector>
  </TitlesOfParts>
  <Company>AMR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in AA Blue, Arial 28pt on one  or two lines</dc:title>
  <dc:creator>Proctor, Jennifer</dc:creator>
  <cp:lastModifiedBy>Saida</cp:lastModifiedBy>
  <cp:revision>15</cp:revision>
  <dcterms:created xsi:type="dcterms:W3CDTF">2013-01-20T20:36:33Z</dcterms:created>
  <dcterms:modified xsi:type="dcterms:W3CDTF">2013-03-07T21:52:55Z</dcterms:modified>
</cp:coreProperties>
</file>