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83" r:id="rId4"/>
  </p:sldMasterIdLst>
  <p:notesMasterIdLst>
    <p:notesMasterId r:id="rId28"/>
  </p:notesMasterIdLst>
  <p:handoutMasterIdLst>
    <p:handoutMasterId r:id="rId29"/>
  </p:handoutMasterIdLst>
  <p:sldIdLst>
    <p:sldId id="956" r:id="rId5"/>
    <p:sldId id="957" r:id="rId6"/>
    <p:sldId id="958" r:id="rId7"/>
    <p:sldId id="973" r:id="rId8"/>
    <p:sldId id="968" r:id="rId9"/>
    <p:sldId id="974" r:id="rId10"/>
    <p:sldId id="975" r:id="rId11"/>
    <p:sldId id="976" r:id="rId12"/>
    <p:sldId id="960" r:id="rId13"/>
    <p:sldId id="978" r:id="rId14"/>
    <p:sldId id="981" r:id="rId15"/>
    <p:sldId id="982" r:id="rId16"/>
    <p:sldId id="977" r:id="rId17"/>
    <p:sldId id="962" r:id="rId18"/>
    <p:sldId id="980" r:id="rId19"/>
    <p:sldId id="983" r:id="rId20"/>
    <p:sldId id="963" r:id="rId21"/>
    <p:sldId id="970" r:id="rId22"/>
    <p:sldId id="985" r:id="rId23"/>
    <p:sldId id="984" r:id="rId24"/>
    <p:sldId id="964" r:id="rId25"/>
    <p:sldId id="965" r:id="rId26"/>
    <p:sldId id="966" r:id="rId27"/>
  </p:sldIdLst>
  <p:sldSz cx="9144000" cy="6858000" type="screen4x3"/>
  <p:notesSz cx="6881813" cy="9296400"/>
  <p:defaultTextStyle>
    <a:defPPr>
      <a:defRPr lang="en-US"/>
    </a:defPPr>
    <a:lvl1pPr algn="l" rtl="0" fontAlgn="base">
      <a:spcBef>
        <a:spcPct val="0"/>
      </a:spcBef>
      <a:spcAft>
        <a:spcPct val="0"/>
      </a:spcAft>
      <a:defRPr kern="1200">
        <a:solidFill>
          <a:schemeClr val="accent1"/>
        </a:solidFill>
        <a:latin typeface="Arial" charset="0"/>
        <a:ea typeface="+mn-ea"/>
        <a:cs typeface="+mn-cs"/>
      </a:defRPr>
    </a:lvl1pPr>
    <a:lvl2pPr marL="457200" algn="l" rtl="0" fontAlgn="base">
      <a:spcBef>
        <a:spcPct val="0"/>
      </a:spcBef>
      <a:spcAft>
        <a:spcPct val="0"/>
      </a:spcAft>
      <a:defRPr kern="1200">
        <a:solidFill>
          <a:schemeClr val="accent1"/>
        </a:solidFill>
        <a:latin typeface="Arial" charset="0"/>
        <a:ea typeface="+mn-ea"/>
        <a:cs typeface="+mn-cs"/>
      </a:defRPr>
    </a:lvl2pPr>
    <a:lvl3pPr marL="914400" algn="l" rtl="0" fontAlgn="base">
      <a:spcBef>
        <a:spcPct val="0"/>
      </a:spcBef>
      <a:spcAft>
        <a:spcPct val="0"/>
      </a:spcAft>
      <a:defRPr kern="1200">
        <a:solidFill>
          <a:schemeClr val="accent1"/>
        </a:solidFill>
        <a:latin typeface="Arial" charset="0"/>
        <a:ea typeface="+mn-ea"/>
        <a:cs typeface="+mn-cs"/>
      </a:defRPr>
    </a:lvl3pPr>
    <a:lvl4pPr marL="1371600" algn="l" rtl="0" fontAlgn="base">
      <a:spcBef>
        <a:spcPct val="0"/>
      </a:spcBef>
      <a:spcAft>
        <a:spcPct val="0"/>
      </a:spcAft>
      <a:defRPr kern="1200">
        <a:solidFill>
          <a:schemeClr val="accent1"/>
        </a:solidFill>
        <a:latin typeface="Arial" charset="0"/>
        <a:ea typeface="+mn-ea"/>
        <a:cs typeface="+mn-cs"/>
      </a:defRPr>
    </a:lvl4pPr>
    <a:lvl5pPr marL="1828800" algn="l" rtl="0" fontAlgn="base">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F4C990"/>
    <a:srgbClr val="FFFF99"/>
    <a:srgbClr val="89FFB0"/>
    <a:srgbClr val="66FF99"/>
    <a:srgbClr val="66FFCC"/>
    <a:srgbClr val="00FF99"/>
    <a:srgbClr val="0033CC"/>
    <a:srgbClr val="00FF00"/>
    <a:srgbClr val="1D80D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57" autoAdjust="0"/>
    <p:restoredTop sz="87853" autoAdjust="0"/>
  </p:normalViewPr>
  <p:slideViewPr>
    <p:cSldViewPr snapToGrid="0">
      <p:cViewPr varScale="1">
        <p:scale>
          <a:sx n="64" d="100"/>
          <a:sy n="64" d="100"/>
        </p:scale>
        <p:origin x="-17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snapToGrid="0">
      <p:cViewPr>
        <p:scale>
          <a:sx n="140" d="100"/>
          <a:sy n="140" d="100"/>
        </p:scale>
        <p:origin x="-72" y="456"/>
      </p:cViewPr>
      <p:guideLst>
        <p:guide orient="horz" pos="2928"/>
        <p:guide pos="216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2742" cy="465138"/>
          </a:xfrm>
          <a:prstGeom prst="rect">
            <a:avLst/>
          </a:prstGeom>
        </p:spPr>
        <p:txBody>
          <a:bodyPr vert="horz" lIns="93177" tIns="46589" rIns="93177" bIns="46589" rtlCol="0"/>
          <a:lstStyle>
            <a:lvl1pPr algn="l" eaLnBrk="0" hangingPunct="0">
              <a:defRPr sz="1200"/>
            </a:lvl1pPr>
          </a:lstStyle>
          <a:p>
            <a:pPr>
              <a:defRPr/>
            </a:pPr>
            <a:endParaRPr lang="en-US" dirty="0"/>
          </a:p>
        </p:txBody>
      </p:sp>
      <p:sp>
        <p:nvSpPr>
          <p:cNvPr id="3" name="Date Placeholder 2"/>
          <p:cNvSpPr>
            <a:spLocks noGrp="1"/>
          </p:cNvSpPr>
          <p:nvPr>
            <p:ph type="dt" sz="quarter" idx="1"/>
          </p:nvPr>
        </p:nvSpPr>
        <p:spPr>
          <a:xfrm>
            <a:off x="3897513" y="0"/>
            <a:ext cx="2982742" cy="465138"/>
          </a:xfrm>
          <a:prstGeom prst="rect">
            <a:avLst/>
          </a:prstGeom>
        </p:spPr>
        <p:txBody>
          <a:bodyPr vert="horz" lIns="93177" tIns="46589" rIns="93177" bIns="46589" rtlCol="0"/>
          <a:lstStyle>
            <a:lvl1pPr algn="r" eaLnBrk="0" hangingPunct="0">
              <a:defRPr sz="1200"/>
            </a:lvl1pPr>
          </a:lstStyle>
          <a:p>
            <a:pPr>
              <a:defRPr/>
            </a:pPr>
            <a:fld id="{4C52EA24-630C-4679-B3FD-93A29BD0A488}" type="datetimeFigureOut">
              <a:rPr lang="en-US"/>
              <a:pPr>
                <a:defRPr/>
              </a:pPr>
              <a:t>7/17/2014</a:t>
            </a:fld>
            <a:endParaRPr lang="en-US" dirty="0"/>
          </a:p>
        </p:txBody>
      </p:sp>
      <p:sp>
        <p:nvSpPr>
          <p:cNvPr id="5" name="Slide Number Placeholder 4"/>
          <p:cNvSpPr>
            <a:spLocks noGrp="1"/>
          </p:cNvSpPr>
          <p:nvPr>
            <p:ph type="sldNum" sz="quarter" idx="3"/>
          </p:nvPr>
        </p:nvSpPr>
        <p:spPr>
          <a:xfrm>
            <a:off x="3897513" y="8829675"/>
            <a:ext cx="2982742" cy="465138"/>
          </a:xfrm>
          <a:prstGeom prst="rect">
            <a:avLst/>
          </a:prstGeom>
        </p:spPr>
        <p:txBody>
          <a:bodyPr vert="horz" lIns="93177" tIns="46589" rIns="93177" bIns="46589" rtlCol="0" anchor="b"/>
          <a:lstStyle>
            <a:lvl1pPr algn="r" eaLnBrk="0" hangingPunct="0">
              <a:defRPr sz="1200"/>
            </a:lvl1pPr>
          </a:lstStyle>
          <a:p>
            <a:pPr>
              <a:defRPr/>
            </a:pPr>
            <a:fld id="{0314378B-2027-4A8A-8DC7-11468CB6F43A}" type="slidenum">
              <a:rPr lang="en-US"/>
              <a:pPr>
                <a:defRPr/>
              </a:pPr>
              <a:t>‹#›</a:t>
            </a:fld>
            <a:endParaRPr lang="en-US" dirty="0"/>
          </a:p>
        </p:txBody>
      </p:sp>
      <p:sp>
        <p:nvSpPr>
          <p:cNvPr id="6" name="Footer Placeholder 5"/>
          <p:cNvSpPr>
            <a:spLocks noGrp="1"/>
          </p:cNvSpPr>
          <p:nvPr>
            <p:ph type="ftr" sz="quarter" idx="2"/>
          </p:nvPr>
        </p:nvSpPr>
        <p:spPr>
          <a:xfrm>
            <a:off x="1" y="8829675"/>
            <a:ext cx="2982742" cy="465138"/>
          </a:xfrm>
          <a:prstGeom prst="rect">
            <a:avLst/>
          </a:prstGeom>
        </p:spPr>
        <p:txBody>
          <a:bodyPr vert="horz" lIns="93177" tIns="46589" rIns="93177" bIns="46589" rtlCol="0" anchor="b"/>
          <a:lstStyle>
            <a:lvl1pPr algn="l" eaLnBrk="0" hangingPunct="0">
              <a:defRPr sz="1200"/>
            </a:lvl1pPr>
          </a:lstStyle>
          <a:p>
            <a:pPr>
              <a:defRPr/>
            </a:pPr>
            <a:endParaRPr lang="en-US" dirty="0"/>
          </a:p>
        </p:txBody>
      </p:sp>
    </p:spTree>
    <p:extLst>
      <p:ext uri="{BB962C8B-B14F-4D97-AF65-F5344CB8AC3E}">
        <p14:creationId xmlns:p14="http://schemas.microsoft.com/office/powerpoint/2010/main" xmlns="" val="34686339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79" name="Rectangle 3"/>
          <p:cNvSpPr>
            <a:spLocks noGrp="1" noChangeArrowheads="1"/>
          </p:cNvSpPr>
          <p:nvPr>
            <p:ph type="dt" idx="1"/>
          </p:nvPr>
        </p:nvSpPr>
        <p:spPr bwMode="auto">
          <a:xfrm>
            <a:off x="3897513"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hangingPunct="1">
              <a:defRPr sz="1200">
                <a:solidFill>
                  <a:schemeClr val="tx1"/>
                </a:solidFill>
              </a:defRPr>
            </a:lvl1pPr>
          </a:lstStyle>
          <a:p>
            <a:pPr>
              <a:defRPr/>
            </a:pPr>
            <a:endParaRPr lang="en-US" dirty="0"/>
          </a:p>
        </p:txBody>
      </p:sp>
      <p:sp>
        <p:nvSpPr>
          <p:cNvPr id="156676" name="Rectangle 4"/>
          <p:cNvSpPr>
            <a:spLocks noGrp="1" noRot="1" noChangeAspect="1" noChangeArrowheads="1" noTextEdit="1"/>
          </p:cNvSpPr>
          <p:nvPr>
            <p:ph type="sldImg" idx="2"/>
          </p:nvPr>
        </p:nvSpPr>
        <p:spPr bwMode="auto">
          <a:xfrm>
            <a:off x="1117600" y="696913"/>
            <a:ext cx="4646613" cy="348615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8805" y="4416426"/>
            <a:ext cx="5504204"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4582" name="Rectangle 6"/>
          <p:cNvSpPr>
            <a:spLocks noGrp="1" noChangeArrowheads="1"/>
          </p:cNvSpPr>
          <p:nvPr>
            <p:ph type="ftr" sz="quarter" idx="4"/>
          </p:nvPr>
        </p:nvSpPr>
        <p:spPr bwMode="auto">
          <a:xfrm>
            <a:off x="1"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83" name="Rectangle 7"/>
          <p:cNvSpPr>
            <a:spLocks noGrp="1" noChangeArrowheads="1"/>
          </p:cNvSpPr>
          <p:nvPr>
            <p:ph type="sldNum" sz="quarter" idx="5"/>
          </p:nvPr>
        </p:nvSpPr>
        <p:spPr bwMode="auto">
          <a:xfrm>
            <a:off x="3897513"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solidFill>
                  <a:schemeClr val="tx1"/>
                </a:solidFill>
              </a:defRPr>
            </a:lvl1pPr>
          </a:lstStyle>
          <a:p>
            <a:pPr>
              <a:defRPr/>
            </a:pPr>
            <a:fld id="{AFA99AE7-C9B2-4EBA-8DBB-9A6B6FB0AAE4}" type="slidenum">
              <a:rPr lang="en-US"/>
              <a:pPr>
                <a:defRPr/>
              </a:pPr>
              <a:t>‹#›</a:t>
            </a:fld>
            <a:endParaRPr lang="en-US" dirty="0"/>
          </a:p>
        </p:txBody>
      </p:sp>
    </p:spTree>
    <p:extLst>
      <p:ext uri="{BB962C8B-B14F-4D97-AF65-F5344CB8AC3E}">
        <p14:creationId xmlns:p14="http://schemas.microsoft.com/office/powerpoint/2010/main" xmlns="" val="289331132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pteam.aa.com/sites/ITS/PAD"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epartment.jetnet.aa.com/itstechsourcing/index.s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a:t>
            </a:fld>
            <a:endParaRPr lang="en-US" dirty="0"/>
          </a:p>
        </p:txBody>
      </p:sp>
    </p:spTree>
    <p:extLst>
      <p:ext uri="{BB962C8B-B14F-4D97-AF65-F5344CB8AC3E}">
        <p14:creationId xmlns:p14="http://schemas.microsoft.com/office/powerpoint/2010/main" xmlns="" val="146802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8805" y="4276726"/>
            <a:ext cx="5854870" cy="4322764"/>
          </a:xfrm>
        </p:spPr>
        <p:txBody>
          <a:bodyPr/>
          <a:lstStyle/>
          <a:p>
            <a:r>
              <a:rPr lang="en-US" sz="1000" dirty="0"/>
              <a:t>For more information regarding the funding process please refer to Project Place  </a:t>
            </a:r>
            <a:r>
              <a:rPr lang="en-US" sz="1000" u="sng" dirty="0">
                <a:hlinkClick r:id="rId3"/>
              </a:rPr>
              <a:t>https://spteam.aa.com/sites/ITS/PAD</a:t>
            </a:r>
            <a:r>
              <a:rPr lang="en-US" sz="1000" dirty="0"/>
              <a:t> </a:t>
            </a:r>
          </a:p>
          <a:p>
            <a:endParaRPr lang="en-US" sz="1000" dirty="0"/>
          </a:p>
          <a:p>
            <a:r>
              <a:rPr lang="en-US" sz="1000" dirty="0"/>
              <a:t>For guidance on IT Vendor Management (ITVM) and support when engaging vendors please refer to ITVM at </a:t>
            </a:r>
            <a:r>
              <a:rPr lang="en-US" sz="1000" u="sng" dirty="0">
                <a:hlinkClick r:id="rId4"/>
              </a:rPr>
              <a:t>https://department.jetnet.aa.com/itstechsourcing/index.shtml</a:t>
            </a:r>
            <a:r>
              <a:rPr lang="en-US" sz="1000" u="sng" dirty="0"/>
              <a:t>;</a:t>
            </a:r>
          </a:p>
          <a:p>
            <a:r>
              <a:rPr lang="en-US" sz="1000" dirty="0"/>
              <a:t>specifically note the links to all of vendor management’s processes on the left under Technology Sourcing </a:t>
            </a:r>
          </a:p>
          <a:p>
            <a:endParaRPr lang="en-US" sz="1000" dirty="0"/>
          </a:p>
          <a:p>
            <a:r>
              <a:rPr lang="en-US" sz="1000" dirty="0" smtClean="0"/>
              <a:t>For </a:t>
            </a:r>
            <a:r>
              <a:rPr lang="en-US" sz="1000" dirty="0"/>
              <a:t>assistance with this or to schedule an Iteration 0 workshop, please contact the IT Project Performance Team or Agile Coach. </a:t>
            </a:r>
          </a:p>
          <a:p>
            <a:endParaRPr lang="en-US" sz="1000"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a:t>
            </a:fld>
            <a:endParaRPr lang="en-US" dirty="0"/>
          </a:p>
        </p:txBody>
      </p:sp>
    </p:spTree>
    <p:extLst>
      <p:ext uri="{BB962C8B-B14F-4D97-AF65-F5344CB8AC3E}">
        <p14:creationId xmlns:p14="http://schemas.microsoft.com/office/powerpoint/2010/main" xmlns="" val="1536026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3</a:t>
            </a:fld>
            <a:endParaRPr lang="en-US" dirty="0"/>
          </a:p>
        </p:txBody>
      </p:sp>
    </p:spTree>
    <p:extLst>
      <p:ext uri="{BB962C8B-B14F-4D97-AF65-F5344CB8AC3E}">
        <p14:creationId xmlns:p14="http://schemas.microsoft.com/office/powerpoint/2010/main" xmlns="" val="2629505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Who are our Customer Partners?  They can be made up of various groups of people.  For each product, we must</a:t>
            </a:r>
            <a:r>
              <a:rPr lang="en-US" baseline="0" dirty="0" smtClean="0"/>
              <a:t> identify who makes up our customer base. </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5</a:t>
            </a:fld>
            <a:endParaRPr lang="en-US" dirty="0"/>
          </a:p>
        </p:txBody>
      </p:sp>
    </p:spTree>
    <p:extLst>
      <p:ext uri="{BB962C8B-B14F-4D97-AF65-F5344CB8AC3E}">
        <p14:creationId xmlns:p14="http://schemas.microsoft.com/office/powerpoint/2010/main" xmlns="" val="76766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Who are our Business Partners?  They can be</a:t>
            </a:r>
            <a:r>
              <a:rPr lang="en-US" baseline="0" dirty="0" smtClean="0"/>
              <a:t> </a:t>
            </a:r>
            <a:r>
              <a:rPr lang="en-US" dirty="0" smtClean="0"/>
              <a:t>various</a:t>
            </a:r>
            <a:r>
              <a:rPr lang="en-US" baseline="0" dirty="0" smtClean="0"/>
              <a:t> </a:t>
            </a:r>
            <a:r>
              <a:rPr lang="en-US" dirty="0" smtClean="0"/>
              <a:t>people or groups of people or vendors who</a:t>
            </a:r>
            <a:r>
              <a:rPr lang="en-US" baseline="0" dirty="0" smtClean="0"/>
              <a:t> work for our company</a:t>
            </a:r>
            <a:r>
              <a:rPr lang="en-US" dirty="0" smtClean="0"/>
              <a:t>.  </a:t>
            </a:r>
            <a:r>
              <a:rPr lang="en-US" smtClean="0"/>
              <a:t>For each product, we must</a:t>
            </a:r>
            <a:r>
              <a:rPr lang="en-US" baseline="0" smtClean="0"/>
              <a:t> identify who makes up our Business base. </a:t>
            </a:r>
            <a:endParaRPr lang="en-US" baseline="0" dirty="0" smtClean="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6</a:t>
            </a:fld>
            <a:endParaRPr lang="en-US" dirty="0"/>
          </a:p>
        </p:txBody>
      </p:sp>
    </p:spTree>
    <p:extLst>
      <p:ext uri="{BB962C8B-B14F-4D97-AF65-F5344CB8AC3E}">
        <p14:creationId xmlns:p14="http://schemas.microsoft.com/office/powerpoint/2010/main" xmlns="" val="2377418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Who are our Technology Partners?  They can be</a:t>
            </a:r>
            <a:r>
              <a:rPr lang="en-US" baseline="0" dirty="0" smtClean="0"/>
              <a:t> </a:t>
            </a:r>
            <a:r>
              <a:rPr lang="en-US" dirty="0" smtClean="0"/>
              <a:t>various</a:t>
            </a:r>
            <a:r>
              <a:rPr lang="en-US" baseline="0" dirty="0" smtClean="0"/>
              <a:t> </a:t>
            </a:r>
            <a:r>
              <a:rPr lang="en-US" dirty="0" smtClean="0"/>
              <a:t>people or groups of people or vendors who</a:t>
            </a:r>
            <a:r>
              <a:rPr lang="en-US" baseline="0" dirty="0" smtClean="0"/>
              <a:t> work for our company</a:t>
            </a:r>
            <a:r>
              <a:rPr lang="en-US" dirty="0" smtClean="0"/>
              <a:t>.  For each product, we must</a:t>
            </a:r>
            <a:r>
              <a:rPr lang="en-US" baseline="0" dirty="0" smtClean="0"/>
              <a:t> identify who makes up our Technology base. </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7</a:t>
            </a:fld>
            <a:endParaRPr lang="en-US" dirty="0"/>
          </a:p>
        </p:txBody>
      </p:sp>
    </p:spTree>
    <p:extLst>
      <p:ext uri="{BB962C8B-B14F-4D97-AF65-F5344CB8AC3E}">
        <p14:creationId xmlns:p14="http://schemas.microsoft.com/office/powerpoint/2010/main" xmlns="" val="65241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3873163"/>
            <a:r>
              <a:rPr lang="en-US" sz="1200" b="0" dirty="0" smtClean="0"/>
              <a:t>Personas are a valuable tool in product management.  They invite us to view the product from the user’s perspective.  They help us design a product that truly benefits it users and allow us to explore if a feature would actually benefit one of the personas.</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8</a:t>
            </a:fld>
            <a:endParaRPr lang="en-US" dirty="0"/>
          </a:p>
        </p:txBody>
      </p:sp>
    </p:spTree>
    <p:extLst>
      <p:ext uri="{BB962C8B-B14F-4D97-AF65-F5344CB8AC3E}">
        <p14:creationId xmlns:p14="http://schemas.microsoft.com/office/powerpoint/2010/main" xmlns="" val="1965457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Channels</a:t>
            </a:r>
            <a:r>
              <a:rPr lang="en-US" baseline="0" dirty="0" smtClean="0"/>
              <a:t> – Value is delivered to customers through communication, distribution, and sales channels.  Channels serve several functions including:</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Raising awareness among customers about a company’s products and services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Helping customers evaluate a company’s Value Proposition</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Allowing customers to purchase specific products and services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Delivering a Value Proposition to customers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Providing post-purchase customer support</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9</a:t>
            </a:fld>
            <a:endParaRPr lang="en-US" dirty="0"/>
          </a:p>
        </p:txBody>
      </p:sp>
    </p:spTree>
    <p:extLst>
      <p:ext uri="{BB962C8B-B14F-4D97-AF65-F5344CB8AC3E}">
        <p14:creationId xmlns:p14="http://schemas.microsoft.com/office/powerpoint/2010/main" xmlns="" val="398358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Channels</a:t>
            </a:r>
            <a:r>
              <a:rPr lang="en-US" baseline="0" dirty="0" smtClean="0"/>
              <a:t> – Value is delivered to customers through communication, distribution, and sales channels.  Channels serve several functions including:</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Raising awareness among customers about a company’s products and services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Helping customers evaluate a company’s Value Proposition</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Allowing customers to purchase specific products and services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Delivering a Value Proposition to customers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aseline="0" dirty="0" smtClean="0"/>
              <a:t>Providing post-purchase customer support</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10</a:t>
            </a:fld>
            <a:endParaRPr lang="en-US" dirty="0"/>
          </a:p>
        </p:txBody>
      </p:sp>
    </p:spTree>
    <p:extLst>
      <p:ext uri="{BB962C8B-B14F-4D97-AF65-F5344CB8AC3E}">
        <p14:creationId xmlns:p14="http://schemas.microsoft.com/office/powerpoint/2010/main" xmlns="" val="2864771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000" b="1" baseline="0" dirty="0" smtClean="0"/>
              <a:t>Key Activities </a:t>
            </a:r>
            <a:r>
              <a:rPr lang="en-US" sz="1000" baseline="0" dirty="0" smtClean="0"/>
              <a:t>– Key activities needs to be performed in order to provide value to our customers.  These are the most important actions a company must take to operate successfully.</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14</a:t>
            </a:fld>
            <a:endParaRPr lang="en-US" dirty="0"/>
          </a:p>
        </p:txBody>
      </p:sp>
    </p:spTree>
    <p:extLst>
      <p:ext uri="{BB962C8B-B14F-4D97-AF65-F5344CB8AC3E}">
        <p14:creationId xmlns:p14="http://schemas.microsoft.com/office/powerpoint/2010/main" xmlns="" val="2645853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Revenue Stream </a:t>
            </a:r>
            <a:r>
              <a:rPr lang="en-US" baseline="0" dirty="0" smtClean="0"/>
              <a:t>– Revenue streams result from value propositions successfully offered to customers.  </a:t>
            </a:r>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17</a:t>
            </a:fld>
            <a:endParaRPr lang="en-US" dirty="0"/>
          </a:p>
        </p:txBody>
      </p:sp>
    </p:spTree>
    <p:extLst>
      <p:ext uri="{BB962C8B-B14F-4D97-AF65-F5344CB8AC3E}">
        <p14:creationId xmlns:p14="http://schemas.microsoft.com/office/powerpoint/2010/main" xmlns="" val="644250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baseline="0" dirty="0" smtClean="0"/>
              <a:t>Key Resources</a:t>
            </a:r>
            <a:r>
              <a:rPr lang="en-US" baseline="0" dirty="0" smtClean="0"/>
              <a:t> – Key resources are the assets required to offer and deliver value to customers.  </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18</a:t>
            </a:fld>
            <a:endParaRPr lang="en-US" dirty="0"/>
          </a:p>
        </p:txBody>
      </p:sp>
    </p:spTree>
    <p:extLst>
      <p:ext uri="{BB962C8B-B14F-4D97-AF65-F5344CB8AC3E}">
        <p14:creationId xmlns:p14="http://schemas.microsoft.com/office/powerpoint/2010/main" xmlns="" val="644250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19</a:t>
            </a:fld>
            <a:endParaRPr lang="en-US" dirty="0"/>
          </a:p>
        </p:txBody>
      </p:sp>
    </p:spTree>
    <p:extLst>
      <p:ext uri="{BB962C8B-B14F-4D97-AF65-F5344CB8AC3E}">
        <p14:creationId xmlns:p14="http://schemas.microsoft.com/office/powerpoint/2010/main" xmlns="" val="3612108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Insert your product roadmap here.</a:t>
            </a:r>
            <a:r>
              <a:rPr lang="en-US" baseline="0" dirty="0" smtClean="0"/>
              <a:t>  This is typically displayed in some sort of timeline.</a:t>
            </a:r>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20</a:t>
            </a:fld>
            <a:endParaRPr lang="en-US" dirty="0"/>
          </a:p>
        </p:txBody>
      </p:sp>
    </p:spTree>
    <p:extLst>
      <p:ext uri="{BB962C8B-B14F-4D97-AF65-F5344CB8AC3E}">
        <p14:creationId xmlns:p14="http://schemas.microsoft.com/office/powerpoint/2010/main" xmlns="" val="195189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21</a:t>
            </a:fld>
            <a:endParaRPr lang="en-US" dirty="0"/>
          </a:p>
        </p:txBody>
      </p:sp>
    </p:spTree>
    <p:extLst>
      <p:ext uri="{BB962C8B-B14F-4D97-AF65-F5344CB8AC3E}">
        <p14:creationId xmlns:p14="http://schemas.microsoft.com/office/powerpoint/2010/main" xmlns="" val="2709558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22</a:t>
            </a:fld>
            <a:endParaRPr lang="en-US" dirty="0"/>
          </a:p>
        </p:txBody>
      </p:sp>
    </p:spTree>
    <p:extLst>
      <p:ext uri="{BB962C8B-B14F-4D97-AF65-F5344CB8AC3E}">
        <p14:creationId xmlns:p14="http://schemas.microsoft.com/office/powerpoint/2010/main" xmlns="" val="353438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23</a:t>
            </a:fld>
            <a:endParaRPr lang="en-US" dirty="0"/>
          </a:p>
        </p:txBody>
      </p:sp>
    </p:spTree>
    <p:extLst>
      <p:ext uri="{BB962C8B-B14F-4D97-AF65-F5344CB8AC3E}">
        <p14:creationId xmlns:p14="http://schemas.microsoft.com/office/powerpoint/2010/main" xmlns="" val="13735439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sp>
        <p:nvSpPr>
          <p:cNvPr id="8" name="Date Placeholder 7"/>
          <p:cNvSpPr>
            <a:spLocks noGrp="1"/>
          </p:cNvSpPr>
          <p:nvPr>
            <p:ph type="dt" sz="half" idx="10"/>
          </p:nvPr>
        </p:nvSpPr>
        <p:spPr>
          <a:xfrm>
            <a:off x="457200" y="1801368"/>
            <a:ext cx="2825496" cy="219456"/>
          </a:xfrm>
        </p:spPr>
        <p:txBody>
          <a:bodyPr/>
          <a:lstStyle>
            <a:lvl1pPr algn="l">
              <a:defRPr sz="1600"/>
            </a:lvl1pPr>
          </a:lstStyle>
          <a:p>
            <a:r>
              <a:rPr lang="en-US" smtClean="0"/>
              <a:t>Set Date with Header &amp; Footer</a:t>
            </a:r>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extLst>
      <p:ext uri="{BB962C8B-B14F-4D97-AF65-F5344CB8AC3E}">
        <p14:creationId xmlns:p14="http://schemas.microsoft.com/office/powerpoint/2010/main" xmlns="" val="277964056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
        <p:nvSpPr>
          <p:cNvPr id="4" name="Date Placeholder 3"/>
          <p:cNvSpPr>
            <a:spLocks noGrp="1"/>
          </p:cNvSpPr>
          <p:nvPr>
            <p:ph type="dt" sz="half" idx="16"/>
          </p:nvPr>
        </p:nvSpPr>
        <p:spPr/>
        <p:txBody>
          <a:bodyPr/>
          <a:lstStyle/>
          <a:p>
            <a:r>
              <a:rPr lang="en-US" smtClean="0"/>
              <a:t>Set Date with Header &amp; Footer</a:t>
            </a:r>
            <a:endParaRPr lang="en-US" dirty="0"/>
          </a:p>
        </p:txBody>
      </p:sp>
      <p:sp>
        <p:nvSpPr>
          <p:cNvPr id="7" name="Footer Placeholder 6"/>
          <p:cNvSpPr>
            <a:spLocks noGrp="1"/>
          </p:cNvSpPr>
          <p:nvPr>
            <p:ph type="ftr" sz="quarter" idx="17"/>
          </p:nvPr>
        </p:nvSpPr>
        <p:spPr/>
        <p:txBody>
          <a:bodyPr/>
          <a:lstStyle/>
          <a:p>
            <a:r>
              <a:rPr lang="en-US" smtClean="0"/>
              <a:t>Product Strategy Template v1.1</a:t>
            </a:r>
            <a:endParaRPr lang="en-US" dirty="0"/>
          </a:p>
        </p:txBody>
      </p:sp>
      <p:sp>
        <p:nvSpPr>
          <p:cNvPr id="8" name="Slide Number Placeholder 7"/>
          <p:cNvSpPr>
            <a:spLocks noGrp="1"/>
          </p:cNvSpPr>
          <p:nvPr>
            <p:ph type="sldNum" sz="quarter" idx="18"/>
          </p:nvPr>
        </p:nvSpPr>
        <p:spPr/>
        <p:txBody>
          <a:bodyPr/>
          <a:lstStyle/>
          <a:p>
            <a:fld id="{9E3C471D-FB94-43E4-8DFD-966A05A84658}" type="slidenum">
              <a:rPr lang="en-US" smtClean="0"/>
              <a:pPr/>
              <a:t>‹#›</a:t>
            </a:fld>
            <a:endParaRPr lang="en-US" dirty="0"/>
          </a:p>
        </p:txBody>
      </p:sp>
    </p:spTree>
    <p:extLst>
      <p:ext uri="{BB962C8B-B14F-4D97-AF65-F5344CB8AC3E}">
        <p14:creationId xmlns:p14="http://schemas.microsoft.com/office/powerpoint/2010/main" xmlns="" val="17187622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p:nvPicPr>
        <p:blipFill>
          <a:blip r:embed="rId2" cstate="print"/>
          <a:stretch>
            <a:fillRect/>
          </a:stretch>
        </p:blipFill>
        <p:spPr bwMode="hidden">
          <a:xfrm>
            <a:off x="0" y="0"/>
            <a:ext cx="9144000" cy="6858000"/>
          </a:xfrm>
          <a:prstGeom prst="rect">
            <a:avLst/>
          </a:prstGeom>
        </p:spPr>
      </p:pic>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extLst>
      <p:ext uri="{BB962C8B-B14F-4D97-AF65-F5344CB8AC3E}">
        <p14:creationId xmlns:p14="http://schemas.microsoft.com/office/powerpoint/2010/main" xmlns="" val="39165964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4186194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600100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706064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966963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ate Placeholder 14"/>
          <p:cNvSpPr>
            <a:spLocks noGrp="1"/>
          </p:cNvSpPr>
          <p:nvPr>
            <p:ph type="dt" sz="half" idx="10"/>
          </p:nvPr>
        </p:nvSpPr>
        <p:spPr/>
        <p:txBody>
          <a:bodyPr/>
          <a:lstStyle>
            <a:lvl1pPr>
              <a:defRPr>
                <a:solidFill>
                  <a:schemeClr val="bg1"/>
                </a:solidFill>
              </a:defRPr>
            </a:lvl1pPr>
          </a:lstStyle>
          <a:p>
            <a:r>
              <a:rPr lang="en-US" smtClean="0"/>
              <a:t>Set Date with Header &amp; Footer</a:t>
            </a: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Product Strategy Template v1.1</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198718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6"/>
          </p:nvPr>
        </p:nvSpPr>
        <p:spPr/>
        <p:txBody>
          <a:bodyPr/>
          <a:lstStyle/>
          <a:p>
            <a:r>
              <a:rPr lang="en-US" smtClean="0"/>
              <a:t>Set Date with Header &amp; Footer</a:t>
            </a:r>
            <a:endParaRPr lang="en-US" dirty="0"/>
          </a:p>
        </p:txBody>
      </p:sp>
      <p:sp>
        <p:nvSpPr>
          <p:cNvPr id="11" name="Slide Number Placeholder 10"/>
          <p:cNvSpPr>
            <a:spLocks noGrp="1"/>
          </p:cNvSpPr>
          <p:nvPr>
            <p:ph type="sldNum" sz="quarter" idx="17"/>
          </p:nvPr>
        </p:nvSpPr>
        <p:spPr/>
        <p:txBody>
          <a:bodyPr/>
          <a:lstStyle/>
          <a:p>
            <a:fld id="{9E3C471D-FB94-43E4-8DFD-966A05A84658}" type="slidenum">
              <a:rPr lang="en-US" smtClean="0"/>
              <a:pPr/>
              <a:t>‹#›</a:t>
            </a:fld>
            <a:endParaRPr lang="en-US" dirty="0"/>
          </a:p>
        </p:txBody>
      </p:sp>
      <p:sp>
        <p:nvSpPr>
          <p:cNvPr id="16" name="Footer Placeholder 15"/>
          <p:cNvSpPr>
            <a:spLocks noGrp="1"/>
          </p:cNvSpPr>
          <p:nvPr>
            <p:ph type="ftr" sz="quarter" idx="18"/>
          </p:nvPr>
        </p:nvSpPr>
        <p:spPr/>
        <p:txBody>
          <a:bodyPr/>
          <a:lstStyle/>
          <a:p>
            <a:r>
              <a:rPr lang="en-US" smtClean="0"/>
              <a:t>Product Strategy Template v1.1</a:t>
            </a:r>
            <a:endParaRPr lang="en-US" dirty="0"/>
          </a:p>
        </p:txBody>
      </p:sp>
    </p:spTree>
    <p:extLst>
      <p:ext uri="{BB962C8B-B14F-4D97-AF65-F5344CB8AC3E}">
        <p14:creationId xmlns:p14="http://schemas.microsoft.com/office/powerpoint/2010/main" xmlns="" val="91220140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r>
              <a:rPr lang="en-US" smtClean="0"/>
              <a:t>Set Date with Header &amp; Footer</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pPr/>
              <a:t>‹#›</a:t>
            </a:fld>
            <a:endParaRPr lang="en-US" dirty="0"/>
          </a:p>
        </p:txBody>
      </p:sp>
      <p:sp>
        <p:nvSpPr>
          <p:cNvPr id="14" name="Footer Placeholder 13"/>
          <p:cNvSpPr>
            <a:spLocks noGrp="1"/>
          </p:cNvSpPr>
          <p:nvPr>
            <p:ph type="ftr" sz="quarter" idx="12"/>
          </p:nvPr>
        </p:nvSpPr>
        <p:spPr/>
        <p:txBody>
          <a:bodyPr/>
          <a:lstStyle/>
          <a:p>
            <a:r>
              <a:rPr lang="en-US" smtClean="0"/>
              <a:t>Product Strategy Template v1.1</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3344218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r>
              <a:rPr lang="en-US" smtClean="0"/>
              <a:t>Set Date with Header &amp; Footer</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pPr/>
              <a:t>‹#›</a:t>
            </a:fld>
            <a:endParaRPr lang="en-US" dirty="0"/>
          </a:p>
        </p:txBody>
      </p:sp>
      <p:sp>
        <p:nvSpPr>
          <p:cNvPr id="14" name="Footer Placeholder 13"/>
          <p:cNvSpPr>
            <a:spLocks noGrp="1"/>
          </p:cNvSpPr>
          <p:nvPr>
            <p:ph type="ftr" sz="quarter" idx="12"/>
          </p:nvPr>
        </p:nvSpPr>
        <p:spPr/>
        <p:txBody>
          <a:bodyPr/>
          <a:lstStyle/>
          <a:p>
            <a:r>
              <a:rPr lang="en-US" smtClean="0"/>
              <a:t>Product Strategy Template v1.1</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2075940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Product Strategy Template v1.1</a:t>
            </a:r>
            <a:endParaRPr lang="en-US" dirty="0"/>
          </a:p>
        </p:txBody>
      </p:sp>
      <p:sp>
        <p:nvSpPr>
          <p:cNvPr id="7" name="Slide Number Placeholder 6"/>
          <p:cNvSpPr>
            <a:spLocks noGrp="1"/>
          </p:cNvSpPr>
          <p:nvPr>
            <p:ph type="sldNum" sz="quarter" idx="12"/>
          </p:nvPr>
        </p:nvSpPr>
        <p:spPr/>
        <p:txBody>
          <a:bodyPr/>
          <a:lstStyle/>
          <a:p>
            <a:fld id="{9E3C471D-FB94-43E4-8DFD-966A05A84658}" type="slidenum">
              <a:rPr lang="en-US" smtClean="0"/>
              <a:pPr/>
              <a:t>‹#›</a:t>
            </a:fld>
            <a:endParaRPr lang="en-US" dirty="0"/>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7" name="Date Placeholder 16"/>
          <p:cNvSpPr>
            <a:spLocks noGrp="1"/>
          </p:cNvSpPr>
          <p:nvPr>
            <p:ph type="dt" sz="half" idx="19"/>
          </p:nvPr>
        </p:nvSpPr>
        <p:spPr/>
        <p:txBody>
          <a:bodyPr/>
          <a:lstStyle/>
          <a:p>
            <a:r>
              <a:rPr lang="en-US" smtClean="0"/>
              <a:t>Set Date with Header &amp; Footer</a:t>
            </a:r>
            <a:endParaRPr lang="en-US" dirty="0"/>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2475409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122227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1"/>
            <a:ext cx="1772292" cy="128016"/>
          </a:xfrm>
          <a:prstGeom prst="rect">
            <a:avLst/>
          </a:prstGeom>
        </p:spPr>
        <p:txBody>
          <a:bodyPr vert="horz" lIns="0" tIns="0" rIns="0" bIns="0" rtlCol="0" anchor="t" anchorCtr="0"/>
          <a:lstStyle>
            <a:lvl1pPr algn="l">
              <a:defRPr sz="800">
                <a:solidFill>
                  <a:schemeClr val="bg2"/>
                </a:solidFill>
              </a:defRPr>
            </a:lvl1pPr>
          </a:lstStyle>
          <a:p>
            <a:r>
              <a:rPr lang="en-US" smtClean="0"/>
              <a:t>Product Strategy Template v1.1</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fld id="{9E3C471D-FB94-43E4-8DFD-966A05A84658}" type="slidenum">
              <a:rPr lang="en-US" smtClean="0"/>
              <a:pPr/>
              <a:t>‹#›</a:t>
            </a:fld>
            <a:endParaRPr lang="en-US" dirty="0"/>
          </a:p>
        </p:txBody>
      </p:sp>
      <p:sp>
        <p:nvSpPr>
          <p:cNvPr id="7" name="Date Placeholder 6"/>
          <p:cNvSpPr>
            <a:spLocks noGrp="1"/>
          </p:cNvSpPr>
          <p:nvPr>
            <p:ph type="dt" sz="half" idx="2"/>
          </p:nvPr>
        </p:nvSpPr>
        <p:spPr>
          <a:xfrm>
            <a:off x="6863137" y="6614883"/>
            <a:ext cx="1402422" cy="143083"/>
          </a:xfrm>
          <a:prstGeom prst="rect">
            <a:avLst/>
          </a:prstGeom>
        </p:spPr>
        <p:txBody>
          <a:bodyPr vert="horz" lIns="0" tIns="0" rIns="0" bIns="0" rtlCol="0" anchor="t" anchorCtr="0"/>
          <a:lstStyle>
            <a:lvl1pPr marL="0" indent="0" algn="l">
              <a:defRPr sz="800">
                <a:solidFill>
                  <a:schemeClr val="bg2"/>
                </a:solidFill>
              </a:defRPr>
            </a:lvl1pPr>
          </a:lstStyle>
          <a:p>
            <a:r>
              <a:rPr lang="en-US" smtClean="0"/>
              <a:t>Set Date with Header &amp; Footer</a:t>
            </a:r>
            <a:endParaRPr lang="en-US" dirty="0"/>
          </a:p>
        </p:txBody>
      </p:sp>
      <p:sp>
        <p:nvSpPr>
          <p:cNvPr id="11" name="Text Placeholder 10"/>
          <p:cNvSpPr>
            <a:spLocks noGrp="1"/>
          </p:cNvSpPr>
          <p:nvPr>
            <p:ph type="body" idx="1"/>
          </p:nvPr>
        </p:nvSpPr>
        <p:spPr>
          <a:xfrm>
            <a:off x="457200" y="1184563"/>
            <a:ext cx="8229600" cy="532769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hangingPunct="0">
              <a:defRPr/>
            </a:pPr>
            <a:r>
              <a:rPr lang="en-US" sz="1100" dirty="0">
                <a:solidFill>
                  <a:schemeClr val="tx1"/>
                </a:solidFill>
              </a:rPr>
              <a:t>American Airlines </a:t>
            </a:r>
            <a:r>
              <a:rPr lang="en-US" sz="1100" dirty="0" smtClean="0">
                <a:solidFill>
                  <a:schemeClr val="tx1"/>
                </a:solidFill>
                <a:effectLst/>
              </a:rPr>
              <a:t>Confidential and Proprietary: Do not copy or distribute</a:t>
            </a:r>
            <a:endParaRPr kumimoji="1" lang="en-US" sz="1100" dirty="0">
              <a:solidFill>
                <a:schemeClr val="tx1"/>
              </a:solidFill>
            </a:endParaRPr>
          </a:p>
        </p:txBody>
      </p:sp>
    </p:spTree>
    <p:extLst>
      <p:ext uri="{BB962C8B-B14F-4D97-AF65-F5344CB8AC3E}">
        <p14:creationId xmlns:p14="http://schemas.microsoft.com/office/powerpoint/2010/main" xmlns="" val="259573907"/>
      </p:ext>
    </p:extLst>
  </p:cSld>
  <p:clrMap bg1="lt1" tx1="dk1" bg2="lt2" tx2="dk2" accent1="accent1" accent2="accent2" accent3="accent3" accent4="accent4" accent5="accent5" accent6="accent6" hlink="hlink" folHlink="folHlink"/>
  <p:sldLayoutIdLst>
    <p:sldLayoutId id="2147484084" r:id="rId1"/>
    <p:sldLayoutId id="2147484085" r:id="rId2"/>
    <p:sldLayoutId id="2147484086" r:id="rId3"/>
    <p:sldLayoutId id="2147484087" r:id="rId4"/>
    <p:sldLayoutId id="2147484088" r:id="rId5"/>
    <p:sldLayoutId id="2147484089" r:id="rId6"/>
    <p:sldLayoutId id="2147484090" r:id="rId7"/>
    <p:sldLayoutId id="2147484091" r:id="rId8"/>
    <p:sldLayoutId id="2147484092" r:id="rId9"/>
    <p:sldLayoutId id="2147484093" r:id="rId10"/>
    <p:sldLayoutId id="2147484094" r:id="rId11"/>
    <p:sldLayoutId id="2147484095" r:id="rId12"/>
    <p:sldLayoutId id="2147484096" r:id="rId13"/>
  </p:sldLayoutIdLst>
  <p:timing>
    <p:tnLst>
      <p:par>
        <p:cTn id="1" dur="indefinite" restart="never" nodeType="tmRoot"/>
      </p:par>
    </p:tnLst>
  </p:timing>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Vision &amp; Strategy</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a:t>
            </a:fld>
            <a:endParaRPr lang="en-US" dirty="0"/>
          </a:p>
        </p:txBody>
      </p:sp>
      <p:sp>
        <p:nvSpPr>
          <p:cNvPr id="5" name="Content Placeholder 4"/>
          <p:cNvSpPr>
            <a:spLocks noGrp="1"/>
          </p:cNvSpPr>
          <p:nvPr>
            <p:ph sz="quarter" idx="15"/>
          </p:nvPr>
        </p:nvSpPr>
        <p:spPr>
          <a:xfrm>
            <a:off x="457200" y="1184564"/>
            <a:ext cx="8232775" cy="5216236"/>
          </a:xfrm>
        </p:spPr>
        <p:txBody>
          <a:bodyPr/>
          <a:lstStyle/>
          <a:p>
            <a:r>
              <a:rPr lang="en-US" dirty="0" smtClean="0"/>
              <a:t>Introduction</a:t>
            </a:r>
          </a:p>
          <a:p>
            <a:endParaRPr lang="en-US" dirty="0" smtClean="0"/>
          </a:p>
          <a:p>
            <a:pPr lvl="1"/>
            <a:r>
              <a:rPr lang="en-US" dirty="0" smtClean="0"/>
              <a:t>Purpose:</a:t>
            </a:r>
          </a:p>
          <a:p>
            <a:pPr lvl="2"/>
            <a:r>
              <a:rPr lang="en-US" dirty="0" smtClean="0"/>
              <a:t>Communicate vision, strategy and roadmap </a:t>
            </a:r>
            <a:r>
              <a:rPr lang="en-US" dirty="0"/>
              <a:t>for a product in one </a:t>
            </a:r>
            <a:r>
              <a:rPr lang="en-US" dirty="0" smtClean="0"/>
              <a:t>location including product partners, product options, and the product roadmap</a:t>
            </a:r>
          </a:p>
          <a:p>
            <a:pPr lvl="2"/>
            <a:r>
              <a:rPr lang="en-US" dirty="0" smtClean="0"/>
              <a:t>Support the Project Funding process</a:t>
            </a:r>
          </a:p>
          <a:p>
            <a:pPr lvl="2"/>
            <a:endParaRPr lang="en-US" dirty="0" smtClean="0"/>
          </a:p>
          <a:p>
            <a:pPr lvl="1"/>
            <a:r>
              <a:rPr lang="en-US" dirty="0" smtClean="0"/>
              <a:t>Ownership:</a:t>
            </a:r>
          </a:p>
          <a:p>
            <a:pPr lvl="2"/>
            <a:r>
              <a:rPr lang="en-US" dirty="0" smtClean="0"/>
              <a:t>The Business is the owner of the Product </a:t>
            </a:r>
            <a:r>
              <a:rPr lang="en-US" dirty="0"/>
              <a:t>S</a:t>
            </a:r>
            <a:r>
              <a:rPr lang="en-US" dirty="0" smtClean="0"/>
              <a:t>trategy</a:t>
            </a:r>
          </a:p>
          <a:p>
            <a:pPr lvl="2"/>
            <a:r>
              <a:rPr lang="en-US" dirty="0" smtClean="0"/>
              <a:t>The person designated to fulfill the role of Product Manager is accountable for creating and maintaining the </a:t>
            </a:r>
            <a:r>
              <a:rPr lang="en-US" dirty="0"/>
              <a:t>P</a:t>
            </a:r>
            <a:r>
              <a:rPr lang="en-US" dirty="0" smtClean="0"/>
              <a:t>roduct Strategy in collaboration with the relevant Product Owners</a:t>
            </a:r>
          </a:p>
          <a:p>
            <a:pPr lvl="1"/>
            <a:endParaRPr lang="en-US" dirty="0" smtClean="0"/>
          </a:p>
          <a:p>
            <a:pPr lvl="1"/>
            <a:r>
              <a:rPr lang="en-US" dirty="0" smtClean="0"/>
              <a:t>Maintenance Guidelines:</a:t>
            </a:r>
          </a:p>
          <a:p>
            <a:pPr lvl="2"/>
            <a:r>
              <a:rPr lang="en-US" dirty="0" smtClean="0"/>
              <a:t>Create the draft of the document prior to the Iteration 0 Workshop and complete with the team during the workshop</a:t>
            </a:r>
          </a:p>
          <a:p>
            <a:pPr lvl="2"/>
            <a:r>
              <a:rPr lang="en-US" dirty="0" smtClean="0"/>
              <a:t>Review and revise as required at each Iteration 0 Workshop, Release Planning or as needed during the project to keep in alignment with the plan</a:t>
            </a:r>
          </a:p>
        </p:txBody>
      </p:sp>
      <p:sp>
        <p:nvSpPr>
          <p:cNvPr id="6" name="TextBox 5"/>
          <p:cNvSpPr txBox="1"/>
          <p:nvPr/>
        </p:nvSpPr>
        <p:spPr>
          <a:xfrm>
            <a:off x="8454431" y="731178"/>
            <a:ext cx="914400" cy="914400"/>
          </a:xfrm>
          <a:prstGeom prst="rect">
            <a:avLst/>
          </a:prstGeom>
          <a:noFill/>
        </p:spPr>
        <p:txBody>
          <a:bodyPr wrap="none" lIns="0" tIns="0" rIns="0" bIns="0" rtlCol="0">
            <a:noAutofit/>
          </a:bodyPr>
          <a:lstStyle/>
          <a:p>
            <a:endParaRPr lang="en-US" dirty="0" err="1"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Vision &amp; Strategy</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2</a:t>
            </a:fld>
            <a:endParaRPr lang="en-US" dirty="0"/>
          </a:p>
        </p:txBody>
      </p:sp>
      <p:sp>
        <p:nvSpPr>
          <p:cNvPr id="5" name="Content Placeholder 4"/>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serve as your Product Strategy document</a:t>
            </a:r>
          </a:p>
          <a:p>
            <a:pPr lvl="1"/>
            <a:endParaRPr lang="en-US" dirty="0" smtClean="0"/>
          </a:p>
          <a:p>
            <a:pPr lvl="1"/>
            <a:r>
              <a:rPr lang="en-US" dirty="0" smtClean="0"/>
              <a:t>Delete the first two slides (Introduction, Instructions)</a:t>
            </a:r>
          </a:p>
          <a:p>
            <a:pPr lvl="1"/>
            <a:endParaRPr lang="en-US" dirty="0" smtClean="0"/>
          </a:p>
          <a:p>
            <a:pPr lvl="1"/>
            <a:r>
              <a:rPr lang="en-US" dirty="0" smtClean="0"/>
              <a:t>Replace the [bracketed] items on each page with information for your project</a:t>
            </a:r>
          </a:p>
          <a:p>
            <a:pPr lvl="1"/>
            <a:endParaRPr lang="en-US" dirty="0" smtClean="0"/>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[Product Name]</a:t>
            </a:r>
            <a:endParaRPr lang="en-US" dirty="0"/>
          </a:p>
        </p:txBody>
      </p:sp>
      <p:sp>
        <p:nvSpPr>
          <p:cNvPr id="7" name="Subtitle 6"/>
          <p:cNvSpPr>
            <a:spLocks noGrp="1"/>
          </p:cNvSpPr>
          <p:nvPr>
            <p:ph type="subTitle" idx="1"/>
          </p:nvPr>
        </p:nvSpPr>
        <p:spPr>
          <a:xfrm>
            <a:off x="457198" y="3130422"/>
            <a:ext cx="8232775" cy="914400"/>
          </a:xfrm>
        </p:spPr>
        <p:txBody>
          <a:bodyPr/>
          <a:lstStyle/>
          <a:p>
            <a:r>
              <a:rPr lang="en-US" dirty="0" smtClean="0"/>
              <a:t>Product Strategy Document</a:t>
            </a:r>
            <a:endParaRPr lang="en-US" dirty="0"/>
          </a:p>
        </p:txBody>
      </p:sp>
      <p:sp>
        <p:nvSpPr>
          <p:cNvPr id="8" name="TextBox 7"/>
          <p:cNvSpPr txBox="1"/>
          <p:nvPr/>
        </p:nvSpPr>
        <p:spPr>
          <a:xfrm>
            <a:off x="197427" y="5613737"/>
            <a:ext cx="4949371" cy="1015663"/>
          </a:xfrm>
          <a:prstGeom prst="rect">
            <a:avLst/>
          </a:prstGeom>
          <a:noFill/>
        </p:spPr>
        <p:txBody>
          <a:bodyPr wrap="square" rtlCol="0">
            <a:spAutoFit/>
          </a:bodyPr>
          <a:lstStyle/>
          <a:p>
            <a:r>
              <a:rPr lang="en-US" sz="2000" dirty="0" smtClean="0">
                <a:solidFill>
                  <a:schemeClr val="bg1"/>
                </a:solidFill>
                <a:effectLst>
                  <a:outerShdw blurRad="38100" dist="38100" dir="2700000" algn="tl">
                    <a:srgbClr val="000000">
                      <a:alpha val="43137"/>
                    </a:srgbClr>
                  </a:outerShdw>
                </a:effectLst>
                <a:latin typeface="+mj-lt"/>
              </a:rPr>
              <a:t>Revision [Major.Minor]</a:t>
            </a:r>
          </a:p>
          <a:p>
            <a:r>
              <a:rPr lang="en-US" sz="2000" dirty="0" smtClean="0">
                <a:solidFill>
                  <a:schemeClr val="bg1"/>
                </a:solidFill>
                <a:effectLst>
                  <a:outerShdw blurRad="38100" dist="38100" dir="2700000" algn="tl">
                    <a:srgbClr val="000000">
                      <a:alpha val="43137"/>
                    </a:srgbClr>
                  </a:outerShdw>
                </a:effectLst>
                <a:latin typeface="+mj-lt"/>
              </a:rPr>
              <a:t>[Date]</a:t>
            </a:r>
          </a:p>
          <a:p>
            <a:r>
              <a:rPr lang="en-US" sz="2000" dirty="0" smtClean="0">
                <a:solidFill>
                  <a:schemeClr val="bg1"/>
                </a:solidFill>
                <a:effectLst>
                  <a:outerShdw blurRad="38100" dist="38100" dir="2700000" algn="tl">
                    <a:srgbClr val="000000">
                      <a:alpha val="43137"/>
                    </a:srgbClr>
                  </a:outerShdw>
                </a:effectLst>
                <a:latin typeface="+mj-lt"/>
              </a:rPr>
              <a:t>[</a:t>
            </a:r>
            <a:r>
              <a:rPr lang="en-US" sz="2000" dirty="0" err="1" smtClean="0">
                <a:solidFill>
                  <a:schemeClr val="bg1"/>
                </a:solidFill>
                <a:effectLst>
                  <a:outerShdw blurRad="38100" dist="38100" dir="2700000" algn="tl">
                    <a:srgbClr val="000000">
                      <a:alpha val="43137"/>
                    </a:srgbClr>
                  </a:outerShdw>
                </a:effectLst>
                <a:latin typeface="+mj-lt"/>
              </a:rPr>
              <a:t>ProdMgr</a:t>
            </a:r>
            <a:r>
              <a:rPr lang="en-US" sz="2000" dirty="0" smtClean="0">
                <a:solidFill>
                  <a:schemeClr val="bg1"/>
                </a:solidFill>
                <a:effectLst>
                  <a:outerShdw blurRad="38100" dist="38100" dir="2700000" algn="tl">
                    <a:srgbClr val="000000">
                      <a:alpha val="43137"/>
                    </a:srgbClr>
                  </a:outerShdw>
                </a:effectLst>
                <a:latin typeface="+mj-lt"/>
              </a:rPr>
              <a:t> Name], Product Manager</a:t>
            </a:r>
            <a:endParaRPr lang="en-US" sz="2000" dirty="0">
              <a:solidFill>
                <a:schemeClr val="bg1"/>
              </a:solidFill>
              <a:effectLst>
                <a:outerShdw blurRad="38100" dist="38100" dir="2700000" algn="tl">
                  <a:srgbClr val="000000">
                    <a:alpha val="43137"/>
                  </a:srgbClr>
                </a:outerShdw>
              </a:effectLst>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9E3C471D-FB94-43E4-8DFD-966A05A84658}" type="slidenum">
              <a:rPr lang="en-US" smtClean="0"/>
              <a:pPr/>
              <a:t>4</a:t>
            </a:fld>
            <a:endParaRPr lang="en-US" dirty="0"/>
          </a:p>
        </p:txBody>
      </p:sp>
      <p:sp>
        <p:nvSpPr>
          <p:cNvPr id="3" name="Footer Placeholder 2"/>
          <p:cNvSpPr>
            <a:spLocks noGrp="1"/>
          </p:cNvSpPr>
          <p:nvPr>
            <p:ph type="ftr" sz="quarter" idx="12"/>
          </p:nvPr>
        </p:nvSpPr>
        <p:spPr/>
        <p:txBody>
          <a:bodyPr/>
          <a:lstStyle/>
          <a:p>
            <a:r>
              <a:rPr lang="en-US" smtClean="0"/>
              <a:t>Product Strategy Template v1.1</a:t>
            </a:r>
            <a:endParaRPr lang="en-US" dirty="0"/>
          </a:p>
        </p:txBody>
      </p:sp>
      <p:sp>
        <p:nvSpPr>
          <p:cNvPr id="4" name="Title 3"/>
          <p:cNvSpPr>
            <a:spLocks noGrp="1"/>
          </p:cNvSpPr>
          <p:nvPr>
            <p:ph type="title"/>
          </p:nvPr>
        </p:nvSpPr>
        <p:spPr/>
        <p:txBody>
          <a:bodyPr/>
          <a:lstStyle/>
          <a:p>
            <a:r>
              <a:rPr lang="en-US" dirty="0" smtClean="0"/>
              <a:t>Understanding Customers to Create Product Vision</a:t>
            </a:r>
            <a:endParaRPr lang="en-US" dirty="0"/>
          </a:p>
        </p:txBody>
      </p:sp>
    </p:spTree>
    <p:extLst>
      <p:ext uri="{BB962C8B-B14F-4D97-AF65-F5344CB8AC3E}">
        <p14:creationId xmlns:p14="http://schemas.microsoft.com/office/powerpoint/2010/main" xmlns="" val="25967625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Partners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5</a:t>
            </a:fld>
            <a:endParaRPr lang="en-US" dirty="0"/>
          </a:p>
        </p:txBody>
      </p:sp>
      <p:graphicFrame>
        <p:nvGraphicFramePr>
          <p:cNvPr id="9" name="Content Placeholder 8"/>
          <p:cNvGraphicFramePr>
            <a:graphicFrameLocks noGrp="1"/>
          </p:cNvGraphicFramePr>
          <p:nvPr>
            <p:ph sz="quarter" idx="15"/>
            <p:extLst>
              <p:ext uri="{D42A27DB-BD31-4B8C-83A1-F6EECF244321}">
                <p14:modId xmlns:p14="http://schemas.microsoft.com/office/powerpoint/2010/main" xmlns="" val="3747423156"/>
              </p:ext>
            </p:extLst>
          </p:nvPr>
        </p:nvGraphicFramePr>
        <p:xfrm>
          <a:off x="447869" y="1592239"/>
          <a:ext cx="8232774" cy="2291080"/>
        </p:xfrm>
        <a:graphic>
          <a:graphicData uri="http://schemas.openxmlformats.org/drawingml/2006/table">
            <a:tbl>
              <a:tblPr firstRow="1" bandRow="1">
                <a:tableStyleId>{5940675A-B579-460E-94D1-54222C63F5DA}</a:tableStyleId>
              </a:tblPr>
              <a:tblGrid>
                <a:gridCol w="2744258"/>
                <a:gridCol w="2744258"/>
                <a:gridCol w="2744258"/>
              </a:tblGrid>
              <a:tr h="370840">
                <a:tc>
                  <a:txBody>
                    <a:bodyPr/>
                    <a:lstStyle/>
                    <a:p>
                      <a:r>
                        <a:rPr lang="en-US" dirty="0" smtClean="0"/>
                        <a:t>Customer</a:t>
                      </a:r>
                      <a:r>
                        <a:rPr lang="en-US" baseline="0" dirty="0" smtClean="0"/>
                        <a:t> Partner</a:t>
                      </a:r>
                      <a:endParaRPr lang="en-US" dirty="0"/>
                    </a:p>
                  </a:txBody>
                  <a:tcPr>
                    <a:solidFill>
                      <a:schemeClr val="bg1">
                        <a:lumMod val="85000"/>
                      </a:schemeClr>
                    </a:solidFill>
                  </a:tcPr>
                </a:tc>
                <a:tc>
                  <a:txBody>
                    <a:bodyPr/>
                    <a:lstStyle/>
                    <a:p>
                      <a:r>
                        <a:rPr lang="en-US" dirty="0" smtClean="0"/>
                        <a:t>Motivations</a:t>
                      </a:r>
                      <a:endParaRPr lang="en-US" dirty="0"/>
                    </a:p>
                  </a:txBody>
                  <a:tcPr>
                    <a:solidFill>
                      <a:schemeClr val="bg1">
                        <a:lumMod val="85000"/>
                      </a:schemeClr>
                    </a:solidFill>
                  </a:tcPr>
                </a:tc>
                <a:tc>
                  <a:txBody>
                    <a:bodyPr/>
                    <a:lstStyle/>
                    <a:p>
                      <a:r>
                        <a:rPr lang="en-US" dirty="0" smtClean="0"/>
                        <a:t>Value Considerations</a:t>
                      </a:r>
                      <a:endParaRPr lang="en-US" dirty="0"/>
                    </a:p>
                  </a:txBody>
                  <a:tcPr>
                    <a:solidFill>
                      <a:schemeClr val="bg1">
                        <a:lumMod val="85000"/>
                      </a:schemeClr>
                    </a:solidFill>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endParaRPr lang="en-US" dirty="0"/>
                    </a:p>
                  </a:txBody>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bl>
          </a:graphicData>
        </a:graphic>
      </p:graphicFrame>
      <p:sp>
        <p:nvSpPr>
          <p:cNvPr id="13" name="TextBox 12"/>
          <p:cNvSpPr txBox="1"/>
          <p:nvPr/>
        </p:nvSpPr>
        <p:spPr>
          <a:xfrm>
            <a:off x="5880295" y="6309360"/>
            <a:ext cx="2743200" cy="175846"/>
          </a:xfrm>
          <a:prstGeom prst="rect">
            <a:avLst/>
          </a:prstGeom>
          <a:noFill/>
        </p:spPr>
        <p:txBody>
          <a:bodyPr wrap="square" lIns="0" tIns="0" rIns="0" bIns="0" rtlCol="0">
            <a:noAutofit/>
          </a:bodyPr>
          <a:lstStyle/>
          <a:p>
            <a:endParaRPr lang="en-US" dirty="0" err="1" smtClean="0"/>
          </a:p>
        </p:txBody>
      </p:sp>
      <p:pic>
        <p:nvPicPr>
          <p:cNvPr id="14" name="Content Placeholder 10"/>
          <p:cNvPicPr>
            <a:picLocks noGrp="1" noChangeAspect="1"/>
          </p:cNvPicPr>
          <p:nvPr/>
        </p:nvPicPr>
        <p:blipFill rotWithShape="1">
          <a:blip r:embed="rId3" cstate="print"/>
          <a:srcRect l="3557" t="5109" r="270" b="138"/>
          <a:stretch/>
        </p:blipFill>
        <p:spPr>
          <a:xfrm>
            <a:off x="6984210" y="229616"/>
            <a:ext cx="1702590" cy="1268593"/>
          </a:xfrm>
          <a:prstGeom prst="rect">
            <a:avLst/>
          </a:prstGeom>
        </p:spPr>
      </p:pic>
      <p:sp>
        <p:nvSpPr>
          <p:cNvPr id="15" name="Content Placeholder 1"/>
          <p:cNvSpPr txBox="1">
            <a:spLocks/>
          </p:cNvSpPr>
          <p:nvPr/>
        </p:nvSpPr>
        <p:spPr>
          <a:xfrm>
            <a:off x="457200" y="1184564"/>
            <a:ext cx="8232775" cy="495854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Wingdings" pitchFamily="2" charset="2"/>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Who are our Customer Partners for this Product?</a:t>
            </a:r>
            <a:endParaRPr lang="en-US" dirty="0"/>
          </a:p>
        </p:txBody>
      </p:sp>
    </p:spTree>
    <p:extLst>
      <p:ext uri="{BB962C8B-B14F-4D97-AF65-F5344CB8AC3E}">
        <p14:creationId xmlns:p14="http://schemas.microsoft.com/office/powerpoint/2010/main" xmlns="" val="4091516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Partners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6</a:t>
            </a:fld>
            <a:endParaRPr lang="en-US" dirty="0"/>
          </a:p>
        </p:txBody>
      </p:sp>
      <p:graphicFrame>
        <p:nvGraphicFramePr>
          <p:cNvPr id="11" name="Content Placeholder 8"/>
          <p:cNvGraphicFramePr>
            <a:graphicFrameLocks/>
          </p:cNvGraphicFramePr>
          <p:nvPr>
            <p:extLst>
              <p:ext uri="{D42A27DB-BD31-4B8C-83A1-F6EECF244321}">
                <p14:modId xmlns:p14="http://schemas.microsoft.com/office/powerpoint/2010/main" xmlns="" val="1649149176"/>
              </p:ext>
            </p:extLst>
          </p:nvPr>
        </p:nvGraphicFramePr>
        <p:xfrm>
          <a:off x="457200" y="1596926"/>
          <a:ext cx="8232774" cy="2291080"/>
        </p:xfrm>
        <a:graphic>
          <a:graphicData uri="http://schemas.openxmlformats.org/drawingml/2006/table">
            <a:tbl>
              <a:tblPr firstRow="1" bandRow="1">
                <a:tableStyleId>{5940675A-B579-460E-94D1-54222C63F5DA}</a:tableStyleId>
              </a:tblPr>
              <a:tblGrid>
                <a:gridCol w="2744258"/>
                <a:gridCol w="2744258"/>
                <a:gridCol w="2744258"/>
              </a:tblGrid>
              <a:tr h="370840">
                <a:tc>
                  <a:txBody>
                    <a:bodyPr/>
                    <a:lstStyle/>
                    <a:p>
                      <a:r>
                        <a:rPr lang="en-US" dirty="0" smtClean="0"/>
                        <a:t>Business</a:t>
                      </a:r>
                      <a:r>
                        <a:rPr lang="en-US" baseline="0" dirty="0" smtClean="0"/>
                        <a:t> Partner</a:t>
                      </a:r>
                      <a:endParaRPr lang="en-US" dirty="0"/>
                    </a:p>
                  </a:txBody>
                  <a:tcPr>
                    <a:solidFill>
                      <a:schemeClr val="bg1">
                        <a:lumMod val="85000"/>
                      </a:schemeClr>
                    </a:solidFill>
                  </a:tcPr>
                </a:tc>
                <a:tc>
                  <a:txBody>
                    <a:bodyPr/>
                    <a:lstStyle/>
                    <a:p>
                      <a:r>
                        <a:rPr lang="en-US" dirty="0" smtClean="0"/>
                        <a:t>Motivations</a:t>
                      </a:r>
                      <a:endParaRPr lang="en-US" dirty="0"/>
                    </a:p>
                  </a:txBody>
                  <a:tcPr>
                    <a:solidFill>
                      <a:schemeClr val="bg1">
                        <a:lumMod val="85000"/>
                      </a:schemeClr>
                    </a:solidFill>
                  </a:tcPr>
                </a:tc>
                <a:tc>
                  <a:txBody>
                    <a:bodyPr/>
                    <a:lstStyle/>
                    <a:p>
                      <a:r>
                        <a:rPr lang="en-US" dirty="0" smtClean="0"/>
                        <a:t>Value Considerations</a:t>
                      </a:r>
                      <a:endParaRPr lang="en-US" dirty="0"/>
                    </a:p>
                  </a:txBody>
                  <a:tcPr>
                    <a:solidFill>
                      <a:schemeClr val="bg1">
                        <a:lumMod val="85000"/>
                      </a:schemeClr>
                    </a:solidFill>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bl>
          </a:graphicData>
        </a:graphic>
      </p:graphicFrame>
      <p:sp>
        <p:nvSpPr>
          <p:cNvPr id="13" name="TextBox 12"/>
          <p:cNvSpPr txBox="1"/>
          <p:nvPr/>
        </p:nvSpPr>
        <p:spPr>
          <a:xfrm>
            <a:off x="5880295" y="6309360"/>
            <a:ext cx="2743200" cy="175846"/>
          </a:xfrm>
          <a:prstGeom prst="rect">
            <a:avLst/>
          </a:prstGeom>
          <a:noFill/>
        </p:spPr>
        <p:txBody>
          <a:bodyPr wrap="square" lIns="0" tIns="0" rIns="0" bIns="0" rtlCol="0">
            <a:noAutofit/>
          </a:bodyPr>
          <a:lstStyle/>
          <a:p>
            <a:endParaRPr lang="en-US" dirty="0" err="1" smtClean="0"/>
          </a:p>
        </p:txBody>
      </p:sp>
      <p:pic>
        <p:nvPicPr>
          <p:cNvPr id="14" name="Content Placeholder 7"/>
          <p:cNvPicPr>
            <a:picLocks noGrp="1" noChangeAspect="1"/>
          </p:cNvPicPr>
          <p:nvPr/>
        </p:nvPicPr>
        <p:blipFill>
          <a:blip r:embed="rId3" cstate="print"/>
          <a:stretch>
            <a:fillRect/>
          </a:stretch>
        </p:blipFill>
        <p:spPr>
          <a:xfrm>
            <a:off x="6984609" y="203314"/>
            <a:ext cx="1702191" cy="1287302"/>
          </a:xfrm>
          <a:prstGeom prst="rect">
            <a:avLst/>
          </a:prstGeom>
        </p:spPr>
      </p:pic>
      <p:sp>
        <p:nvSpPr>
          <p:cNvPr id="15" name="Content Placeholder 1"/>
          <p:cNvSpPr txBox="1">
            <a:spLocks/>
          </p:cNvSpPr>
          <p:nvPr/>
        </p:nvSpPr>
        <p:spPr>
          <a:xfrm>
            <a:off x="457200" y="1184564"/>
            <a:ext cx="8232775" cy="495854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Wingdings" pitchFamily="2" charset="2"/>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Who are our Business Partners for this Product?</a:t>
            </a:r>
            <a:endParaRPr lang="en-US" dirty="0"/>
          </a:p>
        </p:txBody>
      </p:sp>
    </p:spTree>
    <p:extLst>
      <p:ext uri="{BB962C8B-B14F-4D97-AF65-F5344CB8AC3E}">
        <p14:creationId xmlns:p14="http://schemas.microsoft.com/office/powerpoint/2010/main" xmlns="" val="4183797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Partners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7</a:t>
            </a:fld>
            <a:endParaRPr lang="en-US" dirty="0"/>
          </a:p>
        </p:txBody>
      </p:sp>
      <p:graphicFrame>
        <p:nvGraphicFramePr>
          <p:cNvPr id="9" name="Content Placeholder 8"/>
          <p:cNvGraphicFramePr>
            <a:graphicFrameLocks noGrp="1"/>
          </p:cNvGraphicFramePr>
          <p:nvPr>
            <p:ph sz="quarter" idx="15"/>
            <p:extLst>
              <p:ext uri="{D42A27DB-BD31-4B8C-83A1-F6EECF244321}">
                <p14:modId xmlns:p14="http://schemas.microsoft.com/office/powerpoint/2010/main" xmlns="" val="3795338943"/>
              </p:ext>
            </p:extLst>
          </p:nvPr>
        </p:nvGraphicFramePr>
        <p:xfrm>
          <a:off x="461937" y="1613340"/>
          <a:ext cx="8232774" cy="2291080"/>
        </p:xfrm>
        <a:graphic>
          <a:graphicData uri="http://schemas.openxmlformats.org/drawingml/2006/table">
            <a:tbl>
              <a:tblPr firstRow="1" bandRow="1">
                <a:tableStyleId>{5940675A-B579-460E-94D1-54222C63F5DA}</a:tableStyleId>
              </a:tblPr>
              <a:tblGrid>
                <a:gridCol w="2744258"/>
                <a:gridCol w="2744258"/>
                <a:gridCol w="2744258"/>
              </a:tblGrid>
              <a:tr h="370840">
                <a:tc>
                  <a:txBody>
                    <a:bodyPr/>
                    <a:lstStyle/>
                    <a:p>
                      <a:r>
                        <a:rPr lang="en-US" dirty="0" smtClean="0"/>
                        <a:t>Technology</a:t>
                      </a:r>
                      <a:r>
                        <a:rPr lang="en-US" baseline="0" dirty="0" smtClean="0"/>
                        <a:t> Partner</a:t>
                      </a:r>
                      <a:endParaRPr lang="en-US" dirty="0"/>
                    </a:p>
                  </a:txBody>
                  <a:tcPr>
                    <a:solidFill>
                      <a:schemeClr val="bg1">
                        <a:lumMod val="85000"/>
                      </a:schemeClr>
                    </a:solidFill>
                  </a:tcPr>
                </a:tc>
                <a:tc>
                  <a:txBody>
                    <a:bodyPr/>
                    <a:lstStyle/>
                    <a:p>
                      <a:r>
                        <a:rPr lang="en-US" dirty="0" smtClean="0"/>
                        <a:t>Motivations</a:t>
                      </a:r>
                      <a:endParaRPr lang="en-US" dirty="0"/>
                    </a:p>
                  </a:txBody>
                  <a:tcPr>
                    <a:solidFill>
                      <a:schemeClr val="bg1">
                        <a:lumMod val="85000"/>
                      </a:schemeClr>
                    </a:solidFill>
                  </a:tcPr>
                </a:tc>
                <a:tc>
                  <a:txBody>
                    <a:bodyPr/>
                    <a:lstStyle/>
                    <a:p>
                      <a:r>
                        <a:rPr lang="en-US" dirty="0" smtClean="0"/>
                        <a:t>Value Considerations</a:t>
                      </a:r>
                      <a:endParaRPr lang="en-US" dirty="0"/>
                    </a:p>
                  </a:txBody>
                  <a:tcPr>
                    <a:solidFill>
                      <a:schemeClr val="bg1">
                        <a:lumMod val="85000"/>
                      </a:schemeClr>
                    </a:solidFill>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bl>
          </a:graphicData>
        </a:graphic>
      </p:graphicFrame>
      <p:sp>
        <p:nvSpPr>
          <p:cNvPr id="13" name="TextBox 12"/>
          <p:cNvSpPr txBox="1"/>
          <p:nvPr/>
        </p:nvSpPr>
        <p:spPr>
          <a:xfrm>
            <a:off x="5880295" y="6309360"/>
            <a:ext cx="2743200" cy="175846"/>
          </a:xfrm>
          <a:prstGeom prst="rect">
            <a:avLst/>
          </a:prstGeom>
          <a:noFill/>
        </p:spPr>
        <p:txBody>
          <a:bodyPr wrap="square" lIns="0" tIns="0" rIns="0" bIns="0" rtlCol="0">
            <a:noAutofit/>
          </a:bodyPr>
          <a:lstStyle/>
          <a:p>
            <a:endParaRPr lang="en-US" dirty="0" err="1" smtClean="0"/>
          </a:p>
        </p:txBody>
      </p:sp>
      <p:pic>
        <p:nvPicPr>
          <p:cNvPr id="14" name="Content Placeholder 6"/>
          <p:cNvPicPr>
            <a:picLocks noGrp="1" noChangeAspect="1"/>
          </p:cNvPicPr>
          <p:nvPr/>
        </p:nvPicPr>
        <p:blipFill>
          <a:blip r:embed="rId3" cstate="print"/>
          <a:stretch>
            <a:fillRect/>
          </a:stretch>
        </p:blipFill>
        <p:spPr>
          <a:xfrm>
            <a:off x="6854229" y="133406"/>
            <a:ext cx="1832572" cy="1385905"/>
          </a:xfrm>
          <a:prstGeom prst="rect">
            <a:avLst/>
          </a:prstGeom>
        </p:spPr>
      </p:pic>
      <p:sp>
        <p:nvSpPr>
          <p:cNvPr id="15" name="Content Placeholder 1"/>
          <p:cNvSpPr txBox="1">
            <a:spLocks/>
          </p:cNvSpPr>
          <p:nvPr/>
        </p:nvSpPr>
        <p:spPr>
          <a:xfrm>
            <a:off x="457200" y="1184564"/>
            <a:ext cx="8232775" cy="495854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Wingdings" pitchFamily="2" charset="2"/>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Courier New" pitchFamily="49" charset="0"/>
              <a:buChar char="o"/>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Who are our Technology Partners for this Product?</a:t>
            </a:r>
            <a:endParaRPr lang="en-US" dirty="0"/>
          </a:p>
        </p:txBody>
      </p:sp>
    </p:spTree>
    <p:extLst>
      <p:ext uri="{BB962C8B-B14F-4D97-AF65-F5344CB8AC3E}">
        <p14:creationId xmlns:p14="http://schemas.microsoft.com/office/powerpoint/2010/main" xmlns="" val="196657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5"/>
          </p:nvPr>
        </p:nvSpPr>
        <p:spPr/>
        <p:txBody>
          <a:bodyPr/>
          <a:lstStyle/>
          <a:p>
            <a:r>
              <a:rPr lang="en-US" dirty="0" smtClean="0"/>
              <a:t>Which Personas are we targeting with this Product?</a:t>
            </a:r>
            <a:endParaRPr lang="en-US" dirty="0"/>
          </a:p>
        </p:txBody>
      </p:sp>
      <p:sp>
        <p:nvSpPr>
          <p:cNvPr id="3" name="Title 2"/>
          <p:cNvSpPr>
            <a:spLocks noGrp="1"/>
          </p:cNvSpPr>
          <p:nvPr>
            <p:ph type="title"/>
          </p:nvPr>
        </p:nvSpPr>
        <p:spPr/>
        <p:txBody>
          <a:bodyPr/>
          <a:lstStyle/>
          <a:p>
            <a:r>
              <a:rPr lang="en-US" dirty="0" smtClean="0"/>
              <a:t>Personas</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8</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xmlns="" val="3811284006"/>
              </p:ext>
            </p:extLst>
          </p:nvPr>
        </p:nvGraphicFramePr>
        <p:xfrm>
          <a:off x="457200" y="1720557"/>
          <a:ext cx="8229600" cy="2291080"/>
        </p:xfrm>
        <a:graphic>
          <a:graphicData uri="http://schemas.openxmlformats.org/drawingml/2006/table">
            <a:tbl>
              <a:tblPr firstRow="1" bandRow="1">
                <a:tableStyleId>{5940675A-B579-460E-94D1-54222C63F5DA}</a:tableStyleId>
              </a:tblPr>
              <a:tblGrid>
                <a:gridCol w="2743200"/>
                <a:gridCol w="2743200"/>
                <a:gridCol w="2743200"/>
              </a:tblGrid>
              <a:tr h="370840">
                <a:tc>
                  <a:txBody>
                    <a:bodyPr/>
                    <a:lstStyle/>
                    <a:p>
                      <a:r>
                        <a:rPr lang="en-US" dirty="0" smtClean="0"/>
                        <a:t>Persona</a:t>
                      </a:r>
                      <a:endParaRPr lang="en-US" dirty="0"/>
                    </a:p>
                  </a:txBody>
                  <a:tcPr>
                    <a:solidFill>
                      <a:schemeClr val="bg1">
                        <a:lumMod val="85000"/>
                      </a:schemeClr>
                    </a:solidFill>
                  </a:tcPr>
                </a:tc>
                <a:tc>
                  <a:txBody>
                    <a:bodyPr/>
                    <a:lstStyle/>
                    <a:p>
                      <a:r>
                        <a:rPr lang="en-US" dirty="0" smtClean="0"/>
                        <a:t>Characteristics</a:t>
                      </a:r>
                      <a:endParaRPr lang="en-US" dirty="0"/>
                    </a:p>
                  </a:txBody>
                  <a:tcPr>
                    <a:solidFill>
                      <a:schemeClr val="bg1">
                        <a:lumMod val="85000"/>
                      </a:schemeClr>
                    </a:solidFill>
                  </a:tcPr>
                </a:tc>
                <a:tc>
                  <a:txBody>
                    <a:bodyPr/>
                    <a:lstStyle/>
                    <a:p>
                      <a:r>
                        <a:rPr lang="en-US" dirty="0" smtClean="0"/>
                        <a:t>Needs</a:t>
                      </a:r>
                      <a:endParaRPr lang="en-US" dirty="0"/>
                    </a:p>
                  </a:txBody>
                  <a:tcPr>
                    <a:solidFill>
                      <a:schemeClr val="bg1">
                        <a:lumMod val="85000"/>
                      </a:schemeClr>
                    </a:solidFill>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r h="370840">
                <a:tc>
                  <a:txBody>
                    <a:bodyPr/>
                    <a:lstStyle/>
                    <a:p>
                      <a:endParaRPr lang="en-US" dirty="0"/>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r>
            </a:tbl>
          </a:graphicData>
        </a:graphic>
      </p:graphicFrame>
      <p:pic>
        <p:nvPicPr>
          <p:cNvPr id="7" name="Picture 6"/>
          <p:cNvPicPr/>
          <p:nvPr/>
        </p:nvPicPr>
        <p:blipFill>
          <a:blip r:embed="rId3" cstate="print">
            <a:extLst>
              <a:ext uri="{28A0092B-C50C-407E-A947-70E740481C1C}">
                <a14:useLocalDpi xmlns:a14="http://schemas.microsoft.com/office/drawing/2010/main" xmlns="" val="0"/>
              </a:ext>
            </a:extLst>
          </a:blip>
          <a:stretch>
            <a:fillRect/>
          </a:stretch>
        </p:blipFill>
        <p:spPr>
          <a:xfrm>
            <a:off x="7596553" y="190786"/>
            <a:ext cx="1027504" cy="1463626"/>
          </a:xfrm>
          <a:prstGeom prst="rect">
            <a:avLst/>
          </a:prstGeom>
        </p:spPr>
      </p:pic>
    </p:spTree>
    <p:extLst>
      <p:ext uri="{BB962C8B-B14F-4D97-AF65-F5344CB8AC3E}">
        <p14:creationId xmlns:p14="http://schemas.microsoft.com/office/powerpoint/2010/main" xmlns="" val="24607808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Channels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9</a:t>
            </a:fld>
            <a:endParaRPr lang="en-US" dirty="0"/>
          </a:p>
        </p:txBody>
      </p:sp>
      <p:sp>
        <p:nvSpPr>
          <p:cNvPr id="5" name="Content Placeholder 4"/>
          <p:cNvSpPr>
            <a:spLocks noGrp="1"/>
          </p:cNvSpPr>
          <p:nvPr>
            <p:ph sz="quarter" idx="15"/>
          </p:nvPr>
        </p:nvSpPr>
        <p:spPr>
          <a:xfrm>
            <a:off x="457200" y="1184564"/>
            <a:ext cx="8232775" cy="5314710"/>
          </a:xfrm>
        </p:spPr>
        <p:txBody>
          <a:bodyPr/>
          <a:lstStyle/>
          <a:p>
            <a:r>
              <a:rPr lang="en-US" dirty="0"/>
              <a:t>Through which Channels do our </a:t>
            </a:r>
            <a:r>
              <a:rPr lang="en-US" dirty="0" smtClean="0"/>
              <a:t>Customers want </a:t>
            </a:r>
            <a:r>
              <a:rPr lang="en-US" dirty="0"/>
              <a:t>to be reached? </a:t>
            </a:r>
            <a:r>
              <a:rPr lang="en-US" dirty="0" smtClean="0"/>
              <a:t> How </a:t>
            </a:r>
            <a:r>
              <a:rPr lang="en-US" dirty="0"/>
              <a:t>are we reaching them now</a:t>
            </a:r>
            <a:r>
              <a:rPr lang="en-US" dirty="0" smtClean="0"/>
              <a:t>?</a:t>
            </a:r>
            <a:endParaRPr lang="en-US" sz="1400" dirty="0"/>
          </a:p>
          <a:p>
            <a:endParaRPr lang="en-US" sz="1400" dirty="0" smtClean="0"/>
          </a:p>
          <a:p>
            <a:endParaRPr lang="en-US" sz="1400" dirty="0"/>
          </a:p>
          <a:p>
            <a:endParaRPr lang="en-US" sz="1400" i="1" dirty="0" smtClean="0">
              <a:solidFill>
                <a:srgbClr val="0070C0"/>
              </a:solidFill>
            </a:endParaRPr>
          </a:p>
          <a:p>
            <a:endParaRPr lang="en-US" sz="1400" i="1" dirty="0">
              <a:solidFill>
                <a:srgbClr val="0070C0"/>
              </a:solidFill>
            </a:endParaRPr>
          </a:p>
        </p:txBody>
      </p:sp>
      <p:graphicFrame>
        <p:nvGraphicFramePr>
          <p:cNvPr id="7" name="Table 6"/>
          <p:cNvGraphicFramePr>
            <a:graphicFrameLocks noGrp="1"/>
          </p:cNvGraphicFramePr>
          <p:nvPr>
            <p:extLst>
              <p:ext uri="{D42A27DB-BD31-4B8C-83A1-F6EECF244321}">
                <p14:modId xmlns:p14="http://schemas.microsoft.com/office/powerpoint/2010/main" xmlns="" val="3022206736"/>
              </p:ext>
            </p:extLst>
          </p:nvPr>
        </p:nvGraphicFramePr>
        <p:xfrm>
          <a:off x="457200" y="1973775"/>
          <a:ext cx="8229598" cy="2494280"/>
        </p:xfrm>
        <a:graphic>
          <a:graphicData uri="http://schemas.openxmlformats.org/drawingml/2006/table">
            <a:tbl>
              <a:tblPr firstRow="1" bandRow="1">
                <a:tableStyleId>{5940675A-B579-460E-94D1-54222C63F5DA}</a:tableStyleId>
              </a:tblPr>
              <a:tblGrid>
                <a:gridCol w="3123028"/>
                <a:gridCol w="2679895"/>
                <a:gridCol w="1104314"/>
                <a:gridCol w="1322361"/>
              </a:tblGrid>
              <a:tr h="370840">
                <a:tc>
                  <a:txBody>
                    <a:bodyPr/>
                    <a:lstStyle/>
                    <a:p>
                      <a:r>
                        <a:rPr lang="en-US" dirty="0" smtClean="0"/>
                        <a:t>Customer Partner / Persona</a:t>
                      </a:r>
                      <a:endParaRPr lang="en-US" dirty="0"/>
                    </a:p>
                  </a:txBody>
                  <a:tcPr>
                    <a:solidFill>
                      <a:schemeClr val="bg1">
                        <a:lumMod val="85000"/>
                      </a:schemeClr>
                    </a:solidFill>
                  </a:tcPr>
                </a:tc>
                <a:tc>
                  <a:txBody>
                    <a:bodyPr/>
                    <a:lstStyle/>
                    <a:p>
                      <a:r>
                        <a:rPr lang="en-US" dirty="0" smtClean="0"/>
                        <a:t>Product</a:t>
                      </a:r>
                      <a:r>
                        <a:rPr lang="en-US" baseline="0" dirty="0" smtClean="0"/>
                        <a:t> Channel</a:t>
                      </a:r>
                      <a:endParaRPr lang="en-US" dirty="0"/>
                    </a:p>
                  </a:txBody>
                  <a:tcPr>
                    <a:solidFill>
                      <a:schemeClr val="bg1">
                        <a:lumMod val="85000"/>
                      </a:schemeClr>
                    </a:solidFill>
                  </a:tcPr>
                </a:tc>
                <a:tc>
                  <a:txBody>
                    <a:bodyPr/>
                    <a:lstStyle/>
                    <a:p>
                      <a:r>
                        <a:rPr lang="en-US" dirty="0" smtClean="0"/>
                        <a:t>Direct</a:t>
                      </a:r>
                      <a:r>
                        <a:rPr lang="en-US" baseline="0" dirty="0" smtClean="0"/>
                        <a:t> / Indirect</a:t>
                      </a:r>
                      <a:endParaRPr lang="en-US" dirty="0"/>
                    </a:p>
                  </a:txBody>
                  <a:tcPr>
                    <a:solidFill>
                      <a:schemeClr val="bg1">
                        <a:lumMod val="85000"/>
                      </a:schemeClr>
                    </a:solidFill>
                  </a:tcPr>
                </a:tc>
                <a:tc>
                  <a:txBody>
                    <a:bodyPr/>
                    <a:lstStyle/>
                    <a:p>
                      <a:r>
                        <a:rPr lang="en-US" dirty="0" smtClean="0"/>
                        <a:t>Internal / External</a:t>
                      </a:r>
                      <a:endParaRPr lang="en-US" dirty="0"/>
                    </a:p>
                  </a:txBody>
                  <a:tcPr>
                    <a:solidFill>
                      <a:schemeClr val="bg1">
                        <a:lumMod val="85000"/>
                      </a:schemeClr>
                    </a:solidFill>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Product Channels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10</a:t>
            </a:fld>
            <a:endParaRPr lang="en-US" dirty="0"/>
          </a:p>
        </p:txBody>
      </p:sp>
      <p:sp>
        <p:nvSpPr>
          <p:cNvPr id="5" name="Content Placeholder 4"/>
          <p:cNvSpPr>
            <a:spLocks noGrp="1"/>
          </p:cNvSpPr>
          <p:nvPr>
            <p:ph sz="quarter" idx="15"/>
          </p:nvPr>
        </p:nvSpPr>
        <p:spPr>
          <a:xfrm>
            <a:off x="457200" y="1184564"/>
            <a:ext cx="8232775" cy="5314710"/>
          </a:xfrm>
        </p:spPr>
        <p:txBody>
          <a:bodyPr/>
          <a:lstStyle/>
          <a:p>
            <a:r>
              <a:rPr lang="en-US" dirty="0"/>
              <a:t>Which channels work best?  Which ones are most cost-efficient?  How are we integrating them with customer routines? </a:t>
            </a:r>
          </a:p>
          <a:p>
            <a:endParaRPr lang="en-US" b="0" dirty="0" smtClean="0"/>
          </a:p>
          <a:p>
            <a:endParaRPr lang="en-US" b="0" dirty="0"/>
          </a:p>
          <a:p>
            <a:endParaRPr lang="en-US" b="0" dirty="0" smtClean="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i="1" dirty="0" smtClean="0">
              <a:solidFill>
                <a:srgbClr val="0070C0"/>
              </a:solidFill>
            </a:endParaRPr>
          </a:p>
          <a:p>
            <a:endParaRPr lang="en-US" sz="1400" i="1" dirty="0">
              <a:solidFill>
                <a:srgbClr val="0070C0"/>
              </a:solidFill>
            </a:endParaRPr>
          </a:p>
          <a:p>
            <a:endParaRPr lang="en-US" sz="1400" i="1" dirty="0" smtClean="0">
              <a:solidFill>
                <a:srgbClr val="0070C0"/>
              </a:solidFill>
            </a:endParaRPr>
          </a:p>
          <a:p>
            <a:endParaRPr lang="en-US" sz="1400" i="1" dirty="0">
              <a:solidFill>
                <a:srgbClr val="0070C0"/>
              </a:solidFill>
            </a:endParaRPr>
          </a:p>
          <a:p>
            <a:endParaRPr lang="en-US" sz="1400" i="1" dirty="0" smtClean="0">
              <a:solidFill>
                <a:srgbClr val="0070C0"/>
              </a:solidFill>
            </a:endParaRPr>
          </a:p>
          <a:p>
            <a:endParaRPr lang="en-US" sz="1400" i="1" dirty="0">
              <a:solidFill>
                <a:srgbClr val="0070C0"/>
              </a:solidFill>
            </a:endParaRPr>
          </a:p>
          <a:p>
            <a:r>
              <a:rPr lang="en-US" sz="1400" i="1" dirty="0" smtClean="0">
                <a:solidFill>
                  <a:srgbClr val="0070C0"/>
                </a:solidFill>
              </a:rPr>
              <a:t>Channel Phases </a:t>
            </a:r>
            <a:endParaRPr lang="en-US" sz="1400" i="1" dirty="0">
              <a:solidFill>
                <a:srgbClr val="0070C0"/>
              </a:solidFill>
            </a:endParaRPr>
          </a:p>
          <a:p>
            <a:pPr marL="285750" indent="-285750">
              <a:buFont typeface="Arial" panose="020B0604020202020204" pitchFamily="34" charset="0"/>
              <a:buChar char="•"/>
            </a:pPr>
            <a:r>
              <a:rPr lang="en-US" sz="1400" b="0" i="1" dirty="0" smtClean="0">
                <a:solidFill>
                  <a:srgbClr val="0070C0"/>
                </a:solidFill>
              </a:rPr>
              <a:t>Awareness - How </a:t>
            </a:r>
            <a:r>
              <a:rPr lang="en-US" sz="1400" b="0" i="1" dirty="0">
                <a:solidFill>
                  <a:srgbClr val="0070C0"/>
                </a:solidFill>
              </a:rPr>
              <a:t>do we raise awareness about our company’s products and services? </a:t>
            </a:r>
          </a:p>
          <a:p>
            <a:pPr marL="285750" indent="-285750">
              <a:buFont typeface="Arial" panose="020B0604020202020204" pitchFamily="34" charset="0"/>
              <a:buChar char="•"/>
            </a:pPr>
            <a:r>
              <a:rPr lang="en-US" sz="1400" b="0" i="1" dirty="0" smtClean="0">
                <a:solidFill>
                  <a:srgbClr val="0070C0"/>
                </a:solidFill>
              </a:rPr>
              <a:t>Evaluation - How </a:t>
            </a:r>
            <a:r>
              <a:rPr lang="en-US" sz="1400" b="0" i="1" dirty="0">
                <a:solidFill>
                  <a:srgbClr val="0070C0"/>
                </a:solidFill>
              </a:rPr>
              <a:t>do we help customers evaluate our organization’s Value Proposition? </a:t>
            </a:r>
          </a:p>
          <a:p>
            <a:pPr marL="285750" indent="-285750">
              <a:buFont typeface="Arial" panose="020B0604020202020204" pitchFamily="34" charset="0"/>
              <a:buChar char="•"/>
            </a:pPr>
            <a:r>
              <a:rPr lang="en-US" sz="1400" b="0" i="1" dirty="0" smtClean="0">
                <a:solidFill>
                  <a:srgbClr val="0070C0"/>
                </a:solidFill>
              </a:rPr>
              <a:t>Purchase - How </a:t>
            </a:r>
            <a:r>
              <a:rPr lang="en-US" sz="1400" b="0" i="1" dirty="0">
                <a:solidFill>
                  <a:srgbClr val="0070C0"/>
                </a:solidFill>
              </a:rPr>
              <a:t>do we allow customers to purchase specific products and services? </a:t>
            </a:r>
          </a:p>
          <a:p>
            <a:pPr marL="285750" indent="-285750">
              <a:buFont typeface="Arial" panose="020B0604020202020204" pitchFamily="34" charset="0"/>
              <a:buChar char="•"/>
            </a:pPr>
            <a:r>
              <a:rPr lang="en-US" sz="1400" b="0" i="1" dirty="0" smtClean="0">
                <a:solidFill>
                  <a:srgbClr val="0070C0"/>
                </a:solidFill>
              </a:rPr>
              <a:t>Delivery - How </a:t>
            </a:r>
            <a:r>
              <a:rPr lang="en-US" sz="1400" b="0" i="1" dirty="0">
                <a:solidFill>
                  <a:srgbClr val="0070C0"/>
                </a:solidFill>
              </a:rPr>
              <a:t>do we deliver a Value Proposition to customers? </a:t>
            </a:r>
          </a:p>
          <a:p>
            <a:pPr marL="285750" indent="-285750">
              <a:buFont typeface="Arial" panose="020B0604020202020204" pitchFamily="34" charset="0"/>
              <a:buChar char="•"/>
            </a:pPr>
            <a:r>
              <a:rPr lang="en-US" sz="1400" b="0" i="1" dirty="0" smtClean="0">
                <a:solidFill>
                  <a:srgbClr val="0070C0"/>
                </a:solidFill>
              </a:rPr>
              <a:t>After Sales - How </a:t>
            </a:r>
            <a:r>
              <a:rPr lang="en-US" sz="1400" b="0" i="1" dirty="0">
                <a:solidFill>
                  <a:srgbClr val="0070C0"/>
                </a:solidFill>
              </a:rPr>
              <a:t>do we provide post-purchase customer support? </a:t>
            </a:r>
            <a:endParaRPr lang="en-US" sz="1400" b="0" i="1" dirty="0">
              <a:solidFill>
                <a:srgbClr val="0070C0"/>
              </a:solidFill>
              <a:effectLst/>
            </a:endParaRPr>
          </a:p>
        </p:txBody>
      </p:sp>
      <p:graphicFrame>
        <p:nvGraphicFramePr>
          <p:cNvPr id="6" name="Table 5"/>
          <p:cNvGraphicFramePr>
            <a:graphicFrameLocks noGrp="1"/>
          </p:cNvGraphicFramePr>
          <p:nvPr>
            <p:extLst>
              <p:ext uri="{D42A27DB-BD31-4B8C-83A1-F6EECF244321}">
                <p14:modId xmlns:p14="http://schemas.microsoft.com/office/powerpoint/2010/main" xmlns="" val="3867224230"/>
              </p:ext>
            </p:extLst>
          </p:nvPr>
        </p:nvGraphicFramePr>
        <p:xfrm>
          <a:off x="457200" y="1863970"/>
          <a:ext cx="8229600" cy="2433320"/>
        </p:xfrm>
        <a:graphic>
          <a:graphicData uri="http://schemas.openxmlformats.org/drawingml/2006/table">
            <a:tbl>
              <a:tblPr firstRow="1" bandRow="1">
                <a:tableStyleId>{5940675A-B579-460E-94D1-54222C63F5DA}</a:tableStyleId>
              </a:tblPr>
              <a:tblGrid>
                <a:gridCol w="1807698"/>
                <a:gridCol w="1493067"/>
                <a:gridCol w="1284643"/>
                <a:gridCol w="1114492"/>
                <a:gridCol w="1264850"/>
                <a:gridCol w="1264850"/>
              </a:tblGrid>
              <a:tr h="443132">
                <a:tc>
                  <a:txBody>
                    <a:bodyPr/>
                    <a:lstStyle/>
                    <a:p>
                      <a:r>
                        <a:rPr lang="en-US" sz="1600" dirty="0" smtClean="0"/>
                        <a:t>Product Channel</a:t>
                      </a:r>
                      <a:endParaRPr lang="en-US" sz="1600"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Awareness</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Evaluation</a:t>
                      </a:r>
                    </a:p>
                    <a:p>
                      <a:endParaRPr lang="en-US" sz="1600"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Purchase</a:t>
                      </a:r>
                    </a:p>
                    <a:p>
                      <a:endParaRPr lang="en-US" sz="1600"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Delivery</a:t>
                      </a:r>
                    </a:p>
                    <a:p>
                      <a:endParaRPr lang="en-US" sz="1600"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After Sales</a:t>
                      </a:r>
                    </a:p>
                    <a:p>
                      <a:endParaRPr lang="en-US" sz="1600" dirty="0"/>
                    </a:p>
                  </a:txBody>
                  <a:tcPr>
                    <a:solidFill>
                      <a:schemeClr val="bg1">
                        <a:lumMod val="85000"/>
                      </a:schemeClr>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smtClean="0"/>
                    </a:p>
                  </a:txBody>
                  <a:tcPr/>
                </a:tc>
                <a:tc>
                  <a:txBody>
                    <a:bodyPr/>
                    <a:lstStyle/>
                    <a:p>
                      <a:endParaRPr lang="en-US" sz="16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r>
            </a:tbl>
          </a:graphicData>
        </a:graphic>
      </p:graphicFrame>
    </p:spTree>
    <p:extLst>
      <p:ext uri="{BB962C8B-B14F-4D97-AF65-F5344CB8AC3E}">
        <p14:creationId xmlns:p14="http://schemas.microsoft.com/office/powerpoint/2010/main" xmlns="" val="23777276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5"/>
          </p:nvPr>
        </p:nvSpPr>
        <p:spPr/>
        <p:txBody>
          <a:bodyPr/>
          <a:lstStyle/>
          <a:p>
            <a:r>
              <a:rPr lang="en-US" dirty="0"/>
              <a:t>For </a:t>
            </a:r>
            <a:r>
              <a:rPr lang="en-US" b="0" dirty="0"/>
              <a:t>[target user]</a:t>
            </a:r>
          </a:p>
          <a:p>
            <a:endParaRPr lang="en-US" dirty="0"/>
          </a:p>
          <a:p>
            <a:r>
              <a:rPr lang="en-US" dirty="0"/>
              <a:t>Who </a:t>
            </a:r>
            <a:r>
              <a:rPr lang="en-US" b="0" dirty="0"/>
              <a:t>[needs]</a:t>
            </a:r>
          </a:p>
          <a:p>
            <a:endParaRPr lang="en-US" dirty="0"/>
          </a:p>
          <a:p>
            <a:r>
              <a:rPr lang="en-US" dirty="0"/>
              <a:t>The </a:t>
            </a:r>
            <a:r>
              <a:rPr lang="en-US" b="0" dirty="0"/>
              <a:t>[product name] </a:t>
            </a:r>
            <a:r>
              <a:rPr lang="en-US" dirty="0"/>
              <a:t>is a </a:t>
            </a:r>
            <a:r>
              <a:rPr lang="en-US" b="0" dirty="0"/>
              <a:t>[category]</a:t>
            </a:r>
          </a:p>
          <a:p>
            <a:endParaRPr lang="en-US" dirty="0"/>
          </a:p>
          <a:p>
            <a:r>
              <a:rPr lang="en-US" dirty="0"/>
              <a:t>That </a:t>
            </a:r>
            <a:r>
              <a:rPr lang="en-US" b="0" dirty="0"/>
              <a:t>[benefit provided]</a:t>
            </a:r>
          </a:p>
          <a:p>
            <a:endParaRPr lang="en-US" dirty="0"/>
          </a:p>
          <a:p>
            <a:r>
              <a:rPr lang="en-US" dirty="0"/>
              <a:t>Unlike </a:t>
            </a:r>
            <a:r>
              <a:rPr lang="en-US" b="0" dirty="0"/>
              <a:t>[competition or alternative]</a:t>
            </a:r>
          </a:p>
          <a:p>
            <a:endParaRPr lang="en-US" dirty="0"/>
          </a:p>
          <a:p>
            <a:r>
              <a:rPr lang="en-US" dirty="0"/>
              <a:t>Our Product </a:t>
            </a:r>
            <a:r>
              <a:rPr lang="en-US" b="0" dirty="0"/>
              <a:t>[differentiation]</a:t>
            </a:r>
          </a:p>
          <a:p>
            <a:endParaRPr lang="en-US" dirty="0"/>
          </a:p>
        </p:txBody>
      </p:sp>
      <p:sp>
        <p:nvSpPr>
          <p:cNvPr id="3" name="Title 2"/>
          <p:cNvSpPr>
            <a:spLocks noGrp="1"/>
          </p:cNvSpPr>
          <p:nvPr>
            <p:ph type="title"/>
          </p:nvPr>
        </p:nvSpPr>
        <p:spPr/>
        <p:txBody>
          <a:bodyPr/>
          <a:lstStyle/>
          <a:p>
            <a:r>
              <a:rPr lang="en-US" dirty="0" smtClean="0"/>
              <a:t>Product Vision</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11</a:t>
            </a:fld>
            <a:endParaRPr lang="en-US" dirty="0"/>
          </a:p>
        </p:txBody>
      </p:sp>
    </p:spTree>
    <p:extLst>
      <p:ext uri="{BB962C8B-B14F-4D97-AF65-F5344CB8AC3E}">
        <p14:creationId xmlns:p14="http://schemas.microsoft.com/office/powerpoint/2010/main" xmlns="" val="2186756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Product Vision Board</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12</a:t>
            </a:fld>
            <a:endParaRPr lang="en-US" dirty="0"/>
          </a:p>
        </p:txBody>
      </p:sp>
      <p:sp>
        <p:nvSpPr>
          <p:cNvPr id="7" name="Rectangle 6"/>
          <p:cNvSpPr/>
          <p:nvPr/>
        </p:nvSpPr>
        <p:spPr>
          <a:xfrm>
            <a:off x="434662" y="1287887"/>
            <a:ext cx="8252138" cy="817809"/>
          </a:xfrm>
          <a:prstGeom prst="rect">
            <a:avLst/>
          </a:prstGeom>
          <a:solidFill>
            <a:srgbClr val="B9E1FF"/>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rPr>
              <a:t>Vision Statement                </a:t>
            </a:r>
            <a:r>
              <a:rPr lang="en-US" sz="2000" dirty="0" smtClean="0">
                <a:solidFill>
                  <a:schemeClr val="tx1"/>
                </a:solidFill>
              </a:rPr>
              <a:t> [</a:t>
            </a:r>
            <a:r>
              <a:rPr lang="en-US" sz="1600" dirty="0" smtClean="0">
                <a:solidFill>
                  <a:schemeClr val="tx1"/>
                </a:solidFill>
              </a:rPr>
              <a:t>Brief Summary of the vision for the product]</a:t>
            </a:r>
            <a:endParaRPr lang="en-US" sz="1600" dirty="0">
              <a:solidFill>
                <a:schemeClr val="tx1"/>
              </a:solidFill>
            </a:endParaRPr>
          </a:p>
        </p:txBody>
      </p:sp>
      <p:sp>
        <p:nvSpPr>
          <p:cNvPr id="8" name="Rectangle 7"/>
          <p:cNvSpPr/>
          <p:nvPr/>
        </p:nvSpPr>
        <p:spPr>
          <a:xfrm>
            <a:off x="434662" y="2105695"/>
            <a:ext cx="2060620" cy="4262907"/>
          </a:xfrm>
          <a:prstGeom prst="rect">
            <a:avLst/>
          </a:prstGeom>
          <a:solidFill>
            <a:srgbClr val="FFE6AF"/>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rPr>
              <a:t>Target Group</a:t>
            </a:r>
          </a:p>
          <a:p>
            <a:endParaRPr lang="en-US" sz="2000" b="1" dirty="0">
              <a:solidFill>
                <a:schemeClr val="tx1"/>
              </a:solidFill>
            </a:endParaRPr>
          </a:p>
          <a:p>
            <a:r>
              <a:rPr lang="en-US" sz="1600" dirty="0" smtClean="0">
                <a:solidFill>
                  <a:schemeClr val="tx1"/>
                </a:solidFill>
              </a:rPr>
              <a:t>[Which market segment does this product address?]</a:t>
            </a:r>
          </a:p>
          <a:p>
            <a:endParaRPr lang="en-US" sz="1600" dirty="0" smtClean="0">
              <a:solidFill>
                <a:schemeClr val="tx1"/>
              </a:solidFill>
            </a:endParaRPr>
          </a:p>
          <a:p>
            <a:endParaRPr lang="en-US" sz="1600" dirty="0" smtClean="0">
              <a:solidFill>
                <a:schemeClr val="tx1"/>
              </a:solidFill>
            </a:endParaRPr>
          </a:p>
          <a:p>
            <a:endParaRPr lang="en-US" sz="1600" dirty="0" smtClean="0">
              <a:solidFill>
                <a:schemeClr val="tx1"/>
              </a:solidFill>
            </a:endParaRPr>
          </a:p>
          <a:p>
            <a:endParaRPr lang="en-US" sz="1600" dirty="0">
              <a:solidFill>
                <a:schemeClr val="tx1"/>
              </a:solidFill>
            </a:endParaRPr>
          </a:p>
          <a:p>
            <a:r>
              <a:rPr lang="en-US" sz="1600" dirty="0" smtClean="0">
                <a:solidFill>
                  <a:schemeClr val="tx1"/>
                </a:solidFill>
              </a:rPr>
              <a:t>[Who are the target users &amp; customers?]</a:t>
            </a:r>
          </a:p>
          <a:p>
            <a:endParaRPr lang="en-US" sz="1600" dirty="0" smtClean="0">
              <a:solidFill>
                <a:schemeClr val="tx1"/>
              </a:solidFill>
            </a:endParaRPr>
          </a:p>
          <a:p>
            <a:endParaRPr lang="en-US" sz="1600" dirty="0">
              <a:solidFill>
                <a:schemeClr val="tx1"/>
              </a:solidFill>
            </a:endParaRPr>
          </a:p>
          <a:p>
            <a:endParaRPr lang="en-US" sz="1600" dirty="0" smtClean="0">
              <a:solidFill>
                <a:schemeClr val="tx1"/>
              </a:solidFill>
            </a:endParaRPr>
          </a:p>
          <a:p>
            <a:endParaRPr lang="en-US" sz="1600" dirty="0">
              <a:solidFill>
                <a:schemeClr val="tx1"/>
              </a:solidFill>
            </a:endParaRPr>
          </a:p>
        </p:txBody>
      </p:sp>
      <p:sp>
        <p:nvSpPr>
          <p:cNvPr id="9" name="Rectangle 8"/>
          <p:cNvSpPr/>
          <p:nvPr/>
        </p:nvSpPr>
        <p:spPr>
          <a:xfrm>
            <a:off x="2495282" y="2105695"/>
            <a:ext cx="2057400" cy="4262907"/>
          </a:xfrm>
          <a:prstGeom prst="rect">
            <a:avLst/>
          </a:prstGeom>
          <a:solidFill>
            <a:srgbClr val="FECDC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rPr>
              <a:t>Needs</a:t>
            </a:r>
          </a:p>
          <a:p>
            <a:endParaRPr lang="en-US" sz="2000" dirty="0"/>
          </a:p>
          <a:p>
            <a:r>
              <a:rPr lang="en-US" sz="1600" dirty="0" smtClean="0">
                <a:solidFill>
                  <a:schemeClr val="tx1"/>
                </a:solidFill>
              </a:rPr>
              <a:t>[Which needs does the product fulfill?]</a:t>
            </a:r>
          </a:p>
          <a:p>
            <a:endParaRPr lang="en-US" sz="1600" dirty="0" smtClean="0">
              <a:solidFill>
                <a:schemeClr val="tx1"/>
              </a:solidFill>
            </a:endParaRPr>
          </a:p>
          <a:p>
            <a:endParaRPr lang="en-US" sz="1600" dirty="0" smtClean="0">
              <a:solidFill>
                <a:schemeClr val="tx1"/>
              </a:solidFill>
            </a:endParaRPr>
          </a:p>
          <a:p>
            <a:endParaRPr lang="en-US" sz="1600" dirty="0">
              <a:solidFill>
                <a:schemeClr val="tx1"/>
              </a:solidFill>
            </a:endParaRPr>
          </a:p>
          <a:p>
            <a:r>
              <a:rPr lang="en-US" sz="1600" dirty="0" smtClean="0">
                <a:solidFill>
                  <a:schemeClr val="tx1"/>
                </a:solidFill>
              </a:rPr>
              <a:t>[How does it create value for its users?]</a:t>
            </a:r>
          </a:p>
          <a:p>
            <a:endParaRPr lang="en-US" sz="1600" dirty="0" smtClean="0">
              <a:solidFill>
                <a:schemeClr val="tx1"/>
              </a:solidFill>
            </a:endParaRPr>
          </a:p>
          <a:p>
            <a:endParaRPr lang="en-US" sz="1600" dirty="0" smtClean="0">
              <a:solidFill>
                <a:schemeClr val="tx1"/>
              </a:solidFill>
            </a:endParaRPr>
          </a:p>
          <a:p>
            <a:endParaRPr lang="en-US" sz="1600" dirty="0">
              <a:solidFill>
                <a:schemeClr val="tx1"/>
              </a:solidFill>
            </a:endParaRPr>
          </a:p>
          <a:p>
            <a:r>
              <a:rPr lang="en-US" sz="1600" dirty="0" smtClean="0">
                <a:solidFill>
                  <a:schemeClr val="tx1"/>
                </a:solidFill>
              </a:rPr>
              <a:t>[Which emotions will it evoke?]</a:t>
            </a:r>
          </a:p>
          <a:p>
            <a:endParaRPr lang="en-US" sz="1600" dirty="0">
              <a:solidFill>
                <a:schemeClr val="tx1"/>
              </a:solidFill>
            </a:endParaRPr>
          </a:p>
        </p:txBody>
      </p:sp>
      <p:sp>
        <p:nvSpPr>
          <p:cNvPr id="10" name="Rectangle 9"/>
          <p:cNvSpPr/>
          <p:nvPr/>
        </p:nvSpPr>
        <p:spPr>
          <a:xfrm>
            <a:off x="4562341" y="2105695"/>
            <a:ext cx="2057400" cy="4262907"/>
          </a:xfrm>
          <a:prstGeom prst="rect">
            <a:avLst/>
          </a:prstGeom>
          <a:solidFill>
            <a:srgbClr val="CCECBE"/>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rPr>
              <a:t>Product</a:t>
            </a:r>
          </a:p>
          <a:p>
            <a:endParaRPr lang="en-US" sz="2000" dirty="0" smtClean="0">
              <a:solidFill>
                <a:schemeClr val="tx1"/>
              </a:solidFill>
            </a:endParaRPr>
          </a:p>
          <a:p>
            <a:r>
              <a:rPr lang="en-US" sz="1600" dirty="0" smtClean="0">
                <a:solidFill>
                  <a:schemeClr val="tx1"/>
                </a:solidFill>
              </a:rPr>
              <a:t>[What are the 3-5 top features?]</a:t>
            </a:r>
          </a:p>
          <a:p>
            <a:endParaRPr lang="en-US" sz="1600" dirty="0">
              <a:solidFill>
                <a:schemeClr val="tx1"/>
              </a:solidFill>
            </a:endParaRPr>
          </a:p>
          <a:p>
            <a:endParaRPr lang="en-US" sz="1600" dirty="0" smtClean="0">
              <a:solidFill>
                <a:schemeClr val="tx1"/>
              </a:solidFill>
            </a:endParaRPr>
          </a:p>
          <a:p>
            <a:endParaRPr lang="en-US" sz="1600" dirty="0" smtClean="0">
              <a:solidFill>
                <a:schemeClr val="tx1"/>
              </a:solidFill>
            </a:endParaRPr>
          </a:p>
          <a:p>
            <a:endParaRPr lang="en-US" sz="1600" dirty="0" smtClean="0">
              <a:solidFill>
                <a:schemeClr val="tx1"/>
              </a:solidFill>
            </a:endParaRPr>
          </a:p>
          <a:p>
            <a:endParaRPr lang="en-US" sz="1600" dirty="0" smtClean="0">
              <a:solidFill>
                <a:schemeClr val="tx1"/>
              </a:solidFill>
            </a:endParaRPr>
          </a:p>
          <a:p>
            <a:r>
              <a:rPr lang="en-US" sz="1600" dirty="0" smtClean="0">
                <a:solidFill>
                  <a:schemeClr val="tx1"/>
                </a:solidFill>
              </a:rPr>
              <a:t>[What are its unique selling points?]</a:t>
            </a:r>
          </a:p>
          <a:p>
            <a:endParaRPr lang="en-US" sz="1600" dirty="0">
              <a:solidFill>
                <a:schemeClr val="tx1"/>
              </a:solidFill>
            </a:endParaRPr>
          </a:p>
          <a:p>
            <a:endParaRPr lang="en-US" sz="1600" dirty="0" smtClean="0">
              <a:solidFill>
                <a:schemeClr val="tx1"/>
              </a:solidFill>
            </a:endParaRPr>
          </a:p>
          <a:p>
            <a:endParaRPr lang="en-US" sz="1600" dirty="0">
              <a:solidFill>
                <a:schemeClr val="tx1"/>
              </a:solidFill>
            </a:endParaRPr>
          </a:p>
          <a:p>
            <a:endParaRPr lang="en-US" sz="1600" dirty="0">
              <a:solidFill>
                <a:schemeClr val="tx1"/>
              </a:solidFill>
            </a:endParaRPr>
          </a:p>
        </p:txBody>
      </p:sp>
      <p:sp>
        <p:nvSpPr>
          <p:cNvPr id="11" name="Rectangle 10"/>
          <p:cNvSpPr/>
          <p:nvPr/>
        </p:nvSpPr>
        <p:spPr>
          <a:xfrm>
            <a:off x="6619741" y="2105695"/>
            <a:ext cx="2057400" cy="4262907"/>
          </a:xfrm>
          <a:prstGeom prst="rect">
            <a:avLst/>
          </a:prstGeom>
          <a:solidFill>
            <a:srgbClr val="D1C9F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rPr>
              <a:t>Value</a:t>
            </a:r>
          </a:p>
          <a:p>
            <a:endParaRPr lang="en-US" sz="2000" dirty="0">
              <a:solidFill>
                <a:schemeClr val="tx1"/>
              </a:solidFill>
            </a:endParaRPr>
          </a:p>
          <a:p>
            <a:r>
              <a:rPr lang="en-US" sz="1600" dirty="0" smtClean="0">
                <a:solidFill>
                  <a:schemeClr val="tx1"/>
                </a:solidFill>
              </a:rPr>
              <a:t>[How is the product going to benefit the company?]</a:t>
            </a:r>
          </a:p>
          <a:p>
            <a:endParaRPr lang="en-US" sz="1600" dirty="0" smtClean="0">
              <a:solidFill>
                <a:schemeClr val="tx1"/>
              </a:solidFill>
            </a:endParaRPr>
          </a:p>
          <a:p>
            <a:endParaRPr lang="en-US" sz="1600" dirty="0">
              <a:solidFill>
                <a:schemeClr val="tx1"/>
              </a:solidFill>
            </a:endParaRPr>
          </a:p>
          <a:p>
            <a:r>
              <a:rPr lang="en-US" sz="1600" dirty="0" smtClean="0">
                <a:solidFill>
                  <a:schemeClr val="tx1"/>
                </a:solidFill>
              </a:rPr>
              <a:t>[Will it increase revenue, enter a new market, develop the brand, reduce cost, create valuable knowledge?]</a:t>
            </a:r>
          </a:p>
          <a:p>
            <a:endParaRPr lang="en-US" sz="1600" dirty="0">
              <a:solidFill>
                <a:schemeClr val="tx1"/>
              </a:solidFill>
            </a:endParaRPr>
          </a:p>
        </p:txBody>
      </p:sp>
      <p:sp>
        <p:nvSpPr>
          <p:cNvPr id="12" name="Rectangle 11"/>
          <p:cNvSpPr/>
          <p:nvPr/>
        </p:nvSpPr>
        <p:spPr>
          <a:xfrm>
            <a:off x="2495282" y="6368602"/>
            <a:ext cx="6125351" cy="253916"/>
          </a:xfrm>
          <a:prstGeom prst="rect">
            <a:avLst/>
          </a:prstGeom>
        </p:spPr>
        <p:txBody>
          <a:bodyPr wrap="square">
            <a:spAutoFit/>
          </a:bodyPr>
          <a:lstStyle/>
          <a:p>
            <a:r>
              <a:rPr lang="en-US" sz="1050" dirty="0" smtClean="0">
                <a:solidFill>
                  <a:schemeClr val="tx1"/>
                </a:solidFill>
              </a:rPr>
              <a:t>*adapted </a:t>
            </a:r>
            <a:r>
              <a:rPr lang="en-US" sz="1050" dirty="0">
                <a:solidFill>
                  <a:schemeClr val="tx1"/>
                </a:solidFill>
              </a:rPr>
              <a:t>from http://www.romanpichler.com/blog/agile-product-innovation/the-product-vision-board/</a:t>
            </a:r>
          </a:p>
        </p:txBody>
      </p:sp>
    </p:spTree>
    <p:extLst>
      <p:ext uri="{BB962C8B-B14F-4D97-AF65-F5344CB8AC3E}">
        <p14:creationId xmlns:p14="http://schemas.microsoft.com/office/powerpoint/2010/main" xmlns="" val="38772074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9E3C471D-FB94-43E4-8DFD-966A05A84658}" type="slidenum">
              <a:rPr lang="en-US" smtClean="0"/>
              <a:pPr/>
              <a:t>13</a:t>
            </a:fld>
            <a:endParaRPr lang="en-US" dirty="0"/>
          </a:p>
        </p:txBody>
      </p:sp>
      <p:sp>
        <p:nvSpPr>
          <p:cNvPr id="4" name="Footer Placeholder 3"/>
          <p:cNvSpPr>
            <a:spLocks noGrp="1"/>
          </p:cNvSpPr>
          <p:nvPr>
            <p:ph type="ftr" sz="quarter" idx="12"/>
          </p:nvPr>
        </p:nvSpPr>
        <p:spPr/>
        <p:txBody>
          <a:bodyPr/>
          <a:lstStyle/>
          <a:p>
            <a:r>
              <a:rPr lang="en-US" smtClean="0"/>
              <a:t>Product Strategy Template v1.1</a:t>
            </a:r>
            <a:endParaRPr lang="en-US" dirty="0"/>
          </a:p>
        </p:txBody>
      </p:sp>
      <p:sp>
        <p:nvSpPr>
          <p:cNvPr id="6" name="Title 5"/>
          <p:cNvSpPr>
            <a:spLocks noGrp="1"/>
          </p:cNvSpPr>
          <p:nvPr>
            <p:ph type="title"/>
          </p:nvPr>
        </p:nvSpPr>
        <p:spPr/>
        <p:txBody>
          <a:bodyPr/>
          <a:lstStyle/>
          <a:p>
            <a:r>
              <a:rPr lang="en-US" dirty="0" smtClean="0"/>
              <a:t>Strategy to Create Product Roadmap</a:t>
            </a:r>
            <a:endParaRPr lang="en-US" dirty="0"/>
          </a:p>
        </p:txBody>
      </p:sp>
    </p:spTree>
    <p:extLst>
      <p:ext uri="{BB962C8B-B14F-4D97-AF65-F5344CB8AC3E}">
        <p14:creationId xmlns:p14="http://schemas.microsoft.com/office/powerpoint/2010/main" xmlns="" val="41477165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Key Product Lifecycle Activities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14</a:t>
            </a:fld>
            <a:endParaRPr lang="en-US" dirty="0"/>
          </a:p>
        </p:txBody>
      </p:sp>
      <p:sp>
        <p:nvSpPr>
          <p:cNvPr id="5" name="Content Placeholder 4"/>
          <p:cNvSpPr>
            <a:spLocks noGrp="1"/>
          </p:cNvSpPr>
          <p:nvPr>
            <p:ph sz="quarter" idx="15"/>
          </p:nvPr>
        </p:nvSpPr>
        <p:spPr>
          <a:xfrm>
            <a:off x="457200" y="1184564"/>
            <a:ext cx="8232775" cy="5328778"/>
          </a:xfrm>
        </p:spPr>
        <p:txBody>
          <a:bodyPr/>
          <a:lstStyle/>
          <a:p>
            <a:r>
              <a:rPr lang="en-US" dirty="0"/>
              <a:t>What Key Activities are required to support the Product throughout the product lifecycle?</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r>
              <a:rPr lang="en-US" sz="1400" i="1" dirty="0" smtClean="0">
                <a:solidFill>
                  <a:srgbClr val="0070C0"/>
                </a:solidFill>
              </a:rPr>
              <a:t>Key Activities:</a:t>
            </a:r>
            <a:endParaRPr lang="en-US" sz="1400" i="1" dirty="0">
              <a:solidFill>
                <a:srgbClr val="0070C0"/>
              </a:solidFill>
            </a:endParaRPr>
          </a:p>
          <a:p>
            <a:pPr marL="285750" indent="-285750">
              <a:buFont typeface="Arial" panose="020B0604020202020204" pitchFamily="34" charset="0"/>
              <a:buChar char="•"/>
            </a:pPr>
            <a:r>
              <a:rPr lang="en-US" sz="1400" b="0" i="1" dirty="0" smtClean="0">
                <a:solidFill>
                  <a:srgbClr val="0070C0"/>
                </a:solidFill>
              </a:rPr>
              <a:t>Production Activities – those related to designing, making and delivering a product</a:t>
            </a:r>
            <a:endParaRPr lang="en-US" sz="1400" b="0" i="1" dirty="0">
              <a:solidFill>
                <a:srgbClr val="0070C0"/>
              </a:solidFill>
            </a:endParaRPr>
          </a:p>
          <a:p>
            <a:pPr marL="285750" indent="-285750">
              <a:buFont typeface="Arial" panose="020B0604020202020204" pitchFamily="34" charset="0"/>
              <a:buChar char="•"/>
            </a:pPr>
            <a:r>
              <a:rPr lang="en-US" sz="1400" b="0" i="1" dirty="0" smtClean="0">
                <a:solidFill>
                  <a:srgbClr val="0070C0"/>
                </a:solidFill>
              </a:rPr>
              <a:t>Problem Solving Activities – those related to solving customer problems</a:t>
            </a:r>
            <a:endParaRPr lang="en-US" sz="1400" b="0" i="1" dirty="0">
              <a:solidFill>
                <a:srgbClr val="0070C0"/>
              </a:solidFill>
            </a:endParaRPr>
          </a:p>
          <a:p>
            <a:pPr marL="285750" indent="-285750">
              <a:buFont typeface="Arial" panose="020B0604020202020204" pitchFamily="34" charset="0"/>
              <a:buChar char="•"/>
            </a:pPr>
            <a:r>
              <a:rPr lang="en-US" sz="1400" b="0" i="1" dirty="0" smtClean="0">
                <a:solidFill>
                  <a:srgbClr val="0070C0"/>
                </a:solidFill>
              </a:rPr>
              <a:t>Platform / Network Activities – those related to platform mgmt, service provisioning, and platform promotion</a:t>
            </a:r>
            <a:endParaRPr lang="en-US" sz="1400" b="0" i="1" dirty="0">
              <a:solidFill>
                <a:srgbClr val="0070C0"/>
              </a:solidFill>
            </a:endParaRPr>
          </a:p>
          <a:p>
            <a:pPr lvl="2" indent="0">
              <a:buNone/>
            </a:pPr>
            <a:endParaRPr lang="en-US" b="0" dirty="0" smtClean="0"/>
          </a:p>
        </p:txBody>
      </p:sp>
      <p:graphicFrame>
        <p:nvGraphicFramePr>
          <p:cNvPr id="6" name="Table 5"/>
          <p:cNvGraphicFramePr>
            <a:graphicFrameLocks noGrp="1"/>
          </p:cNvGraphicFramePr>
          <p:nvPr>
            <p:extLst>
              <p:ext uri="{D42A27DB-BD31-4B8C-83A1-F6EECF244321}">
                <p14:modId xmlns:p14="http://schemas.microsoft.com/office/powerpoint/2010/main" xmlns="" val="4226423117"/>
              </p:ext>
            </p:extLst>
          </p:nvPr>
        </p:nvGraphicFramePr>
        <p:xfrm>
          <a:off x="457200" y="1885070"/>
          <a:ext cx="8182660" cy="1996831"/>
        </p:xfrm>
        <a:graphic>
          <a:graphicData uri="http://schemas.openxmlformats.org/drawingml/2006/table">
            <a:tbl>
              <a:tblPr firstRow="1" bandRow="1">
                <a:tableStyleId>{5940675A-B579-460E-94D1-54222C63F5DA}</a:tableStyleId>
              </a:tblPr>
              <a:tblGrid>
                <a:gridCol w="2342271"/>
                <a:gridCol w="2145323"/>
                <a:gridCol w="1892104"/>
                <a:gridCol w="1802962"/>
              </a:tblGrid>
              <a:tr h="513471">
                <a:tc>
                  <a:txBody>
                    <a:bodyPr/>
                    <a:lstStyle/>
                    <a:p>
                      <a:r>
                        <a:rPr lang="en-US" dirty="0" smtClean="0"/>
                        <a:t>Product</a:t>
                      </a:r>
                      <a:r>
                        <a:rPr lang="en-US" baseline="0" dirty="0" smtClean="0"/>
                        <a:t> Introduction</a:t>
                      </a:r>
                      <a:endParaRPr lang="en-US" dirty="0"/>
                    </a:p>
                  </a:txBody>
                  <a:tcPr>
                    <a:solidFill>
                      <a:schemeClr val="bg1">
                        <a:lumMod val="85000"/>
                      </a:schemeClr>
                    </a:solidFill>
                  </a:tcPr>
                </a:tc>
                <a:tc>
                  <a:txBody>
                    <a:bodyPr/>
                    <a:lstStyle/>
                    <a:p>
                      <a:r>
                        <a:rPr lang="en-US" dirty="0" smtClean="0"/>
                        <a:t>Product Growth</a:t>
                      </a:r>
                      <a:endParaRPr lang="en-US" dirty="0"/>
                    </a:p>
                  </a:txBody>
                  <a:tcPr>
                    <a:solidFill>
                      <a:schemeClr val="bg1">
                        <a:lumMod val="85000"/>
                      </a:schemeClr>
                    </a:solidFill>
                  </a:tcPr>
                </a:tc>
                <a:tc>
                  <a:txBody>
                    <a:bodyPr/>
                    <a:lstStyle/>
                    <a:p>
                      <a:r>
                        <a:rPr lang="en-US" dirty="0" smtClean="0"/>
                        <a:t>Product Maturity</a:t>
                      </a:r>
                      <a:endParaRPr lang="en-US" dirty="0"/>
                    </a:p>
                  </a:txBody>
                  <a:tcPr>
                    <a:solidFill>
                      <a:schemeClr val="bg1">
                        <a:lumMod val="85000"/>
                      </a:schemeClr>
                    </a:solidFill>
                  </a:tcPr>
                </a:tc>
                <a:tc>
                  <a:txBody>
                    <a:bodyPr/>
                    <a:lstStyle/>
                    <a:p>
                      <a:r>
                        <a:rPr lang="en-US" dirty="0" smtClean="0"/>
                        <a:t>Product Decline</a:t>
                      </a:r>
                      <a:endParaRPr lang="en-US" dirty="0"/>
                    </a:p>
                  </a:txBody>
                  <a:tcPr>
                    <a:solidFill>
                      <a:schemeClr val="bg1">
                        <a:lumMod val="85000"/>
                      </a:schemeClr>
                    </a:solidFill>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5"/>
          </p:nvPr>
        </p:nvSpPr>
        <p:spPr/>
        <p:txBody>
          <a:bodyPr/>
          <a:lstStyle/>
          <a:p>
            <a:r>
              <a:rPr lang="en-US" dirty="0"/>
              <a:t>What are the Product Options for meeting </a:t>
            </a:r>
            <a:r>
              <a:rPr lang="en-US" dirty="0" smtClean="0"/>
              <a:t>the needs of our Customer Partners, Business Partners, and Technology </a:t>
            </a:r>
            <a:r>
              <a:rPr lang="en-US" dirty="0"/>
              <a:t>Partners? </a:t>
            </a:r>
          </a:p>
        </p:txBody>
      </p:sp>
      <p:sp>
        <p:nvSpPr>
          <p:cNvPr id="3" name="Title 2"/>
          <p:cNvSpPr>
            <a:spLocks noGrp="1"/>
          </p:cNvSpPr>
          <p:nvPr>
            <p:ph type="title"/>
          </p:nvPr>
        </p:nvSpPr>
        <p:spPr/>
        <p:txBody>
          <a:bodyPr/>
          <a:lstStyle/>
          <a:p>
            <a:r>
              <a:rPr lang="en-US" dirty="0" smtClean="0"/>
              <a:t>Product Needs &amp; Options</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15</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xmlns="" val="3305207476"/>
              </p:ext>
            </p:extLst>
          </p:nvPr>
        </p:nvGraphicFramePr>
        <p:xfrm>
          <a:off x="457200" y="1955408"/>
          <a:ext cx="8229601" cy="2321170"/>
        </p:xfrm>
        <a:graphic>
          <a:graphicData uri="http://schemas.openxmlformats.org/drawingml/2006/table">
            <a:tbl>
              <a:tblPr firstRow="1" bandRow="1">
                <a:tableStyleId>{5940675A-B579-460E-94D1-54222C63F5DA}</a:tableStyleId>
              </a:tblPr>
              <a:tblGrid>
                <a:gridCol w="2229729"/>
                <a:gridCol w="2011680"/>
                <a:gridCol w="3988192"/>
              </a:tblGrid>
              <a:tr h="292686">
                <a:tc>
                  <a:txBody>
                    <a:bodyPr/>
                    <a:lstStyle/>
                    <a:p>
                      <a:r>
                        <a:rPr lang="en-US" dirty="0" smtClean="0"/>
                        <a:t>Needs</a:t>
                      </a:r>
                      <a:endParaRPr lang="en-US" dirty="0"/>
                    </a:p>
                  </a:txBody>
                  <a:tcPr>
                    <a:solidFill>
                      <a:schemeClr val="bg1">
                        <a:lumMod val="85000"/>
                      </a:schemeClr>
                    </a:solidFill>
                  </a:tcPr>
                </a:tc>
                <a:tc>
                  <a:txBody>
                    <a:bodyPr/>
                    <a:lstStyle/>
                    <a:p>
                      <a:r>
                        <a:rPr lang="en-US" dirty="0" smtClean="0"/>
                        <a:t>Partner /</a:t>
                      </a:r>
                      <a:r>
                        <a:rPr lang="en-US" baseline="0" dirty="0" smtClean="0"/>
                        <a:t> Persona</a:t>
                      </a:r>
                      <a:endParaRPr lang="en-US" dirty="0"/>
                    </a:p>
                  </a:txBody>
                  <a:tcPr>
                    <a:solidFill>
                      <a:schemeClr val="bg1">
                        <a:lumMod val="85000"/>
                      </a:schemeClr>
                    </a:solidFill>
                  </a:tcPr>
                </a:tc>
                <a:tc>
                  <a:txBody>
                    <a:bodyPr/>
                    <a:lstStyle/>
                    <a:p>
                      <a:r>
                        <a:rPr lang="en-US" dirty="0" smtClean="0"/>
                        <a:t>Product Option</a:t>
                      </a:r>
                      <a:endParaRPr lang="en-US" dirty="0"/>
                    </a:p>
                  </a:txBody>
                  <a:tcPr>
                    <a:solidFill>
                      <a:schemeClr val="bg1">
                        <a:lumMod val="85000"/>
                      </a:schemeClr>
                    </a:solidFill>
                  </a:tcPr>
                </a:tc>
              </a:tr>
              <a:tr h="370840">
                <a:tc>
                  <a:txBody>
                    <a:bodyPr/>
                    <a:lstStyle/>
                    <a:p>
                      <a:pPr marL="285750" indent="-285750">
                        <a:buFont typeface="Arial" panose="020B0604020202020204" pitchFamily="34" charset="0"/>
                        <a:buChar char="•"/>
                      </a:pPr>
                      <a:r>
                        <a:rPr lang="en-US" dirty="0" smtClean="0"/>
                        <a:t>[need]</a:t>
                      </a:r>
                    </a:p>
                    <a:p>
                      <a:pPr marL="285750" indent="-285750">
                        <a:buFont typeface="Arial" panose="020B0604020202020204" pitchFamily="34" charset="0"/>
                        <a:buChar char="•"/>
                      </a:pPr>
                      <a:r>
                        <a:rPr lang="en-US" dirty="0" smtClean="0"/>
                        <a:t>[need]</a:t>
                      </a:r>
                    </a:p>
                  </a:txBody>
                  <a:tcPr/>
                </a:tc>
                <a:tc>
                  <a:txBody>
                    <a:bodyPr/>
                    <a:lstStyle/>
                    <a:p>
                      <a:pPr marL="285750" indent="-285750">
                        <a:buFont typeface="Arial" panose="020B0604020202020204" pitchFamily="34" charset="0"/>
                        <a:buChar char="•"/>
                      </a:pPr>
                      <a:r>
                        <a:rPr lang="en-US" smtClean="0"/>
                        <a:t> </a:t>
                      </a:r>
                    </a:p>
                    <a:p>
                      <a:pPr marL="285750" indent="-285750">
                        <a:buFont typeface="Arial" panose="020B0604020202020204" pitchFamily="34" charset="0"/>
                        <a:buChar char="•"/>
                      </a:pPr>
                      <a:r>
                        <a:rPr lang="en-US" smtClean="0"/>
                        <a:t> </a:t>
                      </a:r>
                      <a:endParaRPr lang="en-US" dirty="0" smtClean="0"/>
                    </a:p>
                  </a:txBody>
                  <a:tcPr/>
                </a:tc>
                <a:tc>
                  <a:txBody>
                    <a:bodyPr/>
                    <a:lstStyle/>
                    <a:p>
                      <a:r>
                        <a:rPr lang="en-US" dirty="0" smtClean="0"/>
                        <a:t>[Opt A]</a:t>
                      </a:r>
                      <a:endParaRPr lang="en-US" dirty="0"/>
                    </a:p>
                  </a:txBody>
                  <a:tcPr/>
                </a:tc>
              </a:tr>
              <a:tr h="675250">
                <a:tc>
                  <a:txBody>
                    <a:bodyPr/>
                    <a:lstStyle/>
                    <a:p>
                      <a:pPr marL="285750" indent="-285750">
                        <a:buFont typeface="Arial" panose="020B0604020202020204" pitchFamily="34" charset="0"/>
                        <a:buChar char="•"/>
                      </a:pPr>
                      <a:r>
                        <a:rPr lang="en-US" smtClean="0"/>
                        <a:t>[need]</a:t>
                      </a:r>
                    </a:p>
                    <a:p>
                      <a:pPr marL="285750" indent="-285750">
                        <a:buFont typeface="Arial" panose="020B0604020202020204" pitchFamily="34" charset="0"/>
                        <a:buChar char="•"/>
                      </a:pPr>
                      <a:r>
                        <a:rPr lang="en-US" smtClean="0"/>
                        <a:t>[need]</a:t>
                      </a:r>
                      <a:endParaRPr lang="en-US" dirty="0" smtClean="0"/>
                    </a:p>
                  </a:txBody>
                  <a:tcPr/>
                </a:tc>
                <a:tc>
                  <a:txBody>
                    <a:bodyPr/>
                    <a:lstStyle/>
                    <a:p>
                      <a:pPr marL="285750" indent="-285750">
                        <a:buFont typeface="Arial" panose="020B0604020202020204" pitchFamily="34" charset="0"/>
                        <a:buChar char="•"/>
                      </a:pPr>
                      <a:r>
                        <a:rPr lang="en-US" smtClean="0"/>
                        <a:t> </a:t>
                      </a:r>
                    </a:p>
                    <a:p>
                      <a:pPr marL="285750" indent="-285750">
                        <a:buFont typeface="Arial" panose="020B0604020202020204" pitchFamily="34" charset="0"/>
                        <a:buChar char="•"/>
                      </a:pPr>
                      <a:r>
                        <a:rPr lang="en-US" smtClean="0"/>
                        <a:t> </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[Opt B]</a:t>
                      </a:r>
                    </a:p>
                    <a:p>
                      <a:endParaRPr lang="en-US" dirty="0"/>
                    </a:p>
                  </a:txBody>
                  <a:tcPr/>
                </a:tc>
              </a:tr>
              <a:tr h="370840">
                <a:tc>
                  <a:txBody>
                    <a:bodyPr/>
                    <a:lstStyle/>
                    <a:p>
                      <a:pPr marL="285750" indent="-285750">
                        <a:buFont typeface="Arial" panose="020B0604020202020204" pitchFamily="34" charset="0"/>
                        <a:buChar char="•"/>
                      </a:pPr>
                      <a:r>
                        <a:rPr lang="en-US" dirty="0" smtClean="0"/>
                        <a:t>[need]</a:t>
                      </a:r>
                    </a:p>
                    <a:p>
                      <a:pPr marL="285750" indent="-285750">
                        <a:buFont typeface="Arial" panose="020B0604020202020204" pitchFamily="34" charset="0"/>
                        <a:buChar char="•"/>
                      </a:pPr>
                      <a:r>
                        <a:rPr lang="en-US" dirty="0" smtClean="0"/>
                        <a:t>[need]</a:t>
                      </a:r>
                    </a:p>
                  </a:txBody>
                  <a:tcPr/>
                </a:tc>
                <a:tc>
                  <a:txBody>
                    <a:bodyPr/>
                    <a:lstStyle/>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r>
                        <a:rPr lang="en-US" dirty="0" smtClean="0"/>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[Opt C]</a:t>
                      </a:r>
                    </a:p>
                    <a:p>
                      <a:endParaRPr lang="en-US" dirty="0"/>
                    </a:p>
                  </a:txBody>
                  <a:tcPr/>
                </a:tc>
              </a:tr>
            </a:tbl>
          </a:graphicData>
        </a:graphic>
      </p:graphicFrame>
    </p:spTree>
    <p:extLst>
      <p:ext uri="{BB962C8B-B14F-4D97-AF65-F5344CB8AC3E}">
        <p14:creationId xmlns:p14="http://schemas.microsoft.com/office/powerpoint/2010/main" xmlns="" val="2894760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5"/>
          </p:nvPr>
        </p:nvSpPr>
        <p:spPr/>
        <p:txBody>
          <a:bodyPr/>
          <a:lstStyle/>
          <a:p>
            <a:r>
              <a:rPr lang="en-US" dirty="0"/>
              <a:t>Which Product Channels are associated with each of the Product Options? </a:t>
            </a:r>
          </a:p>
          <a:p>
            <a:endParaRPr lang="en-US" dirty="0"/>
          </a:p>
        </p:txBody>
      </p:sp>
      <p:sp>
        <p:nvSpPr>
          <p:cNvPr id="3" name="Title 2"/>
          <p:cNvSpPr>
            <a:spLocks noGrp="1"/>
          </p:cNvSpPr>
          <p:nvPr>
            <p:ph type="title"/>
          </p:nvPr>
        </p:nvSpPr>
        <p:spPr>
          <a:xfrm>
            <a:off x="444694" y="379882"/>
            <a:ext cx="8242106" cy="561260"/>
          </a:xfrm>
        </p:spPr>
        <p:txBody>
          <a:bodyPr/>
          <a:lstStyle/>
          <a:p>
            <a:r>
              <a:rPr lang="en-US" dirty="0" smtClean="0"/>
              <a:t>Product Options &amp; Channels</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16</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xmlns="" val="1164115112"/>
              </p:ext>
            </p:extLst>
          </p:nvPr>
        </p:nvGraphicFramePr>
        <p:xfrm>
          <a:off x="457200" y="1955408"/>
          <a:ext cx="8229600" cy="2321170"/>
        </p:xfrm>
        <a:graphic>
          <a:graphicData uri="http://schemas.openxmlformats.org/drawingml/2006/table">
            <a:tbl>
              <a:tblPr firstRow="1" bandRow="1">
                <a:tableStyleId>{5940675A-B579-460E-94D1-54222C63F5DA}</a:tableStyleId>
              </a:tblPr>
              <a:tblGrid>
                <a:gridCol w="4114800"/>
                <a:gridCol w="4114800"/>
              </a:tblGrid>
              <a:tr h="292686">
                <a:tc>
                  <a:txBody>
                    <a:bodyPr/>
                    <a:lstStyle/>
                    <a:p>
                      <a:r>
                        <a:rPr lang="en-US" dirty="0" smtClean="0"/>
                        <a:t>Product Option</a:t>
                      </a:r>
                      <a:endParaRPr lang="en-US" dirty="0"/>
                    </a:p>
                  </a:txBody>
                  <a:tcPr>
                    <a:solidFill>
                      <a:schemeClr val="bg1">
                        <a:lumMod val="85000"/>
                      </a:schemeClr>
                    </a:solidFill>
                  </a:tcPr>
                </a:tc>
                <a:tc>
                  <a:txBody>
                    <a:bodyPr/>
                    <a:lstStyle/>
                    <a:p>
                      <a:r>
                        <a:rPr lang="en-US" dirty="0" smtClean="0"/>
                        <a:t>Product Channels</a:t>
                      </a:r>
                      <a:endParaRPr lang="en-US" dirty="0"/>
                    </a:p>
                  </a:txBody>
                  <a:tcPr>
                    <a:solidFill>
                      <a:schemeClr val="bg1">
                        <a:lumMod val="85000"/>
                      </a:schemeClr>
                    </a:solidFill>
                  </a:tcPr>
                </a:tc>
              </a:tr>
              <a:tr h="370840">
                <a:tc>
                  <a:txBody>
                    <a:bodyPr/>
                    <a:lstStyle/>
                    <a:p>
                      <a:r>
                        <a:rPr lang="en-US" dirty="0" smtClean="0"/>
                        <a:t>[Opt A]</a:t>
                      </a:r>
                      <a:endParaRPr lang="en-US" dirty="0"/>
                    </a:p>
                  </a:txBody>
                  <a:tcPr/>
                </a:tc>
                <a:tc>
                  <a:txBody>
                    <a:bodyPr/>
                    <a:lstStyle/>
                    <a:p>
                      <a:pPr marL="285750" indent="-285750">
                        <a:buFont typeface="Arial" panose="020B0604020202020204" pitchFamily="34" charset="0"/>
                        <a:buChar char="•"/>
                      </a:pPr>
                      <a:r>
                        <a:rPr lang="en-US" dirty="0" smtClean="0"/>
                        <a:t>[channel]</a:t>
                      </a:r>
                    </a:p>
                    <a:p>
                      <a:pPr marL="285750" indent="-285750">
                        <a:buFont typeface="Arial" panose="020B0604020202020204" pitchFamily="34" charset="0"/>
                        <a:buChar char="•"/>
                      </a:pPr>
                      <a:r>
                        <a:rPr lang="en-US" dirty="0" smtClean="0"/>
                        <a:t>[channel]</a:t>
                      </a:r>
                    </a:p>
                  </a:txBody>
                  <a:tcPr/>
                </a:tc>
              </a:tr>
              <a:tr h="6752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[Opt B]</a:t>
                      </a:r>
                    </a:p>
                    <a:p>
                      <a:endParaRPr lang="en-US" dirty="0"/>
                    </a:p>
                  </a:txBody>
                  <a:tcPr/>
                </a:tc>
                <a:tc>
                  <a:txBody>
                    <a:bodyPr/>
                    <a:lstStyle/>
                    <a:p>
                      <a:pPr marL="285750" indent="-285750">
                        <a:buFont typeface="Arial" panose="020B0604020202020204" pitchFamily="34" charset="0"/>
                        <a:buChar char="•"/>
                      </a:pPr>
                      <a:r>
                        <a:rPr lang="en-US" dirty="0" smtClean="0"/>
                        <a:t>[channel]</a:t>
                      </a:r>
                    </a:p>
                    <a:p>
                      <a:pPr marL="285750" indent="-285750">
                        <a:buFont typeface="Arial" panose="020B0604020202020204" pitchFamily="34" charset="0"/>
                        <a:buChar char="•"/>
                      </a:pPr>
                      <a:r>
                        <a:rPr lang="en-US" dirty="0" smtClean="0"/>
                        <a:t>[channel]</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[Opt C]</a:t>
                      </a:r>
                    </a:p>
                    <a:p>
                      <a:endParaRPr lang="en-US" dirty="0"/>
                    </a:p>
                  </a:txBody>
                  <a:tcPr/>
                </a:tc>
                <a:tc>
                  <a:txBody>
                    <a:bodyPr/>
                    <a:lstStyle/>
                    <a:p>
                      <a:pPr marL="285750" indent="-285750">
                        <a:buFont typeface="Arial" panose="020B0604020202020204" pitchFamily="34" charset="0"/>
                        <a:buChar char="•"/>
                      </a:pPr>
                      <a:r>
                        <a:rPr lang="en-US" dirty="0" smtClean="0"/>
                        <a:t>[channel]</a:t>
                      </a:r>
                    </a:p>
                    <a:p>
                      <a:pPr marL="285750" indent="-285750">
                        <a:buFont typeface="Arial" panose="020B0604020202020204" pitchFamily="34" charset="0"/>
                        <a:buChar char="•"/>
                      </a:pPr>
                      <a:r>
                        <a:rPr lang="en-US" dirty="0" smtClean="0"/>
                        <a:t>[channel]</a:t>
                      </a:r>
                    </a:p>
                  </a:txBody>
                  <a:tcPr/>
                </a:tc>
              </a:tr>
            </a:tbl>
          </a:graphicData>
        </a:graphic>
      </p:graphicFrame>
    </p:spTree>
    <p:extLst>
      <p:ext uri="{BB962C8B-B14F-4D97-AF65-F5344CB8AC3E}">
        <p14:creationId xmlns:p14="http://schemas.microsoft.com/office/powerpoint/2010/main" xmlns="" val="38234234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Revenue Streams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17</a:t>
            </a:fld>
            <a:endParaRPr lang="en-US" dirty="0"/>
          </a:p>
        </p:txBody>
      </p:sp>
      <p:sp>
        <p:nvSpPr>
          <p:cNvPr id="5" name="Content Placeholder 4"/>
          <p:cNvSpPr>
            <a:spLocks noGrp="1"/>
          </p:cNvSpPr>
          <p:nvPr>
            <p:ph sz="quarter" idx="15"/>
          </p:nvPr>
        </p:nvSpPr>
        <p:spPr>
          <a:xfrm>
            <a:off x="457200" y="1184563"/>
            <a:ext cx="8232775" cy="5342845"/>
          </a:xfrm>
        </p:spPr>
        <p:txBody>
          <a:bodyPr/>
          <a:lstStyle/>
          <a:p>
            <a:r>
              <a:rPr lang="en-US" dirty="0"/>
              <a:t>How are our customers really willing to pay for the various options in their respective channels?</a:t>
            </a:r>
          </a:p>
          <a:p>
            <a:pPr marL="342900" indent="-342900">
              <a:buFont typeface="Arial"/>
              <a:buChar char="•"/>
            </a:pPr>
            <a:endParaRPr lang="en-US" b="0" dirty="0" smtClean="0"/>
          </a:p>
          <a:p>
            <a:pPr marL="342900" indent="-342900">
              <a:buFont typeface="Arial"/>
              <a:buChar char="•"/>
            </a:pPr>
            <a:endParaRPr lang="en-US" b="0" dirty="0"/>
          </a:p>
          <a:p>
            <a:pPr marL="342900" indent="-342900">
              <a:buFont typeface="Arial"/>
              <a:buChar char="•"/>
            </a:pPr>
            <a:endParaRPr lang="en-US" b="0" dirty="0" smtClean="0"/>
          </a:p>
          <a:p>
            <a:pPr marL="342900" indent="-342900">
              <a:buFont typeface="Arial"/>
              <a:buChar char="•"/>
            </a:pPr>
            <a:endParaRPr lang="en-US" dirty="0"/>
          </a:p>
          <a:p>
            <a:pPr marL="696913" lvl="2" indent="-342900"/>
            <a:endParaRPr lang="en-US" b="0" dirty="0">
              <a:effectLst/>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r>
              <a:rPr lang="en-US" sz="1400" b="0" i="1" dirty="0" smtClean="0">
                <a:solidFill>
                  <a:srgbClr val="0070C0"/>
                </a:solidFill>
              </a:rPr>
              <a:t>Example </a:t>
            </a:r>
            <a:r>
              <a:rPr lang="en-US" sz="1400" b="0" i="1" dirty="0">
                <a:solidFill>
                  <a:srgbClr val="0070C0"/>
                </a:solidFill>
              </a:rPr>
              <a:t>Types of Revenue Streams:</a:t>
            </a:r>
          </a:p>
          <a:p>
            <a:pPr marL="285750" indent="-285750">
              <a:buFont typeface="Arial" panose="020B0604020202020204" pitchFamily="34" charset="0"/>
              <a:buChar char="•"/>
            </a:pPr>
            <a:r>
              <a:rPr lang="en-US" sz="1400" b="0" i="1" dirty="0" smtClean="0">
                <a:solidFill>
                  <a:srgbClr val="0070C0"/>
                </a:solidFill>
              </a:rPr>
              <a:t>Product sale, Usage fee, Subscription fees, Advertising</a:t>
            </a:r>
            <a:endParaRPr lang="en-US" sz="1400" b="0" i="1" dirty="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xmlns="" val="2869044704"/>
              </p:ext>
            </p:extLst>
          </p:nvPr>
        </p:nvGraphicFramePr>
        <p:xfrm>
          <a:off x="457200" y="1925320"/>
          <a:ext cx="8229600" cy="1478280"/>
        </p:xfrm>
        <a:graphic>
          <a:graphicData uri="http://schemas.openxmlformats.org/drawingml/2006/table">
            <a:tbl>
              <a:tblPr firstRow="1" bandRow="1">
                <a:tableStyleId>{5940675A-B579-460E-94D1-54222C63F5DA}</a:tableStyleId>
              </a:tblPr>
              <a:tblGrid>
                <a:gridCol w="2048489"/>
                <a:gridCol w="2110276"/>
                <a:gridCol w="2013434"/>
                <a:gridCol w="2057401"/>
              </a:tblGrid>
              <a:tr h="0">
                <a:tc>
                  <a:txBody>
                    <a:bodyPr/>
                    <a:lstStyle/>
                    <a:p>
                      <a:r>
                        <a:rPr lang="en-US" dirty="0" smtClean="0"/>
                        <a:t>Partner / Persona</a:t>
                      </a:r>
                      <a:endParaRPr lang="en-US" dirty="0"/>
                    </a:p>
                  </a:txBody>
                  <a:tcPr>
                    <a:solidFill>
                      <a:schemeClr val="bg1">
                        <a:lumMod val="85000"/>
                      </a:schemeClr>
                    </a:solidFill>
                  </a:tcPr>
                </a:tc>
                <a:tc>
                  <a:txBody>
                    <a:bodyPr/>
                    <a:lstStyle/>
                    <a:p>
                      <a:r>
                        <a:rPr lang="en-US" dirty="0" smtClean="0"/>
                        <a:t>Product Option</a:t>
                      </a:r>
                      <a:endParaRPr lang="en-US" dirty="0"/>
                    </a:p>
                  </a:txBody>
                  <a:tcPr>
                    <a:solidFill>
                      <a:schemeClr val="bg1">
                        <a:lumMod val="85000"/>
                      </a:schemeClr>
                    </a:solidFill>
                  </a:tcPr>
                </a:tc>
                <a:tc>
                  <a:txBody>
                    <a:bodyPr/>
                    <a:lstStyle/>
                    <a:p>
                      <a:r>
                        <a:rPr lang="en-US" dirty="0" smtClean="0"/>
                        <a:t>Channel</a:t>
                      </a:r>
                      <a:endParaRPr lang="en-US" dirty="0"/>
                    </a:p>
                  </a:txBody>
                  <a:tcPr>
                    <a:solidFill>
                      <a:schemeClr val="bg1">
                        <a:lumMod val="85000"/>
                      </a:schemeClr>
                    </a:solidFill>
                  </a:tcPr>
                </a:tc>
                <a:tc>
                  <a:txBody>
                    <a:bodyPr/>
                    <a:lstStyle/>
                    <a:p>
                      <a:r>
                        <a:rPr lang="en-US" dirty="0" smtClean="0"/>
                        <a:t>Revenue Stream</a:t>
                      </a:r>
                      <a:endParaRPr lang="en-US" dirty="0"/>
                    </a:p>
                  </a:txBody>
                  <a:tcPr>
                    <a:solidFill>
                      <a:schemeClr val="bg1">
                        <a:lumMod val="85000"/>
                      </a:schemeClr>
                    </a:solidFill>
                  </a:tcPr>
                </a:tc>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Key Resources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18</a:t>
            </a:fld>
            <a:endParaRPr lang="en-US" dirty="0"/>
          </a:p>
        </p:txBody>
      </p:sp>
      <p:sp>
        <p:nvSpPr>
          <p:cNvPr id="5" name="Content Placeholder 4"/>
          <p:cNvSpPr>
            <a:spLocks noGrp="1"/>
          </p:cNvSpPr>
          <p:nvPr>
            <p:ph sz="quarter" idx="15"/>
          </p:nvPr>
        </p:nvSpPr>
        <p:spPr>
          <a:xfrm>
            <a:off x="457200" y="1210437"/>
            <a:ext cx="8232775" cy="5349879"/>
          </a:xfrm>
        </p:spPr>
        <p:txBody>
          <a:bodyPr/>
          <a:lstStyle/>
          <a:p>
            <a:r>
              <a:rPr lang="en-US" dirty="0"/>
              <a:t>What Key Resources are required for the Product?</a:t>
            </a:r>
          </a:p>
          <a:p>
            <a:endParaRPr lang="en-US" dirty="0"/>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r>
              <a:rPr lang="en-US" sz="1400" b="0" i="1" dirty="0" smtClean="0">
                <a:solidFill>
                  <a:srgbClr val="0070C0"/>
                </a:solidFill>
              </a:rPr>
              <a:t>Types </a:t>
            </a:r>
            <a:r>
              <a:rPr lang="en-US" sz="1400" b="0" i="1" dirty="0">
                <a:solidFill>
                  <a:srgbClr val="0070C0"/>
                </a:solidFill>
              </a:rPr>
              <a:t>of </a:t>
            </a:r>
            <a:r>
              <a:rPr lang="en-US" sz="1400" b="0" i="1" dirty="0" smtClean="0">
                <a:solidFill>
                  <a:srgbClr val="0070C0"/>
                </a:solidFill>
              </a:rPr>
              <a:t>resources: </a:t>
            </a:r>
            <a:endParaRPr lang="en-US" sz="1400" b="0" i="1" dirty="0">
              <a:solidFill>
                <a:srgbClr val="0070C0"/>
              </a:solidFill>
            </a:endParaRPr>
          </a:p>
          <a:p>
            <a:pPr marL="285750" indent="-285750">
              <a:buFont typeface="Arial" panose="020B0604020202020204" pitchFamily="34" charset="0"/>
              <a:buChar char="•"/>
            </a:pPr>
            <a:r>
              <a:rPr lang="en-US" sz="1400" b="0" i="1" dirty="0" smtClean="0">
                <a:solidFill>
                  <a:srgbClr val="0070C0"/>
                </a:solidFill>
              </a:rPr>
              <a:t>Physical, Intellectual </a:t>
            </a:r>
            <a:r>
              <a:rPr lang="en-US" sz="1400" b="0" i="1" dirty="0">
                <a:solidFill>
                  <a:srgbClr val="0070C0"/>
                </a:solidFill>
              </a:rPr>
              <a:t>(brand patents, copyrights, data</a:t>
            </a:r>
            <a:r>
              <a:rPr lang="en-US" sz="1400" b="0" i="1" dirty="0" smtClean="0">
                <a:solidFill>
                  <a:srgbClr val="0070C0"/>
                </a:solidFill>
              </a:rPr>
              <a:t>), Human, Financial </a:t>
            </a:r>
            <a:endParaRPr lang="en-US" sz="1400" b="0" i="1" dirty="0">
              <a:solidFill>
                <a:srgbClr val="0070C0"/>
              </a:solidFill>
            </a:endParaRPr>
          </a:p>
        </p:txBody>
      </p:sp>
      <p:graphicFrame>
        <p:nvGraphicFramePr>
          <p:cNvPr id="7" name="Table 6"/>
          <p:cNvGraphicFramePr>
            <a:graphicFrameLocks noGrp="1"/>
          </p:cNvGraphicFramePr>
          <p:nvPr>
            <p:extLst>
              <p:ext uri="{D42A27DB-BD31-4B8C-83A1-F6EECF244321}">
                <p14:modId xmlns:p14="http://schemas.microsoft.com/office/powerpoint/2010/main" xmlns="" val="1964441621"/>
              </p:ext>
            </p:extLst>
          </p:nvPr>
        </p:nvGraphicFramePr>
        <p:xfrm>
          <a:off x="457200" y="1615050"/>
          <a:ext cx="8229600" cy="1483360"/>
        </p:xfrm>
        <a:graphic>
          <a:graphicData uri="http://schemas.openxmlformats.org/drawingml/2006/table">
            <a:tbl>
              <a:tblPr firstRow="1" bandRow="1">
                <a:tableStyleId>{5940675A-B579-460E-94D1-54222C63F5DA}</a:tableStyleId>
              </a:tblPr>
              <a:tblGrid>
                <a:gridCol w="4340416"/>
                <a:gridCol w="1944592"/>
                <a:gridCol w="1944592"/>
              </a:tblGrid>
              <a:tr h="370840">
                <a:tc>
                  <a:txBody>
                    <a:bodyPr/>
                    <a:lstStyle/>
                    <a:p>
                      <a:r>
                        <a:rPr lang="en-US" dirty="0" smtClean="0"/>
                        <a:t>Resource</a:t>
                      </a:r>
                      <a:endParaRPr lang="en-US" dirty="0"/>
                    </a:p>
                  </a:txBody>
                  <a:tcPr>
                    <a:solidFill>
                      <a:schemeClr val="bg1">
                        <a:lumMod val="85000"/>
                      </a:schemeClr>
                    </a:solidFill>
                  </a:tcPr>
                </a:tc>
                <a:tc>
                  <a:txBody>
                    <a:bodyPr/>
                    <a:lstStyle/>
                    <a:p>
                      <a:r>
                        <a:rPr lang="en-US" dirty="0" smtClean="0"/>
                        <a:t>Contact</a:t>
                      </a:r>
                      <a:endParaRPr lang="en-US" dirty="0"/>
                    </a:p>
                  </a:txBody>
                  <a:tcPr>
                    <a:solidFill>
                      <a:schemeClr val="bg1">
                        <a:lumMod val="85000"/>
                      </a:schemeClr>
                    </a:solidFill>
                  </a:tcPr>
                </a:tc>
                <a:tc>
                  <a:txBody>
                    <a:bodyPr/>
                    <a:lstStyle/>
                    <a:p>
                      <a:r>
                        <a:rPr lang="en-US" dirty="0" smtClean="0"/>
                        <a:t>Owner</a:t>
                      </a:r>
                      <a:endParaRPr lang="en-US" dirty="0"/>
                    </a:p>
                  </a:txBody>
                  <a:tcPr>
                    <a:solidFill>
                      <a:schemeClr val="bg1">
                        <a:lumMod val="85000"/>
                      </a:schemeClr>
                    </a:solidFill>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xmlns="" val="35094788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Minimum Marketable Product</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19</a:t>
            </a:fld>
            <a:endParaRPr lang="en-US" dirty="0"/>
          </a:p>
        </p:txBody>
      </p:sp>
      <p:sp>
        <p:nvSpPr>
          <p:cNvPr id="5" name="Content Placeholder 4"/>
          <p:cNvSpPr>
            <a:spLocks noGrp="1"/>
          </p:cNvSpPr>
          <p:nvPr>
            <p:ph sz="quarter" idx="15"/>
          </p:nvPr>
        </p:nvSpPr>
        <p:spPr>
          <a:xfrm>
            <a:off x="457200" y="1210437"/>
            <a:ext cx="8232775" cy="5349879"/>
          </a:xfrm>
        </p:spPr>
        <p:txBody>
          <a:bodyPr/>
          <a:lstStyle/>
          <a:p>
            <a:r>
              <a:rPr lang="en-US" dirty="0"/>
              <a:t>What </a:t>
            </a:r>
            <a:r>
              <a:rPr lang="en-US" dirty="0" smtClean="0"/>
              <a:t>does our minimum marketable Product consist of?</a:t>
            </a:r>
            <a:endParaRPr lang="en-US" dirty="0"/>
          </a:p>
          <a:p>
            <a:endParaRPr lang="en-US" dirty="0"/>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a:p>
            <a:endParaRPr lang="en-US" sz="1400" b="0" i="1" dirty="0">
              <a:solidFill>
                <a:srgbClr val="0070C0"/>
              </a:solidFill>
            </a:endParaRPr>
          </a:p>
          <a:p>
            <a:endParaRPr lang="en-US" sz="1400" b="0" i="1" dirty="0" smtClean="0">
              <a:solidFill>
                <a:srgbClr val="0070C0"/>
              </a:solidFill>
            </a:endParaRPr>
          </a:p>
        </p:txBody>
      </p:sp>
      <p:graphicFrame>
        <p:nvGraphicFramePr>
          <p:cNvPr id="7" name="Table 6"/>
          <p:cNvGraphicFramePr>
            <a:graphicFrameLocks noGrp="1"/>
          </p:cNvGraphicFramePr>
          <p:nvPr>
            <p:extLst>
              <p:ext uri="{D42A27DB-BD31-4B8C-83A1-F6EECF244321}">
                <p14:modId xmlns:p14="http://schemas.microsoft.com/office/powerpoint/2010/main" xmlns="" val="2157575469"/>
              </p:ext>
            </p:extLst>
          </p:nvPr>
        </p:nvGraphicFramePr>
        <p:xfrm>
          <a:off x="457200" y="1615050"/>
          <a:ext cx="8229600" cy="1483360"/>
        </p:xfrm>
        <a:graphic>
          <a:graphicData uri="http://schemas.openxmlformats.org/drawingml/2006/table">
            <a:tbl>
              <a:tblPr firstRow="1" bandRow="1">
                <a:tableStyleId>{5940675A-B579-460E-94D1-54222C63F5DA}</a:tableStyleId>
              </a:tblPr>
              <a:tblGrid>
                <a:gridCol w="2869809"/>
                <a:gridCol w="3415199"/>
                <a:gridCol w="1944592"/>
              </a:tblGrid>
              <a:tr h="370840">
                <a:tc>
                  <a:txBody>
                    <a:bodyPr/>
                    <a:lstStyle/>
                    <a:p>
                      <a:r>
                        <a:rPr lang="en-US" dirty="0" smtClean="0"/>
                        <a:t>Customer Segment</a:t>
                      </a:r>
                      <a:endParaRPr lang="en-US" dirty="0"/>
                    </a:p>
                  </a:txBody>
                  <a:tcPr>
                    <a:solidFill>
                      <a:schemeClr val="bg1">
                        <a:lumMod val="85000"/>
                      </a:schemeClr>
                    </a:solidFill>
                  </a:tcPr>
                </a:tc>
                <a:tc>
                  <a:txBody>
                    <a:bodyPr/>
                    <a:lstStyle/>
                    <a:p>
                      <a:r>
                        <a:rPr lang="en-US" dirty="0" smtClean="0"/>
                        <a:t>Product Option / Feature</a:t>
                      </a:r>
                      <a:endParaRPr lang="en-US" dirty="0"/>
                    </a:p>
                  </a:txBody>
                  <a:tcPr>
                    <a:solidFill>
                      <a:schemeClr val="bg1">
                        <a:lumMod val="85000"/>
                      </a:schemeClr>
                    </a:solidFill>
                  </a:tcPr>
                </a:tc>
                <a:tc>
                  <a:txBody>
                    <a:bodyPr/>
                    <a:lstStyle/>
                    <a:p>
                      <a:r>
                        <a:rPr lang="en-US" dirty="0" smtClean="0"/>
                        <a:t>Channel</a:t>
                      </a:r>
                      <a:endParaRPr lang="en-US" dirty="0"/>
                    </a:p>
                  </a:txBody>
                  <a:tcPr>
                    <a:solidFill>
                      <a:schemeClr val="bg1">
                        <a:lumMod val="85000"/>
                      </a:schemeClr>
                    </a:solidFill>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xmlns="" val="32640318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5"/>
          </p:nvPr>
        </p:nvSpPr>
        <p:spPr/>
        <p:txBody>
          <a:bodyPr/>
          <a:lstStyle/>
          <a:p>
            <a:endParaRPr lang="en-US"/>
          </a:p>
        </p:txBody>
      </p:sp>
      <p:sp>
        <p:nvSpPr>
          <p:cNvPr id="3" name="Title 2"/>
          <p:cNvSpPr>
            <a:spLocks noGrp="1"/>
          </p:cNvSpPr>
          <p:nvPr>
            <p:ph type="title"/>
          </p:nvPr>
        </p:nvSpPr>
        <p:spPr/>
        <p:txBody>
          <a:bodyPr/>
          <a:lstStyle/>
          <a:p>
            <a:r>
              <a:rPr lang="en-US" dirty="0" smtClean="0"/>
              <a:t>Product Roadmap</a:t>
            </a:r>
            <a:endParaRPr lang="en-US" dirty="0"/>
          </a:p>
        </p:txBody>
      </p:sp>
      <p:sp>
        <p:nvSpPr>
          <p:cNvPr id="4" name="Footer Placeholder 3"/>
          <p:cNvSpPr>
            <a:spLocks noGrp="1"/>
          </p:cNvSpPr>
          <p:nvPr>
            <p:ph type="ftr" sz="quarter" idx="17"/>
          </p:nvPr>
        </p:nvSpPr>
        <p:spPr/>
        <p:txBody>
          <a:bodyPr/>
          <a:lstStyle/>
          <a:p>
            <a:r>
              <a:rPr lang="en-US" smtClean="0"/>
              <a:t>Product Strategy Template v1.1</a:t>
            </a:r>
            <a:endParaRPr lang="en-US" dirty="0"/>
          </a:p>
        </p:txBody>
      </p:sp>
      <p:sp>
        <p:nvSpPr>
          <p:cNvPr id="5" name="Slide Number Placeholder 4"/>
          <p:cNvSpPr>
            <a:spLocks noGrp="1"/>
          </p:cNvSpPr>
          <p:nvPr>
            <p:ph type="sldNum" sz="quarter" idx="18"/>
          </p:nvPr>
        </p:nvSpPr>
        <p:spPr/>
        <p:txBody>
          <a:bodyPr/>
          <a:lstStyle/>
          <a:p>
            <a:fld id="{9E3C471D-FB94-43E4-8DFD-966A05A84658}" type="slidenum">
              <a:rPr lang="en-US" smtClean="0"/>
              <a:pPr/>
              <a:t>20</a:t>
            </a:fld>
            <a:endParaRPr lang="en-US" dirty="0"/>
          </a:p>
        </p:txBody>
      </p:sp>
    </p:spTree>
    <p:extLst>
      <p:ext uri="{BB962C8B-B14F-4D97-AF65-F5344CB8AC3E}">
        <p14:creationId xmlns:p14="http://schemas.microsoft.com/office/powerpoint/2010/main" xmlns="" val="20774772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Authors</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21</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[Name of Product Manager]</a:t>
            </a:r>
          </a:p>
          <a:p>
            <a:pPr lvl="1"/>
            <a:r>
              <a:rPr lang="en-US" dirty="0" smtClean="0"/>
              <a:t>[Name of Product Owner(s)]</a:t>
            </a:r>
          </a:p>
          <a:p>
            <a:pPr lvl="1"/>
            <a:r>
              <a:rPr lang="en-US" dirty="0" smtClean="0"/>
              <a:t>[Name of Architect]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Review History</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22</a:t>
            </a:fld>
            <a:endParaRPr lang="en-US" dirty="0"/>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xmlns="" val="3785031357"/>
              </p:ext>
            </p:extLst>
          </p:nvPr>
        </p:nvGraphicFramePr>
        <p:xfrm>
          <a:off x="457200" y="1184275"/>
          <a:ext cx="8232774" cy="222504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Document created</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[name of activity]</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384313"/>
            <a:ext cx="8242106" cy="561260"/>
          </a:xfrm>
        </p:spPr>
        <p:txBody>
          <a:bodyPr/>
          <a:lstStyle/>
          <a:p>
            <a:r>
              <a:rPr lang="en-US" dirty="0" smtClean="0"/>
              <a:t>Revision History</a:t>
            </a:r>
            <a:endParaRPr lang="en-US" dirty="0"/>
          </a:p>
        </p:txBody>
      </p:sp>
      <p:sp>
        <p:nvSpPr>
          <p:cNvPr id="3" name="Footer Placeholder 2"/>
          <p:cNvSpPr>
            <a:spLocks noGrp="1"/>
          </p:cNvSpPr>
          <p:nvPr>
            <p:ph type="ftr" sz="quarter" idx="17"/>
          </p:nvPr>
        </p:nvSpPr>
        <p:spPr>
          <a:xfrm>
            <a:off x="457200" y="6629951"/>
            <a:ext cx="1772292" cy="128016"/>
          </a:xfrm>
        </p:spPr>
        <p:txBody>
          <a:bodyPr/>
          <a:lstStyle/>
          <a:p>
            <a:r>
              <a:rPr lang="en-US" smtClean="0"/>
              <a:t>Product Strategy Template v1.1</a:t>
            </a:r>
            <a:endParaRPr lang="en-US" dirty="0"/>
          </a:p>
        </p:txBody>
      </p:sp>
      <p:sp>
        <p:nvSpPr>
          <p:cNvPr id="4" name="Slide Number Placeholder 3"/>
          <p:cNvSpPr>
            <a:spLocks noGrp="1"/>
          </p:cNvSpPr>
          <p:nvPr>
            <p:ph type="sldNum" sz="quarter" idx="18"/>
          </p:nvPr>
        </p:nvSpPr>
        <p:spPr>
          <a:xfrm>
            <a:off x="8362950" y="6629950"/>
            <a:ext cx="323850" cy="136525"/>
          </a:xfrm>
        </p:spPr>
        <p:txBody>
          <a:bodyPr/>
          <a:lstStyle/>
          <a:p>
            <a:fld id="{9E3C471D-FB94-43E4-8DFD-966A05A84658}" type="slidenum">
              <a:rPr lang="en-US" smtClean="0"/>
              <a:pPr/>
              <a:t>23</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1.0</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a:t>
                      </a:r>
                      <a:r>
                        <a:rPr lang="en-US" dirty="0" err="1" smtClean="0"/>
                        <a:t>x.y</a:t>
                      </a:r>
                      <a:r>
                        <a:rPr lang="en-US" dirty="0" smtClean="0"/>
                        <a:t>]</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2080E98040C8A40BE7C3359A3321215" ma:contentTypeVersion="0" ma:contentTypeDescription="Create a new document." ma:contentTypeScope="" ma:versionID="4aad4052934079d17fe980d7636dce5d">
  <xsd:schema xmlns:xsd="http://www.w3.org/2001/XMLSchema" xmlns:xs="http://www.w3.org/2001/XMLSchema" xmlns:p="http://schemas.microsoft.com/office/2006/metadata/properties" targetNamespace="http://schemas.microsoft.com/office/2006/metadata/properties" ma:root="true" ma:fieldsID="1a65b0a7b58520b367ade7b35cb8412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90F9BE-6D37-414B-9019-C710513CF3D5}">
  <ds:schemaRefs>
    <ds:schemaRef ds:uri="http://schemas.microsoft.com/sharepoint/v3/contenttype/forms"/>
  </ds:schemaRefs>
</ds:datastoreItem>
</file>

<file path=customXml/itemProps2.xml><?xml version="1.0" encoding="utf-8"?>
<ds:datastoreItem xmlns:ds="http://schemas.openxmlformats.org/officeDocument/2006/customXml" ds:itemID="{E003495A-1ED7-49F4-963B-62F8E3CB1D55}">
  <ds:schemaRefs>
    <ds:schemaRef ds:uri="http://schemas.microsoft.com/office/2006/metadata/properties"/>
  </ds:schemaRefs>
</ds:datastoreItem>
</file>

<file path=customXml/itemProps3.xml><?xml version="1.0" encoding="utf-8"?>
<ds:datastoreItem xmlns:ds="http://schemas.openxmlformats.org/officeDocument/2006/customXml" ds:itemID="{175E4AB7-2FC0-4C0E-A3B7-123594C49F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AA Presentation Template - PHS</Template>
  <TotalTime>89898</TotalTime>
  <Words>1527</Words>
  <Application>Microsoft Office PowerPoint</Application>
  <PresentationFormat>On-screen Show (4:3)</PresentationFormat>
  <Paragraphs>439</Paragraphs>
  <Slides>23</Slides>
  <Notes>17</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AA Presentation Template - PHS</vt:lpstr>
      <vt:lpstr>Product Vision &amp; Strategy</vt:lpstr>
      <vt:lpstr>Product Vision &amp; Strategy</vt:lpstr>
      <vt:lpstr>[Product Name]</vt:lpstr>
      <vt:lpstr>Understanding Customers to Create Product Vision</vt:lpstr>
      <vt:lpstr>Product Partners</vt:lpstr>
      <vt:lpstr>Product Partners</vt:lpstr>
      <vt:lpstr>Product Partners</vt:lpstr>
      <vt:lpstr>Personas</vt:lpstr>
      <vt:lpstr>Product Channels</vt:lpstr>
      <vt:lpstr>Product Channels</vt:lpstr>
      <vt:lpstr>Product Vision</vt:lpstr>
      <vt:lpstr>Product Vision Board</vt:lpstr>
      <vt:lpstr>Strategy to Create Product Roadmap</vt:lpstr>
      <vt:lpstr>Key Product Lifecycle Activities</vt:lpstr>
      <vt:lpstr>Product Needs &amp; Options</vt:lpstr>
      <vt:lpstr>Product Options &amp; Channels</vt:lpstr>
      <vt:lpstr>Revenue Streams</vt:lpstr>
      <vt:lpstr>Key Resources</vt:lpstr>
      <vt:lpstr>Minimum Marketable Product</vt:lpstr>
      <vt:lpstr>Product Roadmap</vt:lpstr>
      <vt:lpstr>Authors</vt:lpstr>
      <vt:lpstr>Review History</vt:lpstr>
      <vt:lpstr>Revision History</vt:lpstr>
    </vt:vector>
  </TitlesOfParts>
  <Company>American Airlines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dc:title>
  <dc:creator>Don Smith</dc:creator>
  <cp:lastModifiedBy>wajahath</cp:lastModifiedBy>
  <cp:revision>1345</cp:revision>
  <cp:lastPrinted>2011-12-16T19:30:10Z</cp:lastPrinted>
  <dcterms:created xsi:type="dcterms:W3CDTF">2011-12-09T18:04:02Z</dcterms:created>
  <dcterms:modified xsi:type="dcterms:W3CDTF">2014-07-17T18:29:12Z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0x01010022080E98040C8A40BE7C3359A3321215</vt:lpwstr>
  </property>
  <property fmtid="{D5CDD505-2E9C-101B-9397-08002B2CF9AE}" pid="3" name="_AdHocReviewCycleID">
    <vt:i4>-1901236953</vt:i4>
  </property>
  <property fmtid="{D5CDD505-2E9C-101B-9397-08002B2CF9AE}" pid="4" name="_NewReviewCycle">
    <vt:lpwstr/>
  </property>
  <property fmtid="{D5CDD505-2E9C-101B-9397-08002B2CF9AE}" pid="5" name="_EmailSubject">
    <vt:lpwstr>Presentation for this morning's meeting</vt:lpwstr>
  </property>
  <property fmtid="{D5CDD505-2E9C-101B-9397-08002B2CF9AE}" pid="6" name="_AuthorEmail">
    <vt:lpwstr>Kris.Wickett@aa.com</vt:lpwstr>
  </property>
  <property fmtid="{D5CDD505-2E9C-101B-9397-08002B2CF9AE}" pid="7" name="_AuthorEmailDisplayName">
    <vt:lpwstr>Wickett, Kris</vt:lpwstr>
  </property>
  <property fmtid="{D5CDD505-2E9C-101B-9397-08002B2CF9AE}" pid="8" name="_PreviousAdHocReviewCycleID">
    <vt:i4>-1847444477</vt:i4>
  </property>
</Properties>
</file>