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4"/>
  </p:sldMasterIdLst>
  <p:notesMasterIdLst>
    <p:notesMasterId r:id="rId24"/>
  </p:notesMasterIdLst>
  <p:handoutMasterIdLst>
    <p:handoutMasterId r:id="rId25"/>
  </p:handoutMasterIdLst>
  <p:sldIdLst>
    <p:sldId id="289" r:id="rId5"/>
    <p:sldId id="290" r:id="rId6"/>
    <p:sldId id="291" r:id="rId7"/>
    <p:sldId id="292" r:id="rId8"/>
    <p:sldId id="293" r:id="rId9"/>
    <p:sldId id="294" r:id="rId10"/>
    <p:sldId id="295" r:id="rId11"/>
    <p:sldId id="262" r:id="rId12"/>
    <p:sldId id="296" r:id="rId13"/>
    <p:sldId id="297" r:id="rId14"/>
    <p:sldId id="298" r:id="rId15"/>
    <p:sldId id="299" r:id="rId16"/>
    <p:sldId id="300" r:id="rId17"/>
    <p:sldId id="301" r:id="rId18"/>
    <p:sldId id="302" r:id="rId19"/>
    <p:sldId id="306" r:id="rId20"/>
    <p:sldId id="303" r:id="rId21"/>
    <p:sldId id="304" r:id="rId22"/>
    <p:sldId id="30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00"/>
    <a:srgbClr val="003E7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26" autoAdjust="0"/>
    <p:restoredTop sz="90783" autoAdjust="0"/>
  </p:normalViewPr>
  <p:slideViewPr>
    <p:cSldViewPr>
      <p:cViewPr varScale="1">
        <p:scale>
          <a:sx n="73" d="100"/>
          <a:sy n="73" d="100"/>
        </p:scale>
        <p:origin x="-142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66F6E7E-AA88-4AF1-97A4-F5616BE409F9}" type="datetimeFigureOut">
              <a:rPr lang="en-US" smtClean="0"/>
              <a:pPr/>
              <a:t>7/17/2014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A39BA5-9F7E-4C63-B3D4-CE80B3E8F109}" type="slidenum">
              <a:rPr lang="en-US" smtClean="0"/>
              <a:pPr/>
              <a:t>‹#›</a:t>
            </a:fld>
            <a:endParaRPr lang="en-US" dirty="0"/>
          </a:p>
        </p:txBody>
      </p:sp>
    </p:spTree>
    <p:extLst>
      <p:ext uri="{BB962C8B-B14F-4D97-AF65-F5344CB8AC3E}">
        <p14:creationId xmlns:p14="http://schemas.microsoft.com/office/powerpoint/2010/main" xmlns="" val="30928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C5FAB5-5E70-4216-8C9D-CDF4ACA69E13}" type="datetimeFigureOut">
              <a:rPr lang="en-US" smtClean="0"/>
              <a:pPr/>
              <a:t>7/17/2014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844A57-9F6E-433A-8503-0DFC02DFA7E0}" type="slidenum">
              <a:rPr lang="en-US" smtClean="0"/>
              <a:pPr/>
              <a:t>‹#›</a:t>
            </a:fld>
            <a:endParaRPr lang="en-US" dirty="0"/>
          </a:p>
        </p:txBody>
      </p:sp>
    </p:spTree>
    <p:extLst>
      <p:ext uri="{BB962C8B-B14F-4D97-AF65-F5344CB8AC3E}">
        <p14:creationId xmlns:p14="http://schemas.microsoft.com/office/powerpoint/2010/main" xmlns="" val="38515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a:t>
            </a:fld>
            <a:endParaRPr lang="en-US" dirty="0"/>
          </a:p>
        </p:txBody>
      </p:sp>
    </p:spTree>
    <p:extLst>
      <p:ext uri="{BB962C8B-B14F-4D97-AF65-F5344CB8AC3E}">
        <p14:creationId xmlns:p14="http://schemas.microsoft.com/office/powerpoint/2010/main" xmlns="" val="2520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2</a:t>
            </a:fld>
            <a:endParaRPr lang="en-US" dirty="0"/>
          </a:p>
        </p:txBody>
      </p:sp>
    </p:spTree>
    <p:extLst>
      <p:ext uri="{BB962C8B-B14F-4D97-AF65-F5344CB8AC3E}">
        <p14:creationId xmlns:p14="http://schemas.microsoft.com/office/powerpoint/2010/main" xmlns="" val="2833197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3</a:t>
            </a:fld>
            <a:endParaRPr lang="en-US" dirty="0"/>
          </a:p>
        </p:txBody>
      </p:sp>
    </p:spTree>
    <p:extLst>
      <p:ext uri="{BB962C8B-B14F-4D97-AF65-F5344CB8AC3E}">
        <p14:creationId xmlns:p14="http://schemas.microsoft.com/office/powerpoint/2010/main" xmlns="" val="3165950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4</a:t>
            </a:fld>
            <a:endParaRPr lang="en-US" dirty="0"/>
          </a:p>
        </p:txBody>
      </p:sp>
    </p:spTree>
    <p:extLst>
      <p:ext uri="{BB962C8B-B14F-4D97-AF65-F5344CB8AC3E}">
        <p14:creationId xmlns:p14="http://schemas.microsoft.com/office/powerpoint/2010/main" xmlns="" val="1374772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5</a:t>
            </a:fld>
            <a:endParaRPr lang="en-US" dirty="0"/>
          </a:p>
        </p:txBody>
      </p:sp>
    </p:spTree>
    <p:extLst>
      <p:ext uri="{BB962C8B-B14F-4D97-AF65-F5344CB8AC3E}">
        <p14:creationId xmlns:p14="http://schemas.microsoft.com/office/powerpoint/2010/main" xmlns="" val="1041956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6</a:t>
            </a:fld>
            <a:endParaRPr lang="en-US" dirty="0"/>
          </a:p>
        </p:txBody>
      </p:sp>
    </p:spTree>
    <p:extLst>
      <p:ext uri="{BB962C8B-B14F-4D97-AF65-F5344CB8AC3E}">
        <p14:creationId xmlns:p14="http://schemas.microsoft.com/office/powerpoint/2010/main" xmlns="" val="4131121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7</a:t>
            </a:fld>
            <a:endParaRPr lang="en-US" dirty="0"/>
          </a:p>
        </p:txBody>
      </p:sp>
    </p:spTree>
    <p:extLst>
      <p:ext uri="{BB962C8B-B14F-4D97-AF65-F5344CB8AC3E}">
        <p14:creationId xmlns:p14="http://schemas.microsoft.com/office/powerpoint/2010/main" xmlns="" val="2700652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a release plan exists for each release,</a:t>
            </a:r>
            <a:r>
              <a:rPr lang="en-US" baseline="0" dirty="0" smtClean="0"/>
              <a:t> the n</a:t>
            </a:r>
            <a:r>
              <a:rPr lang="en-US" dirty="0" smtClean="0"/>
              <a:t>umber the iterations will be for the </a:t>
            </a:r>
            <a:r>
              <a:rPr lang="en-US" baseline="0" dirty="0" smtClean="0"/>
              <a:t>release, so X=first iteration number for this release. </a:t>
            </a:r>
          </a:p>
          <a:p>
            <a:r>
              <a:rPr lang="en-US" baseline="0" dirty="0" smtClean="0"/>
              <a:t>As you begin each iteration, verify the previous iterations details are updated to reflect the iteration outcome and then note the new iterations plan. This document replaces your Project Management plan and will serve as a primary communication vehicle for your project.  The information on this slide can be copied into the Steering Committee Update Template as your project progresses.  </a:t>
            </a:r>
            <a:endParaRPr lang="en-US" b="0" baseline="0" dirty="0" smtClean="0"/>
          </a:p>
          <a:p>
            <a:endParaRPr lang="en-US" baseline="0" dirty="0" smtClean="0"/>
          </a:p>
          <a:p>
            <a:r>
              <a:rPr lang="en-US" baseline="0" dirty="0" smtClean="0"/>
              <a:t>Velocity: Should show values for both planned and actual amounts of work delivered. </a:t>
            </a:r>
          </a:p>
          <a:p>
            <a:r>
              <a:rPr lang="en-US" baseline="0" dirty="0" smtClean="0"/>
              <a:t>Scope: Will show the stories scheduled to be delivered within the iteration.  When updating based on actual results, indicate any user stories that were not completed by formatting the story name in italics.  These stories should then appear again in the iteration where they will be complete. </a:t>
            </a:r>
          </a:p>
          <a:p>
            <a:r>
              <a:rPr lang="en-US" baseline="0" dirty="0" smtClean="0"/>
              <a:t/>
            </a:r>
            <a:br>
              <a:rPr lang="en-US" baseline="0" dirty="0" smtClean="0"/>
            </a:br>
            <a:r>
              <a:rPr lang="en-US" baseline="0" dirty="0" smtClean="0"/>
              <a:t>Issues: Should reflect those issues that were a significant block for the team during the iteration</a:t>
            </a:r>
          </a:p>
          <a:p>
            <a:endParaRPr lang="en-US" baseline="0" dirty="0" smtClean="0"/>
          </a:p>
          <a:p>
            <a:r>
              <a:rPr lang="en-US" baseline="0" dirty="0" smtClean="0"/>
              <a:t>Dependencies: Due within this iteration or having an impact on the iteration whether a give or a get dependency. </a:t>
            </a:r>
          </a:p>
          <a:p>
            <a:endParaRPr lang="en-US" dirty="0" smtClean="0"/>
          </a:p>
        </p:txBody>
      </p:sp>
      <p:sp>
        <p:nvSpPr>
          <p:cNvPr id="4" name="Slide Number Placeholder 3"/>
          <p:cNvSpPr>
            <a:spLocks noGrp="1"/>
          </p:cNvSpPr>
          <p:nvPr>
            <p:ph type="sldNum" sz="quarter" idx="10"/>
          </p:nvPr>
        </p:nvSpPr>
        <p:spPr/>
        <p:txBody>
          <a:bodyPr/>
          <a:lstStyle/>
          <a:p>
            <a:fld id="{42844A57-9F6E-433A-8503-0DFC02DFA7E0}" type="slidenum">
              <a:rPr lang="en-US" smtClean="0"/>
              <a:pPr/>
              <a:t>8</a:t>
            </a:fld>
            <a:endParaRPr lang="en-US" dirty="0"/>
          </a:p>
        </p:txBody>
      </p:sp>
    </p:spTree>
    <p:extLst>
      <p:ext uri="{BB962C8B-B14F-4D97-AF65-F5344CB8AC3E}">
        <p14:creationId xmlns:p14="http://schemas.microsoft.com/office/powerpoint/2010/main" xmlns="" val="2690872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9</a:t>
            </a:fld>
            <a:endParaRPr lang="en-US" dirty="0"/>
          </a:p>
        </p:txBody>
      </p:sp>
    </p:spTree>
    <p:extLst>
      <p:ext uri="{BB962C8B-B14F-4D97-AF65-F5344CB8AC3E}">
        <p14:creationId xmlns:p14="http://schemas.microsoft.com/office/powerpoint/2010/main" xmlns="" val="1552614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10</a:t>
            </a:fld>
            <a:endParaRPr lang="en-US" dirty="0"/>
          </a:p>
        </p:txBody>
      </p:sp>
    </p:spTree>
    <p:extLst>
      <p:ext uri="{BB962C8B-B14F-4D97-AF65-F5344CB8AC3E}">
        <p14:creationId xmlns:p14="http://schemas.microsoft.com/office/powerpoint/2010/main" xmlns="" val="2812247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11</a:t>
            </a:fld>
            <a:endParaRPr lang="en-US" dirty="0"/>
          </a:p>
        </p:txBody>
      </p:sp>
    </p:spTree>
    <p:extLst>
      <p:ext uri="{BB962C8B-B14F-4D97-AF65-F5344CB8AC3E}">
        <p14:creationId xmlns:p14="http://schemas.microsoft.com/office/powerpoint/2010/main" xmlns="" val="2843237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12</a:t>
            </a:fld>
            <a:endParaRPr lang="en-US" dirty="0"/>
          </a:p>
        </p:txBody>
      </p:sp>
    </p:spTree>
    <p:extLst>
      <p:ext uri="{BB962C8B-B14F-4D97-AF65-F5344CB8AC3E}">
        <p14:creationId xmlns:p14="http://schemas.microsoft.com/office/powerpoint/2010/main" xmlns="" val="2459724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13</a:t>
            </a:fld>
            <a:endParaRPr lang="en-US" dirty="0"/>
          </a:p>
        </p:txBody>
      </p:sp>
    </p:spTree>
    <p:extLst>
      <p:ext uri="{BB962C8B-B14F-4D97-AF65-F5344CB8AC3E}">
        <p14:creationId xmlns:p14="http://schemas.microsoft.com/office/powerpoint/2010/main" xmlns="" val="776421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14</a:t>
            </a:fld>
            <a:endParaRPr lang="en-US" dirty="0"/>
          </a:p>
        </p:txBody>
      </p:sp>
    </p:spTree>
    <p:extLst>
      <p:ext uri="{BB962C8B-B14F-4D97-AF65-F5344CB8AC3E}">
        <p14:creationId xmlns:p14="http://schemas.microsoft.com/office/powerpoint/2010/main" xmlns="" val="3413055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15</a:t>
            </a:fld>
            <a:endParaRPr lang="en-US" dirty="0"/>
          </a:p>
        </p:txBody>
      </p:sp>
    </p:spTree>
    <p:extLst>
      <p:ext uri="{BB962C8B-B14F-4D97-AF65-F5344CB8AC3E}">
        <p14:creationId xmlns:p14="http://schemas.microsoft.com/office/powerpoint/2010/main" xmlns="" val="790266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For an explanation of team roles and responsibilities, please refer to the ITPPT page on Jetnet </a:t>
            </a:r>
          </a:p>
          <a:p>
            <a:endParaRPr lang="en-US" dirty="0"/>
          </a:p>
        </p:txBody>
      </p:sp>
      <p:sp>
        <p:nvSpPr>
          <p:cNvPr id="4" name="Slide Number Placeholder 3"/>
          <p:cNvSpPr>
            <a:spLocks noGrp="1"/>
          </p:cNvSpPr>
          <p:nvPr>
            <p:ph type="sldNum" sz="quarter" idx="10"/>
          </p:nvPr>
        </p:nvSpPr>
        <p:spPr/>
        <p:txBody>
          <a:bodyPr/>
          <a:lstStyle/>
          <a:p>
            <a:pPr>
              <a:defRPr/>
            </a:pPr>
            <a:fld id="{AFA99AE7-C9B2-4EBA-8DBB-9A6B6FB0AAE4}" type="slidenum">
              <a:rPr lang="en-US" smtClean="0"/>
              <a:pPr>
                <a:defRPr/>
              </a:pPr>
              <a:t>16</a:t>
            </a:fld>
            <a:endParaRPr lang="en-US" dirty="0"/>
          </a:p>
        </p:txBody>
      </p:sp>
    </p:spTree>
    <p:extLst>
      <p:ext uri="{BB962C8B-B14F-4D97-AF65-F5344CB8AC3E}">
        <p14:creationId xmlns:p14="http://schemas.microsoft.com/office/powerpoint/2010/main" xmlns="" val="1404769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17</a:t>
            </a:fld>
            <a:endParaRPr lang="en-US" dirty="0"/>
          </a:p>
        </p:txBody>
      </p:sp>
    </p:spTree>
    <p:extLst>
      <p:ext uri="{BB962C8B-B14F-4D97-AF65-F5344CB8AC3E}">
        <p14:creationId xmlns:p14="http://schemas.microsoft.com/office/powerpoint/2010/main" xmlns="" val="1543617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18</a:t>
            </a:fld>
            <a:endParaRPr lang="en-US" dirty="0"/>
          </a:p>
        </p:txBody>
      </p:sp>
    </p:spTree>
    <p:extLst>
      <p:ext uri="{BB962C8B-B14F-4D97-AF65-F5344CB8AC3E}">
        <p14:creationId xmlns:p14="http://schemas.microsoft.com/office/powerpoint/2010/main" xmlns="" val="2073024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844A57-9F6E-433A-8503-0DFC02DFA7E0}" type="slidenum">
              <a:rPr lang="en-US" smtClean="0"/>
              <a:pPr/>
              <a:t>19</a:t>
            </a:fld>
            <a:endParaRPr lang="en-US" dirty="0"/>
          </a:p>
        </p:txBody>
      </p:sp>
    </p:spTree>
    <p:extLst>
      <p:ext uri="{BB962C8B-B14F-4D97-AF65-F5344CB8AC3E}">
        <p14:creationId xmlns:p14="http://schemas.microsoft.com/office/powerpoint/2010/main" xmlns="" val="2183403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1027" name="Picture 3" descr="D:\aa_ppt_elements\aa_aa_tm_hrz_1cp_grd_pos.png"/>
          <p:cNvPicPr>
            <a:picLocks noChangeAspect="1" noChangeArrowheads="1"/>
          </p:cNvPicPr>
          <p:nvPr/>
        </p:nvPicPr>
        <p:blipFill>
          <a:blip r:embed="rId2" cstate="print"/>
          <a:srcRect/>
          <a:stretch>
            <a:fillRect/>
          </a:stretch>
        </p:blipFill>
        <p:spPr bwMode="auto">
          <a:xfrm>
            <a:off x="5504688" y="495300"/>
            <a:ext cx="3195302" cy="484632"/>
          </a:xfrm>
          <a:prstGeom prst="rect">
            <a:avLst/>
          </a:prstGeom>
          <a:noFill/>
        </p:spPr>
      </p:pic>
      <p:pic>
        <p:nvPicPr>
          <p:cNvPr id="10" name="Picture 9" descr="aa_clda_PPT_rgb_23g.jpg"/>
          <p:cNvPicPr>
            <a:picLocks noChangeAspect="1"/>
          </p:cNvPicPr>
          <p:nvPr/>
        </p:nvPicPr>
        <p:blipFill>
          <a:blip r:embed="rId3" cstate="print"/>
          <a:stretch>
            <a:fillRect/>
          </a:stretch>
        </p:blipFill>
        <p:spPr bwMode="hidden">
          <a:xfrm>
            <a:off x="0" y="0"/>
            <a:ext cx="9144000" cy="6858000"/>
          </a:xfrm>
          <a:prstGeom prst="rect">
            <a:avLst/>
          </a:prstGeom>
        </p:spPr>
      </p:pic>
      <p:sp>
        <p:nvSpPr>
          <p:cNvPr id="2" name="Title 1"/>
          <p:cNvSpPr>
            <a:spLocks noGrp="1"/>
          </p:cNvSpPr>
          <p:nvPr>
            <p:ph type="ctrTitle" hasCustomPrompt="1"/>
          </p:nvPr>
        </p:nvSpPr>
        <p:spPr>
          <a:xfrm>
            <a:off x="457199" y="2043404"/>
            <a:ext cx="8232775" cy="970384"/>
          </a:xfrm>
        </p:spPr>
        <p:txBody>
          <a:bodyPr anchor="b" anchorCtr="0">
            <a:noAutofit/>
          </a:bodyPr>
          <a:lstStyle>
            <a:lvl1pPr>
              <a:lnSpc>
                <a:spcPts val="3200"/>
              </a:lnSpc>
              <a:defRPr>
                <a:solidFill>
                  <a:schemeClr val="tx2"/>
                </a:solidFill>
              </a:defRPr>
            </a:lvl1pPr>
          </a:lstStyle>
          <a:p>
            <a:r>
              <a:rPr lang="en-US" dirty="0" smtClean="0"/>
              <a:t>Click to edit cover slide title</a:t>
            </a:r>
            <a:endParaRPr lang="en-US" dirty="0"/>
          </a:p>
        </p:txBody>
      </p:sp>
      <p:sp>
        <p:nvSpPr>
          <p:cNvPr id="3" name="Subtitle 2"/>
          <p:cNvSpPr>
            <a:spLocks noGrp="1"/>
          </p:cNvSpPr>
          <p:nvPr>
            <p:ph type="subTitle" idx="1" hasCustomPrompt="1"/>
          </p:nvPr>
        </p:nvSpPr>
        <p:spPr>
          <a:xfrm>
            <a:off x="457199" y="3130422"/>
            <a:ext cx="8232775" cy="914400"/>
          </a:xfrm>
          <a:prstGeom prst="rect">
            <a:avLst/>
          </a:prstGeom>
        </p:spPr>
        <p:txBody>
          <a:bodyPr/>
          <a:lstStyle>
            <a:lvl1pPr marL="0" indent="0" algn="l">
              <a:lnSpc>
                <a:spcPts val="2000"/>
              </a:lnSpc>
              <a:spcBef>
                <a:spcPts val="0"/>
              </a:spcBef>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cover slide subtitle</a:t>
            </a:r>
            <a:endParaRPr lang="en-US" dirty="0"/>
          </a:p>
        </p:txBody>
      </p:sp>
      <p:pic>
        <p:nvPicPr>
          <p:cNvPr id="1026" name="Picture 2" descr="D:\aa_ppt_elements\aa_aa_tm_hrz_rgb_grd_pos.png"/>
          <p:cNvPicPr>
            <a:picLocks noChangeAspect="1" noChangeArrowheads="1"/>
          </p:cNvPicPr>
          <p:nvPr/>
        </p:nvPicPr>
        <p:blipFill>
          <a:blip r:embed="rId4" cstate="print"/>
          <a:srcRect/>
          <a:stretch>
            <a:fillRect/>
          </a:stretch>
        </p:blipFill>
        <p:spPr bwMode="hidden">
          <a:xfrm>
            <a:off x="5504688" y="493776"/>
            <a:ext cx="3195302" cy="484632"/>
          </a:xfrm>
          <a:prstGeom prst="rect">
            <a:avLst/>
          </a:prstGeom>
          <a:noFill/>
        </p:spPr>
      </p:pic>
      <p:pic>
        <p:nvPicPr>
          <p:cNvPr id="12" name="Picture 3" descr="D:\Oneworld_rgb_Logo.png"/>
          <p:cNvPicPr>
            <a:picLocks noChangeAspect="1" noChangeArrowheads="1"/>
          </p:cNvPicPr>
          <p:nvPr/>
        </p:nvPicPr>
        <p:blipFill>
          <a:blip r:embed="rId5" cstate="print"/>
          <a:srcRect/>
          <a:stretch>
            <a:fillRect/>
          </a:stretch>
        </p:blipFill>
        <p:spPr bwMode="auto">
          <a:xfrm>
            <a:off x="8245435" y="6040370"/>
            <a:ext cx="420687" cy="420688"/>
          </a:xfrm>
          <a:prstGeom prst="rect">
            <a:avLst/>
          </a:prstGeom>
          <a:noFill/>
        </p:spPr>
      </p:pic>
    </p:spTree>
    <p:extLst>
      <p:ext uri="{BB962C8B-B14F-4D97-AF65-F5344CB8AC3E}">
        <p14:creationId xmlns:p14="http://schemas.microsoft.com/office/powerpoint/2010/main" xmlns="" val="4236696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text slide title</a:t>
            </a:r>
            <a:endParaRPr lang="en-US" dirty="0"/>
          </a:p>
        </p:txBody>
      </p:sp>
      <p:sp>
        <p:nvSpPr>
          <p:cNvPr id="5" name="Footer Placeholder 4"/>
          <p:cNvSpPr>
            <a:spLocks noGrp="1"/>
          </p:cNvSpPr>
          <p:nvPr>
            <p:ph type="ftr" sz="quarter" idx="11"/>
          </p:nvPr>
        </p:nvSpPr>
        <p:spPr/>
        <p:txBody>
          <a:bodyPr/>
          <a:lstStyle/>
          <a:p>
            <a:r>
              <a:rPr lang="en-US" smtClean="0"/>
              <a:t>Release Template v6.2</a:t>
            </a:r>
            <a:endParaRPr lang="en-US" dirty="0"/>
          </a:p>
        </p:txBody>
      </p:sp>
      <p:sp>
        <p:nvSpPr>
          <p:cNvPr id="6" name="Slide Number Placeholder 5"/>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2" name="Content Placeholder 10"/>
          <p:cNvSpPr>
            <a:spLocks noGrp="1"/>
          </p:cNvSpPr>
          <p:nvPr>
            <p:ph sz="quarter" idx="15"/>
          </p:nvPr>
        </p:nvSpPr>
        <p:spPr>
          <a:xfrm>
            <a:off x="457200" y="1184564"/>
            <a:ext cx="8232775" cy="4958542"/>
          </a:xfrm>
        </p:spPr>
        <p:txBody>
          <a:bodyPr/>
          <a:lstStyle>
            <a:lvl1pPr>
              <a:defRPr sz="2000" b="1"/>
            </a:lvl1pPr>
            <a:lvl2pPr>
              <a:buFont typeface="Wingdings" pitchFamily="2" charset="2"/>
              <a:buChar char="§"/>
              <a:defRPr sz="2000"/>
            </a:lvl2pPr>
            <a:lvl3pPr>
              <a:defRPr sz="1800"/>
            </a:lvl3pPr>
            <a:lvl4pPr>
              <a:buFont typeface="Courier New" pitchFamily="49" charset="0"/>
              <a:buChar char="o"/>
              <a:defRPr sz="1600"/>
            </a:lvl4pPr>
            <a:lvl5pPr>
              <a:buFont typeface="Courier New" pitchFamily="49" charset="0"/>
              <a:buChar char="o"/>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05323070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 Slide">
    <p:spTree>
      <p:nvGrpSpPr>
        <p:cNvPr id="1" name=""/>
        <p:cNvGrpSpPr/>
        <p:nvPr/>
      </p:nvGrpSpPr>
      <p:grpSpPr>
        <a:xfrm>
          <a:off x="0" y="0"/>
          <a:ext cx="0" cy="0"/>
          <a:chOff x="0" y="0"/>
          <a:chExt cx="0" cy="0"/>
        </a:xfrm>
      </p:grpSpPr>
      <p:pic>
        <p:nvPicPr>
          <p:cNvPr id="8" name="Picture 7" descr="aa_pc_PPT_rgb_23c_b.jpg"/>
          <p:cNvPicPr>
            <a:picLocks noChangeAspect="1"/>
          </p:cNvPicPr>
          <p:nvPr userDrawn="1"/>
        </p:nvPicPr>
        <p:blipFill>
          <a:blip r:embed="rId2" cstate="print"/>
          <a:stretch>
            <a:fillRect/>
          </a:stretch>
        </p:blipFill>
        <p:spPr bwMode="hidden">
          <a:xfrm>
            <a:off x="0" y="0"/>
            <a:ext cx="9144000" cy="6858000"/>
          </a:xfrm>
          <a:prstGeom prst="rect">
            <a:avLst/>
          </a:prstGeom>
        </p:spPr>
      </p:pic>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Template v6.2</a:t>
            </a:r>
            <a:endParaRPr lang="en-US" dirty="0"/>
          </a:p>
        </p:txBody>
      </p:sp>
      <p:sp>
        <p:nvSpPr>
          <p:cNvPr id="11" name="Title 1"/>
          <p:cNvSpPr>
            <a:spLocks noGrp="1"/>
          </p:cNvSpPr>
          <p:nvPr>
            <p:ph type="title" hasCustomPrompt="1"/>
          </p:nvPr>
        </p:nvSpPr>
        <p:spPr>
          <a:xfrm>
            <a:off x="447869" y="739492"/>
            <a:ext cx="8242106" cy="1552857"/>
          </a:xfrm>
        </p:spPr>
        <p:txBody>
          <a:bodyPr anchor="t"/>
          <a:lstStyle>
            <a:lvl1pPr>
              <a:defRPr/>
            </a:lvl1pPr>
          </a:lstStyle>
          <a:p>
            <a:r>
              <a:rPr lang="en-US" dirty="0" smtClean="0"/>
              <a:t>Click to edit text slide title</a:t>
            </a:r>
            <a:endParaRPr lang="en-US" dirty="0"/>
          </a:p>
        </p:txBody>
      </p:sp>
    </p:spTree>
    <p:extLst>
      <p:ext uri="{BB962C8B-B14F-4D97-AF65-F5344CB8AC3E}">
        <p14:creationId xmlns:p14="http://schemas.microsoft.com/office/powerpoint/2010/main" xmlns="" val="2804009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A Blue Quotes Divider Slide">
    <p:spTree>
      <p:nvGrpSpPr>
        <p:cNvPr id="1" name=""/>
        <p:cNvGrpSpPr/>
        <p:nvPr/>
      </p:nvGrpSpPr>
      <p:grpSpPr>
        <a:xfrm>
          <a:off x="0" y="0"/>
          <a:ext cx="0" cy="0"/>
          <a:chOff x="0" y="0"/>
          <a:chExt cx="0" cy="0"/>
        </a:xfrm>
      </p:grpSpPr>
      <p:sp>
        <p:nvSpPr>
          <p:cNvPr id="11" name="Rectangle 10"/>
          <p:cNvSpPr/>
          <p:nvPr userDrawn="1"/>
        </p:nvSpPr>
        <p:spPr bwMode="hidden">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Template v6.2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1084221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A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Template v6.2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2272640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A Light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Template v6.2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2042834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A Yellow Green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Template v6.2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834306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A Red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Template v6.2</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xmlns="" val="3618350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thirds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5" name="Content Placeholder 14"/>
          <p:cNvSpPr>
            <a:spLocks noGrp="1"/>
          </p:cNvSpPr>
          <p:nvPr>
            <p:ph sz="quarter" idx="14"/>
          </p:nvPr>
        </p:nvSpPr>
        <p:spPr>
          <a:xfrm>
            <a:off x="5879592" y="1194955"/>
            <a:ext cx="2807208"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5"/>
          </p:nvPr>
        </p:nvSpPr>
        <p:spPr>
          <a:xfrm>
            <a:off x="457200" y="1194956"/>
            <a:ext cx="5157216" cy="488104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Slide Number Placeholder 10"/>
          <p:cNvSpPr>
            <a:spLocks noGrp="1"/>
          </p:cNvSpPr>
          <p:nvPr>
            <p:ph type="sldNum" sz="quarter" idx="17"/>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6" name="Footer Placeholder 15"/>
          <p:cNvSpPr>
            <a:spLocks noGrp="1"/>
          </p:cNvSpPr>
          <p:nvPr>
            <p:ph type="ftr" sz="quarter" idx="18"/>
          </p:nvPr>
        </p:nvSpPr>
        <p:spPr/>
        <p:txBody>
          <a:bodyPr/>
          <a:lstStyle/>
          <a:p>
            <a:r>
              <a:rPr lang="en-US" smtClean="0"/>
              <a:t>Release Template v6.2</a:t>
            </a:r>
            <a:endParaRPr lang="en-US" dirty="0"/>
          </a:p>
        </p:txBody>
      </p:sp>
    </p:spTree>
    <p:extLst>
      <p:ext uri="{BB962C8B-B14F-4D97-AF65-F5344CB8AC3E}">
        <p14:creationId xmlns:p14="http://schemas.microsoft.com/office/powerpoint/2010/main" xmlns="" val="2396354762"/>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third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3" name="Slide Number Placeholder 12"/>
          <p:cNvSpPr>
            <a:spLocks noGrp="1"/>
          </p:cNvSpPr>
          <p:nvPr>
            <p:ph type="sldNum" sz="quarter" idx="11"/>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smtClean="0"/>
              <a:t>Release Template v6.2</a:t>
            </a:r>
            <a:endParaRPr lang="en-US" dirty="0"/>
          </a:p>
        </p:txBody>
      </p:sp>
      <p:sp>
        <p:nvSpPr>
          <p:cNvPr id="15" name="Content Placeholder 14"/>
          <p:cNvSpPr>
            <a:spLocks noGrp="1"/>
          </p:cNvSpPr>
          <p:nvPr>
            <p:ph sz="quarter" idx="13"/>
          </p:nvPr>
        </p:nvSpPr>
        <p:spPr>
          <a:xfrm>
            <a:off x="3529584" y="1184564"/>
            <a:ext cx="5157216" cy="48961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4"/>
          </p:nvPr>
        </p:nvSpPr>
        <p:spPr>
          <a:xfrm>
            <a:off x="457200" y="1174173"/>
            <a:ext cx="2807208" cy="4906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3584163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alf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3" name="Slide Number Placeholder 12"/>
          <p:cNvSpPr>
            <a:spLocks noGrp="1"/>
          </p:cNvSpPr>
          <p:nvPr>
            <p:ph type="sldNum" sz="quarter" idx="11"/>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smtClean="0"/>
              <a:t>Release Template v6.2</a:t>
            </a:r>
            <a:endParaRPr lang="en-US" dirty="0"/>
          </a:p>
        </p:txBody>
      </p:sp>
      <p:sp>
        <p:nvSpPr>
          <p:cNvPr id="15" name="Content Placeholder 14"/>
          <p:cNvSpPr>
            <a:spLocks noGrp="1"/>
          </p:cNvSpPr>
          <p:nvPr>
            <p:ph sz="quarter" idx="15"/>
          </p:nvPr>
        </p:nvSpPr>
        <p:spPr>
          <a:xfrm>
            <a:off x="4718304" y="1205345"/>
            <a:ext cx="3995928" cy="48754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6"/>
          </p:nvPr>
        </p:nvSpPr>
        <p:spPr>
          <a:xfrm>
            <a:off x="457200" y="1194955"/>
            <a:ext cx="3968496"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6272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ple Images with Captions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image with caption slide title</a:t>
            </a:r>
            <a:endParaRPr lang="en-US" dirty="0"/>
          </a:p>
        </p:txBody>
      </p:sp>
      <p:sp>
        <p:nvSpPr>
          <p:cNvPr id="3" name="Content Placeholder 2"/>
          <p:cNvSpPr>
            <a:spLocks noGrp="1"/>
          </p:cNvSpPr>
          <p:nvPr>
            <p:ph sz="half" idx="1"/>
          </p:nvPr>
        </p:nvSpPr>
        <p:spPr bwMode="gray">
          <a:xfrm>
            <a:off x="457199"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5946775"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6" name="Footer Placeholder 5"/>
          <p:cNvSpPr>
            <a:spLocks noGrp="1"/>
          </p:cNvSpPr>
          <p:nvPr>
            <p:ph type="ftr" sz="quarter" idx="11"/>
          </p:nvPr>
        </p:nvSpPr>
        <p:spPr/>
        <p:txBody>
          <a:bodyPr/>
          <a:lstStyle/>
          <a:p>
            <a:r>
              <a:rPr lang="en-US" smtClean="0"/>
              <a:t>Release Template v6.2</a:t>
            </a:r>
            <a:endParaRPr lang="en-US" dirty="0"/>
          </a:p>
        </p:txBody>
      </p:sp>
      <p:sp>
        <p:nvSpPr>
          <p:cNvPr id="7" name="Slide Number Placeholder 6"/>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1" name="Content Placeholder 2"/>
          <p:cNvSpPr>
            <a:spLocks noGrp="1"/>
          </p:cNvSpPr>
          <p:nvPr>
            <p:ph sz="half" idx="13"/>
          </p:nvPr>
        </p:nvSpPr>
        <p:spPr bwMode="gray">
          <a:xfrm>
            <a:off x="3201988"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200400" y="3124200"/>
            <a:ext cx="2743200" cy="777240"/>
          </a:xfrm>
          <a:prstGeom prst="rect">
            <a:avLst/>
          </a:prstGeom>
          <a:solidFill>
            <a:schemeClr val="tx2"/>
          </a:solidFill>
          <a:ln>
            <a:noFill/>
          </a:ln>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200400" y="1730373"/>
            <a:ext cx="2743200" cy="1389888"/>
          </a:xfrm>
          <a:prstGeom prst="rect">
            <a:avLst/>
          </a:prstGeom>
          <a:solidFill>
            <a:schemeClr val="bg1"/>
          </a:solidFill>
          <a:ln>
            <a:noFill/>
          </a:ln>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2004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457200"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5946775"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8" name="Content Placeholder 2"/>
          <p:cNvSpPr>
            <a:spLocks noGrp="1"/>
          </p:cNvSpPr>
          <p:nvPr>
            <p:ph sz="half" idx="20"/>
          </p:nvPr>
        </p:nvSpPr>
        <p:spPr bwMode="gray">
          <a:xfrm>
            <a:off x="457200"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9" name="Content Placeholder 3"/>
          <p:cNvSpPr>
            <a:spLocks noGrp="1"/>
          </p:cNvSpPr>
          <p:nvPr>
            <p:ph sz="half" idx="21"/>
          </p:nvPr>
        </p:nvSpPr>
        <p:spPr bwMode="gray">
          <a:xfrm>
            <a:off x="5946775"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4572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5946775"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2578303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bleed Multiple Images and Callout Slide">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610076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036950" y="2286642"/>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036951" y="0"/>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036951" y="4573284"/>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610076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610076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2031703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7869" y="384313"/>
            <a:ext cx="8242106" cy="561260"/>
          </a:xfrm>
          <a:prstGeom prst="rect">
            <a:avLst/>
          </a:prstGeom>
        </p:spPr>
        <p:txBody>
          <a:bodyPr vert="horz" lIns="0" tIns="0" rIns="0" bIns="0" rtlCol="0" anchor="b" anchorCtr="0">
            <a:noAutofit/>
          </a:bodyPr>
          <a:lstStyle/>
          <a:p>
            <a:r>
              <a:rPr lang="en-US" smtClean="0"/>
              <a:t>Click to edit Master title style</a:t>
            </a:r>
            <a:endParaRPr lang="en-US" dirty="0"/>
          </a:p>
        </p:txBody>
      </p:sp>
      <p:sp>
        <p:nvSpPr>
          <p:cNvPr id="5" name="Footer Placeholder 4"/>
          <p:cNvSpPr>
            <a:spLocks noGrp="1"/>
          </p:cNvSpPr>
          <p:nvPr>
            <p:ph type="ftr" sz="quarter" idx="3"/>
          </p:nvPr>
        </p:nvSpPr>
        <p:spPr>
          <a:xfrm>
            <a:off x="457200" y="6629950"/>
            <a:ext cx="1676400" cy="128017"/>
          </a:xfrm>
          <a:prstGeom prst="rect">
            <a:avLst/>
          </a:prstGeom>
        </p:spPr>
        <p:txBody>
          <a:bodyPr vert="horz" lIns="0" tIns="0" rIns="0" bIns="0" rtlCol="0" anchor="t" anchorCtr="0"/>
          <a:lstStyle>
            <a:lvl1pPr algn="l">
              <a:defRPr sz="800">
                <a:solidFill>
                  <a:schemeClr val="bg2"/>
                </a:solidFill>
              </a:defRPr>
            </a:lvl1pPr>
          </a:lstStyle>
          <a:p>
            <a:r>
              <a:rPr lang="en-US" dirty="0" smtClean="0"/>
              <a:t>Release Template v6.2</a:t>
            </a:r>
            <a:endParaRPr lang="en-US" dirty="0"/>
          </a:p>
        </p:txBody>
      </p:sp>
      <p:sp>
        <p:nvSpPr>
          <p:cNvPr id="6" name="Slide Number Placeholder 5"/>
          <p:cNvSpPr>
            <a:spLocks noGrp="1"/>
          </p:cNvSpPr>
          <p:nvPr>
            <p:ph type="sldNum" sz="quarter" idx="4"/>
          </p:nvPr>
        </p:nvSpPr>
        <p:spPr>
          <a:xfrm>
            <a:off x="8362950" y="6629950"/>
            <a:ext cx="323850" cy="136525"/>
          </a:xfrm>
          <a:prstGeom prst="rect">
            <a:avLst/>
          </a:prstGeom>
        </p:spPr>
        <p:txBody>
          <a:bodyPr vert="horz" lIns="0" tIns="0" rIns="0" bIns="0" rtlCol="0" anchor="t" anchorCtr="0"/>
          <a:lstStyle>
            <a:lvl1pPr algn="r">
              <a:defRPr sz="800">
                <a:solidFill>
                  <a:schemeClr val="bg2"/>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1" name="Text Placeholder 10"/>
          <p:cNvSpPr>
            <a:spLocks noGrp="1"/>
          </p:cNvSpPr>
          <p:nvPr>
            <p:ph type="body" idx="1"/>
          </p:nvPr>
        </p:nvSpPr>
        <p:spPr>
          <a:xfrm>
            <a:off x="457200" y="1184563"/>
            <a:ext cx="8229600" cy="5263647"/>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5613" y="1061674"/>
            <a:ext cx="8232775" cy="1588"/>
          </a:xfrm>
          <a:prstGeom prst="line">
            <a:avLst/>
          </a:prstGeom>
          <a:ln w="6350">
            <a:solidFill>
              <a:srgbClr val="0078D2"/>
            </a:solidFill>
          </a:ln>
        </p:spPr>
        <p:style>
          <a:lnRef idx="1">
            <a:schemeClr val="accent1"/>
          </a:lnRef>
          <a:fillRef idx="0">
            <a:schemeClr val="accent1"/>
          </a:fillRef>
          <a:effectRef idx="0">
            <a:schemeClr val="accent1"/>
          </a:effectRef>
          <a:fontRef idx="minor">
            <a:schemeClr val="tx1"/>
          </a:fontRef>
        </p:style>
      </p:cxnSp>
      <p:sp>
        <p:nvSpPr>
          <p:cNvPr id="10" name="Rectangle 25"/>
          <p:cNvSpPr>
            <a:spLocks noChangeArrowheads="1"/>
          </p:cNvSpPr>
          <p:nvPr userDrawn="1"/>
        </p:nvSpPr>
        <p:spPr bwMode="auto">
          <a:xfrm>
            <a:off x="1841500" y="6565900"/>
            <a:ext cx="5435600" cy="241300"/>
          </a:xfrm>
          <a:prstGeom prst="rect">
            <a:avLst/>
          </a:prstGeom>
          <a:noFill/>
          <a:ln w="9525">
            <a:noFill/>
            <a:miter lim="800000"/>
            <a:headEnd/>
            <a:tailEnd/>
          </a:ln>
          <a:effectLst/>
        </p:spPr>
        <p:txBody>
          <a:bodyPr wrap="none" lIns="92075" tIns="46038" rIns="92075" bIns="46038" anchor="ctr"/>
          <a:lstStyle/>
          <a:p>
            <a:pPr algn="ctr" eaLnBrk="0" fontAlgn="base" hangingPunct="0">
              <a:spcBef>
                <a:spcPct val="0"/>
              </a:spcBef>
              <a:spcAft>
                <a:spcPct val="0"/>
              </a:spcAft>
              <a:defRPr/>
            </a:pPr>
            <a:r>
              <a:rPr lang="en-US" sz="1100" dirty="0">
                <a:solidFill>
                  <a:srgbClr val="7F7F7F"/>
                </a:solidFill>
                <a:latin typeface="Arial" charset="0"/>
              </a:rPr>
              <a:t>American Airlines </a:t>
            </a:r>
            <a:r>
              <a:rPr lang="en-US" sz="1100" dirty="0" smtClean="0">
                <a:effectLst/>
              </a:rPr>
              <a:t>Confidential and Proprietary: Do not copy or distribute</a:t>
            </a:r>
            <a:endParaRPr kumimoji="1" lang="en-US" sz="1100" dirty="0">
              <a:solidFill>
                <a:srgbClr val="7F7F7F"/>
              </a:solidFill>
              <a:latin typeface="Arial" charset="0"/>
            </a:endParaRPr>
          </a:p>
        </p:txBody>
      </p:sp>
    </p:spTree>
    <p:extLst>
      <p:ext uri="{BB962C8B-B14F-4D97-AF65-F5344CB8AC3E}">
        <p14:creationId xmlns:p14="http://schemas.microsoft.com/office/powerpoint/2010/main" xmlns="" val="2373590094"/>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timing>
    <p:tnLst>
      <p:par>
        <p:cTn id="1" dur="indefinite" restart="never" nodeType="tmRoot"/>
      </p:par>
    </p:tnLst>
  </p:timing>
  <p:hf hdr="0" dt="0"/>
  <p:txStyles>
    <p:titleStyle>
      <a:lvl1pPr algn="l" defTabSz="914400" rtl="0" eaLnBrk="1" latinLnBrk="0" hangingPunct="1">
        <a:spcBef>
          <a:spcPct val="0"/>
        </a:spcBef>
        <a:buNone/>
        <a:defRPr sz="2800" kern="1200" baseline="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b="1"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sz="20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8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The Release Plan</a:t>
            </a:r>
            <a:endParaRPr lang="en-US" dirty="0"/>
          </a:p>
        </p:txBody>
      </p:sp>
      <p:sp>
        <p:nvSpPr>
          <p:cNvPr id="7" name="Footer Placeholder 6"/>
          <p:cNvSpPr>
            <a:spLocks noGrp="1"/>
          </p:cNvSpPr>
          <p:nvPr>
            <p:ph type="ftr" sz="quarter" idx="11"/>
          </p:nvPr>
        </p:nvSpPr>
        <p:spPr/>
        <p:txBody>
          <a:bodyPr/>
          <a:lstStyle/>
          <a:p>
            <a:r>
              <a:rPr lang="en-US" smtClean="0"/>
              <a:t>Release Template v6.2</a:t>
            </a:r>
            <a:endParaRPr lang="en-US" dirty="0"/>
          </a:p>
        </p:txBody>
      </p:sp>
      <p:sp>
        <p:nvSpPr>
          <p:cNvPr id="6" name="Slide Number Placeholder 5"/>
          <p:cNvSpPr>
            <a:spLocks noGrp="1"/>
          </p:cNvSpPr>
          <p:nvPr>
            <p:ph type="sldNum" sz="quarter" idx="12"/>
          </p:nvPr>
        </p:nvSpPr>
        <p:spPr/>
        <p:txBody>
          <a:bodyPr/>
          <a:lstStyle/>
          <a:p>
            <a:fld id="{9E3C471D-FB94-43E4-8DFD-966A05A84658}" type="slidenum">
              <a:rPr lang="en-US" smtClean="0"/>
              <a:pPr/>
              <a:t>1</a:t>
            </a:fld>
            <a:endParaRPr lang="en-US" dirty="0"/>
          </a:p>
        </p:txBody>
      </p:sp>
      <p:sp>
        <p:nvSpPr>
          <p:cNvPr id="5" name="Content Placeholder 4"/>
          <p:cNvSpPr>
            <a:spLocks noGrp="1"/>
          </p:cNvSpPr>
          <p:nvPr>
            <p:ph sz="quarter" idx="15"/>
          </p:nvPr>
        </p:nvSpPr>
        <p:spPr/>
        <p:txBody>
          <a:bodyPr/>
          <a:lstStyle/>
          <a:p>
            <a:r>
              <a:rPr lang="en-US" smtClean="0"/>
              <a:t>Introduction</a:t>
            </a:r>
          </a:p>
          <a:p>
            <a:endParaRPr lang="en-US" smtClean="0"/>
          </a:p>
          <a:p>
            <a:pPr lvl="1"/>
            <a:r>
              <a:rPr lang="en-US" smtClean="0"/>
              <a:t>Purpose:</a:t>
            </a:r>
          </a:p>
          <a:p>
            <a:pPr lvl="2"/>
            <a:r>
              <a:rPr lang="en-US" smtClean="0"/>
              <a:t>Provide communication to stakeholders throughout the project cycle as the project team continues to respond to feedback from business/Product Owner</a:t>
            </a:r>
          </a:p>
          <a:p>
            <a:pPr lvl="2"/>
            <a:r>
              <a:rPr lang="en-US" smtClean="0"/>
              <a:t>The goal is to communicate a detailed view of features/functions</a:t>
            </a:r>
          </a:p>
          <a:p>
            <a:pPr lvl="2"/>
            <a:r>
              <a:rPr lang="en-US" smtClean="0"/>
              <a:t>The intent is to maintain a collaborative effort that keeps the process more transparent</a:t>
            </a:r>
          </a:p>
          <a:p>
            <a:pPr lvl="2"/>
            <a:endParaRPr lang="en-US" smtClean="0"/>
          </a:p>
          <a:p>
            <a:pPr lvl="1"/>
            <a:r>
              <a:rPr lang="en-US" smtClean="0"/>
              <a:t>Ownership:</a:t>
            </a:r>
          </a:p>
          <a:p>
            <a:pPr lvl="2"/>
            <a:r>
              <a:rPr lang="en-US" smtClean="0"/>
              <a:t>The Agile Project Lead is responsible for creating and maintaining the Release Plan in collaboration with the project team as the project progresses through completion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Release Plan</a:t>
            </a:r>
            <a:endParaRPr lang="en-US" dirty="0"/>
          </a:p>
        </p:txBody>
      </p:sp>
      <p:sp>
        <p:nvSpPr>
          <p:cNvPr id="5" name="Footer Placeholder 4"/>
          <p:cNvSpPr>
            <a:spLocks noGrp="1"/>
          </p:cNvSpPr>
          <p:nvPr>
            <p:ph type="ftr" sz="quarter" idx="11"/>
          </p:nvPr>
        </p:nvSpPr>
        <p:spPr/>
        <p:txBody>
          <a:bodyPr/>
          <a:lstStyle/>
          <a:p>
            <a:r>
              <a:rPr lang="en-US" smtClean="0"/>
              <a:t>Release Template v6.2</a:t>
            </a:r>
            <a:endParaRPr lang="en-US" dirty="0"/>
          </a:p>
        </p:txBody>
      </p:sp>
      <p:sp>
        <p:nvSpPr>
          <p:cNvPr id="3" name="Slide Number Placeholder 2"/>
          <p:cNvSpPr>
            <a:spLocks noGrp="1"/>
          </p:cNvSpPr>
          <p:nvPr>
            <p:ph type="sldNum" sz="quarter" idx="12"/>
          </p:nvPr>
        </p:nvSpPr>
        <p:spPr/>
        <p:txBody>
          <a:bodyPr/>
          <a:lstStyle/>
          <a:p>
            <a:fld id="{9E3C471D-FB94-43E4-8DFD-966A05A84658}" type="slidenum">
              <a:rPr lang="en-US" smtClean="0"/>
              <a:pPr/>
              <a:t>2</a:t>
            </a:fld>
            <a:endParaRPr lang="en-US" dirty="0"/>
          </a:p>
        </p:txBody>
      </p:sp>
      <p:sp>
        <p:nvSpPr>
          <p:cNvPr id="4" name="Content Placeholder 3"/>
          <p:cNvSpPr>
            <a:spLocks noGrp="1"/>
          </p:cNvSpPr>
          <p:nvPr>
            <p:ph sz="quarter" idx="15"/>
          </p:nvPr>
        </p:nvSpPr>
        <p:spPr/>
        <p:txBody>
          <a:bodyPr/>
          <a:lstStyle/>
          <a:p>
            <a:r>
              <a:rPr lang="en-US" dirty="0" smtClean="0"/>
              <a:t>Maintenance</a:t>
            </a:r>
          </a:p>
          <a:p>
            <a:endParaRPr lang="en-US" dirty="0" smtClean="0"/>
          </a:p>
          <a:p>
            <a:pPr lvl="1"/>
            <a:r>
              <a:rPr lang="en-US" dirty="0" smtClean="0"/>
              <a:t>Start and complete this document during Iteration 0 for the first Release</a:t>
            </a:r>
          </a:p>
          <a:p>
            <a:pPr lvl="1"/>
            <a:endParaRPr lang="en-US" dirty="0" smtClean="0"/>
          </a:p>
          <a:p>
            <a:pPr lvl="1"/>
            <a:r>
              <a:rPr lang="en-US" dirty="0" smtClean="0"/>
              <a:t>Review and update the document after every Iteration planning session, as required</a:t>
            </a:r>
          </a:p>
          <a:p>
            <a:pPr lvl="1"/>
            <a:endParaRPr lang="en-US" dirty="0" smtClean="0"/>
          </a:p>
          <a:p>
            <a:pPr lvl="1"/>
            <a:r>
              <a:rPr lang="en-US" dirty="0" smtClean="0"/>
              <a:t>Changes to the Vision and Roadmap may also be necessary to ensure they remain consistent with this Release Plan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Release Plan</a:t>
            </a:r>
            <a:endParaRPr lang="en-US" dirty="0"/>
          </a:p>
        </p:txBody>
      </p:sp>
      <p:sp>
        <p:nvSpPr>
          <p:cNvPr id="5" name="Footer Placeholder 4"/>
          <p:cNvSpPr>
            <a:spLocks noGrp="1"/>
          </p:cNvSpPr>
          <p:nvPr>
            <p:ph type="ftr" sz="quarter" idx="11"/>
          </p:nvPr>
        </p:nvSpPr>
        <p:spPr/>
        <p:txBody>
          <a:bodyPr/>
          <a:lstStyle/>
          <a:p>
            <a:r>
              <a:rPr lang="en-US" smtClean="0"/>
              <a:t>Release Template v6.2</a:t>
            </a:r>
            <a:endParaRPr lang="en-US" dirty="0"/>
          </a:p>
        </p:txBody>
      </p:sp>
      <p:sp>
        <p:nvSpPr>
          <p:cNvPr id="3" name="Slide Number Placeholder 2"/>
          <p:cNvSpPr>
            <a:spLocks noGrp="1"/>
          </p:cNvSpPr>
          <p:nvPr>
            <p:ph type="sldNum" sz="quarter" idx="12"/>
          </p:nvPr>
        </p:nvSpPr>
        <p:spPr/>
        <p:txBody>
          <a:bodyPr/>
          <a:lstStyle/>
          <a:p>
            <a:fld id="{9E3C471D-FB94-43E4-8DFD-966A05A84658}" type="slidenum">
              <a:rPr lang="en-US" smtClean="0"/>
              <a:pPr/>
              <a:t>3</a:t>
            </a:fld>
            <a:endParaRPr lang="en-US" dirty="0"/>
          </a:p>
        </p:txBody>
      </p:sp>
      <p:sp>
        <p:nvSpPr>
          <p:cNvPr id="4" name="Content Placeholder 3"/>
          <p:cNvSpPr>
            <a:spLocks noGrp="1"/>
          </p:cNvSpPr>
          <p:nvPr>
            <p:ph sz="quarter" idx="15"/>
          </p:nvPr>
        </p:nvSpPr>
        <p:spPr/>
        <p:txBody>
          <a:bodyPr/>
          <a:lstStyle/>
          <a:p>
            <a:r>
              <a:rPr lang="en-US" dirty="0" smtClean="0"/>
              <a:t>Instructions</a:t>
            </a:r>
          </a:p>
          <a:p>
            <a:endParaRPr lang="en-US" dirty="0" smtClean="0"/>
          </a:p>
          <a:p>
            <a:pPr lvl="1"/>
            <a:r>
              <a:rPr lang="en-US" dirty="0" smtClean="0"/>
              <a:t>Create a copy of this template to use as your Release Plan document</a:t>
            </a:r>
          </a:p>
          <a:p>
            <a:pPr lvl="1"/>
            <a:r>
              <a:rPr lang="en-US" dirty="0" smtClean="0"/>
              <a:t>Delete the first three slides: (Introduction, Maintenance, Instructions)</a:t>
            </a:r>
          </a:p>
          <a:p>
            <a:pPr lvl="1"/>
            <a:r>
              <a:rPr lang="en-US" dirty="0" smtClean="0"/>
              <a:t>Replace the [bracketed] items on each page with information from your project</a:t>
            </a:r>
          </a:p>
          <a:p>
            <a:pPr lvl="1"/>
            <a:r>
              <a:rPr lang="en-US" dirty="0" smtClean="0"/>
              <a:t>Include your document version number in the footer</a:t>
            </a:r>
          </a:p>
          <a:p>
            <a:pPr lvl="1"/>
            <a:endParaRPr lang="en-US" dirty="0" smtClean="0"/>
          </a:p>
          <a:p>
            <a:pPr lvl="1"/>
            <a:r>
              <a:rPr lang="en-US" dirty="0" smtClean="0"/>
              <a:t>Additional instructions and guidance can be found in the Notes section of the individual slides. (Optionally, the notes may be deleted to make room for talking points specific to your project)</a:t>
            </a:r>
          </a:p>
          <a:p>
            <a:pPr lvl="1"/>
            <a:endParaRPr lang="en-US" dirty="0" smtClean="0"/>
          </a:p>
          <a:p>
            <a:pPr lvl="1"/>
            <a:r>
              <a:rPr lang="en-US" dirty="0" smtClean="0"/>
              <a:t>When needed, copy and insert a ‘pre-formatted’ slide into the presentation if an additional page is needed to communicate an overflow of information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[Project Name]</a:t>
            </a:r>
            <a:endParaRPr lang="en-US" dirty="0"/>
          </a:p>
        </p:txBody>
      </p:sp>
      <p:sp>
        <p:nvSpPr>
          <p:cNvPr id="6" name="Subtitle 5"/>
          <p:cNvSpPr>
            <a:spLocks noGrp="1"/>
          </p:cNvSpPr>
          <p:nvPr>
            <p:ph type="subTitle" idx="1"/>
          </p:nvPr>
        </p:nvSpPr>
        <p:spPr/>
        <p:txBody>
          <a:bodyPr/>
          <a:lstStyle/>
          <a:p>
            <a:r>
              <a:rPr lang="en-US" dirty="0" smtClean="0"/>
              <a:t>Release [N]</a:t>
            </a:r>
            <a:endParaRPr lang="en-US" dirty="0"/>
          </a:p>
        </p:txBody>
      </p:sp>
      <p:sp>
        <p:nvSpPr>
          <p:cNvPr id="7" name="TextBox 6"/>
          <p:cNvSpPr txBox="1"/>
          <p:nvPr/>
        </p:nvSpPr>
        <p:spPr>
          <a:xfrm>
            <a:off x="228600" y="5486400"/>
            <a:ext cx="4949371" cy="1015663"/>
          </a:xfrm>
          <a:prstGeom prst="rect">
            <a:avLst/>
          </a:prstGeom>
          <a:noFill/>
        </p:spPr>
        <p:txBody>
          <a:bodyPr wrap="square" rtlCol="0">
            <a:spAutoFit/>
          </a:bodyPr>
          <a:lstStyle/>
          <a:p>
            <a:r>
              <a:rPr lang="en-US" sz="2000" dirty="0" smtClean="0">
                <a:solidFill>
                  <a:schemeClr val="bg1"/>
                </a:solidFill>
                <a:latin typeface="+mj-lt"/>
              </a:rPr>
              <a:t>Revision [Major.Minor]</a:t>
            </a:r>
          </a:p>
          <a:p>
            <a:r>
              <a:rPr lang="en-US" sz="2000" dirty="0" smtClean="0">
                <a:solidFill>
                  <a:schemeClr val="bg1"/>
                </a:solidFill>
                <a:latin typeface="+mj-lt"/>
              </a:rPr>
              <a:t>[Date]</a:t>
            </a:r>
          </a:p>
          <a:p>
            <a:r>
              <a:rPr lang="en-US" sz="2000" dirty="0" smtClean="0">
                <a:solidFill>
                  <a:schemeClr val="bg1"/>
                </a:solidFill>
                <a:latin typeface="+mj-lt"/>
              </a:rPr>
              <a:t>[APL Name], Agile Project Lead </a:t>
            </a:r>
            <a:endParaRPr lang="en-US" sz="2000" dirty="0">
              <a:solidFill>
                <a:schemeClr val="bg1"/>
              </a:solidFill>
              <a:latin typeface="+mj-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5</a:t>
            </a:fld>
            <a:endParaRPr lang="en-US" dirty="0"/>
          </a:p>
        </p:txBody>
      </p:sp>
      <p:sp>
        <p:nvSpPr>
          <p:cNvPr id="5" name="Content Placeholder 4"/>
          <p:cNvSpPr>
            <a:spLocks noGrp="1"/>
          </p:cNvSpPr>
          <p:nvPr>
            <p:ph sz="quarter" idx="15"/>
          </p:nvPr>
        </p:nvSpPr>
        <p:spPr/>
        <p:txBody>
          <a:bodyPr/>
          <a:lstStyle/>
          <a:p>
            <a:r>
              <a:rPr lang="en-US" dirty="0" smtClean="0"/>
              <a:t>Projected Scope:</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Timeline</a:t>
            </a:r>
          </a:p>
          <a:p>
            <a:pPr lvl="1"/>
            <a:r>
              <a:rPr lang="en-US" dirty="0" smtClean="0"/>
              <a:t>Release Completion Date: [release date]</a:t>
            </a:r>
          </a:p>
          <a:p>
            <a:pPr lvl="1"/>
            <a:r>
              <a:rPr lang="en-US" dirty="0" smtClean="0"/>
              <a:t>Production Release Date: [prod release date]</a:t>
            </a:r>
          </a:p>
          <a:p>
            <a:pPr lvl="1"/>
            <a:r>
              <a:rPr lang="en-US" dirty="0" smtClean="0"/>
              <a:t>Iteration Length: [number] weeks</a:t>
            </a:r>
            <a:endParaRPr lang="en-US" dirty="0"/>
          </a:p>
        </p:txBody>
      </p:sp>
      <p:graphicFrame>
        <p:nvGraphicFramePr>
          <p:cNvPr id="6" name="Table 5"/>
          <p:cNvGraphicFramePr>
            <a:graphicFrameLocks noGrp="1"/>
          </p:cNvGraphicFramePr>
          <p:nvPr/>
        </p:nvGraphicFramePr>
        <p:xfrm>
          <a:off x="457200" y="1524000"/>
          <a:ext cx="8229600" cy="1483360"/>
        </p:xfrm>
        <a:graphic>
          <a:graphicData uri="http://schemas.openxmlformats.org/drawingml/2006/table">
            <a:tbl>
              <a:tblPr firstRow="1" bandRow="1">
                <a:tableStyleId>{00A15C55-8517-42AA-B614-E9B94910E393}</a:tableStyleId>
              </a:tblPr>
              <a:tblGrid>
                <a:gridCol w="8229600"/>
              </a:tblGrid>
              <a:tr h="370840">
                <a:tc>
                  <a:txBody>
                    <a:bodyPr/>
                    <a:lstStyle/>
                    <a:p>
                      <a:r>
                        <a:rPr lang="en-US" dirty="0" smtClean="0"/>
                        <a:t>Key Features</a:t>
                      </a:r>
                      <a:endParaRPr lang="en-US" dirty="0"/>
                    </a:p>
                  </a:txBody>
                  <a:tcPr/>
                </a:tc>
              </a:tr>
              <a:tr h="370840">
                <a:tc>
                  <a:txBody>
                    <a:bodyPr/>
                    <a:lstStyle/>
                    <a:p>
                      <a:r>
                        <a:rPr lang="en-US" dirty="0" smtClean="0"/>
                        <a:t>[feature]</a:t>
                      </a:r>
                      <a:endParaRPr lang="en-US" dirty="0"/>
                    </a:p>
                  </a:txBody>
                  <a:tcPr/>
                </a:tc>
              </a:tr>
              <a:tr h="370840">
                <a:tc>
                  <a:txBody>
                    <a:bodyPr/>
                    <a:lstStyle/>
                    <a:p>
                      <a:r>
                        <a:rPr lang="en-US" dirty="0" smtClean="0"/>
                        <a:t>[feature]</a:t>
                      </a:r>
                      <a:endParaRPr lang="en-US" dirty="0"/>
                    </a:p>
                  </a:txBody>
                  <a:tcPr/>
                </a:tc>
              </a:tr>
              <a:tr h="370840">
                <a:tc>
                  <a:txBody>
                    <a:bodyPr/>
                    <a:lstStyle/>
                    <a:p>
                      <a:r>
                        <a:rPr lang="en-US" dirty="0" smtClean="0"/>
                        <a:t>[…]</a:t>
                      </a:r>
                      <a:endParaRPr lang="en-US" dirty="0"/>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Readiness Activities</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6</a:t>
            </a:fld>
            <a:endParaRPr lang="en-US" dirty="0"/>
          </a:p>
        </p:txBody>
      </p:sp>
      <p:sp>
        <p:nvSpPr>
          <p:cNvPr id="5" name="Content Placeholder 4"/>
          <p:cNvSpPr>
            <a:spLocks noGrp="1"/>
          </p:cNvSpPr>
          <p:nvPr>
            <p:ph sz="quarter" idx="15"/>
          </p:nvPr>
        </p:nvSpPr>
        <p:spPr/>
        <p:txBody>
          <a:bodyPr/>
          <a:lstStyle/>
          <a:p>
            <a:r>
              <a:rPr lang="en-US" dirty="0" smtClean="0"/>
              <a:t>Key Business project milestones to ensure product success</a:t>
            </a:r>
          </a:p>
          <a:p>
            <a:pPr lvl="1"/>
            <a:endParaRPr lang="en-US" dirty="0" smtClean="0"/>
          </a:p>
          <a:p>
            <a:pPr lvl="1"/>
            <a:r>
              <a:rPr lang="en-US" dirty="0" smtClean="0"/>
              <a:t>[Area One]</a:t>
            </a:r>
          </a:p>
          <a:p>
            <a:pPr lvl="2"/>
            <a:r>
              <a:rPr lang="en-US" dirty="0" smtClean="0"/>
              <a:t>[description]</a:t>
            </a:r>
          </a:p>
          <a:p>
            <a:pPr lvl="2"/>
            <a:r>
              <a:rPr lang="en-US" dirty="0" smtClean="0"/>
              <a:t>[milestone]</a:t>
            </a:r>
          </a:p>
          <a:p>
            <a:pPr lvl="2"/>
            <a:endParaRPr lang="en-US" dirty="0" smtClean="0"/>
          </a:p>
          <a:p>
            <a:pPr lvl="1"/>
            <a:r>
              <a:rPr lang="en-US" dirty="0" smtClean="0"/>
              <a:t>[Area Two]</a:t>
            </a:r>
          </a:p>
          <a:p>
            <a:pPr lvl="2"/>
            <a:r>
              <a:rPr lang="en-US" dirty="0" smtClean="0"/>
              <a:t>[description]</a:t>
            </a:r>
          </a:p>
          <a:p>
            <a:pPr lvl="2"/>
            <a:r>
              <a:rPr lang="en-US" dirty="0" smtClean="0"/>
              <a:t>[milestone]</a:t>
            </a:r>
          </a:p>
          <a:p>
            <a:pPr lvl="2"/>
            <a:endParaRPr lang="en-US" dirty="0" smtClean="0"/>
          </a:p>
          <a:p>
            <a:pPr lvl="1"/>
            <a:r>
              <a:rPr lang="en-US" dirty="0" smtClean="0"/>
              <a:t>[…]</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Case</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7</a:t>
            </a:fld>
            <a:endParaRPr lang="en-US" dirty="0"/>
          </a:p>
        </p:txBody>
      </p:sp>
      <p:sp>
        <p:nvSpPr>
          <p:cNvPr id="5" name="Content Placeholder 4"/>
          <p:cNvSpPr>
            <a:spLocks noGrp="1"/>
          </p:cNvSpPr>
          <p:nvPr>
            <p:ph sz="quarter" idx="15"/>
          </p:nvPr>
        </p:nvSpPr>
        <p:spPr/>
        <p:txBody>
          <a:bodyPr/>
          <a:lstStyle/>
          <a:p>
            <a:r>
              <a:rPr lang="en-US" dirty="0" smtClean="0"/>
              <a:t>The features in this Release will help to realize these business benefits:</a:t>
            </a:r>
          </a:p>
          <a:p>
            <a:endParaRPr lang="en-US" dirty="0" smtClean="0"/>
          </a:p>
          <a:p>
            <a:pPr lvl="1"/>
            <a:r>
              <a:rPr lang="en-US" dirty="0" smtClean="0"/>
              <a:t>Revenue Generation: [details]</a:t>
            </a:r>
          </a:p>
          <a:p>
            <a:pPr lvl="1"/>
            <a:endParaRPr lang="en-US" dirty="0" smtClean="0"/>
          </a:p>
          <a:p>
            <a:pPr lvl="1"/>
            <a:r>
              <a:rPr lang="en-US" dirty="0" smtClean="0"/>
              <a:t>Cost Savings: [details]</a:t>
            </a:r>
          </a:p>
          <a:p>
            <a:pPr lvl="1"/>
            <a:endParaRPr lang="en-US" dirty="0" smtClean="0"/>
          </a:p>
          <a:p>
            <a:pPr lvl="1"/>
            <a:r>
              <a:rPr lang="en-US" dirty="0" smtClean="0"/>
              <a:t>Other Benefits: [details]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Release Delivery Plan: page 1 of [N]</a:t>
            </a:r>
            <a:endParaRPr lang="en-US" dirty="0"/>
          </a:p>
        </p:txBody>
      </p:sp>
      <p:sp>
        <p:nvSpPr>
          <p:cNvPr id="6" name="Footer Placeholder 2"/>
          <p:cNvSpPr>
            <a:spLocks noGrp="1"/>
          </p:cNvSpPr>
          <p:nvPr>
            <p:ph type="ftr" sz="quarter" idx="11"/>
          </p:nvPr>
        </p:nvSpPr>
        <p:spPr/>
        <p:txBody>
          <a:bodyPr/>
          <a:lstStyle/>
          <a:p>
            <a:r>
              <a:rPr lang="en-US" smtClean="0"/>
              <a:t>Release Template v6.2</a:t>
            </a:r>
            <a:endParaRPr lang="en-US" dirty="0"/>
          </a:p>
        </p:txBody>
      </p:sp>
      <p:sp>
        <p:nvSpPr>
          <p:cNvPr id="5" name="Slide Number Placeholder 4"/>
          <p:cNvSpPr>
            <a:spLocks noGrp="1"/>
          </p:cNvSpPr>
          <p:nvPr>
            <p:ph type="sldNum" sz="quarter" idx="12"/>
          </p:nvPr>
        </p:nvSpPr>
        <p:spPr/>
        <p:txBody>
          <a:bodyPr/>
          <a:lstStyle/>
          <a:p>
            <a:fld id="{9E3C471D-FB94-43E4-8DFD-966A05A84658}" type="slidenum">
              <a:rPr lang="en-US" smtClean="0"/>
              <a:pPr/>
              <a:t>8</a:t>
            </a:fld>
            <a:endParaRPr lang="en-US" dirty="0"/>
          </a:p>
        </p:txBody>
      </p:sp>
      <p:graphicFrame>
        <p:nvGraphicFramePr>
          <p:cNvPr id="7" name="Content Placeholder 7"/>
          <p:cNvGraphicFramePr>
            <a:graphicFrameLocks noGrp="1"/>
          </p:cNvGraphicFramePr>
          <p:nvPr>
            <p:ph sz="quarter" idx="15"/>
            <p:extLst>
              <p:ext uri="{D42A27DB-BD31-4B8C-83A1-F6EECF244321}">
                <p14:modId xmlns:p14="http://schemas.microsoft.com/office/powerpoint/2010/main" xmlns="" val="1326572830"/>
              </p:ext>
            </p:extLst>
          </p:nvPr>
        </p:nvGraphicFramePr>
        <p:xfrm>
          <a:off x="457200" y="1184275"/>
          <a:ext cx="8385175" cy="4641924"/>
        </p:xfrm>
        <a:graphic>
          <a:graphicData uri="http://schemas.openxmlformats.org/drawingml/2006/table">
            <a:tbl>
              <a:tblPr/>
              <a:tblGrid>
                <a:gridCol w="2063854"/>
                <a:gridCol w="2093680"/>
                <a:gridCol w="2150905"/>
                <a:gridCol w="2076736"/>
              </a:tblGrid>
              <a:tr h="273225">
                <a:tc rowSpan="2">
                  <a:txBody>
                    <a:bodyPr/>
                    <a:lstStyle/>
                    <a:p>
                      <a:pPr algn="l" fontAlgn="b"/>
                      <a:endParaRPr lang="en-US" sz="1600" b="1" i="1" u="none" strike="noStrike" dirty="0">
                        <a:solidFill>
                          <a:srgbClr val="000000"/>
                        </a:solidFill>
                        <a:latin typeface="+mn-lt"/>
                      </a:endParaRPr>
                    </a:p>
                  </a:txBody>
                  <a:tcPr marL="88208" marR="88208"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[X]</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[X+1]</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 [X+2]</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r>
              <a:tr h="240400">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[mm/dd]</a:t>
                      </a:r>
                      <a:r>
                        <a:rPr lang="en-US" sz="1400" dirty="0" smtClean="0">
                          <a:solidFill>
                            <a:srgbClr val="000000"/>
                          </a:solidFill>
                          <a:latin typeface="+mn-lt"/>
                        </a:rPr>
                        <a:t> – [mm/dd]</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[mm/dd]</a:t>
                      </a:r>
                      <a:r>
                        <a:rPr lang="en-US" sz="1400" dirty="0" smtClean="0">
                          <a:solidFill>
                            <a:srgbClr val="000000"/>
                          </a:solidFill>
                          <a:latin typeface="+mn-lt"/>
                        </a:rPr>
                        <a:t> – [mm/dd]</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[mm/dd]</a:t>
                      </a:r>
                      <a:r>
                        <a:rPr lang="en-US" sz="1400" dirty="0" smtClean="0">
                          <a:solidFill>
                            <a:srgbClr val="000000"/>
                          </a:solidFill>
                          <a:latin typeface="+mn-lt"/>
                        </a:rPr>
                        <a:t> – [mm/dd]</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438875">
                <a:tc>
                  <a:txBody>
                    <a:bodyPr/>
                    <a:lstStyle/>
                    <a:p>
                      <a:pPr algn="r" fontAlgn="ctr"/>
                      <a:r>
                        <a:rPr lang="en-US" sz="1600" b="1" i="0" u="none" strike="noStrike" dirty="0" smtClean="0">
                          <a:solidFill>
                            <a:srgbClr val="000000"/>
                          </a:solidFill>
                          <a:latin typeface="+mn-lt"/>
                        </a:rPr>
                        <a:t>Velocity</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en-US" sz="1200" b="0" i="0" u="none" strike="noStrike" dirty="0" smtClean="0">
                          <a:solidFill>
                            <a:srgbClr val="000000"/>
                          </a:solidFill>
                          <a:latin typeface="+mn-lt"/>
                        </a:rPr>
                        <a:t>[planned</a:t>
                      </a:r>
                      <a:r>
                        <a:rPr lang="en-US" sz="1200" b="0" i="0" u="none" strike="noStrike" baseline="0" dirty="0" smtClean="0">
                          <a:solidFill>
                            <a:srgbClr val="000000"/>
                          </a:solidFill>
                          <a:latin typeface="+mn-lt"/>
                        </a:rPr>
                        <a:t>] points</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latin typeface="+mn-lt"/>
                        </a:rPr>
                        <a:t>[planned</a:t>
                      </a:r>
                      <a:r>
                        <a:rPr lang="en-US" sz="1200" b="0" i="0" u="none" strike="noStrike" baseline="0" dirty="0" smtClean="0">
                          <a:solidFill>
                            <a:srgbClr val="000000"/>
                          </a:solidFill>
                          <a:latin typeface="+mn-lt"/>
                        </a:rPr>
                        <a:t>] points</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latin typeface="+mn-lt"/>
                        </a:rPr>
                        <a:t>[planned</a:t>
                      </a:r>
                      <a:r>
                        <a:rPr lang="en-US" sz="1200" b="0" i="0" u="none" strike="noStrike" baseline="0" dirty="0" smtClean="0">
                          <a:solidFill>
                            <a:srgbClr val="000000"/>
                          </a:solidFill>
                          <a:latin typeface="+mn-lt"/>
                        </a:rPr>
                        <a:t>] points</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16448">
                <a:tc>
                  <a:txBody>
                    <a:bodyPr/>
                    <a:lstStyle/>
                    <a:p>
                      <a:pPr algn="r" fontAlgn="ctr"/>
                      <a:r>
                        <a:rPr lang="en-US" sz="1600" b="1" i="0" u="none" strike="noStrike" dirty="0" smtClean="0">
                          <a:solidFill>
                            <a:srgbClr val="000000"/>
                          </a:solidFill>
                          <a:latin typeface="+mn-lt"/>
                        </a:rPr>
                        <a:t>Scope</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endParaRPr lang="en-US" sz="1000" b="0" i="0" u="none" strike="noStrike" baseline="0" dirty="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1" u="none" strike="noStrike" baseline="0" dirty="0" smtClean="0">
                          <a:solidFill>
                            <a:srgbClr val="000000"/>
                          </a:solidFill>
                          <a:latin typeface="+mn-lt"/>
                        </a:rPr>
                        <a:t>[user story not completed in iteration]</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Issues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Dependencies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Risks</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9</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xmlns="" val="1959987227"/>
              </p:ext>
            </p:extLst>
          </p:nvPr>
        </p:nvGraphicFramePr>
        <p:xfrm>
          <a:off x="457200" y="1397000"/>
          <a:ext cx="8153400" cy="2494280"/>
        </p:xfrm>
        <a:graphic>
          <a:graphicData uri="http://schemas.openxmlformats.org/drawingml/2006/table">
            <a:tbl>
              <a:tblPr firstRow="1" bandRow="1">
                <a:tableStyleId>{00A15C55-8517-42AA-B614-E9B94910E393}</a:tableStyleId>
              </a:tblPr>
              <a:tblGrid>
                <a:gridCol w="2133600"/>
                <a:gridCol w="1143000"/>
                <a:gridCol w="1219200"/>
                <a:gridCol w="1219200"/>
                <a:gridCol w="1219200"/>
                <a:gridCol w="1219200"/>
              </a:tblGrid>
              <a:tr h="370840">
                <a:tc>
                  <a:txBody>
                    <a:bodyPr/>
                    <a:lstStyle/>
                    <a:p>
                      <a:r>
                        <a:rPr lang="en-US" dirty="0" smtClean="0"/>
                        <a:t>Risk</a:t>
                      </a:r>
                      <a:endParaRPr lang="en-US" dirty="0"/>
                    </a:p>
                  </a:txBody>
                  <a:tcPr/>
                </a:tc>
                <a:tc>
                  <a:txBody>
                    <a:bodyPr/>
                    <a:lstStyle/>
                    <a:p>
                      <a:r>
                        <a:rPr lang="en-US" dirty="0" smtClean="0"/>
                        <a:t>Iteration</a:t>
                      </a:r>
                      <a:endParaRPr lang="en-US" dirty="0"/>
                    </a:p>
                  </a:txBody>
                  <a:tcPr/>
                </a:tc>
                <a:tc>
                  <a:txBody>
                    <a:bodyPr/>
                    <a:lstStyle/>
                    <a:p>
                      <a:r>
                        <a:rPr lang="en-US" dirty="0" smtClean="0"/>
                        <a:t>Related</a:t>
                      </a:r>
                      <a:r>
                        <a:rPr lang="en-US" baseline="0" dirty="0" smtClean="0"/>
                        <a:t> Story</a:t>
                      </a:r>
                      <a:endParaRPr lang="en-US" dirty="0"/>
                    </a:p>
                  </a:txBody>
                  <a:tcPr/>
                </a:tc>
                <a:tc>
                  <a:txBody>
                    <a:bodyPr/>
                    <a:lstStyle/>
                    <a:p>
                      <a:r>
                        <a:rPr lang="en-US" dirty="0" smtClean="0"/>
                        <a:t>State</a:t>
                      </a:r>
                      <a:endParaRPr lang="en-US" dirty="0"/>
                    </a:p>
                  </a:txBody>
                  <a:tcPr/>
                </a:tc>
                <a:tc>
                  <a:txBody>
                    <a:bodyPr/>
                    <a:lstStyle/>
                    <a:p>
                      <a:r>
                        <a:rPr lang="en-US" dirty="0" smtClean="0"/>
                        <a:t>Prob</a:t>
                      </a:r>
                      <a:endParaRPr lang="en-US" dirty="0"/>
                    </a:p>
                  </a:txBody>
                  <a:tcPr/>
                </a:tc>
                <a:tc>
                  <a:txBody>
                    <a:bodyPr/>
                    <a:lstStyle/>
                    <a:p>
                      <a:r>
                        <a:rPr lang="en-US" dirty="0" smtClean="0"/>
                        <a:t>Impact</a:t>
                      </a:r>
                      <a:endParaRPr lang="en-US" dirty="0"/>
                    </a:p>
                  </a:txBody>
                  <a:tcPr/>
                </a:tc>
              </a:tr>
              <a:tr h="370840">
                <a:tc>
                  <a:txBody>
                    <a:bodyPr/>
                    <a:lstStyle/>
                    <a:p>
                      <a:r>
                        <a:rPr lang="en-US" dirty="0" smtClean="0"/>
                        <a:t>[risk item]</a:t>
                      </a:r>
                      <a:endParaRPr lang="en-US" dirty="0"/>
                    </a:p>
                  </a:txBody>
                  <a:tcPr/>
                </a:tc>
                <a:tc>
                  <a:txBody>
                    <a:bodyPr/>
                    <a:lstStyle/>
                    <a:p>
                      <a:r>
                        <a:rPr lang="en-US" dirty="0" smtClean="0"/>
                        <a:t>[number]</a:t>
                      </a:r>
                      <a:endParaRPr lang="en-US" dirty="0"/>
                    </a:p>
                  </a:txBody>
                  <a:tcPr/>
                </a:tc>
                <a:tc>
                  <a:txBody>
                    <a:bodyPr/>
                    <a:lstStyle/>
                    <a:p>
                      <a:r>
                        <a:rPr lang="en-US" dirty="0" smtClean="0"/>
                        <a:t>[USxxxx]</a:t>
                      </a:r>
                      <a:endParaRPr lang="en-US" dirty="0"/>
                    </a:p>
                  </a:txBody>
                  <a:tcPr/>
                </a:tc>
                <a:tc>
                  <a:txBody>
                    <a:bodyPr/>
                    <a:lstStyle/>
                    <a:p>
                      <a:r>
                        <a:rPr lang="en-US" dirty="0" smtClean="0"/>
                        <a:t>[value]</a:t>
                      </a:r>
                      <a:endParaRPr lang="en-US" dirty="0"/>
                    </a:p>
                  </a:txBody>
                  <a:tcPr/>
                </a:tc>
                <a:tc>
                  <a:txBody>
                    <a:bodyPr/>
                    <a:lstStyle/>
                    <a:p>
                      <a:r>
                        <a:rPr lang="en-US" dirty="0" smtClean="0"/>
                        <a:t>[value]</a:t>
                      </a:r>
                      <a:endParaRPr lang="en-US" dirty="0"/>
                    </a:p>
                  </a:txBody>
                  <a:tcPr/>
                </a:tc>
                <a:tc>
                  <a:txBody>
                    <a:bodyPr/>
                    <a:lstStyle/>
                    <a:p>
                      <a:r>
                        <a:rPr lang="en-US" dirty="0" smtClean="0"/>
                        <a:t>[value]</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Dependencies</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10</a:t>
            </a:fld>
            <a:endParaRPr lang="en-US" dirty="0"/>
          </a:p>
        </p:txBody>
      </p:sp>
      <p:sp>
        <p:nvSpPr>
          <p:cNvPr id="5" name="Content Placeholder 4"/>
          <p:cNvSpPr>
            <a:spLocks noGrp="1"/>
          </p:cNvSpPr>
          <p:nvPr>
            <p:ph sz="quarter" idx="15"/>
          </p:nvPr>
        </p:nvSpPr>
        <p:spPr/>
        <p:txBody>
          <a:bodyPr/>
          <a:lstStyle/>
          <a:p>
            <a:r>
              <a:rPr lang="en-US" dirty="0" smtClean="0"/>
              <a:t>Gets</a:t>
            </a:r>
          </a:p>
        </p:txBody>
      </p:sp>
      <p:graphicFrame>
        <p:nvGraphicFramePr>
          <p:cNvPr id="6" name="Table 5"/>
          <p:cNvGraphicFramePr>
            <a:graphicFrameLocks noGrp="1"/>
          </p:cNvGraphicFramePr>
          <p:nvPr/>
        </p:nvGraphicFramePr>
        <p:xfrm>
          <a:off x="457200" y="1524000"/>
          <a:ext cx="8229600" cy="4058920"/>
        </p:xfrm>
        <a:graphic>
          <a:graphicData uri="http://schemas.openxmlformats.org/drawingml/2006/table">
            <a:tbl>
              <a:tblPr firstRow="1" bandRow="1">
                <a:tableStyleId>{00A15C55-8517-42AA-B614-E9B94910E393}</a:tableStyleId>
              </a:tblPr>
              <a:tblGrid>
                <a:gridCol w="1645920"/>
                <a:gridCol w="1645920"/>
                <a:gridCol w="1645920"/>
                <a:gridCol w="1645920"/>
                <a:gridCol w="1645920"/>
              </a:tblGrid>
              <a:tr h="370840">
                <a:tc>
                  <a:txBody>
                    <a:bodyPr/>
                    <a:lstStyle/>
                    <a:p>
                      <a:r>
                        <a:rPr lang="en-US" dirty="0" smtClean="0"/>
                        <a:t>Item</a:t>
                      </a:r>
                      <a:endParaRPr lang="en-US" dirty="0"/>
                    </a:p>
                  </a:txBody>
                  <a:tcPr/>
                </a:tc>
                <a:tc>
                  <a:txBody>
                    <a:bodyPr/>
                    <a:lstStyle/>
                    <a:p>
                      <a:r>
                        <a:rPr lang="en-US" dirty="0" smtClean="0"/>
                        <a:t>From</a:t>
                      </a:r>
                      <a:endParaRPr lang="en-US" dirty="0"/>
                    </a:p>
                  </a:txBody>
                  <a:tcPr/>
                </a:tc>
                <a:tc>
                  <a:txBody>
                    <a:bodyPr/>
                    <a:lstStyle/>
                    <a:p>
                      <a:r>
                        <a:rPr lang="en-US" dirty="0" smtClean="0"/>
                        <a:t>Iteration</a:t>
                      </a:r>
                      <a:endParaRPr lang="en-US" dirty="0"/>
                    </a:p>
                  </a:txBody>
                  <a:tcPr/>
                </a:tc>
                <a:tc>
                  <a:txBody>
                    <a:bodyPr/>
                    <a:lstStyle/>
                    <a:p>
                      <a:r>
                        <a:rPr lang="en-US" dirty="0" smtClean="0"/>
                        <a:t>Story</a:t>
                      </a:r>
                      <a:endParaRPr lang="en-US" dirty="0"/>
                    </a:p>
                  </a:txBody>
                  <a:tcPr/>
                </a:tc>
                <a:tc>
                  <a:txBody>
                    <a:bodyPr/>
                    <a:lstStyle/>
                    <a:p>
                      <a:r>
                        <a:rPr lang="en-US" dirty="0" smtClean="0"/>
                        <a:t>Notes</a:t>
                      </a:r>
                      <a:endParaRPr lang="en-US" dirty="0"/>
                    </a:p>
                  </a:txBody>
                  <a:tcPr/>
                </a:tc>
              </a:tr>
              <a:tr h="370840">
                <a:tc>
                  <a:txBody>
                    <a:bodyPr/>
                    <a:lstStyle/>
                    <a:p>
                      <a:r>
                        <a:rPr lang="en-US" dirty="0" smtClean="0"/>
                        <a:t>[item</a:t>
                      </a:r>
                      <a:r>
                        <a:rPr lang="en-US" baseline="0" dirty="0" smtClean="0"/>
                        <a:t> name]</a:t>
                      </a:r>
                      <a:endParaRPr lang="en-US" dirty="0"/>
                    </a:p>
                  </a:txBody>
                  <a:tcPr/>
                </a:tc>
                <a:tc>
                  <a:txBody>
                    <a:bodyPr/>
                    <a:lstStyle/>
                    <a:p>
                      <a:r>
                        <a:rPr lang="en-US" dirty="0" smtClean="0"/>
                        <a:t>[name of source, may be a team, system, or</a:t>
                      </a:r>
                      <a:r>
                        <a:rPr lang="en-US" baseline="0" dirty="0" smtClean="0"/>
                        <a:t> vendor]</a:t>
                      </a:r>
                      <a:endParaRPr lang="en-US" dirty="0"/>
                    </a:p>
                  </a:txBody>
                  <a:tcPr/>
                </a:tc>
                <a:tc>
                  <a:txBody>
                    <a:bodyPr/>
                    <a:lstStyle/>
                    <a:p>
                      <a:r>
                        <a:rPr lang="en-US" dirty="0" smtClean="0"/>
                        <a:t>[iteration when item will be receive]</a:t>
                      </a:r>
                      <a:endParaRPr lang="en-US" dirty="0"/>
                    </a:p>
                  </a:txBody>
                  <a:tcPr/>
                </a:tc>
                <a:tc>
                  <a:txBody>
                    <a:bodyPr/>
                    <a:lstStyle/>
                    <a:p>
                      <a:r>
                        <a:rPr lang="en-US" dirty="0" smtClean="0"/>
                        <a:t>[related user</a:t>
                      </a:r>
                      <a:r>
                        <a:rPr lang="en-US" baseline="0" dirty="0" smtClean="0"/>
                        <a:t> story/stories]</a:t>
                      </a:r>
                      <a:endParaRPr lang="en-US" dirty="0"/>
                    </a:p>
                  </a:txBody>
                  <a:tcPr/>
                </a:tc>
                <a:tc>
                  <a:txBody>
                    <a:bodyPr/>
                    <a:lstStyle/>
                    <a:p>
                      <a:r>
                        <a:rPr lang="en-US" dirty="0" smtClean="0"/>
                        <a:t>[notes]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Dependencies</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11</a:t>
            </a:fld>
            <a:endParaRPr lang="en-US" dirty="0"/>
          </a:p>
        </p:txBody>
      </p:sp>
      <p:sp>
        <p:nvSpPr>
          <p:cNvPr id="5" name="Content Placeholder 4"/>
          <p:cNvSpPr>
            <a:spLocks noGrp="1"/>
          </p:cNvSpPr>
          <p:nvPr>
            <p:ph sz="quarter" idx="15"/>
          </p:nvPr>
        </p:nvSpPr>
        <p:spPr/>
        <p:txBody>
          <a:bodyPr/>
          <a:lstStyle/>
          <a:p>
            <a:r>
              <a:rPr lang="en-US" dirty="0" smtClean="0"/>
              <a:t>Gives</a:t>
            </a:r>
          </a:p>
        </p:txBody>
      </p:sp>
      <p:graphicFrame>
        <p:nvGraphicFramePr>
          <p:cNvPr id="6" name="Table 5"/>
          <p:cNvGraphicFramePr>
            <a:graphicFrameLocks noGrp="1"/>
          </p:cNvGraphicFramePr>
          <p:nvPr>
            <p:extLst>
              <p:ext uri="{D42A27DB-BD31-4B8C-83A1-F6EECF244321}">
                <p14:modId xmlns:p14="http://schemas.microsoft.com/office/powerpoint/2010/main" xmlns="" val="460960909"/>
              </p:ext>
            </p:extLst>
          </p:nvPr>
        </p:nvGraphicFramePr>
        <p:xfrm>
          <a:off x="457200" y="1524000"/>
          <a:ext cx="8229600" cy="3688080"/>
        </p:xfrm>
        <a:graphic>
          <a:graphicData uri="http://schemas.openxmlformats.org/drawingml/2006/table">
            <a:tbl>
              <a:tblPr firstRow="1" bandRow="1">
                <a:tableStyleId>{00A15C55-8517-42AA-B614-E9B94910E393}</a:tableStyleId>
              </a:tblPr>
              <a:tblGrid>
                <a:gridCol w="1645920"/>
                <a:gridCol w="1645920"/>
                <a:gridCol w="1645920"/>
                <a:gridCol w="1645920"/>
                <a:gridCol w="1645920"/>
              </a:tblGrid>
              <a:tr h="370840">
                <a:tc>
                  <a:txBody>
                    <a:bodyPr/>
                    <a:lstStyle/>
                    <a:p>
                      <a:r>
                        <a:rPr lang="en-US" dirty="0" smtClean="0"/>
                        <a:t>Item</a:t>
                      </a:r>
                      <a:endParaRPr lang="en-US" dirty="0"/>
                    </a:p>
                  </a:txBody>
                  <a:tcPr/>
                </a:tc>
                <a:tc>
                  <a:txBody>
                    <a:bodyPr/>
                    <a:lstStyle/>
                    <a:p>
                      <a:r>
                        <a:rPr lang="en-US" dirty="0" smtClean="0"/>
                        <a:t>To</a:t>
                      </a:r>
                      <a:endParaRPr lang="en-US" dirty="0"/>
                    </a:p>
                  </a:txBody>
                  <a:tcPr/>
                </a:tc>
                <a:tc>
                  <a:txBody>
                    <a:bodyPr/>
                    <a:lstStyle/>
                    <a:p>
                      <a:r>
                        <a:rPr lang="en-US" dirty="0" smtClean="0"/>
                        <a:t>Iteration</a:t>
                      </a:r>
                      <a:endParaRPr lang="en-US" dirty="0"/>
                    </a:p>
                  </a:txBody>
                  <a:tcPr/>
                </a:tc>
                <a:tc>
                  <a:txBody>
                    <a:bodyPr/>
                    <a:lstStyle/>
                    <a:p>
                      <a:r>
                        <a:rPr lang="en-US" dirty="0" smtClean="0"/>
                        <a:t>Story</a:t>
                      </a:r>
                      <a:endParaRPr lang="en-US" dirty="0"/>
                    </a:p>
                  </a:txBody>
                  <a:tcPr/>
                </a:tc>
                <a:tc>
                  <a:txBody>
                    <a:bodyPr/>
                    <a:lstStyle/>
                    <a:p>
                      <a:r>
                        <a:rPr lang="en-US" dirty="0" smtClean="0"/>
                        <a:t>Notes</a:t>
                      </a:r>
                      <a:endParaRPr lang="en-US" dirty="0"/>
                    </a:p>
                  </a:txBody>
                  <a:tcPr/>
                </a:tc>
              </a:tr>
              <a:tr h="370840">
                <a:tc>
                  <a:txBody>
                    <a:bodyPr/>
                    <a:lstStyle/>
                    <a:p>
                      <a:r>
                        <a:rPr lang="en-US" dirty="0" smtClean="0"/>
                        <a:t>[item</a:t>
                      </a:r>
                      <a:r>
                        <a:rPr lang="en-US" baseline="0" dirty="0" smtClean="0"/>
                        <a:t> name]</a:t>
                      </a:r>
                      <a:endParaRPr lang="en-US" dirty="0"/>
                    </a:p>
                  </a:txBody>
                  <a:tcPr/>
                </a:tc>
                <a:tc>
                  <a:txBody>
                    <a:bodyPr/>
                    <a:lstStyle/>
                    <a:p>
                      <a:r>
                        <a:rPr lang="en-US" dirty="0" smtClean="0"/>
                        <a:t>[name of destination, may be a team, system, or</a:t>
                      </a:r>
                      <a:r>
                        <a:rPr lang="en-US" baseline="0" dirty="0" smtClean="0"/>
                        <a:t> vendor]</a:t>
                      </a:r>
                      <a:endParaRPr lang="en-US" dirty="0"/>
                    </a:p>
                  </a:txBody>
                  <a:tcPr/>
                </a:tc>
                <a:tc>
                  <a:txBody>
                    <a:bodyPr/>
                    <a:lstStyle/>
                    <a:p>
                      <a:r>
                        <a:rPr lang="en-US" dirty="0" smtClean="0"/>
                        <a:t>[iteration when item will be delivered]</a:t>
                      </a:r>
                      <a:endParaRPr lang="en-US" dirty="0"/>
                    </a:p>
                  </a:txBody>
                  <a:tcPr/>
                </a:tc>
                <a:tc>
                  <a:txBody>
                    <a:bodyPr/>
                    <a:lstStyle/>
                    <a:p>
                      <a:r>
                        <a:rPr lang="en-US" dirty="0" smtClean="0"/>
                        <a:t>[related user</a:t>
                      </a:r>
                      <a:r>
                        <a:rPr lang="en-US" baseline="0" dirty="0" smtClean="0"/>
                        <a:t> story/stories]</a:t>
                      </a:r>
                      <a:endParaRPr lang="en-US" dirty="0"/>
                    </a:p>
                  </a:txBody>
                  <a:tcPr/>
                </a:tc>
                <a:tc>
                  <a:txBody>
                    <a:bodyPr/>
                    <a:lstStyle/>
                    <a:p>
                      <a:r>
                        <a:rPr lang="en-US" dirty="0" smtClean="0"/>
                        <a:t>[notes]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Management</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12</a:t>
            </a:fld>
            <a:endParaRPr lang="en-US" dirty="0"/>
          </a:p>
        </p:txBody>
      </p:sp>
      <p:graphicFrame>
        <p:nvGraphicFramePr>
          <p:cNvPr id="6" name="Table 5"/>
          <p:cNvGraphicFramePr>
            <a:graphicFrameLocks noGrp="1"/>
          </p:cNvGraphicFramePr>
          <p:nvPr/>
        </p:nvGraphicFramePr>
        <p:xfrm>
          <a:off x="457200" y="1397000"/>
          <a:ext cx="8229600" cy="3708400"/>
        </p:xfrm>
        <a:graphic>
          <a:graphicData uri="http://schemas.openxmlformats.org/drawingml/2006/table">
            <a:tbl>
              <a:tblPr firstRow="1" bandRow="1">
                <a:tableStyleId>{00A15C55-8517-42AA-B614-E9B94910E393}</a:tableStyleId>
              </a:tblPr>
              <a:tblGrid>
                <a:gridCol w="2743200"/>
                <a:gridCol w="2743200"/>
                <a:gridCol w="2743200"/>
              </a:tblGrid>
              <a:tr h="370840">
                <a:tc>
                  <a:txBody>
                    <a:bodyPr/>
                    <a:lstStyle/>
                    <a:p>
                      <a:r>
                        <a:rPr lang="en-US" dirty="0" smtClean="0"/>
                        <a:t>Issue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[issue]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Management</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13</a:t>
            </a:fld>
            <a:endParaRPr lang="en-US" dirty="0"/>
          </a:p>
        </p:txBody>
      </p:sp>
      <p:graphicFrame>
        <p:nvGraphicFramePr>
          <p:cNvPr id="6" name="Table 5"/>
          <p:cNvGraphicFramePr>
            <a:graphicFrameLocks noGrp="1"/>
          </p:cNvGraphicFramePr>
          <p:nvPr/>
        </p:nvGraphicFramePr>
        <p:xfrm>
          <a:off x="457200" y="1397000"/>
          <a:ext cx="8229600" cy="3708400"/>
        </p:xfrm>
        <a:graphic>
          <a:graphicData uri="http://schemas.openxmlformats.org/drawingml/2006/table">
            <a:tbl>
              <a:tblPr firstRow="1" bandRow="1">
                <a:tableStyleId>{00A15C55-8517-42AA-B614-E9B94910E393}</a:tableStyleId>
              </a:tblPr>
              <a:tblGrid>
                <a:gridCol w="2743200"/>
                <a:gridCol w="2743200"/>
                <a:gridCol w="2743200"/>
              </a:tblGrid>
              <a:tr h="370840">
                <a:tc>
                  <a:txBody>
                    <a:bodyPr/>
                    <a:lstStyle/>
                    <a:p>
                      <a:r>
                        <a:rPr lang="en-US" dirty="0" smtClean="0"/>
                        <a:t>Change Request</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[change]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Governance and Escalation</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14</a:t>
            </a:fld>
            <a:endParaRPr lang="en-US" dirty="0"/>
          </a:p>
        </p:txBody>
      </p:sp>
      <p:sp>
        <p:nvSpPr>
          <p:cNvPr id="5" name="Content Placeholder 4"/>
          <p:cNvSpPr>
            <a:spLocks noGrp="1"/>
          </p:cNvSpPr>
          <p:nvPr>
            <p:ph sz="quarter" idx="15"/>
          </p:nvPr>
        </p:nvSpPr>
        <p:spPr/>
        <p:txBody>
          <a:bodyPr/>
          <a:lstStyle/>
          <a:p>
            <a:r>
              <a:rPr lang="en-US" dirty="0" smtClean="0"/>
              <a:t>Project Decisions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Product Decisions</a:t>
            </a:r>
            <a:endParaRPr lang="en-US" dirty="0"/>
          </a:p>
        </p:txBody>
      </p:sp>
      <p:graphicFrame>
        <p:nvGraphicFramePr>
          <p:cNvPr id="6" name="Table 5"/>
          <p:cNvGraphicFramePr>
            <a:graphicFrameLocks noGrp="1"/>
          </p:cNvGraphicFramePr>
          <p:nvPr/>
        </p:nvGraphicFramePr>
        <p:xfrm>
          <a:off x="457200" y="1524000"/>
          <a:ext cx="8153400" cy="2026920"/>
        </p:xfrm>
        <a:graphic>
          <a:graphicData uri="http://schemas.openxmlformats.org/drawingml/2006/table">
            <a:tbl>
              <a:tblPr firstRow="1" bandRow="1">
                <a:tableStyleId>{00A15C55-8517-42AA-B614-E9B94910E393}</a:tableStyleId>
              </a:tblPr>
              <a:tblGrid>
                <a:gridCol w="2038350"/>
                <a:gridCol w="1162050"/>
                <a:gridCol w="2286000"/>
                <a:gridCol w="2667000"/>
              </a:tblGrid>
              <a:tr h="370840">
                <a:tc>
                  <a:txBody>
                    <a:bodyPr/>
                    <a:lstStyle/>
                    <a:p>
                      <a:r>
                        <a:rPr lang="en-US" dirty="0" smtClean="0"/>
                        <a:t>Escalation Level</a:t>
                      </a:r>
                      <a:endParaRPr lang="en-US" dirty="0"/>
                    </a:p>
                  </a:txBody>
                  <a:tcPr/>
                </a:tc>
                <a:tc>
                  <a:txBody>
                    <a:bodyPr/>
                    <a:lstStyle/>
                    <a:p>
                      <a:r>
                        <a:rPr lang="en-US" dirty="0" smtClean="0"/>
                        <a:t>Time</a:t>
                      </a:r>
                      <a:endParaRPr lang="en-US" dirty="0"/>
                    </a:p>
                  </a:txBody>
                  <a:tcPr/>
                </a:tc>
                <a:tc>
                  <a:txBody>
                    <a:bodyPr/>
                    <a:lstStyle/>
                    <a:p>
                      <a:r>
                        <a:rPr lang="en-US" dirty="0" smtClean="0"/>
                        <a:t>Names</a:t>
                      </a:r>
                      <a:endParaRPr lang="en-US" dirty="0"/>
                    </a:p>
                  </a:txBody>
                  <a:tcPr/>
                </a:tc>
                <a:tc>
                  <a:txBody>
                    <a:bodyPr/>
                    <a:lstStyle/>
                    <a:p>
                      <a:r>
                        <a:rPr lang="en-US" dirty="0" smtClean="0"/>
                        <a:t>Role</a:t>
                      </a:r>
                      <a:endParaRPr lang="en-US" dirty="0"/>
                    </a:p>
                  </a:txBody>
                  <a:tcPr/>
                </a:tc>
              </a:tr>
              <a:tr h="370840">
                <a:tc>
                  <a:txBody>
                    <a:bodyPr/>
                    <a:lstStyle/>
                    <a:p>
                      <a:r>
                        <a:rPr lang="en-US" dirty="0" smtClean="0"/>
                        <a:t>Level</a:t>
                      </a:r>
                      <a:r>
                        <a:rPr lang="en-US" baseline="0" dirty="0" smtClean="0"/>
                        <a:t> One</a:t>
                      </a:r>
                      <a:endParaRPr lang="en-US" dirty="0"/>
                    </a:p>
                  </a:txBody>
                  <a:tcPr/>
                </a:tc>
                <a:tc>
                  <a:txBody>
                    <a:bodyPr/>
                    <a:lstStyle/>
                    <a:p>
                      <a:r>
                        <a:rPr lang="en-US" dirty="0" smtClean="0"/>
                        <a:t>[#]</a:t>
                      </a:r>
                      <a:r>
                        <a:rPr lang="en-US" baseline="0" dirty="0" smtClean="0"/>
                        <a:t> Day</a:t>
                      </a:r>
                      <a:endParaRPr lang="en-US" dirty="0"/>
                    </a:p>
                  </a:txBody>
                  <a:tcPr/>
                </a:tc>
                <a:tc>
                  <a:txBody>
                    <a:bodyPr/>
                    <a:lstStyle/>
                    <a:p>
                      <a:r>
                        <a:rPr lang="en-US" dirty="0" smtClean="0"/>
                        <a:t>[name]</a:t>
                      </a:r>
                      <a:endParaRPr lang="en-US" dirty="0"/>
                    </a:p>
                  </a:txBody>
                  <a:tcPr/>
                </a:tc>
                <a:tc>
                  <a:txBody>
                    <a:bodyPr/>
                    <a:lstStyle/>
                    <a:p>
                      <a:r>
                        <a:rPr lang="en-US" dirty="0" smtClean="0"/>
                        <a:t>[Agile Project Lead]</a:t>
                      </a:r>
                      <a:endParaRPr lang="en-US" dirty="0"/>
                    </a:p>
                  </a:txBody>
                  <a:tcPr/>
                </a:tc>
              </a:tr>
              <a:tr h="370840">
                <a:tc>
                  <a:txBody>
                    <a:bodyPr/>
                    <a:lstStyle/>
                    <a:p>
                      <a:r>
                        <a:rPr lang="en-US" dirty="0" smtClean="0"/>
                        <a:t>Level Two</a:t>
                      </a:r>
                      <a:endParaRPr lang="en-US" dirty="0"/>
                    </a:p>
                  </a:txBody>
                  <a:tcPr/>
                </a:tc>
                <a:tc>
                  <a:txBody>
                    <a:bodyPr/>
                    <a:lstStyle/>
                    <a:p>
                      <a:r>
                        <a:rPr lang="en-US" dirty="0" smtClean="0"/>
                        <a:t>[#] Days</a:t>
                      </a:r>
                      <a:endParaRPr lang="en-US" dirty="0"/>
                    </a:p>
                  </a:txBody>
                  <a:tcPr/>
                </a:tc>
                <a:tc>
                  <a:txBody>
                    <a:bodyPr/>
                    <a:lstStyle/>
                    <a:p>
                      <a:r>
                        <a:rPr lang="en-US" dirty="0" smtClean="0"/>
                        <a:t>[name]</a:t>
                      </a:r>
                      <a:endParaRPr lang="en-US" dirty="0"/>
                    </a:p>
                  </a:txBody>
                  <a:tcPr/>
                </a:tc>
                <a:tc>
                  <a:txBody>
                    <a:bodyPr/>
                    <a:lstStyle/>
                    <a:p>
                      <a:r>
                        <a:rPr lang="en-US" dirty="0" smtClean="0"/>
                        <a:t>[Manager]</a:t>
                      </a:r>
                      <a:endParaRPr lang="en-US" dirty="0"/>
                    </a:p>
                  </a:txBody>
                  <a:tcPr/>
                </a:tc>
              </a:tr>
              <a:tr h="370840">
                <a:tc>
                  <a:txBody>
                    <a:bodyPr/>
                    <a:lstStyle/>
                    <a:p>
                      <a:r>
                        <a:rPr lang="en-US" dirty="0" smtClean="0"/>
                        <a:t>Level Three – MD or Steering Committee</a:t>
                      </a:r>
                      <a:endParaRPr lang="en-US" dirty="0"/>
                    </a:p>
                  </a:txBody>
                  <a:tcPr/>
                </a:tc>
                <a:tc>
                  <a:txBody>
                    <a:bodyPr/>
                    <a:lstStyle/>
                    <a:p>
                      <a:r>
                        <a:rPr lang="en-US" dirty="0" smtClean="0"/>
                        <a:t>[#] Days</a:t>
                      </a:r>
                      <a:endParaRPr lang="en-US" dirty="0"/>
                    </a:p>
                  </a:txBody>
                  <a:tcPr/>
                </a:tc>
                <a:tc>
                  <a:txBody>
                    <a:bodyPr/>
                    <a:lstStyle/>
                    <a:p>
                      <a:r>
                        <a:rPr lang="en-US" dirty="0" smtClean="0"/>
                        <a:t>[name]</a:t>
                      </a:r>
                      <a:endParaRPr lang="en-US" dirty="0"/>
                    </a:p>
                  </a:txBody>
                  <a:tcPr/>
                </a:tc>
                <a:tc>
                  <a:txBody>
                    <a:bodyPr/>
                    <a:lstStyle/>
                    <a:p>
                      <a:r>
                        <a:rPr lang="en-US" dirty="0" smtClean="0"/>
                        <a:t>[MD</a:t>
                      </a:r>
                      <a:r>
                        <a:rPr lang="en-US" baseline="0" dirty="0" smtClean="0"/>
                        <a:t>]</a:t>
                      </a:r>
                      <a:endParaRPr lang="en-US" dirty="0"/>
                    </a:p>
                  </a:txBody>
                  <a:tcPr/>
                </a:tc>
              </a:tr>
            </a:tbl>
          </a:graphicData>
        </a:graphic>
      </p:graphicFrame>
      <p:graphicFrame>
        <p:nvGraphicFramePr>
          <p:cNvPr id="7" name="Table 6"/>
          <p:cNvGraphicFramePr>
            <a:graphicFrameLocks noGrp="1"/>
          </p:cNvGraphicFramePr>
          <p:nvPr/>
        </p:nvGraphicFramePr>
        <p:xfrm>
          <a:off x="457200" y="3992880"/>
          <a:ext cx="8153400" cy="2026920"/>
        </p:xfrm>
        <a:graphic>
          <a:graphicData uri="http://schemas.openxmlformats.org/drawingml/2006/table">
            <a:tbl>
              <a:tblPr firstRow="1" bandRow="1">
                <a:tableStyleId>{00A15C55-8517-42AA-B614-E9B94910E393}</a:tableStyleId>
              </a:tblPr>
              <a:tblGrid>
                <a:gridCol w="2038350"/>
                <a:gridCol w="1162050"/>
                <a:gridCol w="2286000"/>
                <a:gridCol w="2667000"/>
              </a:tblGrid>
              <a:tr h="370840">
                <a:tc>
                  <a:txBody>
                    <a:bodyPr/>
                    <a:lstStyle/>
                    <a:p>
                      <a:r>
                        <a:rPr lang="en-US" dirty="0" smtClean="0"/>
                        <a:t>Escalation Level</a:t>
                      </a:r>
                      <a:endParaRPr lang="en-US" dirty="0"/>
                    </a:p>
                  </a:txBody>
                  <a:tcPr/>
                </a:tc>
                <a:tc>
                  <a:txBody>
                    <a:bodyPr/>
                    <a:lstStyle/>
                    <a:p>
                      <a:r>
                        <a:rPr lang="en-US" dirty="0" smtClean="0"/>
                        <a:t>Time</a:t>
                      </a:r>
                      <a:endParaRPr lang="en-US" dirty="0"/>
                    </a:p>
                  </a:txBody>
                  <a:tcPr/>
                </a:tc>
                <a:tc>
                  <a:txBody>
                    <a:bodyPr/>
                    <a:lstStyle/>
                    <a:p>
                      <a:r>
                        <a:rPr lang="en-US" dirty="0" smtClean="0"/>
                        <a:t>Names</a:t>
                      </a:r>
                      <a:endParaRPr lang="en-US" dirty="0"/>
                    </a:p>
                  </a:txBody>
                  <a:tcPr/>
                </a:tc>
                <a:tc>
                  <a:txBody>
                    <a:bodyPr/>
                    <a:lstStyle/>
                    <a:p>
                      <a:r>
                        <a:rPr lang="en-US" dirty="0" smtClean="0"/>
                        <a:t>Role</a:t>
                      </a:r>
                      <a:endParaRPr lang="en-US" dirty="0"/>
                    </a:p>
                  </a:txBody>
                  <a:tcPr/>
                </a:tc>
              </a:tr>
              <a:tr h="370840">
                <a:tc>
                  <a:txBody>
                    <a:bodyPr/>
                    <a:lstStyle/>
                    <a:p>
                      <a:r>
                        <a:rPr lang="en-US" dirty="0" smtClean="0"/>
                        <a:t>Level</a:t>
                      </a:r>
                      <a:r>
                        <a:rPr lang="en-US" baseline="0" dirty="0" smtClean="0"/>
                        <a:t> One</a:t>
                      </a:r>
                      <a:endParaRPr lang="en-US" dirty="0"/>
                    </a:p>
                  </a:txBody>
                  <a:tcPr/>
                </a:tc>
                <a:tc>
                  <a:txBody>
                    <a:bodyPr/>
                    <a:lstStyle/>
                    <a:p>
                      <a:r>
                        <a:rPr lang="en-US" dirty="0" smtClean="0"/>
                        <a:t>[#]</a:t>
                      </a:r>
                      <a:r>
                        <a:rPr lang="en-US" baseline="0" dirty="0" smtClean="0"/>
                        <a:t> Day</a:t>
                      </a:r>
                      <a:endParaRPr lang="en-US" dirty="0"/>
                    </a:p>
                  </a:txBody>
                  <a:tcPr/>
                </a:tc>
                <a:tc>
                  <a:txBody>
                    <a:bodyPr/>
                    <a:lstStyle/>
                    <a:p>
                      <a:r>
                        <a:rPr lang="en-US" dirty="0" smtClean="0"/>
                        <a:t>[name]</a:t>
                      </a:r>
                      <a:endParaRPr lang="en-US" dirty="0"/>
                    </a:p>
                  </a:txBody>
                  <a:tcPr/>
                </a:tc>
                <a:tc>
                  <a:txBody>
                    <a:bodyPr/>
                    <a:lstStyle/>
                    <a:p>
                      <a:r>
                        <a:rPr lang="en-US" dirty="0" smtClean="0"/>
                        <a:t>[Product Owner]</a:t>
                      </a:r>
                      <a:endParaRPr lang="en-US" dirty="0"/>
                    </a:p>
                  </a:txBody>
                  <a:tcPr/>
                </a:tc>
              </a:tr>
              <a:tr h="370840">
                <a:tc>
                  <a:txBody>
                    <a:bodyPr/>
                    <a:lstStyle/>
                    <a:p>
                      <a:r>
                        <a:rPr lang="en-US" dirty="0" smtClean="0"/>
                        <a:t>Level Two</a:t>
                      </a:r>
                      <a:endParaRPr lang="en-US" dirty="0"/>
                    </a:p>
                  </a:txBody>
                  <a:tcPr/>
                </a:tc>
                <a:tc>
                  <a:txBody>
                    <a:bodyPr/>
                    <a:lstStyle/>
                    <a:p>
                      <a:r>
                        <a:rPr lang="en-US" dirty="0" smtClean="0"/>
                        <a:t>[#] Days</a:t>
                      </a:r>
                      <a:endParaRPr lang="en-US" dirty="0"/>
                    </a:p>
                  </a:txBody>
                  <a:tcPr/>
                </a:tc>
                <a:tc>
                  <a:txBody>
                    <a:bodyPr/>
                    <a:lstStyle/>
                    <a:p>
                      <a:r>
                        <a:rPr lang="en-US" dirty="0" smtClean="0"/>
                        <a:t>[name]</a:t>
                      </a:r>
                      <a:endParaRPr lang="en-US" dirty="0"/>
                    </a:p>
                  </a:txBody>
                  <a:tcPr/>
                </a:tc>
                <a:tc>
                  <a:txBody>
                    <a:bodyPr/>
                    <a:lstStyle/>
                    <a:p>
                      <a:r>
                        <a:rPr lang="en-US" dirty="0" smtClean="0"/>
                        <a:t>[Manager/Stakeholder]</a:t>
                      </a:r>
                      <a:endParaRPr lang="en-US" dirty="0"/>
                    </a:p>
                  </a:txBody>
                  <a:tcPr/>
                </a:tc>
              </a:tr>
              <a:tr h="370840">
                <a:tc>
                  <a:txBody>
                    <a:bodyPr/>
                    <a:lstStyle/>
                    <a:p>
                      <a:r>
                        <a:rPr lang="en-US" dirty="0" smtClean="0"/>
                        <a:t>Level Three – MD or Steering</a:t>
                      </a:r>
                      <a:r>
                        <a:rPr lang="en-US" baseline="0" dirty="0" smtClean="0"/>
                        <a:t> Committee</a:t>
                      </a:r>
                      <a:endParaRPr lang="en-US" dirty="0"/>
                    </a:p>
                  </a:txBody>
                  <a:tcPr/>
                </a:tc>
                <a:tc>
                  <a:txBody>
                    <a:bodyPr/>
                    <a:lstStyle/>
                    <a:p>
                      <a:r>
                        <a:rPr lang="en-US" dirty="0" smtClean="0"/>
                        <a:t>[#] Days</a:t>
                      </a:r>
                      <a:endParaRPr lang="en-US" dirty="0"/>
                    </a:p>
                  </a:txBody>
                  <a:tcPr/>
                </a:tc>
                <a:tc>
                  <a:txBody>
                    <a:bodyPr/>
                    <a:lstStyle/>
                    <a:p>
                      <a:r>
                        <a:rPr lang="en-US" dirty="0" smtClean="0"/>
                        <a:t>[name]</a:t>
                      </a:r>
                      <a:endParaRPr lang="en-US" dirty="0"/>
                    </a:p>
                  </a:txBody>
                  <a:tcPr/>
                </a:tc>
                <a:tc>
                  <a:txBody>
                    <a:bodyPr/>
                    <a:lstStyle/>
                    <a:p>
                      <a:r>
                        <a:rPr lang="en-US" dirty="0" smtClean="0"/>
                        <a:t>[MD]</a:t>
                      </a:r>
                      <a:endParaRPr lang="en-US" dirty="0"/>
                    </a:p>
                  </a:txBody>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Plan</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15</a:t>
            </a:fld>
            <a:endParaRPr lang="en-US" dirty="0"/>
          </a:p>
        </p:txBody>
      </p:sp>
      <p:graphicFrame>
        <p:nvGraphicFramePr>
          <p:cNvPr id="6" name="Table 5"/>
          <p:cNvGraphicFramePr>
            <a:graphicFrameLocks noGrp="1"/>
          </p:cNvGraphicFramePr>
          <p:nvPr/>
        </p:nvGraphicFramePr>
        <p:xfrm>
          <a:off x="457200" y="1397000"/>
          <a:ext cx="8229600" cy="4246880"/>
        </p:xfrm>
        <a:graphic>
          <a:graphicData uri="http://schemas.openxmlformats.org/drawingml/2006/table">
            <a:tbl>
              <a:tblPr firstRow="1" bandRow="1">
                <a:tableStyleId>{00A15C55-8517-42AA-B614-E9B94910E393}</a:tableStyleId>
              </a:tblPr>
              <a:tblGrid>
                <a:gridCol w="2057400"/>
                <a:gridCol w="1600200"/>
                <a:gridCol w="1280160"/>
                <a:gridCol w="1386840"/>
                <a:gridCol w="1905000"/>
              </a:tblGrid>
              <a:tr h="370840">
                <a:tc>
                  <a:txBody>
                    <a:bodyPr/>
                    <a:lstStyle/>
                    <a:p>
                      <a:r>
                        <a:rPr lang="en-US" dirty="0" smtClean="0"/>
                        <a:t>Item</a:t>
                      </a:r>
                      <a:endParaRPr lang="en-US" dirty="0"/>
                    </a:p>
                  </a:txBody>
                  <a:tcPr/>
                </a:tc>
                <a:tc>
                  <a:txBody>
                    <a:bodyPr/>
                    <a:lstStyle/>
                    <a:p>
                      <a:r>
                        <a:rPr lang="en-US" dirty="0" smtClean="0"/>
                        <a:t>Objective</a:t>
                      </a:r>
                      <a:endParaRPr lang="en-US" dirty="0"/>
                    </a:p>
                  </a:txBody>
                  <a:tcPr/>
                </a:tc>
                <a:tc>
                  <a:txBody>
                    <a:bodyPr/>
                    <a:lstStyle/>
                    <a:p>
                      <a:r>
                        <a:rPr lang="en-US" dirty="0" smtClean="0"/>
                        <a:t>Audience</a:t>
                      </a:r>
                      <a:endParaRPr lang="en-US" dirty="0"/>
                    </a:p>
                  </a:txBody>
                  <a:tcPr/>
                </a:tc>
                <a:tc>
                  <a:txBody>
                    <a:bodyPr/>
                    <a:lstStyle/>
                    <a:p>
                      <a:r>
                        <a:rPr lang="en-US" dirty="0" smtClean="0"/>
                        <a:t>Frequency</a:t>
                      </a:r>
                      <a:endParaRPr lang="en-US" dirty="0"/>
                    </a:p>
                  </a:txBody>
                  <a:tcPr/>
                </a:tc>
                <a:tc>
                  <a:txBody>
                    <a:bodyPr/>
                    <a:lstStyle/>
                    <a:p>
                      <a:r>
                        <a:rPr lang="en-US" dirty="0" smtClean="0"/>
                        <a:t>Notes</a:t>
                      </a:r>
                      <a:endParaRPr lang="en-US" dirty="0"/>
                    </a:p>
                  </a:txBody>
                  <a:tcPr/>
                </a:tc>
              </a:tr>
              <a:tr h="370840">
                <a:tc>
                  <a:txBody>
                    <a:bodyPr/>
                    <a:lstStyle/>
                    <a:p>
                      <a:r>
                        <a:rPr lang="en-US" dirty="0" smtClean="0"/>
                        <a:t>Iteration 0 Workshop</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Daily Standup</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Backlog</a:t>
                      </a:r>
                      <a:r>
                        <a:rPr lang="en-US" baseline="0" dirty="0" smtClean="0"/>
                        <a:t> Grooming</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Release Planning</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Iteration</a:t>
                      </a:r>
                      <a:r>
                        <a:rPr lang="en-US" baseline="0" dirty="0" smtClean="0"/>
                        <a:t> Planning</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Demo</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Retrospective</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Status Reporting</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16</a:t>
            </a:fld>
            <a:endParaRPr lang="en-US" dirty="0"/>
          </a:p>
        </p:txBody>
      </p:sp>
      <p:sp>
        <p:nvSpPr>
          <p:cNvPr id="5" name="Content Placeholder 4"/>
          <p:cNvSpPr>
            <a:spLocks noGrp="1"/>
          </p:cNvSpPr>
          <p:nvPr>
            <p:ph sz="quarter" idx="15"/>
          </p:nvPr>
        </p:nvSpPr>
        <p:spPr/>
        <p:txBody>
          <a:bodyPr/>
          <a:lstStyle/>
          <a:p>
            <a:r>
              <a:rPr lang="en-US" dirty="0" smtClean="0"/>
              <a:t>Team</a:t>
            </a:r>
          </a:p>
        </p:txBody>
      </p:sp>
      <p:graphicFrame>
        <p:nvGraphicFramePr>
          <p:cNvPr id="6" name="Table 5"/>
          <p:cNvGraphicFramePr>
            <a:graphicFrameLocks noGrp="1"/>
          </p:cNvGraphicFramePr>
          <p:nvPr/>
        </p:nvGraphicFramePr>
        <p:xfrm>
          <a:off x="457199" y="1513963"/>
          <a:ext cx="8176438" cy="4079240"/>
        </p:xfrm>
        <a:graphic>
          <a:graphicData uri="http://schemas.openxmlformats.org/drawingml/2006/table">
            <a:tbl>
              <a:tblPr firstRow="1" bandRow="1">
                <a:tableStyleId>{00A15C55-8517-42AA-B614-E9B94910E393}</a:tableStyleId>
              </a:tblPr>
              <a:tblGrid>
                <a:gridCol w="3258880"/>
                <a:gridCol w="3258880"/>
                <a:gridCol w="1658678"/>
              </a:tblGrid>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Allocation</a:t>
                      </a:r>
                      <a:endParaRPr lang="en-US" dirty="0"/>
                    </a:p>
                  </a:txBody>
                  <a:tcPr/>
                </a:tc>
              </a:tr>
              <a:tr h="370840">
                <a:tc>
                  <a:txBody>
                    <a:bodyPr/>
                    <a:lstStyle/>
                    <a:p>
                      <a:r>
                        <a:rPr lang="en-US" dirty="0" smtClean="0"/>
                        <a:t>[PO Name]</a:t>
                      </a:r>
                      <a:endParaRPr lang="en-US" dirty="0"/>
                    </a:p>
                  </a:txBody>
                  <a:tcPr/>
                </a:tc>
                <a:tc>
                  <a:txBody>
                    <a:bodyPr/>
                    <a:lstStyle/>
                    <a:p>
                      <a:r>
                        <a:rPr lang="en-US" dirty="0" smtClean="0"/>
                        <a:t>Product Owner</a:t>
                      </a:r>
                      <a:endParaRPr lang="en-US" dirty="0"/>
                    </a:p>
                  </a:txBody>
                  <a:tcPr/>
                </a:tc>
                <a:tc>
                  <a:txBody>
                    <a:bodyPr/>
                    <a:lstStyle/>
                    <a:p>
                      <a:r>
                        <a:rPr lang="en-US" dirty="0" smtClean="0"/>
                        <a:t>[% allocation]</a:t>
                      </a:r>
                      <a:endParaRPr lang="en-US" dirty="0"/>
                    </a:p>
                  </a:txBody>
                  <a:tcPr/>
                </a:tc>
              </a:tr>
              <a:tr h="370840">
                <a:tc>
                  <a:txBody>
                    <a:bodyPr/>
                    <a:lstStyle/>
                    <a:p>
                      <a:r>
                        <a:rPr lang="en-US" dirty="0" smtClean="0"/>
                        <a:t>[APL Name]</a:t>
                      </a:r>
                      <a:endParaRPr lang="en-US" dirty="0"/>
                    </a:p>
                  </a:txBody>
                  <a:tcPr/>
                </a:tc>
                <a:tc>
                  <a:txBody>
                    <a:bodyPr/>
                    <a:lstStyle/>
                    <a:p>
                      <a:r>
                        <a:rPr lang="en-US" dirty="0" smtClean="0"/>
                        <a:t>Agile Project Lead</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[name]</a:t>
                      </a:r>
                      <a:endParaRPr lang="en-US" dirty="0"/>
                    </a:p>
                  </a:txBody>
                  <a:tcPr/>
                </a:tc>
                <a:tc>
                  <a:txBody>
                    <a:bodyPr/>
                    <a:lstStyle/>
                    <a:p>
                      <a:r>
                        <a:rPr lang="en-US" dirty="0" smtClean="0"/>
                        <a:t>[role]</a:t>
                      </a:r>
                      <a:endParaRPr lang="en-US" dirty="0"/>
                    </a:p>
                  </a:txBody>
                  <a:tcPr/>
                </a:tc>
                <a:tc>
                  <a:txBody>
                    <a:bodyPr/>
                    <a:lstStyle/>
                    <a:p>
                      <a:r>
                        <a:rPr lang="en-US" dirty="0" smtClean="0"/>
                        <a:t>[% allocation]</a:t>
                      </a:r>
                      <a:endParaRPr lang="en-US" dirty="0"/>
                    </a:p>
                  </a:txBody>
                  <a:tcPr/>
                </a:tc>
              </a:tr>
              <a:tr h="370840">
                <a:tc>
                  <a:txBody>
                    <a:bodyPr/>
                    <a:lstStyle/>
                    <a:p>
                      <a:r>
                        <a:rPr lang="en-US" dirty="0" smtClean="0"/>
                        <a:t>[…]</a:t>
                      </a:r>
                      <a:endParaRPr lang="en-US" dirty="0"/>
                    </a:p>
                  </a:txBody>
                  <a:tcPr/>
                </a:tc>
                <a:tc>
                  <a:txBody>
                    <a:bodyPr/>
                    <a:lstStyle/>
                    <a:p>
                      <a:r>
                        <a:rPr lang="en-US" dirty="0" smtClean="0"/>
                        <a:t>[…]</a:t>
                      </a:r>
                      <a:endParaRPr lang="en-US" dirty="0"/>
                    </a:p>
                  </a:txBody>
                  <a:tcPr/>
                </a:tc>
                <a:tc>
                  <a:txBody>
                    <a:bodyPr/>
                    <a:lstStyle/>
                    <a:p>
                      <a:r>
                        <a:rPr lang="en-US" dirty="0" smtClean="0"/>
                        <a:t>[% allocation]</a:t>
                      </a:r>
                      <a:endParaRPr lang="en-US" dirty="0"/>
                    </a:p>
                  </a:txBody>
                  <a:tcPr/>
                </a:tc>
              </a:tr>
            </a:tbl>
          </a:graphicData>
        </a:graphic>
      </p:graphicFrame>
    </p:spTree>
    <p:extLst>
      <p:ext uri="{BB962C8B-B14F-4D97-AF65-F5344CB8AC3E}">
        <p14:creationId xmlns:p14="http://schemas.microsoft.com/office/powerpoint/2010/main" xmlns="" val="1693246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Authors</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17</a:t>
            </a:fld>
            <a:endParaRPr lang="en-US" dirty="0"/>
          </a:p>
        </p:txBody>
      </p:sp>
      <p:sp>
        <p:nvSpPr>
          <p:cNvPr id="5" name="Content Placeholder 4"/>
          <p:cNvSpPr>
            <a:spLocks noGrp="1"/>
          </p:cNvSpPr>
          <p:nvPr>
            <p:ph sz="quarter" idx="15"/>
          </p:nvPr>
        </p:nvSpPr>
        <p:spPr/>
        <p:txBody>
          <a:bodyPr/>
          <a:lstStyle/>
          <a:p>
            <a:r>
              <a:rPr lang="en-US" dirty="0" smtClean="0"/>
              <a:t>Collaborative Team</a:t>
            </a:r>
          </a:p>
          <a:p>
            <a:endParaRPr lang="en-US" dirty="0" smtClean="0"/>
          </a:p>
          <a:p>
            <a:pPr lvl="1"/>
            <a:r>
              <a:rPr lang="en-US" dirty="0" smtClean="0"/>
              <a:t>[Name of Product Owner]</a:t>
            </a:r>
          </a:p>
          <a:p>
            <a:pPr lvl="1"/>
            <a:r>
              <a:rPr lang="en-US" dirty="0" smtClean="0"/>
              <a:t>[Name of Agile Project Lead]</a:t>
            </a:r>
          </a:p>
          <a:p>
            <a:pPr lvl="1"/>
            <a:r>
              <a:rPr lang="en-US" dirty="0" smtClean="0"/>
              <a:t>[Team member name]</a:t>
            </a:r>
          </a:p>
          <a:p>
            <a:pPr lvl="1"/>
            <a:r>
              <a:rPr lang="en-US" dirty="0" smtClean="0"/>
              <a:t>[Team member name]</a:t>
            </a:r>
          </a:p>
          <a:p>
            <a:pPr lvl="1"/>
            <a:r>
              <a:rPr lang="en-US" dirty="0" smtClean="0"/>
              <a:t>[Team member name]</a:t>
            </a:r>
          </a:p>
          <a:p>
            <a:pPr lvl="1"/>
            <a:r>
              <a:rPr lang="en-US" dirty="0" smtClean="0"/>
              <a:t>[…]</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History</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18</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494280"/>
        </p:xfrm>
        <a:graphic>
          <a:graphicData uri="http://schemas.openxmlformats.org/drawingml/2006/table">
            <a:tbl>
              <a:tblPr firstRow="1" bandRow="1">
                <a:tableStyleId>{00A15C55-8517-42AA-B614-E9B94910E393}</a:tableStyleId>
              </a:tblPr>
              <a:tblGrid>
                <a:gridCol w="1456660"/>
                <a:gridCol w="4031856"/>
                <a:gridCol w="2744258"/>
              </a:tblGrid>
              <a:tr h="370840">
                <a:tc>
                  <a:txBody>
                    <a:bodyPr/>
                    <a:lstStyle/>
                    <a:p>
                      <a:r>
                        <a:rPr lang="en-US" dirty="0" smtClean="0"/>
                        <a:t>Date</a:t>
                      </a:r>
                      <a:endParaRPr lang="en-US" dirty="0"/>
                    </a:p>
                  </a:txBody>
                  <a:tcPr/>
                </a:tc>
                <a:tc>
                  <a:txBody>
                    <a:bodyPr/>
                    <a:lstStyle/>
                    <a:p>
                      <a:r>
                        <a:rPr lang="en-US" dirty="0" smtClean="0"/>
                        <a:t>Activity</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Document created</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[name of activity (e.g. Release 2 planning)]</a:t>
                      </a:r>
                      <a:endParaRPr lang="en-US" dirty="0"/>
                    </a:p>
                  </a:txBody>
                  <a:tcPr/>
                </a:tc>
                <a:tc>
                  <a:txBody>
                    <a:bodyPr/>
                    <a:lstStyle/>
                    <a:p>
                      <a:r>
                        <a:rPr lang="en-US" dirty="0" smtClean="0"/>
                        <a:t>[comments]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History</a:t>
            </a:r>
            <a:endParaRPr lang="en-US" dirty="0"/>
          </a:p>
        </p:txBody>
      </p:sp>
      <p:sp>
        <p:nvSpPr>
          <p:cNvPr id="3" name="Footer Placeholder 2"/>
          <p:cNvSpPr>
            <a:spLocks noGrp="1"/>
          </p:cNvSpPr>
          <p:nvPr>
            <p:ph type="ftr" sz="quarter" idx="11"/>
          </p:nvPr>
        </p:nvSpPr>
        <p:spPr/>
        <p:txBody>
          <a:bodyPr/>
          <a:lstStyle/>
          <a:p>
            <a:r>
              <a:rPr lang="en-US" smtClean="0"/>
              <a:t>Release Template v6.2</a:t>
            </a:r>
            <a:endParaRPr lang="en-US" dirty="0"/>
          </a:p>
        </p:txBody>
      </p:sp>
      <p:sp>
        <p:nvSpPr>
          <p:cNvPr id="4" name="Slide Number Placeholder 3"/>
          <p:cNvSpPr>
            <a:spLocks noGrp="1"/>
          </p:cNvSpPr>
          <p:nvPr>
            <p:ph type="sldNum" sz="quarter" idx="12"/>
          </p:nvPr>
        </p:nvSpPr>
        <p:spPr/>
        <p:txBody>
          <a:bodyPr/>
          <a:lstStyle/>
          <a:p>
            <a:fld id="{9E3C471D-FB94-43E4-8DFD-966A05A84658}" type="slidenum">
              <a:rPr lang="en-US" smtClean="0"/>
              <a:pPr/>
              <a:t>19</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225040"/>
        </p:xfrm>
        <a:graphic>
          <a:graphicData uri="http://schemas.openxmlformats.org/drawingml/2006/table">
            <a:tbl>
              <a:tblPr firstRow="1" bandRow="1">
                <a:tableStyleId>{00A15C55-8517-42AA-B614-E9B94910E393}</a:tableStyleId>
              </a:tblPr>
              <a:tblGrid>
                <a:gridCol w="1297172"/>
                <a:gridCol w="1158949"/>
                <a:gridCol w="5776653"/>
              </a:tblGrid>
              <a:tr h="370840">
                <a:tc>
                  <a:txBody>
                    <a:bodyPr/>
                    <a:lstStyle/>
                    <a:p>
                      <a:r>
                        <a:rPr lang="en-US" dirty="0" smtClean="0"/>
                        <a:t>Date</a:t>
                      </a:r>
                      <a:endParaRPr lang="en-US" dirty="0"/>
                    </a:p>
                  </a:txBody>
                  <a:tcPr/>
                </a:tc>
                <a:tc>
                  <a:txBody>
                    <a:bodyPr/>
                    <a:lstStyle/>
                    <a:p>
                      <a:r>
                        <a:rPr lang="en-US" dirty="0" smtClean="0"/>
                        <a:t>Version</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1.0</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[x.y]</a:t>
                      </a:r>
                      <a:endParaRPr lang="en-US" dirty="0"/>
                    </a:p>
                  </a:txBody>
                  <a:tcPr/>
                </a:tc>
                <a:tc>
                  <a:txBody>
                    <a:bodyPr/>
                    <a:lstStyle/>
                    <a:p>
                      <a:r>
                        <a:rPr lang="en-US" dirty="0" smtClean="0"/>
                        <a:t>[comments]</a:t>
                      </a:r>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AA Presentation Template - PHS">
  <a:themeElements>
    <a:clrScheme name="AA color theme 09172012">
      <a:dk1>
        <a:srgbClr val="36495A"/>
      </a:dk1>
      <a:lt1>
        <a:sysClr val="window" lastClr="FFFFFF"/>
      </a:lt1>
      <a:dk2>
        <a:srgbClr val="0078D2"/>
      </a:dk2>
      <a:lt2>
        <a:srgbClr val="6E8999"/>
      </a:lt2>
      <a:accent1>
        <a:srgbClr val="FAAF00"/>
      </a:accent1>
      <a:accent2>
        <a:srgbClr val="FF7318"/>
      </a:accent2>
      <a:accent3>
        <a:srgbClr val="4DB4FA"/>
      </a:accent3>
      <a:accent4>
        <a:srgbClr val="0078D2"/>
      </a:accent4>
      <a:accent5>
        <a:srgbClr val="D1D532"/>
      </a:accent5>
      <a:accent6>
        <a:srgbClr val="F52305"/>
      </a:accent6>
      <a:hlink>
        <a:srgbClr val="0078D2"/>
      </a:hlink>
      <a:folHlink>
        <a:srgbClr val="C3001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dirty="0" err="1" smtClean="0"/>
        </a:defPPr>
      </a:lstStyle>
    </a:txDef>
  </a:objectDefaults>
  <a:extraClrSchemeLst/>
  <a:extLst>
    <a:ext uri="{05A4C25C-085E-4340-85A3-A5531E510DB2}">
      <thm15:themeFamily xmlns:thm15="http://schemas.microsoft.com/office/thememl/2012/main" xmlns="" name="Presentation2" id="{4ED1FAEB-E2B3-4DA7-9598-BA814470B257}" vid="{65D1754B-59F2-40F1-B0A2-DF443655FF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2080E98040C8A40BE7C3359A3321215" ma:contentTypeVersion="0" ma:contentTypeDescription="Create a new document." ma:contentTypeScope="" ma:versionID="4aad4052934079d17fe980d7636dce5d">
  <xsd:schema xmlns:xsd="http://www.w3.org/2001/XMLSchema" xmlns:xs="http://www.w3.org/2001/XMLSchema" xmlns:p="http://schemas.microsoft.com/office/2006/metadata/properties" targetNamespace="http://schemas.microsoft.com/office/2006/metadata/properties" ma:root="true" ma:fieldsID="1a65b0a7b58520b367ade7b35cb84121">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A53330-1340-48CC-B765-A4F3887D8E2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C1A27EA-1E14-4DF5-AEE9-B331F82E0C38}">
  <ds:schemaRefs>
    <ds:schemaRef ds:uri="http://schemas.microsoft.com/sharepoint/v3/contenttype/forms"/>
  </ds:schemaRefs>
</ds:datastoreItem>
</file>

<file path=customXml/itemProps3.xml><?xml version="1.0" encoding="utf-8"?>
<ds:datastoreItem xmlns:ds="http://schemas.openxmlformats.org/officeDocument/2006/customXml" ds:itemID="{7C7FD2C0-912A-424F-A651-C5CA52EAB9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AA Presentation Template - PHS</Template>
  <TotalTime>2036</TotalTime>
  <Words>1226</Words>
  <Application>Microsoft Office PowerPoint</Application>
  <PresentationFormat>On-screen Show (4:3)</PresentationFormat>
  <Paragraphs>355</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AA Presentation Template - PHS</vt:lpstr>
      <vt:lpstr>The Release Plan</vt:lpstr>
      <vt:lpstr>The Release Plan</vt:lpstr>
      <vt:lpstr>The Release Plan</vt:lpstr>
      <vt:lpstr>[Project Name]</vt:lpstr>
      <vt:lpstr>Objectives</vt:lpstr>
      <vt:lpstr>Business Readiness Activities</vt:lpstr>
      <vt:lpstr>Business Case</vt:lpstr>
      <vt:lpstr>Release Delivery Plan: page 1 of [N]</vt:lpstr>
      <vt:lpstr>Risks</vt:lpstr>
      <vt:lpstr>Dependencies</vt:lpstr>
      <vt:lpstr>Dependencies</vt:lpstr>
      <vt:lpstr>Issue Management</vt:lpstr>
      <vt:lpstr>Change Management</vt:lpstr>
      <vt:lpstr>Governance and Escalation</vt:lpstr>
      <vt:lpstr>Communication Plan</vt:lpstr>
      <vt:lpstr>People</vt:lpstr>
      <vt:lpstr>Authors</vt:lpstr>
      <vt:lpstr>Review History</vt:lpstr>
      <vt:lpstr>Revision History</vt:lpstr>
    </vt:vector>
  </TitlesOfParts>
  <Company>TMA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Release Plan</dc:title>
  <dc:creator>Nick Loyless</dc:creator>
  <cp:lastModifiedBy>wajahath</cp:lastModifiedBy>
  <cp:revision>138</cp:revision>
  <dcterms:created xsi:type="dcterms:W3CDTF">2009-05-21T15:37:17Z</dcterms:created>
  <dcterms:modified xsi:type="dcterms:W3CDTF">2014-07-17T18:22:49Z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0x01010022080E98040C8A40BE7C3359A3321215</vt:lpwstr>
  </property>
</Properties>
</file>