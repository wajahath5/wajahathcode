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32" r:id="rId2"/>
    <p:sldId id="333" r:id="rId3"/>
    <p:sldId id="334" r:id="rId4"/>
    <p:sldId id="335" r:id="rId5"/>
    <p:sldId id="336" r:id="rId6"/>
    <p:sldId id="337" r:id="rId7"/>
    <p:sldId id="338" r:id="rId8"/>
    <p:sldId id="339" r:id="rId9"/>
    <p:sldId id="340" r:id="rId10"/>
    <p:sldId id="341" r:id="rId11"/>
    <p:sldId id="342" r:id="rId12"/>
    <p:sldId id="343" r:id="rId13"/>
    <p:sldId id="344" r:id="rId14"/>
    <p:sldId id="345" r:id="rId15"/>
    <p:sldId id="346" r:id="rId16"/>
    <p:sldId id="347" r:id="rId17"/>
    <p:sldId id="348" r:id="rId18"/>
    <p:sldId id="349" r:id="rId19"/>
    <p:sldId id="350" r:id="rId20"/>
    <p:sldId id="351" r:id="rId21"/>
    <p:sldId id="352" r:id="rId22"/>
    <p:sldId id="353" r:id="rId23"/>
    <p:sldId id="354" r:id="rId24"/>
    <p:sldId id="355" r:id="rId25"/>
    <p:sldId id="356" r:id="rId26"/>
    <p:sldId id="357" r:id="rId27"/>
    <p:sldId id="358" r:id="rId28"/>
    <p:sldId id="359" r:id="rId29"/>
    <p:sldId id="360" r:id="rId30"/>
    <p:sldId id="361" r:id="rId31"/>
    <p:sldId id="362" r:id="rId32"/>
    <p:sldId id="363" r:id="rId33"/>
    <p:sldId id="364" r:id="rId34"/>
    <p:sldId id="365" r:id="rId35"/>
    <p:sldId id="366" r:id="rId36"/>
    <p:sldId id="367" r:id="rId37"/>
    <p:sldId id="368" r:id="rId38"/>
    <p:sldId id="369" r:id="rId39"/>
    <p:sldId id="370" r:id="rId40"/>
    <p:sldId id="371" r:id="rId41"/>
    <p:sldId id="372" r:id="rId42"/>
    <p:sldId id="373" r:id="rId43"/>
    <p:sldId id="374" r:id="rId44"/>
    <p:sldId id="375" r:id="rId45"/>
    <p:sldId id="376" r:id="rId46"/>
    <p:sldId id="377" r:id="rId47"/>
    <p:sldId id="378" r:id="rId48"/>
    <p:sldId id="379" r:id="rId49"/>
    <p:sldId id="380" r:id="rId50"/>
    <p:sldId id="381" r:id="rId51"/>
    <p:sldId id="382" r:id="rId52"/>
    <p:sldId id="383" r:id="rId53"/>
    <p:sldId id="384" r:id="rId54"/>
    <p:sldId id="385" r:id="rId55"/>
    <p:sldId id="386" r:id="rId56"/>
    <p:sldId id="387" r:id="rId57"/>
    <p:sldId id="388" r:id="rId58"/>
    <p:sldId id="389" r:id="rId59"/>
    <p:sldId id="390" r:id="rId60"/>
    <p:sldId id="391" r:id="rId61"/>
    <p:sldId id="392" r:id="rId62"/>
    <p:sldId id="393" r:id="rId63"/>
    <p:sldId id="394" r:id="rId64"/>
    <p:sldId id="395" r:id="rId65"/>
    <p:sldId id="396" r:id="rId66"/>
    <p:sldId id="397" r:id="rId67"/>
    <p:sldId id="398" r:id="rId68"/>
    <p:sldId id="399" r:id="rId69"/>
    <p:sldId id="400" r:id="rId70"/>
    <p:sldId id="401" r:id="rId71"/>
    <p:sldId id="402" r:id="rId72"/>
    <p:sldId id="403" r:id="rId73"/>
    <p:sldId id="404" r:id="rId74"/>
    <p:sldId id="405" r:id="rId75"/>
    <p:sldId id="406" r:id="rId76"/>
    <p:sldId id="407" r:id="rId77"/>
    <p:sldId id="408" r:id="rId78"/>
    <p:sldId id="409" r:id="rId79"/>
    <p:sldId id="410" r:id="rId80"/>
    <p:sldId id="411" r:id="rId81"/>
    <p:sldId id="412" r:id="rId82"/>
    <p:sldId id="413" r:id="rId83"/>
    <p:sldId id="414" r:id="rId84"/>
    <p:sldId id="415" r:id="rId85"/>
    <p:sldId id="416" r:id="rId86"/>
    <p:sldId id="417" r:id="rId87"/>
    <p:sldId id="418" r:id="rId88"/>
    <p:sldId id="419" r:id="rId89"/>
    <p:sldId id="420" r:id="rId90"/>
    <p:sldId id="421" r:id="rId91"/>
    <p:sldId id="422" r:id="rId92"/>
    <p:sldId id="423" r:id="rId93"/>
    <p:sldId id="424" r:id="rId94"/>
    <p:sldId id="425" r:id="rId95"/>
    <p:sldId id="426" r:id="rId96"/>
    <p:sldId id="427" r:id="rId97"/>
    <p:sldId id="428" r:id="rId98"/>
    <p:sldId id="429" r:id="rId99"/>
    <p:sldId id="430" r:id="rId100"/>
    <p:sldId id="431" r:id="rId101"/>
    <p:sldId id="432" r:id="rId102"/>
    <p:sldId id="433" r:id="rId103"/>
    <p:sldId id="434" r:id="rId104"/>
    <p:sldId id="435" r:id="rId105"/>
    <p:sldId id="436" r:id="rId106"/>
    <p:sldId id="437" r:id="rId107"/>
    <p:sldId id="438" r:id="rId108"/>
    <p:sldId id="439" r:id="rId109"/>
    <p:sldId id="440" r:id="rId110"/>
    <p:sldId id="441" r:id="rId111"/>
    <p:sldId id="442" r:id="rId112"/>
    <p:sldId id="443" r:id="rId113"/>
    <p:sldId id="444" r:id="rId114"/>
    <p:sldId id="445" r:id="rId115"/>
    <p:sldId id="446" r:id="rId116"/>
    <p:sldId id="447" r:id="rId117"/>
    <p:sldId id="448" r:id="rId118"/>
    <p:sldId id="449" r:id="rId119"/>
    <p:sldId id="450" r:id="rId120"/>
    <p:sldId id="451" r:id="rId12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4" d="100"/>
          <a:sy n="94" d="100"/>
        </p:scale>
        <p:origin x="-696" y="-9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0"/>
            <a:ext cx="7772400" cy="1102519"/>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B2A1F41-8472-4B0E-80A9-F05C49D1265A}" type="datetimeFigureOut">
              <a:rPr lang="en-US" smtClean="0"/>
              <a:t>6/8/2013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480B83-335A-44F1-AEEF-EA9C56049F20}" type="slidenum">
              <a:rPr lang="en-US" smtClean="0"/>
              <a:t>‹#›</a:t>
            </a:fld>
            <a:endParaRPr lang="en-US"/>
          </a:p>
        </p:txBody>
      </p:sp>
    </p:spTree>
    <p:extLst>
      <p:ext uri="{BB962C8B-B14F-4D97-AF65-F5344CB8AC3E}">
        <p14:creationId xmlns:p14="http://schemas.microsoft.com/office/powerpoint/2010/main" val="3062648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B2A1F41-8472-4B0E-80A9-F05C49D1265A}" type="datetimeFigureOut">
              <a:rPr lang="en-US" smtClean="0"/>
              <a:t>6/8/2013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480B83-335A-44F1-AEEF-EA9C56049F20}" type="slidenum">
              <a:rPr lang="en-US" smtClean="0"/>
              <a:t>‹#›</a:t>
            </a:fld>
            <a:endParaRPr lang="en-US"/>
          </a:p>
        </p:txBody>
      </p:sp>
    </p:spTree>
    <p:extLst>
      <p:ext uri="{BB962C8B-B14F-4D97-AF65-F5344CB8AC3E}">
        <p14:creationId xmlns:p14="http://schemas.microsoft.com/office/powerpoint/2010/main" val="1897562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B2A1F41-8472-4B0E-80A9-F05C49D1265A}" type="datetimeFigureOut">
              <a:rPr lang="en-US" smtClean="0"/>
              <a:t>6/8/2013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480B83-335A-44F1-AEEF-EA9C56049F20}" type="slidenum">
              <a:rPr lang="en-US" smtClean="0"/>
              <a:t>‹#›</a:t>
            </a:fld>
            <a:endParaRPr lang="en-US"/>
          </a:p>
        </p:txBody>
      </p:sp>
    </p:spTree>
    <p:extLst>
      <p:ext uri="{BB962C8B-B14F-4D97-AF65-F5344CB8AC3E}">
        <p14:creationId xmlns:p14="http://schemas.microsoft.com/office/powerpoint/2010/main" val="7419097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B2A1F41-8472-4B0E-80A9-F05C49D1265A}" type="datetimeFigureOut">
              <a:rPr lang="en-US" smtClean="0"/>
              <a:t>6/8/2013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480B83-335A-44F1-AEEF-EA9C56049F20}" type="slidenum">
              <a:rPr lang="en-US" smtClean="0"/>
              <a:t>‹#›</a:t>
            </a:fld>
            <a:endParaRPr lang="en-US"/>
          </a:p>
        </p:txBody>
      </p:sp>
    </p:spTree>
    <p:extLst>
      <p:ext uri="{BB962C8B-B14F-4D97-AF65-F5344CB8AC3E}">
        <p14:creationId xmlns:p14="http://schemas.microsoft.com/office/powerpoint/2010/main" val="40523699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8"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8"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B2A1F41-8472-4B0E-80A9-F05C49D1265A}" type="datetimeFigureOut">
              <a:rPr lang="en-US" smtClean="0"/>
              <a:t>6/8/2013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E480B83-335A-44F1-AEEF-EA9C56049F20}" type="slidenum">
              <a:rPr lang="en-US" smtClean="0"/>
              <a:t>‹#›</a:t>
            </a:fld>
            <a:endParaRPr lang="en-US"/>
          </a:p>
        </p:txBody>
      </p:sp>
    </p:spTree>
    <p:extLst>
      <p:ext uri="{BB962C8B-B14F-4D97-AF65-F5344CB8AC3E}">
        <p14:creationId xmlns:p14="http://schemas.microsoft.com/office/powerpoint/2010/main" val="2942138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B2A1F41-8472-4B0E-80A9-F05C49D1265A}" type="datetimeFigureOut">
              <a:rPr lang="en-US" smtClean="0"/>
              <a:t>6/8/2013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E480B83-335A-44F1-AEEF-EA9C56049F20}" type="slidenum">
              <a:rPr lang="en-US" smtClean="0"/>
              <a:t>‹#›</a:t>
            </a:fld>
            <a:endParaRPr lang="en-US"/>
          </a:p>
        </p:txBody>
      </p:sp>
    </p:spTree>
    <p:extLst>
      <p:ext uri="{BB962C8B-B14F-4D97-AF65-F5344CB8AC3E}">
        <p14:creationId xmlns:p14="http://schemas.microsoft.com/office/powerpoint/2010/main" val="3612721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2A1F41-8472-4B0E-80A9-F05C49D1265A}" type="datetimeFigureOut">
              <a:rPr lang="en-US" smtClean="0"/>
              <a:t>6/8/2013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E480B83-335A-44F1-AEEF-EA9C56049F20}" type="slidenum">
              <a:rPr lang="en-US" smtClean="0"/>
              <a:t>‹#›</a:t>
            </a:fld>
            <a:endParaRPr lang="en-US"/>
          </a:p>
        </p:txBody>
      </p:sp>
    </p:spTree>
    <p:extLst>
      <p:ext uri="{BB962C8B-B14F-4D97-AF65-F5344CB8AC3E}">
        <p14:creationId xmlns:p14="http://schemas.microsoft.com/office/powerpoint/2010/main" val="34928709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04787"/>
            <a:ext cx="3008313" cy="871538"/>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2" y="1076327"/>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B2A1F41-8472-4B0E-80A9-F05C49D1265A}" type="datetimeFigureOut">
              <a:rPr lang="en-US" smtClean="0"/>
              <a:t>6/8/2013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480B83-335A-44F1-AEEF-EA9C56049F20}" type="slidenum">
              <a:rPr lang="en-US" smtClean="0"/>
              <a:t>‹#›</a:t>
            </a:fld>
            <a:endParaRPr lang="en-US"/>
          </a:p>
        </p:txBody>
      </p:sp>
    </p:spTree>
    <p:extLst>
      <p:ext uri="{BB962C8B-B14F-4D97-AF65-F5344CB8AC3E}">
        <p14:creationId xmlns:p14="http://schemas.microsoft.com/office/powerpoint/2010/main" val="380238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B2A1F41-8472-4B0E-80A9-F05C49D1265A}" type="datetimeFigureOut">
              <a:rPr lang="en-US" smtClean="0"/>
              <a:t>6/8/2013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480B83-335A-44F1-AEEF-EA9C56049F20}" type="slidenum">
              <a:rPr lang="en-US" smtClean="0"/>
              <a:t>‹#›</a:t>
            </a:fld>
            <a:endParaRPr lang="en-US"/>
          </a:p>
        </p:txBody>
      </p:sp>
    </p:spTree>
    <p:extLst>
      <p:ext uri="{BB962C8B-B14F-4D97-AF65-F5344CB8AC3E}">
        <p14:creationId xmlns:p14="http://schemas.microsoft.com/office/powerpoint/2010/main" val="11640135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B2A1F41-8472-4B0E-80A9-F05C49D1265A}" type="datetimeFigureOut">
              <a:rPr lang="en-US" smtClean="0"/>
              <a:t>6/8/2013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480B83-335A-44F1-AEEF-EA9C56049F20}" type="slidenum">
              <a:rPr lang="en-US" smtClean="0"/>
              <a:t>‹#›</a:t>
            </a:fld>
            <a:endParaRPr lang="en-US"/>
          </a:p>
        </p:txBody>
      </p:sp>
    </p:spTree>
    <p:extLst>
      <p:ext uri="{BB962C8B-B14F-4D97-AF65-F5344CB8AC3E}">
        <p14:creationId xmlns:p14="http://schemas.microsoft.com/office/powerpoint/2010/main" val="38061994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B2A1F41-8472-4B0E-80A9-F05C49D1265A}" type="datetimeFigureOut">
              <a:rPr lang="en-US" smtClean="0"/>
              <a:t>6/8/2013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480B83-335A-44F1-AEEF-EA9C56049F20}" type="slidenum">
              <a:rPr lang="en-US" smtClean="0"/>
              <a:t>‹#›</a:t>
            </a:fld>
            <a:endParaRPr lang="en-US"/>
          </a:p>
        </p:txBody>
      </p:sp>
    </p:spTree>
    <p:extLst>
      <p:ext uri="{BB962C8B-B14F-4D97-AF65-F5344CB8AC3E}">
        <p14:creationId xmlns:p14="http://schemas.microsoft.com/office/powerpoint/2010/main" val="868312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3B2A1F41-8472-4B0E-80A9-F05C49D1265A}" type="datetimeFigureOut">
              <a:rPr lang="en-US" smtClean="0"/>
              <a:t>6/8/2013</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AE480B83-335A-44F1-AEEF-EA9C56049F20}" type="slidenum">
              <a:rPr lang="en-US" smtClean="0"/>
              <a:t>‹#›</a:t>
            </a:fld>
            <a:endParaRPr lang="en-US"/>
          </a:p>
        </p:txBody>
      </p:sp>
    </p:spTree>
    <p:extLst>
      <p:ext uri="{BB962C8B-B14F-4D97-AF65-F5344CB8AC3E}">
        <p14:creationId xmlns:p14="http://schemas.microsoft.com/office/powerpoint/2010/main" val="19960743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19"/>
          </a:xfrm>
          <a:prstGeom prst="rect">
            <a:avLst/>
          </a:prstGeom>
          <a:noFill/>
        </p:spPr>
        <p:txBody>
          <a:bodyPr wrap="square" rtlCol="0">
            <a:spAutoFit/>
          </a:bodyPr>
          <a:lstStyle/>
          <a:p>
            <a:r>
              <a:rPr lang="en-US" dirty="0" smtClean="0"/>
              <a:t>The correct answer is D</a:t>
            </a:r>
          </a:p>
          <a:p>
            <a:r>
              <a:rPr lang="en-US" dirty="0" smtClean="0"/>
              <a:t>Some teams are distributed, and others are co-located. Does Agile have a preference?</a:t>
            </a:r>
          </a:p>
          <a:p>
            <a:endParaRPr lang="en-US" dirty="0" smtClean="0"/>
          </a:p>
          <a:p>
            <a:r>
              <a:rPr lang="en-US" dirty="0" smtClean="0"/>
              <a:t>A. Agile prefers co-location and strongly discourages the use of distributed teams</a:t>
            </a:r>
          </a:p>
          <a:p>
            <a:r>
              <a:rPr lang="en-US" dirty="0" smtClean="0"/>
              <a:t>B. Agile has no preference as the practices can be effective in either scenario</a:t>
            </a:r>
          </a:p>
          <a:p>
            <a:r>
              <a:rPr lang="en-US" dirty="0" smtClean="0"/>
              <a:t>C. Agile prefers distributed teams over co-location because of the cost savings and increased value to the customer with less overhead</a:t>
            </a:r>
          </a:p>
          <a:p>
            <a:r>
              <a:rPr lang="en-US" dirty="0" smtClean="0"/>
              <a:t>D. Agile prefers co-location over distributed teams, but Agile practices can be implemented in both cases</a:t>
            </a:r>
          </a:p>
          <a:p>
            <a:r>
              <a:rPr lang="en-US" dirty="0" smtClean="0"/>
              <a:t>  </a:t>
            </a:r>
          </a:p>
          <a:p>
            <a:r>
              <a:rPr lang="en-US" dirty="0" smtClean="0"/>
              <a:t>Whether co-located or distributed, teams can follow Agile practices with success. There are many benefits to co-location, so that is an Agile preference. However, Agile works for distributed teams, too, but requires more emphasis on communication.</a:t>
            </a:r>
            <a:endParaRPr lang="en-US" dirty="0"/>
          </a:p>
        </p:txBody>
      </p:sp>
      <p:sp>
        <p:nvSpPr>
          <p:cNvPr id="3" name="TextBox 2"/>
          <p:cNvSpPr txBox="1"/>
          <p:nvPr/>
        </p:nvSpPr>
        <p:spPr>
          <a:xfrm>
            <a:off x="0" y="413266"/>
            <a:ext cx="8991600"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6223830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4770537"/>
          </a:xfrm>
          <a:prstGeom prst="rect">
            <a:avLst/>
          </a:prstGeom>
          <a:noFill/>
        </p:spPr>
        <p:txBody>
          <a:bodyPr wrap="square" rtlCol="0">
            <a:spAutoFit/>
          </a:bodyPr>
          <a:lstStyle/>
          <a:p>
            <a:r>
              <a:rPr lang="en-US" sz="1600" dirty="0" smtClean="0"/>
              <a:t>The correct answer is A</a:t>
            </a:r>
          </a:p>
          <a:p>
            <a:r>
              <a:rPr lang="en-US" sz="1600" dirty="0" smtClean="0"/>
              <a:t>You have been asked to manage an Agile team, but you find that the team members are located in California, New Jersey, Dubai, and Dublin. You are concerned that the diverse locations will make the adoption of Agile methods difficult, if not impossible. What should you do?</a:t>
            </a:r>
          </a:p>
          <a:p>
            <a:endParaRPr lang="en-US" sz="1600" dirty="0" smtClean="0"/>
          </a:p>
          <a:p>
            <a:r>
              <a:rPr lang="en-US" sz="1600" dirty="0" smtClean="0"/>
              <a:t>A. Make use of wikis, instant messaging, shared servers, virtual whiteboards, and web cameras to encourage the team to collaborate</a:t>
            </a:r>
          </a:p>
          <a:p>
            <a:r>
              <a:rPr lang="en-US" sz="1600" dirty="0" smtClean="0"/>
              <a:t>B. Meet with the sponsor and ask for travel budget sufficient to allow the team to meet face-to-face once a month at a minimum</a:t>
            </a:r>
          </a:p>
          <a:p>
            <a:r>
              <a:rPr lang="en-US" sz="1600" dirty="0" smtClean="0"/>
              <a:t>C. Voice your concern to your manager, explaining that Agile methods are not suited for geographically dispersed teams</a:t>
            </a:r>
          </a:p>
          <a:p>
            <a:r>
              <a:rPr lang="en-US" sz="1600" dirty="0" smtClean="0"/>
              <a:t>D. Work with the existing team as best as possible but make plans to replace members in the future and cluster the team in 1 location</a:t>
            </a:r>
          </a:p>
          <a:p>
            <a:r>
              <a:rPr lang="en-US" sz="1600" dirty="0" smtClean="0"/>
              <a:t>  </a:t>
            </a:r>
          </a:p>
          <a:p>
            <a:r>
              <a:rPr lang="en-US" sz="1600" dirty="0" smtClean="0"/>
              <a:t>Ideally, it would be nice to lead an Agile team that is co-located; however, that is not always possible. Collaboration and team commitment is more challenging when members are sitting in different locations and not across the room, but it is not impossible. Answer A describes some of the Agile tooling that helps facilitate geographically dispersed teams. Answer B, C, and D may be tempting choices, but A is the best choice.</a:t>
            </a:r>
            <a:endParaRPr lang="en-US" sz="1600" dirty="0"/>
          </a:p>
        </p:txBody>
      </p:sp>
      <p:sp>
        <p:nvSpPr>
          <p:cNvPr id="3" name="TextBox 2"/>
          <p:cNvSpPr txBox="1"/>
          <p:nvPr/>
        </p:nvSpPr>
        <p:spPr>
          <a:xfrm>
            <a:off x="0" y="413266"/>
            <a:ext cx="8991600"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150983327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416320"/>
          </a:xfrm>
          <a:prstGeom prst="rect">
            <a:avLst/>
          </a:prstGeom>
          <a:noFill/>
        </p:spPr>
        <p:txBody>
          <a:bodyPr wrap="square" rtlCol="0">
            <a:spAutoFit/>
          </a:bodyPr>
          <a:lstStyle/>
          <a:p>
            <a:r>
              <a:rPr lang="en-US" dirty="0" smtClean="0"/>
              <a:t>The correct answer is A</a:t>
            </a:r>
          </a:p>
          <a:p>
            <a:r>
              <a:rPr lang="en-US" dirty="0" smtClean="0"/>
              <a:t>A challenging aspect of Agile projects is that processes and methods should be adapted to fit the project. This analysis and adaptation is known as:</a:t>
            </a:r>
          </a:p>
          <a:p>
            <a:endParaRPr lang="en-US" dirty="0" smtClean="0"/>
          </a:p>
          <a:p>
            <a:r>
              <a:rPr lang="en-US" dirty="0" smtClean="0"/>
              <a:t>A. Process tailoring</a:t>
            </a:r>
          </a:p>
          <a:p>
            <a:r>
              <a:rPr lang="en-US" dirty="0" smtClean="0"/>
              <a:t>B. Value stream mapping</a:t>
            </a:r>
          </a:p>
          <a:p>
            <a:r>
              <a:rPr lang="en-US" dirty="0" smtClean="0"/>
              <a:t>C. The chameleon effect</a:t>
            </a:r>
          </a:p>
          <a:p>
            <a:r>
              <a:rPr lang="en-US" dirty="0" smtClean="0"/>
              <a:t>D. Project adaptation</a:t>
            </a:r>
          </a:p>
          <a:p>
            <a:r>
              <a:rPr lang="en-US" dirty="0" smtClean="0"/>
              <a:t>  </a:t>
            </a:r>
          </a:p>
          <a:p>
            <a:r>
              <a:rPr lang="en-US" dirty="0" smtClean="0"/>
              <a:t>The concept that drives process tailoring is that the process should add value to the project - not vice versa. Projects should not be shaped to fit the process or tools - the shapes of processes and tools should be driven by the project need.</a:t>
            </a:r>
            <a:endParaRPr lang="en-US" dirty="0"/>
          </a:p>
        </p:txBody>
      </p:sp>
    </p:spTree>
    <p:extLst>
      <p:ext uri="{BB962C8B-B14F-4D97-AF65-F5344CB8AC3E}">
        <p14:creationId xmlns:p14="http://schemas.microsoft.com/office/powerpoint/2010/main" val="26391004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2862322"/>
          </a:xfrm>
          <a:prstGeom prst="rect">
            <a:avLst/>
          </a:prstGeom>
          <a:noFill/>
        </p:spPr>
        <p:txBody>
          <a:bodyPr wrap="square" rtlCol="0">
            <a:spAutoFit/>
          </a:bodyPr>
          <a:lstStyle/>
          <a:p>
            <a:r>
              <a:rPr lang="en-US" dirty="0" smtClean="0"/>
              <a:t>The correct answer is A</a:t>
            </a:r>
          </a:p>
          <a:p>
            <a:r>
              <a:rPr lang="en-US" dirty="0" smtClean="0"/>
              <a:t>An escaped defect is:</a:t>
            </a:r>
          </a:p>
          <a:p>
            <a:endParaRPr lang="en-US" dirty="0" smtClean="0"/>
          </a:p>
          <a:p>
            <a:r>
              <a:rPr lang="en-US" dirty="0" smtClean="0"/>
              <a:t>A. An error in a product delivered to the customer</a:t>
            </a:r>
          </a:p>
          <a:p>
            <a:r>
              <a:rPr lang="en-US" dirty="0" smtClean="0"/>
              <a:t>B. A product error discovered by the XP Tester that got through the development team</a:t>
            </a:r>
          </a:p>
          <a:p>
            <a:r>
              <a:rPr lang="en-US" dirty="0" smtClean="0"/>
              <a:t>C. A problem that was proactively prevented by a programming pair</a:t>
            </a:r>
          </a:p>
          <a:p>
            <a:r>
              <a:rPr lang="en-US" dirty="0" smtClean="0"/>
              <a:t>D. The result of a well-designed team space</a:t>
            </a:r>
          </a:p>
          <a:p>
            <a:r>
              <a:rPr lang="en-US" dirty="0" smtClean="0"/>
              <a:t>  </a:t>
            </a:r>
          </a:p>
          <a:p>
            <a:r>
              <a:rPr lang="en-US" dirty="0" smtClean="0"/>
              <a:t>A problem or error that was delivered to the customer escaped the development team, validation, verification, and acceptance.</a:t>
            </a:r>
            <a:endParaRPr lang="en-US" dirty="0"/>
          </a:p>
        </p:txBody>
      </p:sp>
      <p:sp>
        <p:nvSpPr>
          <p:cNvPr id="3" name="TextBox 2"/>
          <p:cNvSpPr txBox="1"/>
          <p:nvPr/>
        </p:nvSpPr>
        <p:spPr>
          <a:xfrm>
            <a:off x="0" y="413266"/>
            <a:ext cx="8991600"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34018361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19"/>
          </a:xfrm>
          <a:prstGeom prst="rect">
            <a:avLst/>
          </a:prstGeom>
          <a:noFill/>
        </p:spPr>
        <p:txBody>
          <a:bodyPr wrap="square" rtlCol="0">
            <a:spAutoFit/>
          </a:bodyPr>
          <a:lstStyle/>
          <a:p>
            <a:r>
              <a:rPr lang="en-US" dirty="0" smtClean="0"/>
              <a:t>The correct answer is D</a:t>
            </a:r>
          </a:p>
          <a:p>
            <a:r>
              <a:rPr lang="en-US" dirty="0" smtClean="0"/>
              <a:t>The product backlog may be re-ordered when:</a:t>
            </a:r>
          </a:p>
          <a:p>
            <a:endParaRPr lang="en-US" dirty="0" smtClean="0"/>
          </a:p>
          <a:p>
            <a:r>
              <a:rPr lang="en-US" dirty="0" smtClean="0"/>
              <a:t>A. The team votes are factored in with the Product Owner's</a:t>
            </a:r>
          </a:p>
          <a:p>
            <a:r>
              <a:rPr lang="en-US" dirty="0" smtClean="0"/>
              <a:t>B. The deliverables are international rather than just domestic</a:t>
            </a:r>
          </a:p>
          <a:p>
            <a:r>
              <a:rPr lang="en-US" dirty="0" smtClean="0"/>
              <a:t>C. The team velocity increases</a:t>
            </a:r>
          </a:p>
          <a:p>
            <a:r>
              <a:rPr lang="en-US" dirty="0" smtClean="0"/>
              <a:t>D. Story values are adjusted for uncertainty</a:t>
            </a:r>
          </a:p>
          <a:p>
            <a:r>
              <a:rPr lang="en-US" dirty="0" smtClean="0"/>
              <a:t>  </a:t>
            </a:r>
          </a:p>
          <a:p>
            <a:r>
              <a:rPr lang="en-US" dirty="0" smtClean="0"/>
              <a:t>The Product Owner is responsible for creating the product backlog, prioritizing the backlog based on highest value first, and keeping the backlog up to date during and between iterations and releases. The team's velocity has no typical bearing on the story value - but the risk or uncertainty associated with the story may well change the value - and hence the prioritization with the backlog.</a:t>
            </a:r>
            <a:endParaRPr lang="en-US" dirty="0"/>
          </a:p>
        </p:txBody>
      </p:sp>
      <p:sp>
        <p:nvSpPr>
          <p:cNvPr id="3" name="TextBox 2"/>
          <p:cNvSpPr txBox="1"/>
          <p:nvPr/>
        </p:nvSpPr>
        <p:spPr>
          <a:xfrm>
            <a:off x="0" y="413266"/>
            <a:ext cx="8991600"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311172648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693319"/>
          </a:xfrm>
          <a:prstGeom prst="rect">
            <a:avLst/>
          </a:prstGeom>
          <a:noFill/>
        </p:spPr>
        <p:txBody>
          <a:bodyPr wrap="square" rtlCol="0">
            <a:spAutoFit/>
          </a:bodyPr>
          <a:lstStyle/>
          <a:p>
            <a:r>
              <a:rPr lang="en-US" dirty="0" smtClean="0"/>
              <a:t>The correct answer is A</a:t>
            </a:r>
          </a:p>
          <a:p>
            <a:r>
              <a:rPr lang="en-US" dirty="0" smtClean="0"/>
              <a:t>During the daily stand up meeting, a team member voices a problem that has stopped his progress. The </a:t>
            </a:r>
            <a:r>
              <a:rPr lang="en-US" dirty="0" err="1" smtClean="0"/>
              <a:t>ScrumMaster</a:t>
            </a:r>
            <a:r>
              <a:rPr lang="en-US" dirty="0" smtClean="0"/>
              <a:t> should:</a:t>
            </a:r>
          </a:p>
          <a:p>
            <a:endParaRPr lang="en-US" dirty="0" smtClean="0"/>
          </a:p>
          <a:p>
            <a:r>
              <a:rPr lang="en-US" dirty="0" smtClean="0"/>
              <a:t>A. Observe only</a:t>
            </a:r>
          </a:p>
          <a:p>
            <a:r>
              <a:rPr lang="en-US" dirty="0" smtClean="0"/>
              <a:t>B. Facilitate the team in solving the problem before adjourning the meeting</a:t>
            </a:r>
          </a:p>
          <a:p>
            <a:r>
              <a:rPr lang="en-US" dirty="0" smtClean="0"/>
              <a:t>C. Reassign the task to a more capable team member</a:t>
            </a:r>
          </a:p>
          <a:p>
            <a:r>
              <a:rPr lang="en-US" dirty="0" smtClean="0"/>
              <a:t>D. Create a programming pair</a:t>
            </a:r>
          </a:p>
          <a:p>
            <a:r>
              <a:rPr lang="en-US" dirty="0" smtClean="0"/>
              <a:t>  </a:t>
            </a:r>
          </a:p>
          <a:p>
            <a:r>
              <a:rPr lang="en-US" dirty="0" smtClean="0"/>
              <a:t>Sometimes it is difficult to allow the team to take charge and solve its problems, especially when you are accustomed to resolving problems in a direct, confrontational manner which is very effective. Do not impede the daily stand up, do not reassign the task, do not reactively create programming pairs. The team will collaborate and collectively own this problem.</a:t>
            </a:r>
            <a:endParaRPr lang="en-US" dirty="0"/>
          </a:p>
        </p:txBody>
      </p:sp>
    </p:spTree>
    <p:extLst>
      <p:ext uri="{BB962C8B-B14F-4D97-AF65-F5344CB8AC3E}">
        <p14:creationId xmlns:p14="http://schemas.microsoft.com/office/powerpoint/2010/main" val="308446931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693319"/>
          </a:xfrm>
          <a:prstGeom prst="rect">
            <a:avLst/>
          </a:prstGeom>
          <a:noFill/>
        </p:spPr>
        <p:txBody>
          <a:bodyPr wrap="square" rtlCol="0">
            <a:spAutoFit/>
          </a:bodyPr>
          <a:lstStyle/>
          <a:p>
            <a:r>
              <a:rPr lang="en-US" dirty="0" smtClean="0"/>
              <a:t>The correct answer is C</a:t>
            </a:r>
          </a:p>
          <a:p>
            <a:r>
              <a:rPr lang="en-US" dirty="0" smtClean="0"/>
              <a:t>A Daily Stand-Up Meeting is an example of the practice of limiting a duration of a meeting or activity so that the event has a non-negotiable start and stop defined. What term or phrase represents this method or practice?</a:t>
            </a:r>
          </a:p>
          <a:p>
            <a:endParaRPr lang="en-US" dirty="0" smtClean="0"/>
          </a:p>
          <a:p>
            <a:r>
              <a:rPr lang="en-US" dirty="0" smtClean="0"/>
              <a:t>A. Scrum of Scrums</a:t>
            </a:r>
          </a:p>
          <a:p>
            <a:r>
              <a:rPr lang="en-US" dirty="0" smtClean="0"/>
              <a:t>B. Value-driven time management</a:t>
            </a:r>
          </a:p>
          <a:p>
            <a:r>
              <a:rPr lang="en-US" dirty="0" smtClean="0"/>
              <a:t>C. </a:t>
            </a:r>
            <a:r>
              <a:rPr lang="en-US" dirty="0" err="1" smtClean="0"/>
              <a:t>Timeboxing</a:t>
            </a:r>
            <a:endParaRPr lang="en-US" dirty="0" smtClean="0"/>
          </a:p>
          <a:p>
            <a:r>
              <a:rPr lang="en-US" dirty="0" smtClean="0"/>
              <a:t>D. Patterson's Principle</a:t>
            </a:r>
          </a:p>
          <a:p>
            <a:r>
              <a:rPr lang="en-US" dirty="0" smtClean="0"/>
              <a:t>  </a:t>
            </a:r>
          </a:p>
          <a:p>
            <a:r>
              <a:rPr lang="en-US" dirty="0" smtClean="0"/>
              <a:t>C is the correct answer. </a:t>
            </a:r>
            <a:r>
              <a:rPr lang="en-US" dirty="0" err="1" smtClean="0"/>
              <a:t>Timeboxing</a:t>
            </a:r>
            <a:r>
              <a:rPr lang="en-US" dirty="0" smtClean="0"/>
              <a:t> or a time-box is the practice of limiting activities to a set amount of time. </a:t>
            </a:r>
            <a:r>
              <a:rPr lang="en-US" dirty="0" err="1" smtClean="0"/>
              <a:t>Timeboxing</a:t>
            </a:r>
            <a:r>
              <a:rPr lang="en-US" dirty="0" smtClean="0"/>
              <a:t> is common to all Agile methods. And, the Daily Stand-Up is a great example - it is limited to 15 minutes max.</a:t>
            </a:r>
            <a:endParaRPr lang="en-US" dirty="0"/>
          </a:p>
        </p:txBody>
      </p:sp>
    </p:spTree>
    <p:extLst>
      <p:ext uri="{BB962C8B-B14F-4D97-AF65-F5344CB8AC3E}">
        <p14:creationId xmlns:p14="http://schemas.microsoft.com/office/powerpoint/2010/main" val="27401657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2862322"/>
          </a:xfrm>
          <a:prstGeom prst="rect">
            <a:avLst/>
          </a:prstGeom>
          <a:noFill/>
        </p:spPr>
        <p:txBody>
          <a:bodyPr wrap="square" rtlCol="0">
            <a:spAutoFit/>
          </a:bodyPr>
          <a:lstStyle/>
          <a:p>
            <a:r>
              <a:rPr lang="en-US" dirty="0" smtClean="0"/>
              <a:t>The correct answer is A</a:t>
            </a:r>
          </a:p>
          <a:p>
            <a:r>
              <a:rPr lang="en-US" dirty="0" smtClean="0"/>
              <a:t>Agile earned value management is most appropriately applied at which project level?</a:t>
            </a:r>
          </a:p>
          <a:p>
            <a:endParaRPr lang="en-US" dirty="0" smtClean="0"/>
          </a:p>
          <a:p>
            <a:r>
              <a:rPr lang="en-US" dirty="0" smtClean="0"/>
              <a:t>A. Iteration</a:t>
            </a:r>
          </a:p>
          <a:p>
            <a:r>
              <a:rPr lang="en-US" dirty="0" smtClean="0"/>
              <a:t>B. Programmer pair</a:t>
            </a:r>
          </a:p>
          <a:p>
            <a:r>
              <a:rPr lang="en-US" dirty="0" smtClean="0"/>
              <a:t>C. XP Folder level</a:t>
            </a:r>
          </a:p>
          <a:p>
            <a:r>
              <a:rPr lang="en-US" dirty="0" smtClean="0"/>
              <a:t>D. Release</a:t>
            </a:r>
          </a:p>
          <a:p>
            <a:r>
              <a:rPr lang="en-US" dirty="0" smtClean="0"/>
              <a:t>  </a:t>
            </a:r>
          </a:p>
          <a:p>
            <a:r>
              <a:rPr lang="en-US" dirty="0" smtClean="0"/>
              <a:t>Tracking and reporting of costs and accomplished story points is most appropriately applied at each iteration or sprint in a release. The XP Folder level is a made-up term.</a:t>
            </a:r>
            <a:endParaRPr lang="en-US" dirty="0"/>
          </a:p>
        </p:txBody>
      </p:sp>
    </p:spTree>
    <p:extLst>
      <p:ext uri="{BB962C8B-B14F-4D97-AF65-F5344CB8AC3E}">
        <p14:creationId xmlns:p14="http://schemas.microsoft.com/office/powerpoint/2010/main" val="197514830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693319"/>
          </a:xfrm>
          <a:prstGeom prst="rect">
            <a:avLst/>
          </a:prstGeom>
          <a:noFill/>
        </p:spPr>
        <p:txBody>
          <a:bodyPr wrap="square" rtlCol="0">
            <a:spAutoFit/>
          </a:bodyPr>
          <a:lstStyle/>
          <a:p>
            <a:r>
              <a:rPr lang="en-US" dirty="0" smtClean="0"/>
              <a:t>The correct answer is C</a:t>
            </a:r>
          </a:p>
          <a:p>
            <a:r>
              <a:rPr lang="en-US" dirty="0" smtClean="0"/>
              <a:t>A software module has been tasked, but the team is uncertain if the approach will function on each of the targeted operating systems in the story. The team should:</a:t>
            </a:r>
          </a:p>
          <a:p>
            <a:endParaRPr lang="en-US" dirty="0" smtClean="0"/>
          </a:p>
          <a:p>
            <a:r>
              <a:rPr lang="en-US" dirty="0" smtClean="0"/>
              <a:t>A. Negotiate with the Product Owner for a reduction in targeted operating systems</a:t>
            </a:r>
          </a:p>
          <a:p>
            <a:r>
              <a:rPr lang="en-US" dirty="0" smtClean="0"/>
              <a:t>B. Query the organization's knowledge base for the most commonly used operating system to deliver value faster</a:t>
            </a:r>
          </a:p>
          <a:p>
            <a:r>
              <a:rPr lang="en-US" dirty="0" smtClean="0"/>
              <a:t>C. Perform a risk-based spike</a:t>
            </a:r>
          </a:p>
          <a:p>
            <a:r>
              <a:rPr lang="en-US" dirty="0" smtClean="0"/>
              <a:t>D. Contact technical support at each of the operating system vendors' offices for application notes</a:t>
            </a:r>
          </a:p>
          <a:p>
            <a:r>
              <a:rPr lang="en-US" dirty="0" smtClean="0"/>
              <a:t>  </a:t>
            </a:r>
          </a:p>
          <a:p>
            <a:r>
              <a:rPr lang="en-US" dirty="0" smtClean="0"/>
              <a:t>A spike is an experiment performed to provide a basis for making a design or development decision, or to answer the questions posed by an uncertainty or risk.</a:t>
            </a:r>
            <a:endParaRPr lang="en-US" dirty="0"/>
          </a:p>
        </p:txBody>
      </p:sp>
    </p:spTree>
    <p:extLst>
      <p:ext uri="{BB962C8B-B14F-4D97-AF65-F5344CB8AC3E}">
        <p14:creationId xmlns:p14="http://schemas.microsoft.com/office/powerpoint/2010/main" val="185992557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4031873"/>
          </a:xfrm>
          <a:prstGeom prst="rect">
            <a:avLst/>
          </a:prstGeom>
          <a:noFill/>
        </p:spPr>
        <p:txBody>
          <a:bodyPr wrap="square" rtlCol="0">
            <a:spAutoFit/>
          </a:bodyPr>
          <a:lstStyle/>
          <a:p>
            <a:r>
              <a:rPr lang="en-US" sz="1600" dirty="0" smtClean="0"/>
              <a:t>The correct answer is D</a:t>
            </a:r>
          </a:p>
          <a:p>
            <a:r>
              <a:rPr lang="en-US" sz="1600" dirty="0" smtClean="0"/>
              <a:t>The team has a few hours to plan for the upcoming iteration, which starts tomorrow. The Product Owner has described the backlog, and now the team is discussing how many of the features the team can build in the upcoming iteration. Initially, what should the team do?</a:t>
            </a:r>
          </a:p>
          <a:p>
            <a:endParaRPr lang="en-US" sz="1600" dirty="0" smtClean="0"/>
          </a:p>
          <a:p>
            <a:r>
              <a:rPr lang="en-US" sz="1600" dirty="0" smtClean="0"/>
              <a:t>A. Spread cards out on the table so that all team members can vote using a Fibonacci sequence</a:t>
            </a:r>
          </a:p>
          <a:p>
            <a:r>
              <a:rPr lang="en-US" sz="1600" dirty="0" smtClean="0"/>
              <a:t>B. Prioritize the list of features based on the amount of value each feature will bring to the product</a:t>
            </a:r>
          </a:p>
          <a:p>
            <a:r>
              <a:rPr lang="en-US" sz="1600" dirty="0" smtClean="0"/>
              <a:t>C. Reflect on what went well in the last iteration and what should be improved on this one</a:t>
            </a:r>
          </a:p>
          <a:p>
            <a:r>
              <a:rPr lang="en-US" sz="1600" dirty="0" smtClean="0"/>
              <a:t>D. Discuss how the team will measure story points</a:t>
            </a:r>
          </a:p>
          <a:p>
            <a:r>
              <a:rPr lang="en-US" sz="1600" dirty="0" smtClean="0"/>
              <a:t>  </a:t>
            </a:r>
          </a:p>
          <a:p>
            <a:r>
              <a:rPr lang="en-US" sz="1600" dirty="0" smtClean="0"/>
              <a:t>All 4 answers sound nice; however, D is the correct answer. The team is estimating, so they should determine how they will go about assigning story points to features or stories. Answer-A describes planning poker, which is a valid means of estimating stories. But, A is not as complete an answer as D; there are other means of estimating. B is wrong - the team does not prioritize the product backlog; that's the responsibility of the Product Owner. C is not appropriate here; these reflections should take place prior to the iteration planning meeting in the retrospective.</a:t>
            </a:r>
            <a:endParaRPr lang="en-US" sz="1600" dirty="0"/>
          </a:p>
        </p:txBody>
      </p:sp>
      <p:sp>
        <p:nvSpPr>
          <p:cNvPr id="3" name="TextBox 2"/>
          <p:cNvSpPr txBox="1"/>
          <p:nvPr/>
        </p:nvSpPr>
        <p:spPr>
          <a:xfrm>
            <a:off x="0" y="413266"/>
            <a:ext cx="8991600"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39045929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416320"/>
          </a:xfrm>
          <a:prstGeom prst="rect">
            <a:avLst/>
          </a:prstGeom>
          <a:noFill/>
        </p:spPr>
        <p:txBody>
          <a:bodyPr wrap="square" rtlCol="0">
            <a:spAutoFit/>
          </a:bodyPr>
          <a:lstStyle/>
          <a:p>
            <a:r>
              <a:rPr lang="en-US" dirty="0" smtClean="0"/>
              <a:t>The correct answer is B</a:t>
            </a:r>
          </a:p>
          <a:p>
            <a:r>
              <a:rPr lang="en-US" dirty="0" smtClean="0"/>
              <a:t>Brainstorming:</a:t>
            </a:r>
          </a:p>
          <a:p>
            <a:endParaRPr lang="en-US" dirty="0" smtClean="0"/>
          </a:p>
          <a:p>
            <a:r>
              <a:rPr lang="en-US" dirty="0" smtClean="0"/>
              <a:t>A. Is an example of an innovation game</a:t>
            </a:r>
          </a:p>
          <a:p>
            <a:r>
              <a:rPr lang="en-US" dirty="0" smtClean="0"/>
              <a:t>B. Involves the entire team as it fosters creativity and idea generation</a:t>
            </a:r>
          </a:p>
          <a:p>
            <a:r>
              <a:rPr lang="en-US" dirty="0" smtClean="0"/>
              <a:t>C. Is enhanced by asking 'Why?' at least five times per idea</a:t>
            </a:r>
          </a:p>
          <a:p>
            <a:r>
              <a:rPr lang="en-US" dirty="0" smtClean="0"/>
              <a:t>D. Is a favored Agile technique used with the Product Owner and the team to place the product backlog in optimum order</a:t>
            </a:r>
          </a:p>
          <a:p>
            <a:r>
              <a:rPr lang="en-US" dirty="0" smtClean="0"/>
              <a:t>  </a:t>
            </a:r>
          </a:p>
          <a:p>
            <a:r>
              <a:rPr lang="en-US" dirty="0" smtClean="0"/>
              <a:t>Brainstorming involves the entire team. It is not considered an innovation game, nor is it a time to dissect each idea by asking 5 Whys (this is better applied in Root case analysis). The Product Owner is solely responsible for prioritizing the product backlog, not the team.</a:t>
            </a:r>
            <a:endParaRPr lang="en-US" dirty="0"/>
          </a:p>
        </p:txBody>
      </p:sp>
    </p:spTree>
    <p:extLst>
      <p:ext uri="{BB962C8B-B14F-4D97-AF65-F5344CB8AC3E}">
        <p14:creationId xmlns:p14="http://schemas.microsoft.com/office/powerpoint/2010/main" val="176857331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4770537"/>
          </a:xfrm>
          <a:prstGeom prst="rect">
            <a:avLst/>
          </a:prstGeom>
          <a:noFill/>
        </p:spPr>
        <p:txBody>
          <a:bodyPr wrap="square" rtlCol="0">
            <a:spAutoFit/>
          </a:bodyPr>
          <a:lstStyle/>
          <a:p>
            <a:r>
              <a:rPr lang="en-US" sz="1600" dirty="0" smtClean="0"/>
              <a:t>The correct answer is A</a:t>
            </a:r>
          </a:p>
          <a:p>
            <a:r>
              <a:rPr lang="en-US" sz="1600" dirty="0" smtClean="0"/>
              <a:t>Some practitioners make use of a risk-adjusted backlog in Agile projects. Which of these 4 statements is true regarding a risk-adjusted backlog?</a:t>
            </a:r>
          </a:p>
          <a:p>
            <a:endParaRPr lang="en-US" sz="1600" dirty="0" smtClean="0"/>
          </a:p>
          <a:p>
            <a:r>
              <a:rPr lang="en-US" sz="1600" dirty="0" smtClean="0"/>
              <a:t>A. A risk-adjusted backlog is a ranked list that includes items related to the value of a feature and items related to the cost of a risk</a:t>
            </a:r>
          </a:p>
          <a:p>
            <a:r>
              <a:rPr lang="en-US" sz="1600" dirty="0" smtClean="0"/>
              <a:t>B. A product backlog will have items listed and ranked the same as a risk-adjusted backlog</a:t>
            </a:r>
          </a:p>
          <a:p>
            <a:r>
              <a:rPr lang="en-US" sz="1600" dirty="0" smtClean="0"/>
              <a:t>C. A risk-adjusted backlog is a prioritized list that assigns weighted scores to each item based on the value times the risk score for that feature</a:t>
            </a:r>
          </a:p>
          <a:p>
            <a:r>
              <a:rPr lang="en-US" sz="1600" dirty="0" smtClean="0"/>
              <a:t>D. A product backlog can be restated as a risk-adjusted backlog by applying quantitative risk techniques to each feature in the backlog</a:t>
            </a:r>
          </a:p>
          <a:p>
            <a:r>
              <a:rPr lang="en-US" sz="1600" dirty="0" smtClean="0"/>
              <a:t>  </a:t>
            </a:r>
          </a:p>
          <a:p>
            <a:r>
              <a:rPr lang="en-US" sz="1600" dirty="0" smtClean="0"/>
              <a:t>A is the best answer. Risk-adjusted backlogs differ from product backlogs in that the risk-adjusted backlog includes items for potential risks. So, this backlog has a blend of positives and negatives - the positive, value-driven features and the negative, costly risks. Think of it this way. Your project may have 3 features that will bring immediate value to the product - things the Customer wants now. There may be a risk that is looming in the near future...a security breach, a compliance issue, faulty parts from a vendor. If this risk occurs, it will cost money. Where features bring in money to your organization (revenues), risk takes away money (costs). The risk-adjusted backlog includes items for both.</a:t>
            </a:r>
            <a:endParaRPr lang="en-US" sz="1600" dirty="0"/>
          </a:p>
        </p:txBody>
      </p:sp>
    </p:spTree>
    <p:extLst>
      <p:ext uri="{BB962C8B-B14F-4D97-AF65-F5344CB8AC3E}">
        <p14:creationId xmlns:p14="http://schemas.microsoft.com/office/powerpoint/2010/main" val="389115384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4247317"/>
          </a:xfrm>
          <a:prstGeom prst="rect">
            <a:avLst/>
          </a:prstGeom>
          <a:noFill/>
        </p:spPr>
        <p:txBody>
          <a:bodyPr wrap="square" rtlCol="0">
            <a:spAutoFit/>
          </a:bodyPr>
          <a:lstStyle/>
          <a:p>
            <a:r>
              <a:rPr lang="en-US" dirty="0" smtClean="0"/>
              <a:t>The correct answer is B</a:t>
            </a:r>
          </a:p>
          <a:p>
            <a:r>
              <a:rPr lang="en-US" dirty="0" smtClean="0"/>
              <a:t>Which of the following statements is most valid concerning Net Present Value (NPV) and Present Value(PV)?</a:t>
            </a:r>
          </a:p>
          <a:p>
            <a:endParaRPr lang="en-US" dirty="0" smtClean="0"/>
          </a:p>
          <a:p>
            <a:r>
              <a:rPr lang="en-US" dirty="0" smtClean="0"/>
              <a:t>A. When using these measures to compare relative value of two projects, the project with the smaller PV or NPV is the better investment</a:t>
            </a:r>
          </a:p>
          <a:p>
            <a:r>
              <a:rPr lang="en-US" dirty="0" smtClean="0"/>
              <a:t>B. NPV factors in costs with benefits while PV only considers the benefits</a:t>
            </a:r>
          </a:p>
          <a:p>
            <a:r>
              <a:rPr lang="en-US" dirty="0" smtClean="0"/>
              <a:t>C. When considering the chartering of new projects which have future costs as well as future positive cash flows, the use of PV is more comprehensive than NPV as a relative benefit measurement</a:t>
            </a:r>
          </a:p>
          <a:p>
            <a:r>
              <a:rPr lang="en-US" dirty="0" smtClean="0"/>
              <a:t>D. The Internal Rate of Return is the same for both benefit measurement methods</a:t>
            </a:r>
          </a:p>
          <a:p>
            <a:r>
              <a:rPr lang="en-US" dirty="0" smtClean="0"/>
              <a:t>  </a:t>
            </a:r>
          </a:p>
          <a:p>
            <a:r>
              <a:rPr lang="en-US" dirty="0" smtClean="0"/>
              <a:t>Net Present Value is the discounted future project values of both benefits and costs while Present Value only discounts future benefits into today's value for relative measurement. In both methods, bigger is better for project selection and chartering.</a:t>
            </a:r>
            <a:endParaRPr lang="en-US" dirty="0"/>
          </a:p>
        </p:txBody>
      </p:sp>
    </p:spTree>
    <p:extLst>
      <p:ext uri="{BB962C8B-B14F-4D97-AF65-F5344CB8AC3E}">
        <p14:creationId xmlns:p14="http://schemas.microsoft.com/office/powerpoint/2010/main" val="82633770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139321"/>
          </a:xfrm>
          <a:prstGeom prst="rect">
            <a:avLst/>
          </a:prstGeom>
          <a:noFill/>
        </p:spPr>
        <p:txBody>
          <a:bodyPr wrap="square" rtlCol="0">
            <a:spAutoFit/>
          </a:bodyPr>
          <a:lstStyle/>
          <a:p>
            <a:r>
              <a:rPr lang="en-US" dirty="0" smtClean="0"/>
              <a:t>The correct answer is B</a:t>
            </a:r>
          </a:p>
          <a:p>
            <a:r>
              <a:rPr lang="en-US" dirty="0" smtClean="0"/>
              <a:t>Agile is in support of self-organizing, empowered teams. If the team neglects Agile practices over time and loses effectiveness, who is responsible for getting the team back on track?</a:t>
            </a:r>
          </a:p>
          <a:p>
            <a:endParaRPr lang="en-US" dirty="0" smtClean="0"/>
          </a:p>
          <a:p>
            <a:r>
              <a:rPr lang="en-US" dirty="0" smtClean="0"/>
              <a:t>A. The team</a:t>
            </a:r>
          </a:p>
          <a:p>
            <a:r>
              <a:rPr lang="en-US" dirty="0" smtClean="0"/>
              <a:t>B. The coach</a:t>
            </a:r>
          </a:p>
          <a:p>
            <a:r>
              <a:rPr lang="en-US" dirty="0" smtClean="0"/>
              <a:t>C. The PMO</a:t>
            </a:r>
          </a:p>
          <a:p>
            <a:r>
              <a:rPr lang="en-US" dirty="0" smtClean="0"/>
              <a:t>D. Senior management</a:t>
            </a:r>
          </a:p>
          <a:p>
            <a:r>
              <a:rPr lang="en-US" dirty="0" smtClean="0"/>
              <a:t>  </a:t>
            </a:r>
          </a:p>
          <a:p>
            <a:r>
              <a:rPr lang="en-US" dirty="0" smtClean="0"/>
              <a:t>Did you choose A? That was a trap. The role of the coach is to train, mentor, and encourage the team members to make use of effective Agile practices.</a:t>
            </a:r>
            <a:endParaRPr lang="en-US" dirty="0"/>
          </a:p>
        </p:txBody>
      </p:sp>
    </p:spTree>
    <p:extLst>
      <p:ext uri="{BB962C8B-B14F-4D97-AF65-F5344CB8AC3E}">
        <p14:creationId xmlns:p14="http://schemas.microsoft.com/office/powerpoint/2010/main" val="91201801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4247317"/>
          </a:xfrm>
          <a:prstGeom prst="rect">
            <a:avLst/>
          </a:prstGeom>
          <a:noFill/>
        </p:spPr>
        <p:txBody>
          <a:bodyPr wrap="square" rtlCol="0">
            <a:spAutoFit/>
          </a:bodyPr>
          <a:lstStyle/>
          <a:p>
            <a:r>
              <a:rPr lang="en-US" dirty="0" smtClean="0"/>
              <a:t>The correct answer is B</a:t>
            </a:r>
          </a:p>
          <a:p>
            <a:r>
              <a:rPr lang="en-US" dirty="0" smtClean="0"/>
              <a:t>Should the Product Owner be involved in iteration planning?</a:t>
            </a:r>
          </a:p>
          <a:p>
            <a:endParaRPr lang="en-US" dirty="0" smtClean="0"/>
          </a:p>
          <a:p>
            <a:r>
              <a:rPr lang="en-US" dirty="0" smtClean="0"/>
              <a:t>A. No, the Agile team is responsible for getting the work done, and only the team is allowed to commit to the number of features or stories that will be accomplished in an iteration</a:t>
            </a:r>
          </a:p>
          <a:p>
            <a:r>
              <a:rPr lang="en-US" dirty="0" smtClean="0"/>
              <a:t>B. Yes, the Product Owner grooms or maintains the Product Backlog and will prioritize that backlog based on those features or stories that will add the most value</a:t>
            </a:r>
          </a:p>
          <a:p>
            <a:r>
              <a:rPr lang="en-US" dirty="0" smtClean="0"/>
              <a:t>C. No, the Product Owner is not involved in iteration planning unless he or she is a subject matter expert and truly part of the working team</a:t>
            </a:r>
          </a:p>
          <a:p>
            <a:r>
              <a:rPr lang="en-US" dirty="0" smtClean="0"/>
              <a:t>D. Yes, the Product Owner is included in iteration planning as a chicken - observe and listen without interrupting</a:t>
            </a:r>
          </a:p>
          <a:p>
            <a:r>
              <a:rPr lang="en-US" dirty="0" smtClean="0"/>
              <a:t>  </a:t>
            </a:r>
          </a:p>
          <a:p>
            <a:r>
              <a:rPr lang="en-US" dirty="0" smtClean="0"/>
              <a:t>B is the best choice of the 4. The Product Owner creates and maintains the backlog for the product; therefore, the Product Owner directs the team activities by prioritizing items in the backlog based on anticipated value of each item.</a:t>
            </a:r>
            <a:endParaRPr lang="en-US" dirty="0"/>
          </a:p>
        </p:txBody>
      </p:sp>
    </p:spTree>
    <p:extLst>
      <p:ext uri="{BB962C8B-B14F-4D97-AF65-F5344CB8AC3E}">
        <p14:creationId xmlns:p14="http://schemas.microsoft.com/office/powerpoint/2010/main" val="8717201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970318"/>
          </a:xfrm>
          <a:prstGeom prst="rect">
            <a:avLst/>
          </a:prstGeom>
          <a:noFill/>
        </p:spPr>
        <p:txBody>
          <a:bodyPr wrap="square" rtlCol="0">
            <a:spAutoFit/>
          </a:bodyPr>
          <a:lstStyle/>
          <a:p>
            <a:r>
              <a:rPr lang="en-US" dirty="0" smtClean="0"/>
              <a:t>The correct answer is C</a:t>
            </a:r>
          </a:p>
          <a:p>
            <a:r>
              <a:rPr lang="en-US" dirty="0" smtClean="0"/>
              <a:t>Why is frequent verification and validation emphasized in Agile projects?</a:t>
            </a:r>
          </a:p>
          <a:p>
            <a:endParaRPr lang="en-US" dirty="0" smtClean="0"/>
          </a:p>
          <a:p>
            <a:r>
              <a:rPr lang="en-US" dirty="0" smtClean="0"/>
              <a:t>A. The Customer must receive a high-quality product at a low cost; therefore, these tenets are essential</a:t>
            </a:r>
          </a:p>
          <a:p>
            <a:r>
              <a:rPr lang="en-US" dirty="0" smtClean="0"/>
              <a:t>B. Bugs and defects are costly downstream and cause the Customer to lose confidence in the project team; therefore, frequent testing is a must</a:t>
            </a:r>
          </a:p>
          <a:p>
            <a:r>
              <a:rPr lang="en-US" dirty="0" smtClean="0"/>
              <a:t>C. It aligns with the principle of satisfying the Customer through early and continuous delivery of valuable software</a:t>
            </a:r>
          </a:p>
          <a:p>
            <a:r>
              <a:rPr lang="en-US" dirty="0" smtClean="0"/>
              <a:t>D. The Agile Manifesto states that continuous integration and verification are the primary means of delivering quality and value to the Customer</a:t>
            </a:r>
          </a:p>
          <a:p>
            <a:r>
              <a:rPr lang="en-US" dirty="0" smtClean="0"/>
              <a:t>  </a:t>
            </a:r>
          </a:p>
          <a:p>
            <a:r>
              <a:rPr lang="en-US" dirty="0" smtClean="0"/>
              <a:t>C is the best choice of the 4. There are portions of truth in all statements, but C is best. C actually describes the first principle of the Agile Manifesto.</a:t>
            </a:r>
            <a:endParaRPr lang="en-US" dirty="0"/>
          </a:p>
        </p:txBody>
      </p:sp>
      <p:sp>
        <p:nvSpPr>
          <p:cNvPr id="3" name="TextBox 2"/>
          <p:cNvSpPr txBox="1"/>
          <p:nvPr/>
        </p:nvSpPr>
        <p:spPr>
          <a:xfrm>
            <a:off x="0" y="413266"/>
            <a:ext cx="8991600"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26551633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4524315"/>
          </a:xfrm>
          <a:prstGeom prst="rect">
            <a:avLst/>
          </a:prstGeom>
          <a:noFill/>
        </p:spPr>
        <p:txBody>
          <a:bodyPr wrap="square" rtlCol="0">
            <a:spAutoFit/>
          </a:bodyPr>
          <a:lstStyle/>
          <a:p>
            <a:r>
              <a:rPr lang="en-US" sz="1600" dirty="0" smtClean="0"/>
              <a:t>The correct answer is D</a:t>
            </a:r>
          </a:p>
          <a:p>
            <a:r>
              <a:rPr lang="en-US" sz="1600" dirty="0" smtClean="0"/>
              <a:t>Consider the following 4 statements about the practice-based methodology of modeling and documenting the development of software-based systems. Choose the answer that is the most accurate of the 4.</a:t>
            </a:r>
          </a:p>
          <a:p>
            <a:endParaRPr lang="en-US" sz="1600" dirty="0" smtClean="0"/>
          </a:p>
          <a:p>
            <a:r>
              <a:rPr lang="en-US" sz="1600" dirty="0" smtClean="0"/>
              <a:t>A. Agile modeling should be performed early in the project exclusively by the self-organized team and sets proper expectations for other stakeholders</a:t>
            </a:r>
          </a:p>
          <a:p>
            <a:r>
              <a:rPr lang="en-US" sz="1600" dirty="0" smtClean="0"/>
              <a:t>B. Agile chartering is the initial phase of each development project and includes creation of workflow models and diagrams</a:t>
            </a:r>
          </a:p>
          <a:p>
            <a:r>
              <a:rPr lang="en-US" sz="1600" dirty="0" smtClean="0"/>
              <a:t>C. Agile modeling is the preferred methodology for non-distributed, co-located teams that can commit to and follow a visible depiction of best practices</a:t>
            </a:r>
          </a:p>
          <a:p>
            <a:r>
              <a:rPr lang="en-US" sz="1600" dirty="0" smtClean="0"/>
              <a:t>D. Agile modeling should include all project stakeholders and encourage effective communication, simple solutions, and frequent feedback</a:t>
            </a:r>
          </a:p>
          <a:p>
            <a:r>
              <a:rPr lang="en-US" sz="1600" dirty="0" smtClean="0"/>
              <a:t>  </a:t>
            </a:r>
          </a:p>
          <a:p>
            <a:r>
              <a:rPr lang="en-US" sz="1600" dirty="0" smtClean="0"/>
              <a:t>Answer D is the best choice. The description in the question indicates this topic of Agile modeling - a methodology for documenting and modeling software systems that is effective in development projects. Answer-A is not good - these tasks should include all stakeholders to bring about the clear communication described correctly in D. B is off-track with the chartering name. C sounds as if this Agile modeling can only be performed by teams when everyone is located in the same workspace - not true. D is the best answer.</a:t>
            </a:r>
            <a:endParaRPr lang="en-US" sz="1600" dirty="0"/>
          </a:p>
        </p:txBody>
      </p:sp>
      <p:sp>
        <p:nvSpPr>
          <p:cNvPr id="3" name="TextBox 2"/>
          <p:cNvSpPr txBox="1"/>
          <p:nvPr/>
        </p:nvSpPr>
        <p:spPr>
          <a:xfrm>
            <a:off x="0" y="413266"/>
            <a:ext cx="8991600"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286243027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693319"/>
          </a:xfrm>
          <a:prstGeom prst="rect">
            <a:avLst/>
          </a:prstGeom>
          <a:noFill/>
        </p:spPr>
        <p:txBody>
          <a:bodyPr wrap="square" rtlCol="0">
            <a:spAutoFit/>
          </a:bodyPr>
          <a:lstStyle/>
          <a:p>
            <a:r>
              <a:rPr lang="en-US" dirty="0" smtClean="0"/>
              <a:t>The correct answer is C</a:t>
            </a:r>
          </a:p>
          <a:p>
            <a:r>
              <a:rPr lang="en-US" dirty="0" smtClean="0"/>
              <a:t>Software development projects can be very challenging to plan, perform, and manage. Scrum addresses the challenge by implementing empirical process control to adjust plans based on progress. What are the three key values of Scrum that are associated with this approach?</a:t>
            </a:r>
          </a:p>
          <a:p>
            <a:endParaRPr lang="en-US" dirty="0" smtClean="0"/>
          </a:p>
          <a:p>
            <a:r>
              <a:rPr lang="en-US" dirty="0" smtClean="0"/>
              <a:t>A. Communication, inspection, value-realization</a:t>
            </a:r>
          </a:p>
          <a:p>
            <a:r>
              <a:rPr lang="en-US" dirty="0" smtClean="0"/>
              <a:t>B. Adaptation, communication, sustainability</a:t>
            </a:r>
          </a:p>
          <a:p>
            <a:r>
              <a:rPr lang="en-US" dirty="0" smtClean="0"/>
              <a:t>C. Visibility, inspection, adaptation</a:t>
            </a:r>
          </a:p>
          <a:p>
            <a:r>
              <a:rPr lang="en-US" dirty="0" smtClean="0"/>
              <a:t>D. Sustainable pace, maintainable solution, face-to-face communication</a:t>
            </a:r>
          </a:p>
          <a:p>
            <a:r>
              <a:rPr lang="en-US" dirty="0" smtClean="0"/>
              <a:t>  </a:t>
            </a:r>
          </a:p>
          <a:p>
            <a:r>
              <a:rPr lang="en-US" dirty="0" smtClean="0"/>
              <a:t>Scrum embraces the idea of empirical process control - that our projects will be imperfectly defined and often involve results that are difficult to predict. Therefore, Scrum embraces these 3 values: visibility or transparency, frequent inspection, and frequent adaptation.</a:t>
            </a:r>
            <a:endParaRPr lang="en-US" dirty="0"/>
          </a:p>
        </p:txBody>
      </p:sp>
    </p:spTree>
    <p:extLst>
      <p:ext uri="{BB962C8B-B14F-4D97-AF65-F5344CB8AC3E}">
        <p14:creationId xmlns:p14="http://schemas.microsoft.com/office/powerpoint/2010/main" val="162491814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139321"/>
          </a:xfrm>
          <a:prstGeom prst="rect">
            <a:avLst/>
          </a:prstGeom>
          <a:noFill/>
        </p:spPr>
        <p:txBody>
          <a:bodyPr wrap="square" rtlCol="0">
            <a:spAutoFit/>
          </a:bodyPr>
          <a:lstStyle/>
          <a:p>
            <a:r>
              <a:rPr lang="en-US" dirty="0" smtClean="0"/>
              <a:t>The correct answer is A</a:t>
            </a:r>
          </a:p>
          <a:p>
            <a:r>
              <a:rPr lang="en-US" dirty="0" smtClean="0"/>
              <a:t>A stakeholder is:</a:t>
            </a:r>
          </a:p>
          <a:p>
            <a:endParaRPr lang="en-US" dirty="0" smtClean="0"/>
          </a:p>
          <a:p>
            <a:r>
              <a:rPr lang="en-US" dirty="0" smtClean="0"/>
              <a:t>A. Someone with an interest in the project</a:t>
            </a:r>
          </a:p>
          <a:p>
            <a:r>
              <a:rPr lang="en-US" dirty="0" smtClean="0"/>
              <a:t>B. Someone affiliated with the project</a:t>
            </a:r>
          </a:p>
          <a:p>
            <a:r>
              <a:rPr lang="en-US" dirty="0" smtClean="0"/>
              <a:t>C. Defined differently in iterative versus sequentially-phased projects</a:t>
            </a:r>
          </a:p>
          <a:p>
            <a:r>
              <a:rPr lang="en-US" dirty="0" smtClean="0"/>
              <a:t>D. Someone with a high degree of influence in the organization</a:t>
            </a:r>
          </a:p>
          <a:p>
            <a:r>
              <a:rPr lang="en-US" dirty="0" smtClean="0"/>
              <a:t>  </a:t>
            </a:r>
          </a:p>
          <a:p>
            <a:r>
              <a:rPr lang="en-US" dirty="0" smtClean="0"/>
              <a:t>The best description of the stakeholder is also the most encompassing. Affiliation and influence may apply, but are not comprehensive. The concept of a stakeholder does not differ based on project type.</a:t>
            </a:r>
            <a:endParaRPr lang="en-US" dirty="0"/>
          </a:p>
        </p:txBody>
      </p:sp>
    </p:spTree>
    <p:extLst>
      <p:ext uri="{BB962C8B-B14F-4D97-AF65-F5344CB8AC3E}">
        <p14:creationId xmlns:p14="http://schemas.microsoft.com/office/powerpoint/2010/main" val="272052586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416320"/>
          </a:xfrm>
          <a:prstGeom prst="rect">
            <a:avLst/>
          </a:prstGeom>
          <a:noFill/>
        </p:spPr>
        <p:txBody>
          <a:bodyPr wrap="square" rtlCol="0">
            <a:spAutoFit/>
          </a:bodyPr>
          <a:lstStyle/>
          <a:p>
            <a:r>
              <a:rPr lang="en-US" dirty="0" smtClean="0"/>
              <a:t>The correct answer is A</a:t>
            </a:r>
          </a:p>
          <a:p>
            <a:r>
              <a:rPr lang="en-US" dirty="0" smtClean="0"/>
              <a:t>With the Agile concept of frequent verification and validation of code development, checking in and testing all code changes daily is a strategy known as:</a:t>
            </a:r>
          </a:p>
          <a:p>
            <a:endParaRPr lang="en-US" dirty="0" smtClean="0"/>
          </a:p>
          <a:p>
            <a:r>
              <a:rPr lang="en-US" dirty="0" smtClean="0"/>
              <a:t>A. Continuous integration</a:t>
            </a:r>
          </a:p>
          <a:p>
            <a:r>
              <a:rPr lang="en-US" dirty="0" smtClean="0"/>
              <a:t>B. Wireframe </a:t>
            </a:r>
            <a:r>
              <a:rPr lang="en-US" dirty="0" err="1" smtClean="0"/>
              <a:t>timeboxing</a:t>
            </a:r>
            <a:endParaRPr lang="en-US" dirty="0" smtClean="0"/>
          </a:p>
          <a:p>
            <a:r>
              <a:rPr lang="en-US" dirty="0" smtClean="0"/>
              <a:t>C. Regression testing</a:t>
            </a:r>
          </a:p>
          <a:p>
            <a:r>
              <a:rPr lang="en-US" dirty="0" smtClean="0"/>
              <a:t>D. Collective swarming</a:t>
            </a:r>
          </a:p>
          <a:p>
            <a:r>
              <a:rPr lang="en-US" dirty="0" smtClean="0"/>
              <a:t>  </a:t>
            </a:r>
          </a:p>
          <a:p>
            <a:r>
              <a:rPr lang="en-US" dirty="0" smtClean="0"/>
              <a:t>With many team members working simultaneously, unforeseen problems can arise when separate components are brought together. Daily testing discovers such issues quickly without a huge loss in productivity.</a:t>
            </a:r>
            <a:endParaRPr lang="en-US" dirty="0"/>
          </a:p>
        </p:txBody>
      </p:sp>
    </p:spTree>
    <p:extLst>
      <p:ext uri="{BB962C8B-B14F-4D97-AF65-F5344CB8AC3E}">
        <p14:creationId xmlns:p14="http://schemas.microsoft.com/office/powerpoint/2010/main" val="327101596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139321"/>
          </a:xfrm>
          <a:prstGeom prst="rect">
            <a:avLst/>
          </a:prstGeom>
          <a:noFill/>
        </p:spPr>
        <p:txBody>
          <a:bodyPr wrap="square" rtlCol="0">
            <a:spAutoFit/>
          </a:bodyPr>
          <a:lstStyle/>
          <a:p>
            <a:r>
              <a:rPr lang="en-US" dirty="0" smtClean="0"/>
              <a:t>The correct answer is D</a:t>
            </a:r>
          </a:p>
          <a:p>
            <a:r>
              <a:rPr lang="en-US" dirty="0" smtClean="0"/>
              <a:t>A technique to gather ideas from a group in a rapid-fire, non-judgmental, and inclusive environment is:</a:t>
            </a:r>
          </a:p>
          <a:p>
            <a:endParaRPr lang="en-US" dirty="0" smtClean="0"/>
          </a:p>
          <a:p>
            <a:r>
              <a:rPr lang="en-US" dirty="0" smtClean="0"/>
              <a:t>A. Round-robin polling</a:t>
            </a:r>
          </a:p>
          <a:p>
            <a:r>
              <a:rPr lang="en-US" dirty="0" smtClean="0"/>
              <a:t>B. Nominal group technique</a:t>
            </a:r>
          </a:p>
          <a:p>
            <a:r>
              <a:rPr lang="en-US" dirty="0" smtClean="0"/>
              <a:t>C. Usually futile in a meeting of shy participants</a:t>
            </a:r>
          </a:p>
          <a:p>
            <a:r>
              <a:rPr lang="en-US" dirty="0" smtClean="0"/>
              <a:t>D. Brainstorming</a:t>
            </a:r>
          </a:p>
          <a:p>
            <a:r>
              <a:rPr lang="en-US" dirty="0" smtClean="0"/>
              <a:t>  </a:t>
            </a:r>
          </a:p>
          <a:p>
            <a:r>
              <a:rPr lang="en-US" dirty="0" smtClean="0"/>
              <a:t>Brainstorming is a very common technique in group settings. Shy participants may more engaged if ideas are polled in a circular fashion from each person.</a:t>
            </a:r>
            <a:endParaRPr lang="en-US" dirty="0"/>
          </a:p>
        </p:txBody>
      </p:sp>
    </p:spTree>
    <p:extLst>
      <p:ext uri="{BB962C8B-B14F-4D97-AF65-F5344CB8AC3E}">
        <p14:creationId xmlns:p14="http://schemas.microsoft.com/office/powerpoint/2010/main" val="333236157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139321"/>
          </a:xfrm>
          <a:prstGeom prst="rect">
            <a:avLst/>
          </a:prstGeom>
          <a:noFill/>
        </p:spPr>
        <p:txBody>
          <a:bodyPr wrap="square" rtlCol="0">
            <a:spAutoFit/>
          </a:bodyPr>
          <a:lstStyle/>
          <a:p>
            <a:r>
              <a:rPr lang="en-US" dirty="0" smtClean="0"/>
              <a:t>The correct answer is D</a:t>
            </a:r>
          </a:p>
          <a:p>
            <a:r>
              <a:rPr lang="en-US" dirty="0" smtClean="0"/>
              <a:t>'Buy a Feature' is:</a:t>
            </a:r>
          </a:p>
          <a:p>
            <a:endParaRPr lang="en-US" dirty="0" smtClean="0"/>
          </a:p>
          <a:p>
            <a:r>
              <a:rPr lang="en-US" dirty="0" smtClean="0"/>
              <a:t>A. A fun team-building activity to reduce stress between project iterations</a:t>
            </a:r>
          </a:p>
          <a:p>
            <a:r>
              <a:rPr lang="en-US" dirty="0" smtClean="0"/>
              <a:t>B. A stakeholder expectation management technique to correlate the project budget with stakeholders' needs and constraints</a:t>
            </a:r>
          </a:p>
          <a:p>
            <a:r>
              <a:rPr lang="en-US" dirty="0" smtClean="0"/>
              <a:t>C. A customer-centric method to establish an iteration backlog</a:t>
            </a:r>
          </a:p>
          <a:p>
            <a:r>
              <a:rPr lang="en-US" dirty="0" smtClean="0"/>
              <a:t>D. An innovation game to generate feedback from stakeholders about project features</a:t>
            </a:r>
          </a:p>
          <a:p>
            <a:r>
              <a:rPr lang="en-US" dirty="0" smtClean="0"/>
              <a:t>  </a:t>
            </a:r>
          </a:p>
          <a:p>
            <a:r>
              <a:rPr lang="en-US" dirty="0" smtClean="0"/>
              <a:t>Many innovation games exist to elicit feedback from stakeholders in a directed manner. 'Buy a Feature' allows stakeholders to purchase features at a price using pretend currency.</a:t>
            </a:r>
            <a:endParaRPr lang="en-US" dirty="0"/>
          </a:p>
        </p:txBody>
      </p:sp>
    </p:spTree>
    <p:extLst>
      <p:ext uri="{BB962C8B-B14F-4D97-AF65-F5344CB8AC3E}">
        <p14:creationId xmlns:p14="http://schemas.microsoft.com/office/powerpoint/2010/main" val="357856328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4801314"/>
          </a:xfrm>
          <a:prstGeom prst="rect">
            <a:avLst/>
          </a:prstGeom>
          <a:noFill/>
        </p:spPr>
        <p:txBody>
          <a:bodyPr wrap="square" rtlCol="0">
            <a:spAutoFit/>
          </a:bodyPr>
          <a:lstStyle/>
          <a:p>
            <a:r>
              <a:rPr lang="en-US" dirty="0" smtClean="0"/>
              <a:t>The correct answer is D</a:t>
            </a:r>
          </a:p>
          <a:p>
            <a:r>
              <a:rPr lang="en-US" dirty="0" smtClean="0"/>
              <a:t>How would an Agile team make use of a spike?</a:t>
            </a:r>
          </a:p>
          <a:p>
            <a:endParaRPr lang="en-US" dirty="0" smtClean="0"/>
          </a:p>
          <a:p>
            <a:r>
              <a:rPr lang="en-US" dirty="0" smtClean="0"/>
              <a:t>A. A spike is a term for the ideal explanation for a given event, such as why a defect made it through testing undetected, or why a feature is designed a certain way</a:t>
            </a:r>
          </a:p>
          <a:p>
            <a:r>
              <a:rPr lang="en-US" dirty="0" smtClean="0"/>
              <a:t>B. A spike stands for heroic efforts carried out by a team to meet a deadline or milestone, such as delivery of an increment or completion of an epic</a:t>
            </a:r>
          </a:p>
          <a:p>
            <a:r>
              <a:rPr lang="en-US" dirty="0" smtClean="0"/>
              <a:t>C. A spike is a quality standard or quality process that may be applied to programming sessions to ensure delivery of high-quality code</a:t>
            </a:r>
          </a:p>
          <a:p>
            <a:r>
              <a:rPr lang="en-US" dirty="0" smtClean="0"/>
              <a:t>D. A spike is a quick test or experiment carried out by the team to determine what approach works best, or what technology is more favorable, or proof of concept</a:t>
            </a:r>
          </a:p>
          <a:p>
            <a:r>
              <a:rPr lang="en-US" dirty="0" smtClean="0"/>
              <a:t>  </a:t>
            </a:r>
          </a:p>
          <a:p>
            <a:r>
              <a:rPr lang="en-US" dirty="0" smtClean="0"/>
              <a:t>A spike is a short period of time dedicated to trying different options to determine what will work. Think of a spike as an experiment or research-and-development exercise aimed at determining a best option. The team may be struggling with what tools to use or how to design the tables or what design is intuitive to the user. A spike helps you try it out quickly and with less cost.</a:t>
            </a:r>
            <a:endParaRPr lang="en-US" dirty="0"/>
          </a:p>
        </p:txBody>
      </p:sp>
      <p:sp>
        <p:nvSpPr>
          <p:cNvPr id="3" name="TextBox 2"/>
          <p:cNvSpPr txBox="1"/>
          <p:nvPr/>
        </p:nvSpPr>
        <p:spPr>
          <a:xfrm>
            <a:off x="0" y="413266"/>
            <a:ext cx="8991600"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124593549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4708981"/>
          </a:xfrm>
          <a:prstGeom prst="rect">
            <a:avLst/>
          </a:prstGeom>
          <a:noFill/>
        </p:spPr>
        <p:txBody>
          <a:bodyPr wrap="square" rtlCol="0">
            <a:spAutoFit/>
          </a:bodyPr>
          <a:lstStyle/>
          <a:p>
            <a:r>
              <a:rPr lang="en-US" sz="1500" dirty="0" smtClean="0"/>
              <a:t>The correct answer is B</a:t>
            </a:r>
          </a:p>
          <a:p>
            <a:r>
              <a:rPr lang="en-US" sz="1500" dirty="0" smtClean="0"/>
              <a:t>The team meets to plan out the next iteration. Regarding the product backlog, what is the correct and appropriate expectation of the team?</a:t>
            </a:r>
          </a:p>
          <a:p>
            <a:endParaRPr lang="en-US" sz="1500" dirty="0" smtClean="0"/>
          </a:p>
          <a:p>
            <a:r>
              <a:rPr lang="en-US" sz="1500" dirty="0" smtClean="0"/>
              <a:t>A. The team expects to work in concert with the Product Owner during this iteration meeting to help rank and prioritize the product backlog</a:t>
            </a:r>
          </a:p>
          <a:p>
            <a:r>
              <a:rPr lang="en-US" sz="1500" dirty="0" smtClean="0"/>
              <a:t>B. The team expects the product backlog to be ranked and prioritized by the Product Owner prior to the start of this planning meeting</a:t>
            </a:r>
          </a:p>
          <a:p>
            <a:r>
              <a:rPr lang="en-US" sz="1500" dirty="0" smtClean="0"/>
              <a:t>C. The project manager or </a:t>
            </a:r>
            <a:r>
              <a:rPr lang="en-US" sz="1500" dirty="0" err="1" smtClean="0"/>
              <a:t>ScrumMaster</a:t>
            </a:r>
            <a:r>
              <a:rPr lang="en-US" sz="1500" dirty="0" smtClean="0"/>
              <a:t> will collaborate with the Product Owner during this planning meeting to groom and rank the product backlog</a:t>
            </a:r>
          </a:p>
          <a:p>
            <a:r>
              <a:rPr lang="en-US" sz="1500" dirty="0" smtClean="0"/>
              <a:t>D. The Product Owner will select those items from the product backlog that are of the greatest intrinsic value and commit the team to producing them in the next iteration, but only with the approval of the </a:t>
            </a:r>
            <a:r>
              <a:rPr lang="en-US" sz="1500" dirty="0" err="1" smtClean="0"/>
              <a:t>ScrumMaster</a:t>
            </a:r>
            <a:r>
              <a:rPr lang="en-US" sz="1500" dirty="0" smtClean="0"/>
              <a:t> or project manager</a:t>
            </a:r>
          </a:p>
          <a:p>
            <a:r>
              <a:rPr lang="en-US" sz="1500" dirty="0" smtClean="0"/>
              <a:t>  </a:t>
            </a:r>
          </a:p>
          <a:p>
            <a:r>
              <a:rPr lang="en-US" sz="1500" dirty="0" smtClean="0"/>
              <a:t>B is correct. This question deals with the topic of value-based prioritization. The Product Owner carries out value-based prioritization PRIOR to the iteration planning meeting by determining what features are most important - bring the greatest value. This value is reflected in the ranked product backlog. This is how the Product Owner communicates to the team what is of greatest importance. The team (not the Product Owner or </a:t>
            </a:r>
            <a:r>
              <a:rPr lang="en-US" sz="1500" dirty="0" err="1" smtClean="0"/>
              <a:t>ScrumMaster</a:t>
            </a:r>
            <a:r>
              <a:rPr lang="en-US" sz="1500" dirty="0" smtClean="0"/>
              <a:t>) commits to how many features or backlog items the team can produce in the next iteration or Sprint. Answer-A sounds appealing - it has a spirit of collectiveness and buy-in; however, it is wrong. B is the best choice.</a:t>
            </a:r>
            <a:endParaRPr lang="en-US" sz="1500" dirty="0"/>
          </a:p>
        </p:txBody>
      </p:sp>
    </p:spTree>
    <p:extLst>
      <p:ext uri="{BB962C8B-B14F-4D97-AF65-F5344CB8AC3E}">
        <p14:creationId xmlns:p14="http://schemas.microsoft.com/office/powerpoint/2010/main" val="67587927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4524315"/>
          </a:xfrm>
          <a:prstGeom prst="rect">
            <a:avLst/>
          </a:prstGeom>
          <a:noFill/>
        </p:spPr>
        <p:txBody>
          <a:bodyPr wrap="square" rtlCol="0">
            <a:spAutoFit/>
          </a:bodyPr>
          <a:lstStyle/>
          <a:p>
            <a:r>
              <a:rPr lang="en-US" dirty="0" smtClean="0"/>
              <a:t>The correct answer is C</a:t>
            </a:r>
          </a:p>
          <a:p>
            <a:r>
              <a:rPr lang="en-US" dirty="0" smtClean="0"/>
              <a:t>Agile principles encourage the use of participatory decision models. Read the following descriptions and select the one where a participatory decision model is not appropriate.</a:t>
            </a:r>
          </a:p>
          <a:p>
            <a:endParaRPr lang="en-US" dirty="0" smtClean="0"/>
          </a:p>
          <a:p>
            <a:r>
              <a:rPr lang="en-US" dirty="0" smtClean="0"/>
              <a:t>A. The team investigates a couple of technical options to determine the best choice for the upcoming iteration</a:t>
            </a:r>
          </a:p>
          <a:p>
            <a:r>
              <a:rPr lang="en-US" dirty="0" smtClean="0"/>
              <a:t>B. The team uses relative sizing to estimate the level of effort required to code 4 different features or stories</a:t>
            </a:r>
          </a:p>
          <a:p>
            <a:r>
              <a:rPr lang="en-US" dirty="0" smtClean="0"/>
              <a:t>C. The team reviews the product backlog and prioritizes features on the backlog based on value delivered</a:t>
            </a:r>
          </a:p>
          <a:p>
            <a:r>
              <a:rPr lang="en-US" dirty="0" smtClean="0"/>
              <a:t>D. The team reflects on the past iteration and suggests improvements to the workspace</a:t>
            </a:r>
          </a:p>
          <a:p>
            <a:r>
              <a:rPr lang="en-US" dirty="0" smtClean="0"/>
              <a:t>  </a:t>
            </a:r>
          </a:p>
          <a:p>
            <a:r>
              <a:rPr lang="en-US" dirty="0" smtClean="0"/>
              <a:t>Answers A, B, and D describe excellent applications of collaboration or problem-solving as a team. C is a problem because the team is usurping the authority of the Product Owner in this description. The Product Owner owns the backlog. He or she prioritizes the items on that backlog, not the team.</a:t>
            </a:r>
            <a:endParaRPr lang="en-US" dirty="0"/>
          </a:p>
        </p:txBody>
      </p:sp>
      <p:sp>
        <p:nvSpPr>
          <p:cNvPr id="3" name="TextBox 2"/>
          <p:cNvSpPr txBox="1"/>
          <p:nvPr/>
        </p:nvSpPr>
        <p:spPr>
          <a:xfrm>
            <a:off x="0" y="413266"/>
            <a:ext cx="8991600"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122781113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139321"/>
          </a:xfrm>
          <a:prstGeom prst="rect">
            <a:avLst/>
          </a:prstGeom>
          <a:noFill/>
        </p:spPr>
        <p:txBody>
          <a:bodyPr wrap="square" rtlCol="0">
            <a:spAutoFit/>
          </a:bodyPr>
          <a:lstStyle/>
          <a:p>
            <a:r>
              <a:rPr lang="en-US" dirty="0" smtClean="0"/>
              <a:t>The correct answer is A</a:t>
            </a:r>
          </a:p>
          <a:p>
            <a:r>
              <a:rPr lang="en-US" dirty="0" smtClean="0"/>
              <a:t>How does an Agile team go about developing a schedule?</a:t>
            </a:r>
          </a:p>
          <a:p>
            <a:endParaRPr lang="en-US" dirty="0" smtClean="0"/>
          </a:p>
          <a:p>
            <a:r>
              <a:rPr lang="en-US" dirty="0" smtClean="0"/>
              <a:t>A. By estimating story points and making use of the team velocity</a:t>
            </a:r>
          </a:p>
          <a:p>
            <a:r>
              <a:rPr lang="en-US" dirty="0" smtClean="0"/>
              <a:t>B. By negotiating with the Product Owner on release dates and iteration goals</a:t>
            </a:r>
          </a:p>
          <a:p>
            <a:r>
              <a:rPr lang="en-US" dirty="0" smtClean="0"/>
              <a:t>C. By decomposing milestones to releases, and releases to iterations</a:t>
            </a:r>
          </a:p>
          <a:p>
            <a:r>
              <a:rPr lang="en-US" dirty="0" smtClean="0"/>
              <a:t>D. By decomposing the product backlog to iterations, and iterations to releases</a:t>
            </a:r>
          </a:p>
          <a:p>
            <a:r>
              <a:rPr lang="en-US" dirty="0" smtClean="0"/>
              <a:t>  </a:t>
            </a:r>
          </a:p>
          <a:p>
            <a:r>
              <a:rPr lang="en-US" dirty="0" smtClean="0"/>
              <a:t>Don't overthink this one. Answer-A is correct - the team meets with the Product Owner to understand the desired features or stories. The team estimates story points and applies the team velocity (the rate at which the team completes story points), and derives a schedule.</a:t>
            </a:r>
            <a:endParaRPr lang="en-US" dirty="0"/>
          </a:p>
        </p:txBody>
      </p:sp>
      <p:sp>
        <p:nvSpPr>
          <p:cNvPr id="3" name="TextBox 2"/>
          <p:cNvSpPr txBox="1"/>
          <p:nvPr/>
        </p:nvSpPr>
        <p:spPr>
          <a:xfrm>
            <a:off x="0" y="413266"/>
            <a:ext cx="8991600"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316273996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970318"/>
          </a:xfrm>
          <a:prstGeom prst="rect">
            <a:avLst/>
          </a:prstGeom>
          <a:noFill/>
        </p:spPr>
        <p:txBody>
          <a:bodyPr wrap="square" rtlCol="0">
            <a:spAutoFit/>
          </a:bodyPr>
          <a:lstStyle/>
          <a:p>
            <a:r>
              <a:rPr lang="en-US" dirty="0" smtClean="0"/>
              <a:t>The correct answer is C</a:t>
            </a:r>
          </a:p>
          <a:p>
            <a:r>
              <a:rPr lang="en-US" dirty="0" smtClean="0"/>
              <a:t>The Agile Manifesto communicates several principles. Which statement reflects one of those principles?</a:t>
            </a:r>
          </a:p>
          <a:p>
            <a:endParaRPr lang="en-US" dirty="0" smtClean="0"/>
          </a:p>
          <a:p>
            <a:r>
              <a:rPr lang="en-US" dirty="0" smtClean="0"/>
              <a:t>A. The best requirements and designs emerge from well-managed teams</a:t>
            </a:r>
          </a:p>
          <a:p>
            <a:r>
              <a:rPr lang="en-US" dirty="0" smtClean="0"/>
              <a:t>B. Continuous attention to quality standards and ROI enhances value-driven agility</a:t>
            </a:r>
          </a:p>
          <a:p>
            <a:r>
              <a:rPr lang="en-US" dirty="0" smtClean="0"/>
              <a:t>C. Build projects around motivated individuals</a:t>
            </a:r>
          </a:p>
          <a:p>
            <a:r>
              <a:rPr lang="en-US" dirty="0" smtClean="0"/>
              <a:t>D. Simplicity is a tertiary goal of Agile teams</a:t>
            </a:r>
          </a:p>
          <a:p>
            <a:r>
              <a:rPr lang="en-US" dirty="0" smtClean="0"/>
              <a:t>  </a:t>
            </a:r>
          </a:p>
          <a:p>
            <a:r>
              <a:rPr lang="en-US" dirty="0" smtClean="0"/>
              <a:t>These 4 statements are close, but only 1 is correct. C is precise - build projects around motivated individuals. Answer-A is wrong because of the use of well-managed; that should state self-organizing. B is a bogus combination of phrases - not a principle in the Manifesto. And, D is incorrect because of the word tertiary. Simplicity is essential - it's not an afterthought, as tertiary implies...third priority.</a:t>
            </a:r>
            <a:endParaRPr lang="en-US" dirty="0"/>
          </a:p>
        </p:txBody>
      </p:sp>
    </p:spTree>
    <p:extLst>
      <p:ext uri="{BB962C8B-B14F-4D97-AF65-F5344CB8AC3E}">
        <p14:creationId xmlns:p14="http://schemas.microsoft.com/office/powerpoint/2010/main" val="368334079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19"/>
          </a:xfrm>
          <a:prstGeom prst="rect">
            <a:avLst/>
          </a:prstGeom>
          <a:noFill/>
        </p:spPr>
        <p:txBody>
          <a:bodyPr wrap="square" rtlCol="0">
            <a:spAutoFit/>
          </a:bodyPr>
          <a:lstStyle/>
          <a:p>
            <a:r>
              <a:rPr lang="en-US" dirty="0" smtClean="0"/>
              <a:t>The correct answer is B</a:t>
            </a:r>
          </a:p>
          <a:p>
            <a:r>
              <a:rPr lang="en-US" dirty="0" smtClean="0"/>
              <a:t>A mode of failure in an organization's adoption of Agile might best be described as:</a:t>
            </a:r>
          </a:p>
          <a:p>
            <a:endParaRPr lang="en-US" dirty="0" smtClean="0"/>
          </a:p>
          <a:p>
            <a:r>
              <a:rPr lang="en-US" dirty="0" smtClean="0"/>
              <a:t>A. </a:t>
            </a:r>
            <a:r>
              <a:rPr lang="en-US" dirty="0" err="1" smtClean="0"/>
              <a:t>Wagile</a:t>
            </a:r>
            <a:endParaRPr lang="en-US" dirty="0" smtClean="0"/>
          </a:p>
          <a:p>
            <a:r>
              <a:rPr lang="en-US" dirty="0" smtClean="0"/>
              <a:t>B. Adoption of Agile principles in part, but not in total</a:t>
            </a:r>
          </a:p>
          <a:p>
            <a:r>
              <a:rPr lang="en-US" dirty="0" smtClean="0"/>
              <a:t>C. A decision by senior management to not adopt Agile methodologies</a:t>
            </a:r>
          </a:p>
          <a:p>
            <a:r>
              <a:rPr lang="en-US" dirty="0" smtClean="0"/>
              <a:t>D. Outsourcing development projects to Agile practitioners rather than performing the change internally</a:t>
            </a:r>
          </a:p>
          <a:p>
            <a:r>
              <a:rPr lang="en-US" dirty="0" smtClean="0"/>
              <a:t>  </a:t>
            </a:r>
          </a:p>
          <a:p>
            <a:r>
              <a:rPr lang="en-US" dirty="0" smtClean="0"/>
              <a:t>Did you answer A? Well, this is a popular, humorous blend of Waterfall &amp; Agile. However, it is not as formal or definitive as answer-B. Adopting Agile in part is a recipe for failure. Agility is not accomplished by picking and choosing. Answers C and D are not failure modes; they represent decisions to not adopt Agile.</a:t>
            </a:r>
            <a:endParaRPr lang="en-US" dirty="0"/>
          </a:p>
        </p:txBody>
      </p:sp>
      <p:sp>
        <p:nvSpPr>
          <p:cNvPr id="3" name="TextBox 2"/>
          <p:cNvSpPr txBox="1"/>
          <p:nvPr/>
        </p:nvSpPr>
        <p:spPr>
          <a:xfrm>
            <a:off x="0" y="413266"/>
            <a:ext cx="8991600"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291576497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4247317"/>
          </a:xfrm>
          <a:prstGeom prst="rect">
            <a:avLst/>
          </a:prstGeom>
          <a:noFill/>
        </p:spPr>
        <p:txBody>
          <a:bodyPr wrap="square" rtlCol="0">
            <a:spAutoFit/>
          </a:bodyPr>
          <a:lstStyle/>
          <a:p>
            <a:r>
              <a:rPr lang="en-US" sz="1500" dirty="0" smtClean="0"/>
              <a:t>The correct answer is C</a:t>
            </a:r>
          </a:p>
          <a:p>
            <a:r>
              <a:rPr lang="en-US" sz="1500" dirty="0" smtClean="0"/>
              <a:t>The customer is pressuring the team to commit to a very aggressive delivery date for the first release. The team you are leading is new. Fortunately, members of the team are well-versed in Agile methods with lots of experience, but they have never met until this project. You just kicked off the project with the first meeting, and you realize the team would truly benefit from a team-building event. However, you are afraid that the customer will be furious if the schedule is interrupted by an offsite event for the team. What should you do?</a:t>
            </a:r>
          </a:p>
          <a:p>
            <a:endParaRPr lang="en-US" sz="1500" dirty="0" smtClean="0"/>
          </a:p>
          <a:p>
            <a:r>
              <a:rPr lang="en-US" sz="1500" dirty="0" smtClean="0"/>
              <a:t>A. Model servant-leadership by sending everyone to the team-building event while you meet with the customer</a:t>
            </a:r>
          </a:p>
          <a:p>
            <a:r>
              <a:rPr lang="en-US" sz="1500" dirty="0" smtClean="0"/>
              <a:t>B. Meet with the team, describe the dilemma, and let the team decide whether to follow through with the team-building event or not</a:t>
            </a:r>
          </a:p>
          <a:p>
            <a:r>
              <a:rPr lang="en-US" sz="1500" dirty="0" smtClean="0"/>
              <a:t>C. Advocate for the team, schedule the team-building event, and discuss the reasons with the customer</a:t>
            </a:r>
          </a:p>
          <a:p>
            <a:r>
              <a:rPr lang="en-US" sz="1500" dirty="0" smtClean="0"/>
              <a:t>D. Meet face to face with the customer and negotiate</a:t>
            </a:r>
          </a:p>
          <a:p>
            <a:r>
              <a:rPr lang="en-US" sz="1500" dirty="0" smtClean="0"/>
              <a:t>  </a:t>
            </a:r>
          </a:p>
          <a:p>
            <a:r>
              <a:rPr lang="en-US" sz="1500" dirty="0" smtClean="0"/>
              <a:t>Advocate for the team in the best interest of team members and to deliver value to the customer. Agile emphasizes sustainable development. Explain to the customer that the team will be much more productive and deliver more value earlier IF they can carry out a brief, offsite team-building event. Share your experiences or research those of others to convince the customer. Yes, a principle of Agile is to satisfy the customer by delivering working software frequently. But, the pace must be sustainable, and the team must be empowered.</a:t>
            </a:r>
            <a:endParaRPr lang="en-US" sz="1500" dirty="0"/>
          </a:p>
        </p:txBody>
      </p:sp>
      <p:sp>
        <p:nvSpPr>
          <p:cNvPr id="3" name="TextBox 2"/>
          <p:cNvSpPr txBox="1"/>
          <p:nvPr/>
        </p:nvSpPr>
        <p:spPr>
          <a:xfrm>
            <a:off x="0" y="413266"/>
            <a:ext cx="8991600"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92573979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2585323"/>
          </a:xfrm>
          <a:prstGeom prst="rect">
            <a:avLst/>
          </a:prstGeom>
          <a:noFill/>
        </p:spPr>
        <p:txBody>
          <a:bodyPr wrap="square" rtlCol="0">
            <a:spAutoFit/>
          </a:bodyPr>
          <a:lstStyle/>
          <a:p>
            <a:r>
              <a:rPr lang="en-US" dirty="0" smtClean="0"/>
              <a:t>The correct answer is D</a:t>
            </a:r>
          </a:p>
          <a:p>
            <a:r>
              <a:rPr lang="en-US" dirty="0" smtClean="0"/>
              <a:t>Which of the following statements is least valid about ground rules for the Agile team?</a:t>
            </a:r>
          </a:p>
          <a:p>
            <a:endParaRPr lang="en-US" dirty="0" smtClean="0"/>
          </a:p>
          <a:p>
            <a:r>
              <a:rPr lang="en-US" dirty="0" smtClean="0"/>
              <a:t>A. The ground rules apply to more than just the developers</a:t>
            </a:r>
          </a:p>
          <a:p>
            <a:r>
              <a:rPr lang="en-US" dirty="0" smtClean="0"/>
              <a:t>B. They state who is expected to participate in daily stand-up meetings</a:t>
            </a:r>
          </a:p>
          <a:p>
            <a:r>
              <a:rPr lang="en-US" dirty="0" smtClean="0"/>
              <a:t>C. The team can change the ground rules</a:t>
            </a:r>
          </a:p>
          <a:p>
            <a:r>
              <a:rPr lang="en-US" dirty="0" smtClean="0"/>
              <a:t>D. The </a:t>
            </a:r>
            <a:r>
              <a:rPr lang="en-US" dirty="0" err="1" smtClean="0"/>
              <a:t>ScrumMaster</a:t>
            </a:r>
            <a:r>
              <a:rPr lang="en-US" dirty="0" smtClean="0"/>
              <a:t> or XP Coach define the ground rules to bind the team together as a unit</a:t>
            </a:r>
          </a:p>
          <a:p>
            <a:r>
              <a:rPr lang="en-US" dirty="0" smtClean="0"/>
              <a:t>  </a:t>
            </a:r>
          </a:p>
          <a:p>
            <a:r>
              <a:rPr lang="en-US" dirty="0" smtClean="0"/>
              <a:t>Agile coaches do not manage the team nor set rules for the team's conformance.</a:t>
            </a:r>
            <a:endParaRPr lang="en-US" dirty="0"/>
          </a:p>
        </p:txBody>
      </p:sp>
      <p:sp>
        <p:nvSpPr>
          <p:cNvPr id="3" name="TextBox 2"/>
          <p:cNvSpPr txBox="1"/>
          <p:nvPr/>
        </p:nvSpPr>
        <p:spPr>
          <a:xfrm>
            <a:off x="0" y="413266"/>
            <a:ext cx="8991600"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374850479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416320"/>
          </a:xfrm>
          <a:prstGeom prst="rect">
            <a:avLst/>
          </a:prstGeom>
          <a:noFill/>
        </p:spPr>
        <p:txBody>
          <a:bodyPr wrap="square" rtlCol="0">
            <a:spAutoFit/>
          </a:bodyPr>
          <a:lstStyle/>
          <a:p>
            <a:r>
              <a:rPr lang="en-US" dirty="0" smtClean="0"/>
              <a:t>The correct answer is C</a:t>
            </a:r>
          </a:p>
          <a:p>
            <a:r>
              <a:rPr lang="en-US" dirty="0" smtClean="0"/>
              <a:t>Before committing to the next iteration backlog, an Agile team ranks stories from greatest effort to least effort. This technique is:</a:t>
            </a:r>
          </a:p>
          <a:p>
            <a:endParaRPr lang="en-US" dirty="0" smtClean="0"/>
          </a:p>
          <a:p>
            <a:r>
              <a:rPr lang="en-US" dirty="0" smtClean="0"/>
              <a:t>A. Wideband Delphi</a:t>
            </a:r>
          </a:p>
          <a:p>
            <a:r>
              <a:rPr lang="en-US" dirty="0" smtClean="0"/>
              <a:t>B. Affinity estimating</a:t>
            </a:r>
          </a:p>
          <a:p>
            <a:r>
              <a:rPr lang="en-US" dirty="0" smtClean="0"/>
              <a:t>C. Relative sizing</a:t>
            </a:r>
          </a:p>
          <a:p>
            <a:r>
              <a:rPr lang="en-US" dirty="0" smtClean="0"/>
              <a:t>D. Roadmap planning</a:t>
            </a:r>
          </a:p>
          <a:p>
            <a:r>
              <a:rPr lang="en-US" dirty="0" smtClean="0"/>
              <a:t>  </a:t>
            </a:r>
          </a:p>
          <a:p>
            <a:r>
              <a:rPr lang="en-US" dirty="0" smtClean="0"/>
              <a:t>Relative sizing facilitates estimating stories by placing them in a ranked order of relative effort. Then the story points might be assigned, using a modified Fibonacci series of 0,1,3,5,8,13,20,40,100, 200, etc.</a:t>
            </a:r>
            <a:endParaRPr lang="en-US" dirty="0"/>
          </a:p>
        </p:txBody>
      </p:sp>
      <p:sp>
        <p:nvSpPr>
          <p:cNvPr id="3" name="TextBox 2"/>
          <p:cNvSpPr txBox="1"/>
          <p:nvPr/>
        </p:nvSpPr>
        <p:spPr>
          <a:xfrm>
            <a:off x="0" y="413266"/>
            <a:ext cx="8991600"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71018829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693319"/>
          </a:xfrm>
          <a:prstGeom prst="rect">
            <a:avLst/>
          </a:prstGeom>
          <a:noFill/>
        </p:spPr>
        <p:txBody>
          <a:bodyPr wrap="square" rtlCol="0">
            <a:spAutoFit/>
          </a:bodyPr>
          <a:lstStyle/>
          <a:p>
            <a:r>
              <a:rPr lang="en-US" dirty="0" smtClean="0"/>
              <a:t>The correct answer is D</a:t>
            </a:r>
          </a:p>
          <a:p>
            <a:r>
              <a:rPr lang="en-US" dirty="0" smtClean="0"/>
              <a:t>If an organization is following Agile practices for a project, who comes up with the definition of done for a feature?</a:t>
            </a:r>
          </a:p>
          <a:p>
            <a:endParaRPr lang="en-US" dirty="0" smtClean="0"/>
          </a:p>
          <a:p>
            <a:r>
              <a:rPr lang="en-US" dirty="0" smtClean="0"/>
              <a:t>A. The customer</a:t>
            </a:r>
          </a:p>
          <a:p>
            <a:r>
              <a:rPr lang="en-US" dirty="0" smtClean="0"/>
              <a:t>B. The sponsor</a:t>
            </a:r>
          </a:p>
          <a:p>
            <a:r>
              <a:rPr lang="en-US" dirty="0" smtClean="0"/>
              <a:t>C. The quality-control specialist</a:t>
            </a:r>
          </a:p>
          <a:p>
            <a:r>
              <a:rPr lang="en-US" dirty="0" smtClean="0"/>
              <a:t>D. The team</a:t>
            </a:r>
          </a:p>
          <a:p>
            <a:r>
              <a:rPr lang="en-US" dirty="0" smtClean="0"/>
              <a:t>  </a:t>
            </a:r>
          </a:p>
          <a:p>
            <a:r>
              <a:rPr lang="en-US" dirty="0" smtClean="0"/>
              <a:t>D is correct - the team defines what done means. The team sets the criteria that means a feature is complete. That typically means that the feature has been designed, coded, tested, and accepted by the Product Owner. Even though the sponsor, the customer, the quality-control specialist or others may be involved, ultimately it is the team that defines done.</a:t>
            </a:r>
            <a:endParaRPr lang="en-US" dirty="0"/>
          </a:p>
        </p:txBody>
      </p:sp>
    </p:spTree>
    <p:extLst>
      <p:ext uri="{BB962C8B-B14F-4D97-AF65-F5344CB8AC3E}">
        <p14:creationId xmlns:p14="http://schemas.microsoft.com/office/powerpoint/2010/main" val="153381827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5909310"/>
          </a:xfrm>
          <a:prstGeom prst="rect">
            <a:avLst/>
          </a:prstGeom>
          <a:noFill/>
        </p:spPr>
        <p:txBody>
          <a:bodyPr wrap="square" rtlCol="0">
            <a:spAutoFit/>
          </a:bodyPr>
          <a:lstStyle/>
          <a:p>
            <a:r>
              <a:rPr lang="en-US" dirty="0" smtClean="0"/>
              <a:t>The correct answer is A</a:t>
            </a:r>
          </a:p>
          <a:p>
            <a:r>
              <a:rPr lang="en-US" dirty="0" smtClean="0"/>
              <a:t>Your team is producing great functionality at a sustainable pace - the customer is happy. Life is good. Tom is the new guy who just joined the team and has very little experience in your industry. How should you manage Tom?</a:t>
            </a:r>
          </a:p>
          <a:p>
            <a:endParaRPr lang="en-US" dirty="0" smtClean="0"/>
          </a:p>
          <a:p>
            <a:r>
              <a:rPr lang="en-US" dirty="0" smtClean="0"/>
              <a:t>A. Manage Tom as you manage the rest of the team, but plan to spend more time modeling expected behavior to him and spend more time communicating with him while he gets acclimated</a:t>
            </a:r>
          </a:p>
          <a:p>
            <a:r>
              <a:rPr lang="en-US" dirty="0" smtClean="0"/>
              <a:t>B. Manage Tom using a hands-off approach, as this is an Agile team which thrives on self-organization and self-government</a:t>
            </a:r>
          </a:p>
          <a:p>
            <a:r>
              <a:rPr lang="en-US" dirty="0" smtClean="0"/>
              <a:t>C. Manage Tom more deliberately than the rest of the team for the first few weeks, including assigning Tom to appropriate tasks as you see fit</a:t>
            </a:r>
          </a:p>
          <a:p>
            <a:r>
              <a:rPr lang="en-US" dirty="0" smtClean="0"/>
              <a:t>D. Protect the integrity of the team and the current velocity by placing Tom on a special project and out of the way until the current iteration is completed</a:t>
            </a:r>
          </a:p>
          <a:p>
            <a:r>
              <a:rPr lang="en-US" dirty="0" smtClean="0"/>
              <a:t>  </a:t>
            </a:r>
          </a:p>
          <a:p>
            <a:r>
              <a:rPr lang="en-US" dirty="0" smtClean="0"/>
              <a:t>With Tom joining the team, the PM has the chance to coach and mentor the new, less-experienced team member. Team harmony depends on several factors, and you have the opportunity to positively impact that team spirit by bringing Tom up to speed and getting him engaged in the project work. Answer-D would not lead to a motivated team member. Answer-C involves assigning resources - goes against the practices of Agile teams. Answer-B is too passive - hands-off implies no coaching or mentoring.</a:t>
            </a:r>
            <a:endParaRPr lang="en-US" dirty="0"/>
          </a:p>
        </p:txBody>
      </p:sp>
      <p:sp>
        <p:nvSpPr>
          <p:cNvPr id="3" name="TextBox 2"/>
          <p:cNvSpPr txBox="1"/>
          <p:nvPr/>
        </p:nvSpPr>
        <p:spPr>
          <a:xfrm>
            <a:off x="0" y="413266"/>
            <a:ext cx="8991600"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45272272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4801314"/>
          </a:xfrm>
          <a:prstGeom prst="rect">
            <a:avLst/>
          </a:prstGeom>
          <a:noFill/>
        </p:spPr>
        <p:txBody>
          <a:bodyPr wrap="square" rtlCol="0">
            <a:spAutoFit/>
          </a:bodyPr>
          <a:lstStyle/>
          <a:p>
            <a:r>
              <a:rPr lang="en-US" dirty="0" smtClean="0"/>
              <a:t>The correct answer is A</a:t>
            </a:r>
          </a:p>
          <a:p>
            <a:r>
              <a:rPr lang="en-US" dirty="0" smtClean="0"/>
              <a:t>Jose has many years of experience managing traditional projects. His boss has challenged Jose to embrace the Agile methodology for the new team. She wants to see Jose grow as a leader. Jose is comfortable with the Plan-Do-Check-Act approach, but he is being stretched by these Agile concepts, especially in how Jose manages change requests! What style of leadership should Jose learn and carry out for this Agile team?</a:t>
            </a:r>
          </a:p>
          <a:p>
            <a:endParaRPr lang="en-US" dirty="0" smtClean="0"/>
          </a:p>
          <a:p>
            <a:r>
              <a:rPr lang="en-US" dirty="0" smtClean="0"/>
              <a:t>A. Adaptive leadership</a:t>
            </a:r>
          </a:p>
          <a:p>
            <a:r>
              <a:rPr lang="en-US" dirty="0" smtClean="0"/>
              <a:t>B. Collaborative leadership</a:t>
            </a:r>
          </a:p>
          <a:p>
            <a:r>
              <a:rPr lang="en-US" dirty="0" smtClean="0"/>
              <a:t>C. Value-driven leadership</a:t>
            </a:r>
          </a:p>
          <a:p>
            <a:r>
              <a:rPr lang="en-US" dirty="0" smtClean="0"/>
              <a:t>D. Hands-off leadership</a:t>
            </a:r>
          </a:p>
          <a:p>
            <a:r>
              <a:rPr lang="en-US" dirty="0" smtClean="0"/>
              <a:t>  </a:t>
            </a:r>
          </a:p>
          <a:p>
            <a:r>
              <a:rPr lang="en-US" dirty="0" smtClean="0"/>
              <a:t>Answer-A: Jose needs to study the concept of adaptive leadership and embrace the approach of envisioning and exploring over detailed planning and controlling. Agile welcomes changing requirements as an opportunity to refine the product or work performed to deliver more value and competitive advantage to the Customer. Therefore, Jose needs to be an adaptive leader, ready to coach and serve his team members as plans change.</a:t>
            </a:r>
            <a:endParaRPr lang="en-US" dirty="0"/>
          </a:p>
        </p:txBody>
      </p:sp>
      <p:sp>
        <p:nvSpPr>
          <p:cNvPr id="3" name="TextBox 2"/>
          <p:cNvSpPr txBox="1"/>
          <p:nvPr/>
        </p:nvSpPr>
        <p:spPr>
          <a:xfrm>
            <a:off x="0" y="413266"/>
            <a:ext cx="8991600"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297495434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2862322"/>
          </a:xfrm>
          <a:prstGeom prst="rect">
            <a:avLst/>
          </a:prstGeom>
          <a:noFill/>
        </p:spPr>
        <p:txBody>
          <a:bodyPr wrap="square" rtlCol="0">
            <a:spAutoFit/>
          </a:bodyPr>
          <a:lstStyle/>
          <a:p>
            <a:r>
              <a:rPr lang="en-US" dirty="0" smtClean="0"/>
              <a:t>The correct answer is A</a:t>
            </a:r>
          </a:p>
          <a:p>
            <a:r>
              <a:rPr lang="en-US" dirty="0" smtClean="0"/>
              <a:t>The </a:t>
            </a:r>
            <a:r>
              <a:rPr lang="en-US" dirty="0" err="1" smtClean="0"/>
              <a:t>Kanban</a:t>
            </a:r>
            <a:r>
              <a:rPr lang="en-US" dirty="0" smtClean="0"/>
              <a:t> board is of value only when it reflects current realities. What role holds the responsibility of the </a:t>
            </a:r>
            <a:r>
              <a:rPr lang="en-US" dirty="0" err="1" smtClean="0"/>
              <a:t>Kanban</a:t>
            </a:r>
            <a:r>
              <a:rPr lang="en-US" dirty="0" smtClean="0"/>
              <a:t> board providing value?</a:t>
            </a:r>
          </a:p>
          <a:p>
            <a:endParaRPr lang="en-US" dirty="0" smtClean="0"/>
          </a:p>
          <a:p>
            <a:r>
              <a:rPr lang="en-US" dirty="0" smtClean="0"/>
              <a:t>A. The team, when work has progressed</a:t>
            </a:r>
          </a:p>
          <a:p>
            <a:r>
              <a:rPr lang="en-US" dirty="0" smtClean="0"/>
              <a:t>B. The </a:t>
            </a:r>
            <a:r>
              <a:rPr lang="en-US" dirty="0" err="1" smtClean="0"/>
              <a:t>XPCoach</a:t>
            </a:r>
            <a:r>
              <a:rPr lang="en-US" dirty="0" smtClean="0"/>
              <a:t>, as tasks are completed</a:t>
            </a:r>
          </a:p>
          <a:p>
            <a:r>
              <a:rPr lang="en-US" dirty="0" smtClean="0"/>
              <a:t>C. The Product Owner, when stories are accepted</a:t>
            </a:r>
          </a:p>
          <a:p>
            <a:r>
              <a:rPr lang="en-US" dirty="0" smtClean="0"/>
              <a:t>D. The tester, when tasks are validated</a:t>
            </a:r>
          </a:p>
          <a:p>
            <a:r>
              <a:rPr lang="en-US" dirty="0" smtClean="0"/>
              <a:t>  </a:t>
            </a:r>
          </a:p>
          <a:p>
            <a:r>
              <a:rPr lang="en-US" dirty="0" smtClean="0"/>
              <a:t>The team moves tasks through the stages and queues of the task board, or </a:t>
            </a:r>
            <a:r>
              <a:rPr lang="en-US" dirty="0" err="1" smtClean="0"/>
              <a:t>Kanban</a:t>
            </a:r>
            <a:r>
              <a:rPr lang="en-US" dirty="0" smtClean="0"/>
              <a:t> board.</a:t>
            </a:r>
            <a:endParaRPr lang="en-US" dirty="0"/>
          </a:p>
        </p:txBody>
      </p:sp>
    </p:spTree>
    <p:extLst>
      <p:ext uri="{BB962C8B-B14F-4D97-AF65-F5344CB8AC3E}">
        <p14:creationId xmlns:p14="http://schemas.microsoft.com/office/powerpoint/2010/main" val="169928665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416320"/>
          </a:xfrm>
          <a:prstGeom prst="rect">
            <a:avLst/>
          </a:prstGeom>
          <a:noFill/>
        </p:spPr>
        <p:txBody>
          <a:bodyPr wrap="square" rtlCol="0">
            <a:spAutoFit/>
          </a:bodyPr>
          <a:lstStyle/>
          <a:p>
            <a:r>
              <a:rPr lang="en-US" dirty="0" smtClean="0"/>
              <a:t>The correct answer is D</a:t>
            </a:r>
          </a:p>
          <a:p>
            <a:r>
              <a:rPr lang="en-US" dirty="0" smtClean="0"/>
              <a:t>Which of the following lists best describes the attributes of a good user story?</a:t>
            </a:r>
          </a:p>
          <a:p>
            <a:endParaRPr lang="en-US" dirty="0" smtClean="0"/>
          </a:p>
          <a:p>
            <a:r>
              <a:rPr lang="en-US" dirty="0" smtClean="0"/>
              <a:t>A. Small, estimable, dependent, negotiable</a:t>
            </a:r>
          </a:p>
          <a:p>
            <a:r>
              <a:rPr lang="en-US" dirty="0" smtClean="0"/>
              <a:t>B. Testable, estimable, renewable, valuable</a:t>
            </a:r>
          </a:p>
          <a:p>
            <a:r>
              <a:rPr lang="en-US" dirty="0" smtClean="0"/>
              <a:t>C. Negotiable, small, explainable, </a:t>
            </a:r>
            <a:r>
              <a:rPr lang="en-US" dirty="0" err="1" smtClean="0"/>
              <a:t>validatable</a:t>
            </a:r>
            <a:endParaRPr lang="en-US" dirty="0" smtClean="0"/>
          </a:p>
          <a:p>
            <a:r>
              <a:rPr lang="en-US" dirty="0" smtClean="0"/>
              <a:t>D. Valuable, estimable, independent, small</a:t>
            </a:r>
          </a:p>
          <a:p>
            <a:r>
              <a:rPr lang="en-US" dirty="0" smtClean="0"/>
              <a:t>  </a:t>
            </a:r>
          </a:p>
          <a:p>
            <a:r>
              <a:rPr lang="en-US" dirty="0" smtClean="0"/>
              <a:t>D is the only choice containing 4 accurate attributes of a good user story. There are 6 key characteristics, and they spell out INVEST - Independent, Negotiable, Valuable, Estimable, Small, and Testable. Bill Wake is given credit for this memory device of INVEST - a great way to recall those 6 attributes.</a:t>
            </a:r>
            <a:endParaRPr lang="en-US" dirty="0"/>
          </a:p>
        </p:txBody>
      </p:sp>
    </p:spTree>
    <p:extLst>
      <p:ext uri="{BB962C8B-B14F-4D97-AF65-F5344CB8AC3E}">
        <p14:creationId xmlns:p14="http://schemas.microsoft.com/office/powerpoint/2010/main" val="286766074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416320"/>
          </a:xfrm>
          <a:prstGeom prst="rect">
            <a:avLst/>
          </a:prstGeom>
          <a:noFill/>
        </p:spPr>
        <p:txBody>
          <a:bodyPr wrap="square" rtlCol="0">
            <a:spAutoFit/>
          </a:bodyPr>
          <a:lstStyle/>
          <a:p>
            <a:r>
              <a:rPr lang="en-US" dirty="0" smtClean="0"/>
              <a:t>The correct answer is B</a:t>
            </a:r>
          </a:p>
          <a:p>
            <a:r>
              <a:rPr lang="en-US" dirty="0" smtClean="0"/>
              <a:t>There are 5 levels of planning that are common to Agile projects. If these are listed from high-level to low-level planning, which of the following is correct?</a:t>
            </a:r>
          </a:p>
          <a:p>
            <a:endParaRPr lang="en-US" dirty="0" smtClean="0"/>
          </a:p>
          <a:p>
            <a:r>
              <a:rPr lang="en-US" dirty="0" smtClean="0"/>
              <a:t>A. Project charter, project vision, project roadmap, release plan, daily plan</a:t>
            </a:r>
          </a:p>
          <a:p>
            <a:r>
              <a:rPr lang="en-US" dirty="0" smtClean="0"/>
              <a:t>B. Product vision, product roadmap, release plan, iteration plan, daily plan</a:t>
            </a:r>
          </a:p>
          <a:p>
            <a:r>
              <a:rPr lang="en-US" dirty="0" smtClean="0"/>
              <a:t>C. Product roadmap, product vision, iteration plan, task plan, daily standup</a:t>
            </a:r>
          </a:p>
          <a:p>
            <a:r>
              <a:rPr lang="en-US" dirty="0" smtClean="0"/>
              <a:t>D. Release backlog, iteration backlog, sprint backlog, daily backlog, task board</a:t>
            </a:r>
          </a:p>
          <a:p>
            <a:r>
              <a:rPr lang="en-US" dirty="0" smtClean="0"/>
              <a:t>  </a:t>
            </a:r>
          </a:p>
          <a:p>
            <a:r>
              <a:rPr lang="en-US" dirty="0" smtClean="0"/>
              <a:t>B has the correct planning levels named and in the proper order. A is missing the iteration plan; therefore, it is wrong. C omits the release plan - wrong. D lists backlogs, yet leaves out the product backlog, so that's a bad answer, too.</a:t>
            </a:r>
            <a:endParaRPr lang="en-US" dirty="0"/>
          </a:p>
        </p:txBody>
      </p:sp>
    </p:spTree>
    <p:extLst>
      <p:ext uri="{BB962C8B-B14F-4D97-AF65-F5344CB8AC3E}">
        <p14:creationId xmlns:p14="http://schemas.microsoft.com/office/powerpoint/2010/main" val="148168173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2585323"/>
          </a:xfrm>
          <a:prstGeom prst="rect">
            <a:avLst/>
          </a:prstGeom>
          <a:noFill/>
        </p:spPr>
        <p:txBody>
          <a:bodyPr wrap="square" rtlCol="0">
            <a:spAutoFit/>
          </a:bodyPr>
          <a:lstStyle/>
          <a:p>
            <a:r>
              <a:rPr lang="en-US" dirty="0" smtClean="0"/>
              <a:t>The correct answer is B</a:t>
            </a:r>
          </a:p>
          <a:p>
            <a:r>
              <a:rPr lang="en-US" dirty="0" smtClean="0"/>
              <a:t>Which of the following is the best metric of team progress?</a:t>
            </a:r>
          </a:p>
          <a:p>
            <a:endParaRPr lang="en-US" dirty="0" smtClean="0"/>
          </a:p>
          <a:p>
            <a:r>
              <a:rPr lang="en-US" dirty="0" smtClean="0"/>
              <a:t>A. A burn down chart</a:t>
            </a:r>
          </a:p>
          <a:p>
            <a:r>
              <a:rPr lang="en-US" dirty="0" smtClean="0"/>
              <a:t>B. Working software</a:t>
            </a:r>
          </a:p>
          <a:p>
            <a:r>
              <a:rPr lang="en-US" dirty="0" smtClean="0"/>
              <a:t>C. A burn up chart</a:t>
            </a:r>
          </a:p>
          <a:p>
            <a:r>
              <a:rPr lang="en-US" dirty="0" smtClean="0"/>
              <a:t>D. Story points accomplished</a:t>
            </a:r>
          </a:p>
          <a:p>
            <a:r>
              <a:rPr lang="en-US" dirty="0" smtClean="0"/>
              <a:t>  </a:t>
            </a:r>
          </a:p>
          <a:p>
            <a:r>
              <a:rPr lang="en-US" dirty="0" smtClean="0"/>
              <a:t>The seventh Agile principle is 'working software is the primary measure of progress.'</a:t>
            </a:r>
            <a:endParaRPr lang="en-US" dirty="0"/>
          </a:p>
        </p:txBody>
      </p:sp>
    </p:spTree>
    <p:extLst>
      <p:ext uri="{BB962C8B-B14F-4D97-AF65-F5344CB8AC3E}">
        <p14:creationId xmlns:p14="http://schemas.microsoft.com/office/powerpoint/2010/main" val="405217131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4524315"/>
          </a:xfrm>
          <a:prstGeom prst="rect">
            <a:avLst/>
          </a:prstGeom>
          <a:noFill/>
        </p:spPr>
        <p:txBody>
          <a:bodyPr wrap="square" rtlCol="0">
            <a:spAutoFit/>
          </a:bodyPr>
          <a:lstStyle/>
          <a:p>
            <a:r>
              <a:rPr lang="en-US" dirty="0" smtClean="0"/>
              <a:t>The correct answer is D</a:t>
            </a:r>
          </a:p>
          <a:p>
            <a:r>
              <a:rPr lang="en-US" dirty="0" smtClean="0"/>
              <a:t>Barbara met with Frances so that Frances could describe in detail the change the customer wanted to make to a key feature of the product. While Frances talked at length about the technical specifications that would be altered, Barbara either made eye contact with Frances or took notes. When Frances felt that all the details had been covered, Barbara asked if she could repeat back her understanding of the change request to make sure it was complete and clear. In this scenario, Barbara is applying what technique?</a:t>
            </a:r>
          </a:p>
          <a:p>
            <a:endParaRPr lang="en-US" dirty="0" smtClean="0"/>
          </a:p>
          <a:p>
            <a:r>
              <a:rPr lang="en-US" dirty="0" smtClean="0"/>
              <a:t>A. Communication channeling</a:t>
            </a:r>
          </a:p>
          <a:p>
            <a:r>
              <a:rPr lang="en-US" dirty="0" smtClean="0"/>
              <a:t>B. Emotional intelligence</a:t>
            </a:r>
          </a:p>
          <a:p>
            <a:r>
              <a:rPr lang="en-US" dirty="0" smtClean="0"/>
              <a:t>C. Soft-skills interviewing</a:t>
            </a:r>
          </a:p>
          <a:p>
            <a:r>
              <a:rPr lang="en-US" dirty="0" smtClean="0"/>
              <a:t>D. Active listening</a:t>
            </a:r>
          </a:p>
          <a:p>
            <a:r>
              <a:rPr lang="en-US" dirty="0" smtClean="0"/>
              <a:t>  </a:t>
            </a:r>
          </a:p>
          <a:p>
            <a:r>
              <a:rPr lang="en-US" dirty="0" smtClean="0"/>
              <a:t>Active listening is the best description of what Barbara has done. She made eye contact, took notes of what she heard, reviewed to confirm understanding by stating back to the other person what she heard. All these point to active listening as the best answer.</a:t>
            </a:r>
            <a:endParaRPr lang="en-US" dirty="0"/>
          </a:p>
        </p:txBody>
      </p:sp>
    </p:spTree>
    <p:extLst>
      <p:ext uri="{BB962C8B-B14F-4D97-AF65-F5344CB8AC3E}">
        <p14:creationId xmlns:p14="http://schemas.microsoft.com/office/powerpoint/2010/main" val="214479496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416320"/>
          </a:xfrm>
          <a:prstGeom prst="rect">
            <a:avLst/>
          </a:prstGeom>
          <a:noFill/>
        </p:spPr>
        <p:txBody>
          <a:bodyPr wrap="square" rtlCol="0">
            <a:spAutoFit/>
          </a:bodyPr>
          <a:lstStyle/>
          <a:p>
            <a:r>
              <a:rPr lang="en-US" dirty="0" smtClean="0"/>
              <a:t>The correct answer is D</a:t>
            </a:r>
          </a:p>
          <a:p>
            <a:r>
              <a:rPr lang="en-US" dirty="0" smtClean="0"/>
              <a:t>When the </a:t>
            </a:r>
            <a:r>
              <a:rPr lang="en-US" dirty="0" err="1" smtClean="0"/>
              <a:t>ScrumMaster</a:t>
            </a:r>
            <a:r>
              <a:rPr lang="en-US" dirty="0" smtClean="0"/>
              <a:t> reports the forecasted labor cost for the upcoming sprint, he is reporting the team's:</a:t>
            </a:r>
          </a:p>
          <a:p>
            <a:endParaRPr lang="en-US" dirty="0" smtClean="0"/>
          </a:p>
          <a:p>
            <a:r>
              <a:rPr lang="en-US" dirty="0" smtClean="0"/>
              <a:t>A. Velocity</a:t>
            </a:r>
          </a:p>
          <a:p>
            <a:r>
              <a:rPr lang="en-US" dirty="0" smtClean="0"/>
              <a:t>B. Budgeted cost of work performed</a:t>
            </a:r>
          </a:p>
          <a:p>
            <a:r>
              <a:rPr lang="en-US" dirty="0" smtClean="0"/>
              <a:t>C. Cumulative budgeted cost of work scheduled</a:t>
            </a:r>
          </a:p>
          <a:p>
            <a:r>
              <a:rPr lang="en-US" dirty="0" smtClean="0"/>
              <a:t>D. Burn rate</a:t>
            </a:r>
          </a:p>
          <a:p>
            <a:r>
              <a:rPr lang="en-US" dirty="0" smtClean="0"/>
              <a:t>  </a:t>
            </a:r>
          </a:p>
          <a:p>
            <a:r>
              <a:rPr lang="en-US" dirty="0" smtClean="0"/>
              <a:t>The burn rate conveys the team's cost over time. For example, a team with a total cost of $2500 per day, then an iteration of 20 working days would have a burn rate of $50,000 per iteration.</a:t>
            </a:r>
            <a:endParaRPr lang="en-US" dirty="0"/>
          </a:p>
        </p:txBody>
      </p:sp>
    </p:spTree>
    <p:extLst>
      <p:ext uri="{BB962C8B-B14F-4D97-AF65-F5344CB8AC3E}">
        <p14:creationId xmlns:p14="http://schemas.microsoft.com/office/powerpoint/2010/main" val="411841329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2862322"/>
          </a:xfrm>
          <a:prstGeom prst="rect">
            <a:avLst/>
          </a:prstGeom>
          <a:noFill/>
        </p:spPr>
        <p:txBody>
          <a:bodyPr wrap="square" rtlCol="0">
            <a:spAutoFit/>
          </a:bodyPr>
          <a:lstStyle/>
          <a:p>
            <a:r>
              <a:rPr lang="en-US" dirty="0" smtClean="0"/>
              <a:t>The correct answer is B</a:t>
            </a:r>
          </a:p>
          <a:p>
            <a:r>
              <a:rPr lang="en-US" dirty="0" smtClean="0"/>
              <a:t>Driving factors and restraining factors are considered is what type of analysis?</a:t>
            </a:r>
          </a:p>
          <a:p>
            <a:endParaRPr lang="en-US" dirty="0" smtClean="0"/>
          </a:p>
          <a:p>
            <a:r>
              <a:rPr lang="en-US" dirty="0" smtClean="0"/>
              <a:t>A. Cost/benefit Analysis</a:t>
            </a:r>
          </a:p>
          <a:p>
            <a:r>
              <a:rPr lang="en-US" dirty="0" smtClean="0"/>
              <a:t>B. Force field analysis</a:t>
            </a:r>
          </a:p>
          <a:p>
            <a:r>
              <a:rPr lang="en-US" dirty="0" smtClean="0"/>
              <a:t>C. Change factor analysis</a:t>
            </a:r>
          </a:p>
          <a:p>
            <a:r>
              <a:rPr lang="en-US" dirty="0" smtClean="0"/>
              <a:t>D. Five-why analysis</a:t>
            </a:r>
          </a:p>
          <a:p>
            <a:r>
              <a:rPr lang="en-US" dirty="0" smtClean="0"/>
              <a:t>  </a:t>
            </a:r>
          </a:p>
          <a:p>
            <a:r>
              <a:rPr lang="en-US" dirty="0" smtClean="0"/>
              <a:t>Force field analysis provides an objective method to rank and analyze the opposing forces for change and against change, facilitating decisions about if and how to proceed.</a:t>
            </a:r>
            <a:endParaRPr lang="en-US" dirty="0"/>
          </a:p>
        </p:txBody>
      </p:sp>
    </p:spTree>
    <p:extLst>
      <p:ext uri="{BB962C8B-B14F-4D97-AF65-F5344CB8AC3E}">
        <p14:creationId xmlns:p14="http://schemas.microsoft.com/office/powerpoint/2010/main" val="167942150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970318"/>
          </a:xfrm>
          <a:prstGeom prst="rect">
            <a:avLst/>
          </a:prstGeom>
          <a:noFill/>
        </p:spPr>
        <p:txBody>
          <a:bodyPr wrap="square" rtlCol="0">
            <a:spAutoFit/>
          </a:bodyPr>
          <a:lstStyle/>
          <a:p>
            <a:r>
              <a:rPr lang="en-US" dirty="0" smtClean="0"/>
              <a:t>The correct answer is C</a:t>
            </a:r>
          </a:p>
          <a:p>
            <a:r>
              <a:rPr lang="en-US" dirty="0" smtClean="0"/>
              <a:t>In an Agile project, in which manner would senior management organize the project team?</a:t>
            </a:r>
          </a:p>
          <a:p>
            <a:endParaRPr lang="en-US" dirty="0" smtClean="0"/>
          </a:p>
          <a:p>
            <a:r>
              <a:rPr lang="en-US" dirty="0" smtClean="0"/>
              <a:t>A. The project lead would assign the team members to the roles most closely associated with specialized skills</a:t>
            </a:r>
          </a:p>
          <a:p>
            <a:r>
              <a:rPr lang="en-US" dirty="0" smtClean="0"/>
              <a:t>B. The </a:t>
            </a:r>
            <a:r>
              <a:rPr lang="en-US" dirty="0" err="1" smtClean="0"/>
              <a:t>ScrumMaster</a:t>
            </a:r>
            <a:r>
              <a:rPr lang="en-US" dirty="0" smtClean="0"/>
              <a:t> and Product Owner would organize the team based on the highest value stories</a:t>
            </a:r>
          </a:p>
          <a:p>
            <a:r>
              <a:rPr lang="en-US" dirty="0" smtClean="0"/>
              <a:t>C. The team would be empowered by senior management to develop their own method of working together</a:t>
            </a:r>
          </a:p>
          <a:p>
            <a:r>
              <a:rPr lang="en-US" dirty="0" smtClean="0"/>
              <a:t>D. The team structure would adapt to the iteration environment based on the leadership of the coach</a:t>
            </a:r>
          </a:p>
          <a:p>
            <a:r>
              <a:rPr lang="en-US" dirty="0" smtClean="0"/>
              <a:t>  </a:t>
            </a:r>
          </a:p>
          <a:p>
            <a:r>
              <a:rPr lang="en-US" dirty="0" smtClean="0"/>
              <a:t>Agile teams are self-organized. One of the Agile principles is that the best architectures, requirements, and designs emerge from self-organizing teams.</a:t>
            </a:r>
            <a:endParaRPr lang="en-US" dirty="0"/>
          </a:p>
        </p:txBody>
      </p:sp>
    </p:spTree>
    <p:extLst>
      <p:ext uri="{BB962C8B-B14F-4D97-AF65-F5344CB8AC3E}">
        <p14:creationId xmlns:p14="http://schemas.microsoft.com/office/powerpoint/2010/main" val="58590833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4247317"/>
          </a:xfrm>
          <a:prstGeom prst="rect">
            <a:avLst/>
          </a:prstGeom>
          <a:noFill/>
        </p:spPr>
        <p:txBody>
          <a:bodyPr wrap="square" rtlCol="0">
            <a:spAutoFit/>
          </a:bodyPr>
          <a:lstStyle/>
          <a:p>
            <a:r>
              <a:rPr lang="en-US" dirty="0" smtClean="0"/>
              <a:t>The correct answer is B</a:t>
            </a:r>
          </a:p>
          <a:p>
            <a:r>
              <a:rPr lang="en-US" dirty="0" smtClean="0"/>
              <a:t>Which of the following is most important to an Agile team?</a:t>
            </a:r>
          </a:p>
          <a:p>
            <a:endParaRPr lang="en-US" dirty="0" smtClean="0"/>
          </a:p>
          <a:p>
            <a:r>
              <a:rPr lang="en-US" dirty="0" smtClean="0"/>
              <a:t>A. Clear leadership and direction from the project manager</a:t>
            </a:r>
          </a:p>
          <a:p>
            <a:r>
              <a:rPr lang="en-US" dirty="0" smtClean="0"/>
              <a:t>B. The members of the team must be willing to share knowledge openly and in a timely manner</a:t>
            </a:r>
          </a:p>
          <a:p>
            <a:r>
              <a:rPr lang="en-US" dirty="0" smtClean="0"/>
              <a:t>C. Team members embrace changing requirements as long as they are identified prior to the closing phase of an iteration</a:t>
            </a:r>
          </a:p>
          <a:p>
            <a:r>
              <a:rPr lang="en-US" dirty="0" smtClean="0"/>
              <a:t>D. Team members value collaboration so Agile teams avoid the use of virtual team members</a:t>
            </a:r>
          </a:p>
          <a:p>
            <a:r>
              <a:rPr lang="en-US" dirty="0" smtClean="0"/>
              <a:t>  </a:t>
            </a:r>
          </a:p>
          <a:p>
            <a:r>
              <a:rPr lang="en-US" dirty="0" smtClean="0"/>
              <a:t>Agile teams are self-organizing and depend on each other for project success. The sharing of knowledge among team members is paramount to success. The team is not reliant on a PM to make assignments - Agile methods avoid that practice. Agile prefers the communication simplicity of team members working face-to-face in the same location, but Agile certainly can adapt to the use of virtual team members.</a:t>
            </a:r>
            <a:endParaRPr lang="en-US" dirty="0"/>
          </a:p>
        </p:txBody>
      </p:sp>
      <p:sp>
        <p:nvSpPr>
          <p:cNvPr id="3" name="TextBox 2"/>
          <p:cNvSpPr txBox="1"/>
          <p:nvPr/>
        </p:nvSpPr>
        <p:spPr>
          <a:xfrm>
            <a:off x="0" y="413266"/>
            <a:ext cx="8991600"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246828566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4247317"/>
          </a:xfrm>
          <a:prstGeom prst="rect">
            <a:avLst/>
          </a:prstGeom>
          <a:noFill/>
        </p:spPr>
        <p:txBody>
          <a:bodyPr wrap="square" rtlCol="0">
            <a:spAutoFit/>
          </a:bodyPr>
          <a:lstStyle/>
          <a:p>
            <a:r>
              <a:rPr lang="en-US" dirty="0" smtClean="0"/>
              <a:t>The correct answer is D</a:t>
            </a:r>
          </a:p>
          <a:p>
            <a:r>
              <a:rPr lang="en-US" dirty="0" smtClean="0"/>
              <a:t>This Agile team consists of 6 members, and the core have worked together for 3 years. After a few projects, the team realized there were benefits to planning time for documentation, final testing, and transition to production when delivering a release to the customer. How do some refer to this last part of a release?</a:t>
            </a:r>
          </a:p>
          <a:p>
            <a:endParaRPr lang="en-US" dirty="0" smtClean="0"/>
          </a:p>
          <a:p>
            <a:r>
              <a:rPr lang="en-US" dirty="0" smtClean="0"/>
              <a:t>A. Value-earned iteration</a:t>
            </a:r>
          </a:p>
          <a:p>
            <a:r>
              <a:rPr lang="en-US" dirty="0" smtClean="0"/>
              <a:t>B. Transition sprint</a:t>
            </a:r>
          </a:p>
          <a:p>
            <a:r>
              <a:rPr lang="en-US" dirty="0" smtClean="0"/>
              <a:t>C. Production-ready iteration</a:t>
            </a:r>
          </a:p>
          <a:p>
            <a:r>
              <a:rPr lang="en-US" dirty="0" smtClean="0"/>
              <a:t>D. Hardening iteration</a:t>
            </a:r>
          </a:p>
          <a:p>
            <a:r>
              <a:rPr lang="en-US" dirty="0" smtClean="0"/>
              <a:t>  </a:t>
            </a:r>
          </a:p>
          <a:p>
            <a:r>
              <a:rPr lang="en-US" dirty="0" smtClean="0"/>
              <a:t>Many teams will devote the final iteration or sprint to production readiness. That involves some final testing, administration, documentation - many steps that may be unique to the major step of releasing the major increment to the customer. The common term for this final sprint or iteration is the hardening iteration.</a:t>
            </a:r>
            <a:endParaRPr lang="en-US" dirty="0"/>
          </a:p>
        </p:txBody>
      </p:sp>
    </p:spTree>
    <p:extLst>
      <p:ext uri="{BB962C8B-B14F-4D97-AF65-F5344CB8AC3E}">
        <p14:creationId xmlns:p14="http://schemas.microsoft.com/office/powerpoint/2010/main" val="328912106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139321"/>
          </a:xfrm>
          <a:prstGeom prst="rect">
            <a:avLst/>
          </a:prstGeom>
          <a:noFill/>
        </p:spPr>
        <p:txBody>
          <a:bodyPr wrap="square" rtlCol="0">
            <a:spAutoFit/>
          </a:bodyPr>
          <a:lstStyle/>
          <a:p>
            <a:r>
              <a:rPr lang="en-US" dirty="0" smtClean="0"/>
              <a:t>The correct answer is D</a:t>
            </a:r>
          </a:p>
          <a:p>
            <a:r>
              <a:rPr lang="en-US" dirty="0" smtClean="0"/>
              <a:t>A Lean team employed a technique to analyze the flow of information and materials through a system to identify and eliminate wasted effort and materials. This technique is called:</a:t>
            </a:r>
          </a:p>
          <a:p>
            <a:endParaRPr lang="en-US" dirty="0" smtClean="0"/>
          </a:p>
          <a:p>
            <a:r>
              <a:rPr lang="en-US" dirty="0" smtClean="0"/>
              <a:t>A. Flowcharting</a:t>
            </a:r>
          </a:p>
          <a:p>
            <a:r>
              <a:rPr lang="en-US" dirty="0" smtClean="0"/>
              <a:t>B. Flow influence analysis</a:t>
            </a:r>
          </a:p>
          <a:p>
            <a:r>
              <a:rPr lang="en-US" dirty="0" smtClean="0"/>
              <a:t>C. Pareto Lean paring</a:t>
            </a:r>
          </a:p>
          <a:p>
            <a:r>
              <a:rPr lang="en-US" dirty="0" smtClean="0"/>
              <a:t>D. Value stream mapping</a:t>
            </a:r>
          </a:p>
          <a:p>
            <a:r>
              <a:rPr lang="en-US" dirty="0" smtClean="0"/>
              <a:t>  </a:t>
            </a:r>
          </a:p>
          <a:p>
            <a:r>
              <a:rPr lang="en-US" dirty="0" smtClean="0"/>
              <a:t>The question describes value stream mapping, used to better understand and streamline processes.</a:t>
            </a:r>
            <a:endParaRPr lang="en-US" dirty="0"/>
          </a:p>
        </p:txBody>
      </p:sp>
    </p:spTree>
    <p:extLst>
      <p:ext uri="{BB962C8B-B14F-4D97-AF65-F5344CB8AC3E}">
        <p14:creationId xmlns:p14="http://schemas.microsoft.com/office/powerpoint/2010/main" val="290217076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416320"/>
          </a:xfrm>
          <a:prstGeom prst="rect">
            <a:avLst/>
          </a:prstGeom>
          <a:noFill/>
        </p:spPr>
        <p:txBody>
          <a:bodyPr wrap="square" rtlCol="0">
            <a:spAutoFit/>
          </a:bodyPr>
          <a:lstStyle/>
          <a:p>
            <a:r>
              <a:rPr lang="en-US" dirty="0" smtClean="0"/>
              <a:t>The correct answer is C</a:t>
            </a:r>
          </a:p>
          <a:p>
            <a:r>
              <a:rPr lang="en-US" dirty="0" smtClean="0"/>
              <a:t>How are the values of the stakeholders used in shaping an Agile project using Scrum methodology?</a:t>
            </a:r>
          </a:p>
          <a:p>
            <a:endParaRPr lang="en-US" dirty="0" smtClean="0"/>
          </a:p>
          <a:p>
            <a:r>
              <a:rPr lang="en-US" dirty="0" smtClean="0"/>
              <a:t>A. Stakeholder focus groups provide input to the team in a collaborative manner</a:t>
            </a:r>
          </a:p>
          <a:p>
            <a:r>
              <a:rPr lang="en-US" dirty="0" smtClean="0"/>
              <a:t>B. The Scrum Planning meetings allow the opportunity for the Product Owner, the </a:t>
            </a:r>
            <a:r>
              <a:rPr lang="en-US" dirty="0" err="1" smtClean="0"/>
              <a:t>ScrumMaster</a:t>
            </a:r>
            <a:r>
              <a:rPr lang="en-US" dirty="0" smtClean="0"/>
              <a:t>, and the Team to hear from the invited stakeholders</a:t>
            </a:r>
          </a:p>
          <a:p>
            <a:r>
              <a:rPr lang="en-US" dirty="0" smtClean="0"/>
              <a:t>C. The Product Owner serves as the voice of the users and stakeholders</a:t>
            </a:r>
          </a:p>
          <a:p>
            <a:r>
              <a:rPr lang="en-US" dirty="0" smtClean="0"/>
              <a:t>D. The team decides how to deliver exactly what the organization needs or desires</a:t>
            </a:r>
          </a:p>
          <a:p>
            <a:r>
              <a:rPr lang="en-US" dirty="0" smtClean="0"/>
              <a:t>  </a:t>
            </a:r>
          </a:p>
          <a:p>
            <a:r>
              <a:rPr lang="en-US" dirty="0" smtClean="0"/>
              <a:t>The Product Owner communicates with the various stakeholders and brings items of best project interest to the team.</a:t>
            </a:r>
            <a:endParaRPr lang="en-US" dirty="0"/>
          </a:p>
        </p:txBody>
      </p:sp>
    </p:spTree>
    <p:extLst>
      <p:ext uri="{BB962C8B-B14F-4D97-AF65-F5344CB8AC3E}">
        <p14:creationId xmlns:p14="http://schemas.microsoft.com/office/powerpoint/2010/main" val="193275335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2862322"/>
          </a:xfrm>
          <a:prstGeom prst="rect">
            <a:avLst/>
          </a:prstGeom>
          <a:noFill/>
        </p:spPr>
        <p:txBody>
          <a:bodyPr wrap="square" rtlCol="0">
            <a:spAutoFit/>
          </a:bodyPr>
          <a:lstStyle/>
          <a:p>
            <a:r>
              <a:rPr lang="en-US" dirty="0" smtClean="0"/>
              <a:t>The correct answer is B</a:t>
            </a:r>
          </a:p>
          <a:p>
            <a:r>
              <a:rPr lang="en-US" dirty="0" smtClean="0"/>
              <a:t>All of the following are valid about Agile personas except:</a:t>
            </a:r>
          </a:p>
          <a:p>
            <a:endParaRPr lang="en-US" dirty="0" smtClean="0"/>
          </a:p>
          <a:p>
            <a:r>
              <a:rPr lang="en-US" dirty="0" smtClean="0"/>
              <a:t>A. They allow user stories to be more specific than general</a:t>
            </a:r>
          </a:p>
          <a:p>
            <a:r>
              <a:rPr lang="en-US" dirty="0" smtClean="0"/>
              <a:t>B. They are descriptions of specific, actual users</a:t>
            </a:r>
          </a:p>
          <a:p>
            <a:r>
              <a:rPr lang="en-US" dirty="0" smtClean="0"/>
              <a:t>C. They include the name and description of the user and possibly a photograph</a:t>
            </a:r>
          </a:p>
          <a:p>
            <a:r>
              <a:rPr lang="en-US" dirty="0" smtClean="0"/>
              <a:t>D. They improve user stories by the consideration of how the product will be used</a:t>
            </a:r>
          </a:p>
          <a:p>
            <a:r>
              <a:rPr lang="en-US" dirty="0" smtClean="0"/>
              <a:t>  </a:t>
            </a:r>
          </a:p>
          <a:p>
            <a:r>
              <a:rPr lang="en-US" dirty="0" smtClean="0"/>
              <a:t>Personas are fictional users created to make user stories lifelike, applicable, and comprehensive.</a:t>
            </a:r>
            <a:endParaRPr lang="en-US" dirty="0"/>
          </a:p>
        </p:txBody>
      </p:sp>
      <p:sp>
        <p:nvSpPr>
          <p:cNvPr id="3" name="TextBox 2"/>
          <p:cNvSpPr txBox="1"/>
          <p:nvPr/>
        </p:nvSpPr>
        <p:spPr>
          <a:xfrm>
            <a:off x="0" y="413266"/>
            <a:ext cx="8991600"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402658904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416320"/>
          </a:xfrm>
          <a:prstGeom prst="rect">
            <a:avLst/>
          </a:prstGeom>
          <a:noFill/>
        </p:spPr>
        <p:txBody>
          <a:bodyPr wrap="square" rtlCol="0">
            <a:spAutoFit/>
          </a:bodyPr>
          <a:lstStyle/>
          <a:p>
            <a:r>
              <a:rPr lang="en-US" dirty="0" smtClean="0"/>
              <a:t>The correct answer is C</a:t>
            </a:r>
          </a:p>
          <a:p>
            <a:r>
              <a:rPr lang="en-US" dirty="0" smtClean="0"/>
              <a:t>Refactoring involves:</a:t>
            </a:r>
          </a:p>
          <a:p>
            <a:endParaRPr lang="en-US" dirty="0" smtClean="0"/>
          </a:p>
          <a:p>
            <a:r>
              <a:rPr lang="en-US" dirty="0" smtClean="0"/>
              <a:t>A. Converting to final production version</a:t>
            </a:r>
          </a:p>
          <a:p>
            <a:r>
              <a:rPr lang="en-US" dirty="0" smtClean="0"/>
              <a:t>B. Improving efficiency and performance</a:t>
            </a:r>
          </a:p>
          <a:p>
            <a:r>
              <a:rPr lang="en-US" dirty="0" smtClean="0"/>
              <a:t>C. Reorganization without affecting functionality</a:t>
            </a:r>
          </a:p>
          <a:p>
            <a:r>
              <a:rPr lang="en-US" dirty="0" smtClean="0"/>
              <a:t>D. Editing software coding to use the team's global parameters</a:t>
            </a:r>
          </a:p>
          <a:p>
            <a:r>
              <a:rPr lang="en-US" dirty="0" smtClean="0"/>
              <a:t>  </a:t>
            </a:r>
          </a:p>
          <a:p>
            <a:r>
              <a:rPr lang="en-US" dirty="0" smtClean="0"/>
              <a:t>Refactoring is reorganizing the internal structure of a product (software) without changing its functionality from an external view. In software development, the product becomes more understandable, making it more supportable or maintainable, as well as more flexible for future extensions or enhancements.</a:t>
            </a:r>
            <a:endParaRPr lang="en-US" dirty="0"/>
          </a:p>
        </p:txBody>
      </p:sp>
    </p:spTree>
    <p:extLst>
      <p:ext uri="{BB962C8B-B14F-4D97-AF65-F5344CB8AC3E}">
        <p14:creationId xmlns:p14="http://schemas.microsoft.com/office/powerpoint/2010/main" val="257685527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693319"/>
          </a:xfrm>
          <a:prstGeom prst="rect">
            <a:avLst/>
          </a:prstGeom>
          <a:noFill/>
        </p:spPr>
        <p:txBody>
          <a:bodyPr wrap="square" rtlCol="0">
            <a:spAutoFit/>
          </a:bodyPr>
          <a:lstStyle/>
          <a:p>
            <a:r>
              <a:rPr lang="en-US" dirty="0" smtClean="0"/>
              <a:t>The correct answer is A</a:t>
            </a:r>
          </a:p>
          <a:p>
            <a:r>
              <a:rPr lang="en-US" dirty="0" smtClean="0"/>
              <a:t>If an Agile team is making use of the Fibonacci sequence, then the team is most concerned with what aspect of the project?</a:t>
            </a:r>
          </a:p>
          <a:p>
            <a:endParaRPr lang="en-US" dirty="0" smtClean="0"/>
          </a:p>
          <a:p>
            <a:r>
              <a:rPr lang="en-US" dirty="0" smtClean="0"/>
              <a:t>A. Planning for future work by deciding what stories can be completed in the next iteration</a:t>
            </a:r>
          </a:p>
          <a:p>
            <a:r>
              <a:rPr lang="en-US" dirty="0" smtClean="0"/>
              <a:t>B. Estimating the resources and cost required to cover the impact of a risk event if it occurs</a:t>
            </a:r>
          </a:p>
          <a:p>
            <a:r>
              <a:rPr lang="en-US" dirty="0" smtClean="0"/>
              <a:t>C. Building the schedule based on relative sizing of the features the team must build</a:t>
            </a:r>
          </a:p>
          <a:p>
            <a:r>
              <a:rPr lang="en-US" dirty="0" smtClean="0"/>
              <a:t>D. Defining quality of the product by specifying the acceptance criteria using a specific numbering scheme</a:t>
            </a:r>
          </a:p>
          <a:p>
            <a:r>
              <a:rPr lang="en-US" dirty="0" smtClean="0"/>
              <a:t>  </a:t>
            </a:r>
          </a:p>
          <a:p>
            <a:r>
              <a:rPr lang="en-US" dirty="0" smtClean="0"/>
              <a:t>Some teams use the Fibonacci number sequence to assign relative scores to story cards. The goal is to determine how many stories or features the team can complete in the next round or iteration. Answer-A is the correct answer.</a:t>
            </a:r>
            <a:endParaRPr lang="en-US" dirty="0"/>
          </a:p>
        </p:txBody>
      </p:sp>
    </p:spTree>
    <p:extLst>
      <p:ext uri="{BB962C8B-B14F-4D97-AF65-F5344CB8AC3E}">
        <p14:creationId xmlns:p14="http://schemas.microsoft.com/office/powerpoint/2010/main" val="246625359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2862322"/>
          </a:xfrm>
          <a:prstGeom prst="rect">
            <a:avLst/>
          </a:prstGeom>
          <a:noFill/>
        </p:spPr>
        <p:txBody>
          <a:bodyPr wrap="square" rtlCol="0">
            <a:spAutoFit/>
          </a:bodyPr>
          <a:lstStyle/>
          <a:p>
            <a:r>
              <a:rPr lang="en-US" dirty="0" smtClean="0"/>
              <a:t>The correct answer is C</a:t>
            </a:r>
          </a:p>
          <a:p>
            <a:r>
              <a:rPr lang="en-US" dirty="0" smtClean="0"/>
              <a:t>A wireframe is not useful in which of the following ways?</a:t>
            </a:r>
          </a:p>
          <a:p>
            <a:endParaRPr lang="en-US" dirty="0" smtClean="0"/>
          </a:p>
          <a:p>
            <a:r>
              <a:rPr lang="en-US" dirty="0" smtClean="0"/>
              <a:t>A. It minimizes the need for heavy documentation to convey design details</a:t>
            </a:r>
          </a:p>
          <a:p>
            <a:r>
              <a:rPr lang="en-US" dirty="0" smtClean="0"/>
              <a:t>B. No coding is required to create it</a:t>
            </a:r>
          </a:p>
          <a:p>
            <a:r>
              <a:rPr lang="en-US" dirty="0" smtClean="0"/>
              <a:t>C. It provides the customer with value as an early working prototype</a:t>
            </a:r>
          </a:p>
          <a:p>
            <a:r>
              <a:rPr lang="en-US" dirty="0" smtClean="0"/>
              <a:t>D. It provides a starting point for users and developers to create a system</a:t>
            </a:r>
          </a:p>
          <a:p>
            <a:r>
              <a:rPr lang="en-US" dirty="0" smtClean="0"/>
              <a:t>  </a:t>
            </a:r>
          </a:p>
          <a:p>
            <a:r>
              <a:rPr lang="en-US" dirty="0" smtClean="0"/>
              <a:t>A wireframe is not a working prototype. It is an illustration of how a user will interact with a system without the encumbrance of heavy requirements documentation.</a:t>
            </a:r>
            <a:endParaRPr lang="en-US" dirty="0"/>
          </a:p>
        </p:txBody>
      </p:sp>
    </p:spTree>
    <p:extLst>
      <p:ext uri="{BB962C8B-B14F-4D97-AF65-F5344CB8AC3E}">
        <p14:creationId xmlns:p14="http://schemas.microsoft.com/office/powerpoint/2010/main" val="148689638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693319"/>
          </a:xfrm>
          <a:prstGeom prst="rect">
            <a:avLst/>
          </a:prstGeom>
          <a:noFill/>
        </p:spPr>
        <p:txBody>
          <a:bodyPr wrap="square" rtlCol="0">
            <a:spAutoFit/>
          </a:bodyPr>
          <a:lstStyle/>
          <a:p>
            <a:r>
              <a:rPr lang="en-US" dirty="0" smtClean="0"/>
              <a:t>The correct answer is B</a:t>
            </a:r>
          </a:p>
          <a:p>
            <a:r>
              <a:rPr lang="en-US" dirty="0" smtClean="0"/>
              <a:t>Consider the following 4 choices and select the one that best describes the proper timing for conducting a retrospective in an Agile project.</a:t>
            </a:r>
          </a:p>
          <a:p>
            <a:endParaRPr lang="en-US" dirty="0" smtClean="0"/>
          </a:p>
          <a:p>
            <a:r>
              <a:rPr lang="en-US" dirty="0" smtClean="0"/>
              <a:t>A. Before the iteration review meeting</a:t>
            </a:r>
          </a:p>
          <a:p>
            <a:r>
              <a:rPr lang="en-US" dirty="0" smtClean="0"/>
              <a:t>B. Before the next iteration planning meeting</a:t>
            </a:r>
          </a:p>
          <a:p>
            <a:r>
              <a:rPr lang="en-US" dirty="0" smtClean="0"/>
              <a:t>C. After the release planning meeting</a:t>
            </a:r>
          </a:p>
          <a:p>
            <a:r>
              <a:rPr lang="en-US" dirty="0" smtClean="0"/>
              <a:t>D. During the iteration review meeting</a:t>
            </a:r>
          </a:p>
          <a:p>
            <a:r>
              <a:rPr lang="en-US" dirty="0" smtClean="0"/>
              <a:t>  </a:t>
            </a:r>
          </a:p>
          <a:p>
            <a:r>
              <a:rPr lang="en-US" dirty="0" smtClean="0"/>
              <a:t>B is the best choice here. The proper sequence for an iteration (or Sprint) is iteration planning meeting, iteration review, followed immediately by the iteration retrospective. Then, repeat the cycle. Therefore, B is the best choice. A is incorrect. C is too broad - not as good a choice as B. D is incorrect - these two meetings are distinct and not combined.</a:t>
            </a:r>
            <a:endParaRPr lang="en-US" dirty="0"/>
          </a:p>
        </p:txBody>
      </p:sp>
    </p:spTree>
    <p:extLst>
      <p:ext uri="{BB962C8B-B14F-4D97-AF65-F5344CB8AC3E}">
        <p14:creationId xmlns:p14="http://schemas.microsoft.com/office/powerpoint/2010/main" val="134763838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4524315"/>
          </a:xfrm>
          <a:prstGeom prst="rect">
            <a:avLst/>
          </a:prstGeom>
          <a:noFill/>
        </p:spPr>
        <p:txBody>
          <a:bodyPr wrap="square" rtlCol="0">
            <a:spAutoFit/>
          </a:bodyPr>
          <a:lstStyle/>
          <a:p>
            <a:r>
              <a:rPr lang="en-US" sz="1600" dirty="0" smtClean="0"/>
              <a:t>The correct answer is A</a:t>
            </a:r>
          </a:p>
          <a:p>
            <a:r>
              <a:rPr lang="en-US" sz="1600" dirty="0" smtClean="0"/>
              <a:t>Which of the following statements is correct regarding Scrum?</a:t>
            </a:r>
          </a:p>
          <a:p>
            <a:endParaRPr lang="en-US" sz="1600" dirty="0" smtClean="0"/>
          </a:p>
          <a:p>
            <a:r>
              <a:rPr lang="en-US" sz="1600" dirty="0" smtClean="0"/>
              <a:t>A. The Sprint is time-boxed at 30 consecutive days, and no changes to the iteration backlog are allowed during the Sprint</a:t>
            </a:r>
          </a:p>
          <a:p>
            <a:r>
              <a:rPr lang="en-US" sz="1600" dirty="0" smtClean="0"/>
              <a:t>B. The Sprint is time-boxed at 30 consecutive days, and no changes to the product backlog are allowed during the Sprint unless approved by the </a:t>
            </a:r>
            <a:r>
              <a:rPr lang="en-US" sz="1600" dirty="0" err="1" smtClean="0"/>
              <a:t>ScrumMaster</a:t>
            </a:r>
            <a:endParaRPr lang="en-US" sz="1600" dirty="0" smtClean="0"/>
          </a:p>
          <a:p>
            <a:r>
              <a:rPr lang="en-US" sz="1600" dirty="0" smtClean="0"/>
              <a:t>C. The Sprint is time-boxed at 30 consecutive work days (6 weeks), and no changes to the Sprint backlog are allowed during the Sprint</a:t>
            </a:r>
          </a:p>
          <a:p>
            <a:r>
              <a:rPr lang="en-US" sz="1600" dirty="0" smtClean="0"/>
              <a:t>D. The Sprint is time-boxed at 30 consecutive work days (6 weeks), and no changes to the product backlog are allowed during the Sprint unless approved by the team</a:t>
            </a:r>
          </a:p>
          <a:p>
            <a:r>
              <a:rPr lang="en-US" sz="1600" dirty="0" smtClean="0"/>
              <a:t>  </a:t>
            </a:r>
          </a:p>
          <a:p>
            <a:r>
              <a:rPr lang="en-US" sz="1600" dirty="0" smtClean="0"/>
              <a:t>Scrum is a specific Agile methodology that uses the term of Sprint to refer to an iteration. So, in Scrum, a Sprint equals an iteration. Following Scrum rules, the Sprint will be no more than 30 consecutive calendar days, including weekends. The Sprint starts on day 1 and ends on day 30. In Sprint planning, the Product Owner and team discuss the prioritized product backlog. The team commits to items on the product backlog for that Sprint. No one is allowed to change the Sprint/iteration backlog during the Sprint. Change requests must wait for the next Sprint. Of the 4 choices, Answer-A is the best answer.</a:t>
            </a:r>
            <a:endParaRPr lang="en-US" sz="1600" dirty="0"/>
          </a:p>
        </p:txBody>
      </p:sp>
    </p:spTree>
    <p:extLst>
      <p:ext uri="{BB962C8B-B14F-4D97-AF65-F5344CB8AC3E}">
        <p14:creationId xmlns:p14="http://schemas.microsoft.com/office/powerpoint/2010/main" val="158999056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4524315"/>
          </a:xfrm>
          <a:prstGeom prst="rect">
            <a:avLst/>
          </a:prstGeom>
          <a:noFill/>
        </p:spPr>
        <p:txBody>
          <a:bodyPr wrap="square" rtlCol="0">
            <a:spAutoFit/>
          </a:bodyPr>
          <a:lstStyle/>
          <a:p>
            <a:r>
              <a:rPr lang="en-US" dirty="0" smtClean="0"/>
              <a:t>The correct answer is B</a:t>
            </a:r>
          </a:p>
          <a:p>
            <a:r>
              <a:rPr lang="en-US" dirty="0" smtClean="0"/>
              <a:t>Brad is preparing for a team meeting that he has been asked to lead. The goal of the meeting is to estimate the effort required to build out functionality requested by the customer. Brad is looking through old notes to figure out what approach to lead the team through to derive these estimates. He has jotted down the following 4 methods. Which of the four do you think Brad should not consider using?</a:t>
            </a:r>
          </a:p>
          <a:p>
            <a:endParaRPr lang="en-US" dirty="0" smtClean="0"/>
          </a:p>
          <a:p>
            <a:r>
              <a:rPr lang="en-US" dirty="0" smtClean="0"/>
              <a:t>A. Planning Poker</a:t>
            </a:r>
          </a:p>
          <a:p>
            <a:r>
              <a:rPr lang="en-US" dirty="0" smtClean="0"/>
              <a:t>B. </a:t>
            </a:r>
            <a:r>
              <a:rPr lang="en-US" dirty="0" err="1" smtClean="0"/>
              <a:t>Broadlink</a:t>
            </a:r>
            <a:r>
              <a:rPr lang="en-US" dirty="0" smtClean="0"/>
              <a:t> Delphi</a:t>
            </a:r>
          </a:p>
          <a:p>
            <a:r>
              <a:rPr lang="en-US" dirty="0" smtClean="0"/>
              <a:t>C. Wideband Delphi</a:t>
            </a:r>
          </a:p>
          <a:p>
            <a:r>
              <a:rPr lang="en-US" dirty="0" smtClean="0"/>
              <a:t>D. Delphi</a:t>
            </a:r>
          </a:p>
          <a:p>
            <a:r>
              <a:rPr lang="en-US" dirty="0" smtClean="0"/>
              <a:t>  </a:t>
            </a:r>
          </a:p>
          <a:p>
            <a:r>
              <a:rPr lang="en-US" dirty="0" smtClean="0"/>
              <a:t>If Brad announces to the team that they will use the </a:t>
            </a:r>
            <a:r>
              <a:rPr lang="en-US" dirty="0" err="1" smtClean="0"/>
              <a:t>Broadlink</a:t>
            </a:r>
            <a:r>
              <a:rPr lang="en-US" dirty="0" smtClean="0"/>
              <a:t> Delphi method for estimating, he will likely get some blank stares or perhaps a few chuckles. That is a made-up term. The other 3 are legitimate - Planning Poker, Delphi, and Wideband Delphi are all methods for extracting estimates from individuals to reach consensus.</a:t>
            </a:r>
            <a:endParaRPr lang="en-US" dirty="0"/>
          </a:p>
        </p:txBody>
      </p:sp>
    </p:spTree>
    <p:extLst>
      <p:ext uri="{BB962C8B-B14F-4D97-AF65-F5344CB8AC3E}">
        <p14:creationId xmlns:p14="http://schemas.microsoft.com/office/powerpoint/2010/main" val="41674518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139321"/>
          </a:xfrm>
          <a:prstGeom prst="rect">
            <a:avLst/>
          </a:prstGeom>
          <a:noFill/>
        </p:spPr>
        <p:txBody>
          <a:bodyPr wrap="square" rtlCol="0">
            <a:spAutoFit/>
          </a:bodyPr>
          <a:lstStyle/>
          <a:p>
            <a:r>
              <a:rPr lang="en-US" dirty="0" smtClean="0"/>
              <a:t>The correct answer is C</a:t>
            </a:r>
          </a:p>
          <a:p>
            <a:r>
              <a:rPr lang="en-US" dirty="0" smtClean="0"/>
              <a:t>In creating the team space, what feature provides the most effective method of communication?</a:t>
            </a:r>
          </a:p>
          <a:p>
            <a:endParaRPr lang="en-US" dirty="0" smtClean="0"/>
          </a:p>
          <a:p>
            <a:r>
              <a:rPr lang="en-US" dirty="0" smtClean="0"/>
              <a:t>A. A quiet environment, facilitating osmotic communications</a:t>
            </a:r>
          </a:p>
          <a:p>
            <a:r>
              <a:rPr lang="en-US" dirty="0" smtClean="0"/>
              <a:t>B. Agile tooling, providing a common form of messaging and documentation</a:t>
            </a:r>
          </a:p>
          <a:p>
            <a:r>
              <a:rPr lang="en-US" dirty="0" smtClean="0"/>
              <a:t>C. Desk positioning, creating team face-to-face situations</a:t>
            </a:r>
          </a:p>
          <a:p>
            <a:r>
              <a:rPr lang="en-US" dirty="0" smtClean="0"/>
              <a:t>D. Continuous integration, creating a common, up-to-date test environment</a:t>
            </a:r>
          </a:p>
          <a:p>
            <a:r>
              <a:rPr lang="en-US" dirty="0" smtClean="0"/>
              <a:t>  </a:t>
            </a:r>
          </a:p>
          <a:p>
            <a:r>
              <a:rPr lang="en-US" dirty="0" smtClean="0"/>
              <a:t>Face-to-face communications are the most effective; the majority of face-to-face conversation content is non-verbal.</a:t>
            </a:r>
            <a:endParaRPr lang="en-US" dirty="0"/>
          </a:p>
        </p:txBody>
      </p:sp>
      <p:sp>
        <p:nvSpPr>
          <p:cNvPr id="3" name="TextBox 2"/>
          <p:cNvSpPr txBox="1"/>
          <p:nvPr/>
        </p:nvSpPr>
        <p:spPr>
          <a:xfrm>
            <a:off x="0" y="413266"/>
            <a:ext cx="8991600"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1363266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970318"/>
          </a:xfrm>
          <a:prstGeom prst="rect">
            <a:avLst/>
          </a:prstGeom>
          <a:noFill/>
        </p:spPr>
        <p:txBody>
          <a:bodyPr wrap="square" rtlCol="0">
            <a:spAutoFit/>
          </a:bodyPr>
          <a:lstStyle/>
          <a:p>
            <a:r>
              <a:rPr lang="en-US" dirty="0" smtClean="0"/>
              <a:t>The correct answer is D</a:t>
            </a:r>
          </a:p>
          <a:p>
            <a:r>
              <a:rPr lang="en-US" dirty="0" smtClean="0"/>
              <a:t>An </a:t>
            </a:r>
            <a:r>
              <a:rPr lang="en-US" dirty="0" err="1" smtClean="0"/>
              <a:t>eXtreme</a:t>
            </a:r>
            <a:r>
              <a:rPr lang="en-US" dirty="0" smtClean="0"/>
              <a:t> Programming (XP) Coach would not provide guidance to act in which following practice?</a:t>
            </a:r>
          </a:p>
          <a:p>
            <a:endParaRPr lang="en-US" dirty="0" smtClean="0"/>
          </a:p>
          <a:p>
            <a:r>
              <a:rPr lang="en-US" dirty="0" smtClean="0"/>
              <a:t>A. Programmers should work together in pairs - one pilot and one navigator</a:t>
            </a:r>
          </a:p>
          <a:p>
            <a:r>
              <a:rPr lang="en-US" dirty="0" smtClean="0"/>
              <a:t>B. The team should practice a iteration duration of one-to-three weeks, holding the duration constant for each iteration in the project</a:t>
            </a:r>
          </a:p>
          <a:p>
            <a:r>
              <a:rPr lang="en-US" dirty="0" smtClean="0"/>
              <a:t>C. To practice simplicity - the art of maximizing the amount of work not done - the team should do things 'once and only once'</a:t>
            </a:r>
          </a:p>
          <a:p>
            <a:r>
              <a:rPr lang="en-US" dirty="0" smtClean="0"/>
              <a:t>D. As a form of continuous improvement, XP programmers should take on a few more story points that they completed in the previous iteration</a:t>
            </a:r>
          </a:p>
          <a:p>
            <a:r>
              <a:rPr lang="en-US" dirty="0" smtClean="0"/>
              <a:t>  </a:t>
            </a:r>
          </a:p>
          <a:p>
            <a:r>
              <a:rPr lang="en-US" dirty="0" smtClean="0"/>
              <a:t>An </a:t>
            </a:r>
            <a:r>
              <a:rPr lang="en-US" dirty="0" err="1" smtClean="0"/>
              <a:t>eXtreme</a:t>
            </a:r>
            <a:r>
              <a:rPr lang="en-US" dirty="0" smtClean="0"/>
              <a:t> Programming (XP) principle is that a team member cannot take on more story points than were completed in the previous iteration.</a:t>
            </a:r>
            <a:endParaRPr lang="en-US" dirty="0"/>
          </a:p>
        </p:txBody>
      </p:sp>
      <p:sp>
        <p:nvSpPr>
          <p:cNvPr id="3" name="TextBox 2"/>
          <p:cNvSpPr txBox="1"/>
          <p:nvPr/>
        </p:nvSpPr>
        <p:spPr>
          <a:xfrm>
            <a:off x="0" y="413266"/>
            <a:ext cx="8991600"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174941230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4247317"/>
          </a:xfrm>
          <a:prstGeom prst="rect">
            <a:avLst/>
          </a:prstGeom>
          <a:noFill/>
        </p:spPr>
        <p:txBody>
          <a:bodyPr wrap="square" rtlCol="0">
            <a:spAutoFit/>
          </a:bodyPr>
          <a:lstStyle/>
          <a:p>
            <a:r>
              <a:rPr lang="en-US" dirty="0" smtClean="0"/>
              <a:t>The correct answer is A</a:t>
            </a:r>
          </a:p>
          <a:p>
            <a:r>
              <a:rPr lang="en-US" dirty="0" smtClean="0"/>
              <a:t>During a Scrum sprint, the team's velocity is being hampered by the distracting visits of the Product Owner's stakeholders in the team work area. What is the appropriate role to facilitate the team in this scenario?</a:t>
            </a:r>
          </a:p>
          <a:p>
            <a:endParaRPr lang="en-US" dirty="0" smtClean="0"/>
          </a:p>
          <a:p>
            <a:r>
              <a:rPr lang="en-US" dirty="0" smtClean="0"/>
              <a:t>A. The </a:t>
            </a:r>
            <a:r>
              <a:rPr lang="en-US" dirty="0" err="1" smtClean="0"/>
              <a:t>ScrumMaster</a:t>
            </a:r>
            <a:r>
              <a:rPr lang="en-US" dirty="0" smtClean="0"/>
              <a:t> should privately explain the process to the stakeholder and influence his compliance</a:t>
            </a:r>
          </a:p>
          <a:p>
            <a:r>
              <a:rPr lang="en-US" dirty="0" smtClean="0"/>
              <a:t>B. Senior management should resolve this issue of stakeholder interruptions</a:t>
            </a:r>
          </a:p>
          <a:p>
            <a:r>
              <a:rPr lang="en-US" dirty="0" smtClean="0"/>
              <a:t>C. The team is empowered with enough authority to bar the stakeholder from the team space</a:t>
            </a:r>
          </a:p>
          <a:p>
            <a:r>
              <a:rPr lang="en-US" dirty="0" smtClean="0"/>
              <a:t>D. The </a:t>
            </a:r>
            <a:r>
              <a:rPr lang="en-US" dirty="0" err="1" smtClean="0"/>
              <a:t>ScrumMaster</a:t>
            </a:r>
            <a:r>
              <a:rPr lang="en-US" dirty="0" smtClean="0"/>
              <a:t> should involve the stakeholder as a new team member using the Agile principle of business people and developers working together daily</a:t>
            </a:r>
          </a:p>
          <a:p>
            <a:r>
              <a:rPr lang="en-US" dirty="0" smtClean="0"/>
              <a:t>  </a:t>
            </a:r>
          </a:p>
          <a:p>
            <a:r>
              <a:rPr lang="en-US" dirty="0" smtClean="0"/>
              <a:t>The </a:t>
            </a:r>
            <a:r>
              <a:rPr lang="en-US" dirty="0" err="1" smtClean="0"/>
              <a:t>ScrumMaster</a:t>
            </a:r>
            <a:r>
              <a:rPr lang="en-US" dirty="0" smtClean="0"/>
              <a:t> acts as a facilitator to assist the team in its development; removing impediments to progress, such as team interruptions by onlookers, is a very appropriate tactic for the </a:t>
            </a:r>
            <a:r>
              <a:rPr lang="en-US" dirty="0" err="1" smtClean="0"/>
              <a:t>ScrumMaster</a:t>
            </a:r>
            <a:r>
              <a:rPr lang="en-US" dirty="0" smtClean="0"/>
              <a:t>.</a:t>
            </a:r>
            <a:endParaRPr lang="en-US" dirty="0"/>
          </a:p>
        </p:txBody>
      </p:sp>
    </p:spTree>
    <p:extLst>
      <p:ext uri="{BB962C8B-B14F-4D97-AF65-F5344CB8AC3E}">
        <p14:creationId xmlns:p14="http://schemas.microsoft.com/office/powerpoint/2010/main" val="24509457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970318"/>
          </a:xfrm>
          <a:prstGeom prst="rect">
            <a:avLst/>
          </a:prstGeom>
          <a:noFill/>
        </p:spPr>
        <p:txBody>
          <a:bodyPr wrap="square" rtlCol="0">
            <a:spAutoFit/>
          </a:bodyPr>
          <a:lstStyle/>
          <a:p>
            <a:r>
              <a:rPr lang="en-US" dirty="0" smtClean="0"/>
              <a:t>The correct answer is B</a:t>
            </a:r>
          </a:p>
          <a:p>
            <a:r>
              <a:rPr lang="en-US" dirty="0" smtClean="0"/>
              <a:t>Which of these statements is the best reflection of the Agile concept of continuous integration?</a:t>
            </a:r>
          </a:p>
          <a:p>
            <a:endParaRPr lang="en-US" dirty="0" smtClean="0"/>
          </a:p>
          <a:p>
            <a:r>
              <a:rPr lang="en-US" dirty="0" smtClean="0"/>
              <a:t>A. The Daily Standup Meeting</a:t>
            </a:r>
          </a:p>
          <a:p>
            <a:r>
              <a:rPr lang="en-US" dirty="0" smtClean="0"/>
              <a:t>B. The daily build including any new features</a:t>
            </a:r>
          </a:p>
          <a:p>
            <a:r>
              <a:rPr lang="en-US" dirty="0" smtClean="0"/>
              <a:t>C. Periodic offsite meetings with vendors and subcontractors contributing to the product</a:t>
            </a:r>
          </a:p>
          <a:p>
            <a:r>
              <a:rPr lang="en-US" dirty="0" smtClean="0"/>
              <a:t>D. Frequent user-acceptance tests</a:t>
            </a:r>
          </a:p>
          <a:p>
            <a:r>
              <a:rPr lang="en-US" dirty="0" smtClean="0"/>
              <a:t>  </a:t>
            </a:r>
          </a:p>
          <a:p>
            <a:r>
              <a:rPr lang="en-US" dirty="0" smtClean="0"/>
              <a:t>B is the best choice. Checking in completed features daily, compiling all code, and a routine, daily build reflect this concept of continuous integration. This practice ensures that problems embedded in new features are discovered almost immediately. If the new attribute breaks the code, you'll know it. Answer-A is a decoy - the Daily Standup Meeting is for communication purposes, primarily. Likewise, C and D are not correct.</a:t>
            </a:r>
            <a:endParaRPr lang="en-US" dirty="0"/>
          </a:p>
        </p:txBody>
      </p:sp>
    </p:spTree>
    <p:extLst>
      <p:ext uri="{BB962C8B-B14F-4D97-AF65-F5344CB8AC3E}">
        <p14:creationId xmlns:p14="http://schemas.microsoft.com/office/powerpoint/2010/main" val="125319261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416320"/>
          </a:xfrm>
          <a:prstGeom prst="rect">
            <a:avLst/>
          </a:prstGeom>
          <a:noFill/>
        </p:spPr>
        <p:txBody>
          <a:bodyPr wrap="square" rtlCol="0">
            <a:spAutoFit/>
          </a:bodyPr>
          <a:lstStyle/>
          <a:p>
            <a:r>
              <a:rPr lang="en-US" dirty="0" smtClean="0"/>
              <a:t>The correct answer is D</a:t>
            </a:r>
          </a:p>
          <a:p>
            <a:r>
              <a:rPr lang="en-US" dirty="0" smtClean="0"/>
              <a:t>What tactic has the primary purpose of helping the team coordinate work and communicate issues?</a:t>
            </a:r>
          </a:p>
          <a:p>
            <a:endParaRPr lang="en-US" dirty="0" smtClean="0"/>
          </a:p>
          <a:p>
            <a:r>
              <a:rPr lang="en-US" dirty="0" smtClean="0"/>
              <a:t>A. Information radiators</a:t>
            </a:r>
          </a:p>
          <a:p>
            <a:r>
              <a:rPr lang="en-US" dirty="0" smtClean="0"/>
              <a:t>B. </a:t>
            </a:r>
            <a:r>
              <a:rPr lang="en-US" dirty="0" err="1" smtClean="0"/>
              <a:t>Kanban</a:t>
            </a:r>
            <a:r>
              <a:rPr lang="en-US" dirty="0" smtClean="0"/>
              <a:t> board</a:t>
            </a:r>
          </a:p>
          <a:p>
            <a:r>
              <a:rPr lang="en-US" dirty="0" smtClean="0"/>
              <a:t>C. Iteration planning meetings</a:t>
            </a:r>
          </a:p>
          <a:p>
            <a:r>
              <a:rPr lang="en-US" dirty="0" smtClean="0"/>
              <a:t>D. Daily standup meetings</a:t>
            </a:r>
          </a:p>
          <a:p>
            <a:r>
              <a:rPr lang="en-US" dirty="0" smtClean="0"/>
              <a:t>  </a:t>
            </a:r>
          </a:p>
          <a:p>
            <a:r>
              <a:rPr lang="en-US" dirty="0" smtClean="0"/>
              <a:t>Each choice has a contribution to make here, but the optimum choice is the daily standup meeting, which allows the team to share what has been accomplished, what is planned, and what issues are present.</a:t>
            </a:r>
            <a:endParaRPr lang="en-US" dirty="0"/>
          </a:p>
        </p:txBody>
      </p:sp>
    </p:spTree>
    <p:extLst>
      <p:ext uri="{BB962C8B-B14F-4D97-AF65-F5344CB8AC3E}">
        <p14:creationId xmlns:p14="http://schemas.microsoft.com/office/powerpoint/2010/main" val="251873059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4616648"/>
          </a:xfrm>
          <a:prstGeom prst="rect">
            <a:avLst/>
          </a:prstGeom>
          <a:noFill/>
        </p:spPr>
        <p:txBody>
          <a:bodyPr wrap="square" rtlCol="0">
            <a:spAutoFit/>
          </a:bodyPr>
          <a:lstStyle/>
          <a:p>
            <a:r>
              <a:rPr lang="en-US" sz="1400" dirty="0" smtClean="0"/>
              <a:t>The correct answer is B</a:t>
            </a:r>
          </a:p>
          <a:p>
            <a:r>
              <a:rPr lang="en-US" sz="1400" dirty="0" smtClean="0"/>
              <a:t>The team that </a:t>
            </a:r>
            <a:r>
              <a:rPr lang="en-US" sz="1400" dirty="0" err="1" smtClean="0"/>
              <a:t>Twanda</a:t>
            </a:r>
            <a:r>
              <a:rPr lang="en-US" sz="1400" dirty="0" smtClean="0"/>
              <a:t> is leading has adopted Agile practices, including the practice of incremental delivery. Which statement best aligns with this practice?</a:t>
            </a:r>
          </a:p>
          <a:p>
            <a:endParaRPr lang="en-US" sz="1400" dirty="0" smtClean="0"/>
          </a:p>
          <a:p>
            <a:r>
              <a:rPr lang="en-US" sz="1400" dirty="0" smtClean="0"/>
              <a:t>A. The team will be able to manage risk more effectively because this practice ensures that all high-impact risks will be identified in early increments of product development</a:t>
            </a:r>
          </a:p>
          <a:p>
            <a:r>
              <a:rPr lang="en-US" sz="1400" dirty="0" smtClean="0"/>
              <a:t>B. The team will be able to handle changes from the customer more easily because the team will deliver functioning portions of the product to the customer in stages and not just one complete package at the end of the project</a:t>
            </a:r>
          </a:p>
          <a:p>
            <a:r>
              <a:rPr lang="en-US" sz="1400" dirty="0" smtClean="0"/>
              <a:t>C. The team will check in the code each night with this practice and know daily if the features and functionality that have been added are working and delivering value to the customer</a:t>
            </a:r>
          </a:p>
          <a:p>
            <a:r>
              <a:rPr lang="en-US" sz="1400" dirty="0" smtClean="0"/>
              <a:t>D. The team will be able to manage risk more effectively because following this practice ensures that the customer prioritizes risk in the product backlog based on the amount of value at stake</a:t>
            </a:r>
          </a:p>
          <a:p>
            <a:r>
              <a:rPr lang="en-US" sz="1400" dirty="0" smtClean="0"/>
              <a:t>  </a:t>
            </a:r>
          </a:p>
          <a:p>
            <a:r>
              <a:rPr lang="en-US" sz="1400" dirty="0" smtClean="0"/>
              <a:t>Incremental delivery is the practice of placing working software or product in the hands of the customer as soon as possible. The goal of each iteration or sprint is to deliver (hopefully) another increment to the total product. As B describes, a benefit of incremental delivery is that the customer discovers changes earlier in the product development and can request those changes before too much development has taken place. Answer-A says all high-impact risks will be identified early - not true. C assumes the practice of a daily check-in of code or daily build takes place...that is not directly tied to incremental delivery. Also, with incremental delivery, the team will not necessarily know on a daily basis if value has been delivered to the customer! (That's asking too much.) D bleeds into a pseudo-description of a risk </a:t>
            </a:r>
            <a:r>
              <a:rPr lang="en-US" sz="1400" dirty="0" err="1" smtClean="0"/>
              <a:t>burndown</a:t>
            </a:r>
            <a:r>
              <a:rPr lang="en-US" sz="1400" dirty="0" smtClean="0"/>
              <a:t> chart. So, B is the best choice.</a:t>
            </a:r>
            <a:endParaRPr lang="en-US" sz="1400" dirty="0"/>
          </a:p>
        </p:txBody>
      </p:sp>
    </p:spTree>
    <p:extLst>
      <p:ext uri="{BB962C8B-B14F-4D97-AF65-F5344CB8AC3E}">
        <p14:creationId xmlns:p14="http://schemas.microsoft.com/office/powerpoint/2010/main" val="14105342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4524315"/>
          </a:xfrm>
          <a:prstGeom prst="rect">
            <a:avLst/>
          </a:prstGeom>
          <a:noFill/>
        </p:spPr>
        <p:txBody>
          <a:bodyPr wrap="square" rtlCol="0">
            <a:spAutoFit/>
          </a:bodyPr>
          <a:lstStyle/>
          <a:p>
            <a:r>
              <a:rPr lang="en-US" dirty="0" smtClean="0"/>
              <a:t>The correct answer is D</a:t>
            </a:r>
          </a:p>
          <a:p>
            <a:r>
              <a:rPr lang="en-US" dirty="0" smtClean="0"/>
              <a:t>A team of developers believes in Agile as a means to respond more quickly to change. The organization's PMO, however, mandates conformance to the existing waterfall project management methodology. The team should:</a:t>
            </a:r>
          </a:p>
          <a:p>
            <a:endParaRPr lang="en-US" dirty="0" smtClean="0"/>
          </a:p>
          <a:p>
            <a:r>
              <a:rPr lang="en-US" dirty="0" smtClean="0"/>
              <a:t>A. Begin seeking employment individually in other organizations which have adopted Agile</a:t>
            </a:r>
          </a:p>
          <a:p>
            <a:r>
              <a:rPr lang="en-US" dirty="0" smtClean="0"/>
              <a:t>B. Perform a methodology spike</a:t>
            </a:r>
          </a:p>
          <a:p>
            <a:r>
              <a:rPr lang="en-US" dirty="0" smtClean="0"/>
              <a:t>C. Proceed with </a:t>
            </a:r>
            <a:r>
              <a:rPr lang="en-US" dirty="0" err="1" smtClean="0"/>
              <a:t>eXtreme</a:t>
            </a:r>
            <a:r>
              <a:rPr lang="en-US" dirty="0" smtClean="0"/>
              <a:t> Programming (XP) practice with external interfaces to the organization that appear to be waterfall</a:t>
            </a:r>
          </a:p>
          <a:p>
            <a:r>
              <a:rPr lang="en-US" dirty="0" smtClean="0"/>
              <a:t>D. Engage the PMO in informational events to learn more about the values and principles of Agile</a:t>
            </a:r>
          </a:p>
          <a:p>
            <a:r>
              <a:rPr lang="en-US" dirty="0" smtClean="0"/>
              <a:t>  </a:t>
            </a:r>
          </a:p>
          <a:p>
            <a:r>
              <a:rPr lang="en-US" dirty="0" smtClean="0"/>
              <a:t>Education about Agile is the best approach of those listed as choices. Compliance, ethics, and common sense come into play with this question. And a methodology spike? Maybe in a project chartered by the PMO to explore Agile, but that might follow choice D. B is not the best answer here.</a:t>
            </a:r>
            <a:endParaRPr lang="en-US" dirty="0"/>
          </a:p>
        </p:txBody>
      </p:sp>
      <p:sp>
        <p:nvSpPr>
          <p:cNvPr id="3" name="TextBox 2"/>
          <p:cNvSpPr txBox="1"/>
          <p:nvPr/>
        </p:nvSpPr>
        <p:spPr>
          <a:xfrm>
            <a:off x="0" y="413266"/>
            <a:ext cx="8991600"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2073468076"/>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19"/>
          </a:xfrm>
          <a:prstGeom prst="rect">
            <a:avLst/>
          </a:prstGeom>
          <a:noFill/>
        </p:spPr>
        <p:txBody>
          <a:bodyPr wrap="square" rtlCol="0">
            <a:spAutoFit/>
          </a:bodyPr>
          <a:lstStyle/>
          <a:p>
            <a:r>
              <a:rPr lang="en-US" dirty="0" smtClean="0"/>
              <a:t>The correct answer is C</a:t>
            </a:r>
          </a:p>
          <a:p>
            <a:r>
              <a:rPr lang="en-US" dirty="0" smtClean="0"/>
              <a:t>Which statement is the most valid about burn up and burn down charts?</a:t>
            </a:r>
          </a:p>
          <a:p>
            <a:endParaRPr lang="en-US" dirty="0" smtClean="0"/>
          </a:p>
          <a:p>
            <a:r>
              <a:rPr lang="en-US" dirty="0" smtClean="0"/>
              <a:t>A. Burn up charts are used in sprints and burn down charts are used in backlogs</a:t>
            </a:r>
          </a:p>
          <a:p>
            <a:r>
              <a:rPr lang="en-US" dirty="0" smtClean="0"/>
              <a:t>B. Burn down charts indicate the velocity of the release and burn up charts indicate the velocity of the iteration</a:t>
            </a:r>
          </a:p>
          <a:p>
            <a:r>
              <a:rPr lang="en-US" dirty="0" smtClean="0"/>
              <a:t>C. Burn down charts indicate a reduction in unfulfilled story points while burn up charts indicate accumulation of completed story points</a:t>
            </a:r>
          </a:p>
          <a:p>
            <a:r>
              <a:rPr lang="en-US" dirty="0" smtClean="0"/>
              <a:t>D. Burn down charts are used in iterations and burn up charts are used in releases</a:t>
            </a:r>
          </a:p>
          <a:p>
            <a:r>
              <a:rPr lang="en-US" dirty="0" smtClean="0"/>
              <a:t>  </a:t>
            </a:r>
          </a:p>
          <a:p>
            <a:r>
              <a:rPr lang="en-US" dirty="0" smtClean="0"/>
              <a:t>Burn up/down charts are used to indicate the current state of either the iteration or product backlog in terms of story points (value). In an iteration application, the team's velocity is indicated by the chart. Which chart (burn up or burn down) is used is discretionary.</a:t>
            </a:r>
            <a:endParaRPr lang="en-US" dirty="0"/>
          </a:p>
        </p:txBody>
      </p:sp>
      <p:sp>
        <p:nvSpPr>
          <p:cNvPr id="3" name="TextBox 2"/>
          <p:cNvSpPr txBox="1"/>
          <p:nvPr/>
        </p:nvSpPr>
        <p:spPr>
          <a:xfrm>
            <a:off x="0" y="413266"/>
            <a:ext cx="8991600"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220802204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4247317"/>
          </a:xfrm>
          <a:prstGeom prst="rect">
            <a:avLst/>
          </a:prstGeom>
          <a:noFill/>
        </p:spPr>
        <p:txBody>
          <a:bodyPr wrap="square" rtlCol="0">
            <a:spAutoFit/>
          </a:bodyPr>
          <a:lstStyle/>
          <a:p>
            <a:r>
              <a:rPr lang="en-US" dirty="0" smtClean="0"/>
              <a:t>The correct answer is D</a:t>
            </a:r>
          </a:p>
          <a:p>
            <a:r>
              <a:rPr lang="en-US" dirty="0" smtClean="0"/>
              <a:t>Read the following 4 statements about a project charter. Select the 1 statement that is not true.</a:t>
            </a:r>
          </a:p>
          <a:p>
            <a:endParaRPr lang="en-US" dirty="0" smtClean="0"/>
          </a:p>
          <a:p>
            <a:r>
              <a:rPr lang="en-US" dirty="0" smtClean="0"/>
              <a:t>A. The project charter should describe why a project is being carried out</a:t>
            </a:r>
          </a:p>
          <a:p>
            <a:r>
              <a:rPr lang="en-US" dirty="0" smtClean="0"/>
              <a:t>B. A project charter is important both for Agile projects and traditional projects</a:t>
            </a:r>
          </a:p>
          <a:p>
            <a:r>
              <a:rPr lang="en-US" dirty="0" smtClean="0"/>
              <a:t>C. The project charter should be signed</a:t>
            </a:r>
          </a:p>
          <a:p>
            <a:r>
              <a:rPr lang="en-US" dirty="0" smtClean="0"/>
              <a:t>D. A project charter is important for traditional projects but less important for Agile projects</a:t>
            </a:r>
          </a:p>
          <a:p>
            <a:r>
              <a:rPr lang="en-US" dirty="0" smtClean="0"/>
              <a:t>  </a:t>
            </a:r>
          </a:p>
          <a:p>
            <a:r>
              <a:rPr lang="en-US" dirty="0" smtClean="0"/>
              <a:t>D is the correct choice for this question. When you read the statement that the charter is less important for Agile than traditional, you should stop and cry foul. Just because Agile emphasizes value-driven decisions and processes does not mean that Agile practitioners should throw away all documentation... especially important documents like the project charter. That charter signifies buy-in, commitment, sponsor-approval, and the authority to do the work. Every PM wants that regardless of the method being used.</a:t>
            </a:r>
            <a:endParaRPr lang="en-US" dirty="0"/>
          </a:p>
        </p:txBody>
      </p:sp>
    </p:spTree>
    <p:extLst>
      <p:ext uri="{BB962C8B-B14F-4D97-AF65-F5344CB8AC3E}">
        <p14:creationId xmlns:p14="http://schemas.microsoft.com/office/powerpoint/2010/main" val="1731805619"/>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416320"/>
          </a:xfrm>
          <a:prstGeom prst="rect">
            <a:avLst/>
          </a:prstGeom>
          <a:noFill/>
        </p:spPr>
        <p:txBody>
          <a:bodyPr wrap="square" rtlCol="0">
            <a:spAutoFit/>
          </a:bodyPr>
          <a:lstStyle/>
          <a:p>
            <a:r>
              <a:rPr lang="en-US" dirty="0" smtClean="0"/>
              <a:t>The correct answer is C</a:t>
            </a:r>
          </a:p>
          <a:p>
            <a:r>
              <a:rPr lang="en-US" dirty="0" smtClean="0"/>
              <a:t>If over 80% of face-to-face communications is non-verbal, then this concept should support:</a:t>
            </a:r>
          </a:p>
          <a:p>
            <a:endParaRPr lang="en-US" dirty="0" smtClean="0"/>
          </a:p>
          <a:p>
            <a:r>
              <a:rPr lang="en-US" dirty="0" smtClean="0"/>
              <a:t>A. The importance of using virtual teams to enhance information flow</a:t>
            </a:r>
          </a:p>
          <a:p>
            <a:r>
              <a:rPr lang="en-US" dirty="0" smtClean="0"/>
              <a:t>B. The high value of having information radiators displayed for co-located stakeholders</a:t>
            </a:r>
          </a:p>
          <a:p>
            <a:r>
              <a:rPr lang="en-US" dirty="0" smtClean="0"/>
              <a:t>C. Team space design</a:t>
            </a:r>
          </a:p>
          <a:p>
            <a:r>
              <a:rPr lang="en-US" dirty="0" smtClean="0"/>
              <a:t>D. The design of osmotic communications within the team</a:t>
            </a:r>
          </a:p>
          <a:p>
            <a:r>
              <a:rPr lang="en-US" dirty="0" smtClean="0"/>
              <a:t>  </a:t>
            </a:r>
          </a:p>
          <a:p>
            <a:r>
              <a:rPr lang="en-US" dirty="0" smtClean="0"/>
              <a:t>The team space should provide for face-to-face working arrangement to enhance information flow. Virtual is an opposite approach. Osmotic communication is not limited to face-to-face, nor would information radiators replace the face-to-face value of communications effectiveness.</a:t>
            </a:r>
            <a:endParaRPr lang="en-US" dirty="0"/>
          </a:p>
        </p:txBody>
      </p:sp>
      <p:sp>
        <p:nvSpPr>
          <p:cNvPr id="3" name="TextBox 2"/>
          <p:cNvSpPr txBox="1"/>
          <p:nvPr/>
        </p:nvSpPr>
        <p:spPr>
          <a:xfrm>
            <a:off x="0" y="413266"/>
            <a:ext cx="8991600"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1493174618"/>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139321"/>
          </a:xfrm>
          <a:prstGeom prst="rect">
            <a:avLst/>
          </a:prstGeom>
          <a:noFill/>
        </p:spPr>
        <p:txBody>
          <a:bodyPr wrap="square" rtlCol="0">
            <a:spAutoFit/>
          </a:bodyPr>
          <a:lstStyle/>
          <a:p>
            <a:r>
              <a:rPr lang="en-US" dirty="0" smtClean="0"/>
              <a:t>The correct answer is A</a:t>
            </a:r>
          </a:p>
          <a:p>
            <a:r>
              <a:rPr lang="en-US" dirty="0" smtClean="0"/>
              <a:t>During an iteration planning meeting, the team is estimating the size of the effort for each story by assigning each story to a shirt size of XS, S, M, L, XL, or XXL. What estimation method is being used?</a:t>
            </a:r>
          </a:p>
          <a:p>
            <a:endParaRPr lang="en-US" dirty="0" smtClean="0"/>
          </a:p>
          <a:p>
            <a:r>
              <a:rPr lang="en-US" dirty="0" smtClean="0"/>
              <a:t>A. Affinity estimating</a:t>
            </a:r>
          </a:p>
          <a:p>
            <a:r>
              <a:rPr lang="en-US" dirty="0" smtClean="0"/>
              <a:t>B. Planning poker</a:t>
            </a:r>
          </a:p>
          <a:p>
            <a:r>
              <a:rPr lang="en-US" dirty="0" smtClean="0"/>
              <a:t>C. Guess My Size innovation game</a:t>
            </a:r>
          </a:p>
          <a:p>
            <a:r>
              <a:rPr lang="en-US" dirty="0" smtClean="0"/>
              <a:t>D. Analogous estimating</a:t>
            </a:r>
          </a:p>
          <a:p>
            <a:r>
              <a:rPr lang="en-US" dirty="0" smtClean="0"/>
              <a:t>  </a:t>
            </a:r>
          </a:p>
          <a:p>
            <a:r>
              <a:rPr lang="en-US" dirty="0" smtClean="0"/>
              <a:t>The estimating scenario described is affinity estimating.</a:t>
            </a:r>
            <a:endParaRPr lang="en-US" dirty="0"/>
          </a:p>
        </p:txBody>
      </p:sp>
    </p:spTree>
    <p:extLst>
      <p:ext uri="{BB962C8B-B14F-4D97-AF65-F5344CB8AC3E}">
        <p14:creationId xmlns:p14="http://schemas.microsoft.com/office/powerpoint/2010/main" val="3003817132"/>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693319"/>
          </a:xfrm>
          <a:prstGeom prst="rect">
            <a:avLst/>
          </a:prstGeom>
          <a:noFill/>
        </p:spPr>
        <p:txBody>
          <a:bodyPr wrap="square" rtlCol="0">
            <a:spAutoFit/>
          </a:bodyPr>
          <a:lstStyle/>
          <a:p>
            <a:r>
              <a:rPr lang="en-US" dirty="0" smtClean="0"/>
              <a:t>The correct answer is B</a:t>
            </a:r>
          </a:p>
          <a:p>
            <a:r>
              <a:rPr lang="en-US" dirty="0" smtClean="0"/>
              <a:t>In Agile methods, project planning may take place at 3 levels, such as visioning, release planning, and iteration planning. These 3 levels are examples of what?</a:t>
            </a:r>
          </a:p>
          <a:p>
            <a:endParaRPr lang="en-US" dirty="0" smtClean="0"/>
          </a:p>
          <a:p>
            <a:r>
              <a:rPr lang="en-US" dirty="0" smtClean="0"/>
              <a:t>A. Rolling wave refactoring</a:t>
            </a:r>
          </a:p>
          <a:p>
            <a:r>
              <a:rPr lang="en-US" dirty="0" smtClean="0"/>
              <a:t>B. Progressive elaboration</a:t>
            </a:r>
          </a:p>
          <a:p>
            <a:r>
              <a:rPr lang="en-US" dirty="0" smtClean="0"/>
              <a:t>C. Root-cause analysis</a:t>
            </a:r>
          </a:p>
          <a:p>
            <a:r>
              <a:rPr lang="en-US" dirty="0" smtClean="0"/>
              <a:t>D. The </a:t>
            </a:r>
            <a:r>
              <a:rPr lang="en-US" dirty="0" err="1" smtClean="0"/>
              <a:t>Kanban</a:t>
            </a:r>
            <a:r>
              <a:rPr lang="en-US" dirty="0" smtClean="0"/>
              <a:t> process</a:t>
            </a:r>
          </a:p>
          <a:p>
            <a:r>
              <a:rPr lang="en-US" dirty="0" smtClean="0"/>
              <a:t>  </a:t>
            </a:r>
          </a:p>
          <a:p>
            <a:r>
              <a:rPr lang="en-US" dirty="0" smtClean="0"/>
              <a:t>Progressive Elaboration, or B, is the best choice of the 4. Progressing from vision to release to iteration is an example of progressively elaborating on the plans for a project, from high-level to low-level. Answer-A is a made-up term combining rolling-wave planning with refactoring. C is not applicable, nor is D.</a:t>
            </a:r>
            <a:endParaRPr lang="en-US" dirty="0"/>
          </a:p>
        </p:txBody>
      </p:sp>
    </p:spTree>
    <p:extLst>
      <p:ext uri="{BB962C8B-B14F-4D97-AF65-F5344CB8AC3E}">
        <p14:creationId xmlns:p14="http://schemas.microsoft.com/office/powerpoint/2010/main" val="4157554184"/>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416320"/>
          </a:xfrm>
          <a:prstGeom prst="rect">
            <a:avLst/>
          </a:prstGeom>
          <a:noFill/>
        </p:spPr>
        <p:txBody>
          <a:bodyPr wrap="square" rtlCol="0">
            <a:spAutoFit/>
          </a:bodyPr>
          <a:lstStyle/>
          <a:p>
            <a:r>
              <a:rPr lang="en-US" dirty="0" smtClean="0"/>
              <a:t>The correct answer is B</a:t>
            </a:r>
          </a:p>
          <a:p>
            <a:r>
              <a:rPr lang="en-US" dirty="0" smtClean="0"/>
              <a:t>Which of the following series conveys the most appropriate order of consideration when prioritizing Agile stories?</a:t>
            </a:r>
          </a:p>
          <a:p>
            <a:endParaRPr lang="en-US" dirty="0" smtClean="0"/>
          </a:p>
          <a:p>
            <a:r>
              <a:rPr lang="en-US" dirty="0" smtClean="0"/>
              <a:t>A. Working software, value base, compliance</a:t>
            </a:r>
          </a:p>
          <a:p>
            <a:r>
              <a:rPr lang="en-US" dirty="0" smtClean="0"/>
              <a:t>B. Compliance, value base, working software</a:t>
            </a:r>
          </a:p>
          <a:p>
            <a:r>
              <a:rPr lang="en-US" dirty="0" smtClean="0"/>
              <a:t>C. Value base, compliance, working software</a:t>
            </a:r>
          </a:p>
          <a:p>
            <a:r>
              <a:rPr lang="en-US" dirty="0" smtClean="0"/>
              <a:t>D. Value base, working software, compliance</a:t>
            </a:r>
          </a:p>
          <a:p>
            <a:r>
              <a:rPr lang="en-US" dirty="0" smtClean="0"/>
              <a:t>  </a:t>
            </a:r>
          </a:p>
          <a:p>
            <a:r>
              <a:rPr lang="en-US" dirty="0" smtClean="0"/>
              <a:t>Compliance to external regulations and usually internal policy is not optional, and must be considered before financial priorities. Complying with government regulations, for example, is often at the expense of otherwise less costly approaches.</a:t>
            </a:r>
            <a:endParaRPr lang="en-US" dirty="0"/>
          </a:p>
        </p:txBody>
      </p:sp>
    </p:spTree>
    <p:extLst>
      <p:ext uri="{BB962C8B-B14F-4D97-AF65-F5344CB8AC3E}">
        <p14:creationId xmlns:p14="http://schemas.microsoft.com/office/powerpoint/2010/main" val="4091213744"/>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4708981"/>
          </a:xfrm>
          <a:prstGeom prst="rect">
            <a:avLst/>
          </a:prstGeom>
          <a:noFill/>
        </p:spPr>
        <p:txBody>
          <a:bodyPr wrap="square" rtlCol="0">
            <a:spAutoFit/>
          </a:bodyPr>
          <a:lstStyle/>
          <a:p>
            <a:r>
              <a:rPr lang="en-US" sz="1500" dirty="0" smtClean="0"/>
              <a:t>The correct answer is C</a:t>
            </a:r>
          </a:p>
          <a:p>
            <a:r>
              <a:rPr lang="en-US" sz="1500" dirty="0" smtClean="0"/>
              <a:t>Which of the following statements best describes the benefits of using the Wideband Delphi technique?</a:t>
            </a:r>
          </a:p>
          <a:p>
            <a:endParaRPr lang="en-US" sz="1500" dirty="0" smtClean="0"/>
          </a:p>
          <a:p>
            <a:r>
              <a:rPr lang="en-US" sz="1500" dirty="0" smtClean="0"/>
              <a:t>A. This technique is an excellent method for a team to estimate work effort because team members can avoid groupthink while still assigning actual points to stories</a:t>
            </a:r>
          </a:p>
          <a:p>
            <a:r>
              <a:rPr lang="en-US" sz="1500" dirty="0" smtClean="0"/>
              <a:t>B. This technique is a preferred method for estimating effort because it uses the Delphi approach and avoids groupthink while involving a wide range of stakeholders with diverse experiences and opinions</a:t>
            </a:r>
          </a:p>
          <a:p>
            <a:r>
              <a:rPr lang="en-US" sz="1500" dirty="0" smtClean="0"/>
              <a:t>C. This technique is an effective means for a team to estimate work because team members can form individual estimates without group pressure while still leveraging the perspectives and wisdom of all team members when reaching consensus</a:t>
            </a:r>
          </a:p>
          <a:p>
            <a:r>
              <a:rPr lang="en-US" sz="1500" dirty="0" smtClean="0"/>
              <a:t>D. This technique is a favored approach for identifying risk because it solicits expert opinion while avoiding the pressure to conform with the group and not mention potential risks in a group setting that may be deemed controversial or politically undesirable</a:t>
            </a:r>
          </a:p>
          <a:p>
            <a:r>
              <a:rPr lang="en-US" sz="1500" dirty="0" smtClean="0"/>
              <a:t>  </a:t>
            </a:r>
          </a:p>
          <a:p>
            <a:r>
              <a:rPr lang="en-US" sz="1500" dirty="0" smtClean="0"/>
              <a:t>C is the best choice for this description of the Wideband Delphi technique. It is an approach some teams use to estimate the work required to deliver features or complete a story. The steps with Wideband Delphi involve describing the story to all participants, each participant submits an estimate anonymously, estimates are averaged and revealed to the group, group discusses highs and lows and averages, group reaches consensus on best estimate. So, this technique takes some of the traditional elements of Delphi and adds collaboration to it to reach a best estimate of work. Answers A and B are accurate, but C is the best description and best answer.</a:t>
            </a:r>
            <a:endParaRPr lang="en-US" sz="1500" dirty="0"/>
          </a:p>
        </p:txBody>
      </p:sp>
    </p:spTree>
    <p:extLst>
      <p:ext uri="{BB962C8B-B14F-4D97-AF65-F5344CB8AC3E}">
        <p14:creationId xmlns:p14="http://schemas.microsoft.com/office/powerpoint/2010/main" val="3923765190"/>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139321"/>
          </a:xfrm>
          <a:prstGeom prst="rect">
            <a:avLst/>
          </a:prstGeom>
          <a:noFill/>
        </p:spPr>
        <p:txBody>
          <a:bodyPr wrap="square" rtlCol="0">
            <a:spAutoFit/>
          </a:bodyPr>
          <a:lstStyle/>
          <a:p>
            <a:r>
              <a:rPr lang="en-US" dirty="0" smtClean="0"/>
              <a:t>The correct answer is D</a:t>
            </a:r>
          </a:p>
          <a:p>
            <a:r>
              <a:rPr lang="en-US" dirty="0" smtClean="0"/>
              <a:t>A feature is entered in the backlog. Work is performed and the feature is designed, developed, tested, and finally completed. What is the term that describes the period just carried out?</a:t>
            </a:r>
          </a:p>
          <a:p>
            <a:endParaRPr lang="en-US" dirty="0" smtClean="0"/>
          </a:p>
          <a:p>
            <a:r>
              <a:rPr lang="en-US" dirty="0" smtClean="0"/>
              <a:t>A. Feature horizon</a:t>
            </a:r>
          </a:p>
          <a:p>
            <a:r>
              <a:rPr lang="en-US" dirty="0" smtClean="0"/>
              <a:t>B. Minimal development time</a:t>
            </a:r>
          </a:p>
          <a:p>
            <a:r>
              <a:rPr lang="en-US" dirty="0" smtClean="0"/>
              <a:t>C. Velocity</a:t>
            </a:r>
          </a:p>
          <a:p>
            <a:r>
              <a:rPr lang="en-US" dirty="0" smtClean="0"/>
              <a:t>D. Cycle time</a:t>
            </a:r>
          </a:p>
          <a:p>
            <a:r>
              <a:rPr lang="en-US" dirty="0" smtClean="0"/>
              <a:t>  </a:t>
            </a:r>
          </a:p>
          <a:p>
            <a:r>
              <a:rPr lang="en-US" dirty="0" smtClean="0"/>
              <a:t>Cycle time is the amount of time it takes for a feature to move from inception to completion. The first two terms are fiction - not real. Velocity is not applicable to this definition.</a:t>
            </a:r>
            <a:endParaRPr lang="en-US" dirty="0"/>
          </a:p>
        </p:txBody>
      </p:sp>
    </p:spTree>
    <p:extLst>
      <p:ext uri="{BB962C8B-B14F-4D97-AF65-F5344CB8AC3E}">
        <p14:creationId xmlns:p14="http://schemas.microsoft.com/office/powerpoint/2010/main" val="1093432668"/>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693319"/>
          </a:xfrm>
          <a:prstGeom prst="rect">
            <a:avLst/>
          </a:prstGeom>
          <a:noFill/>
        </p:spPr>
        <p:txBody>
          <a:bodyPr wrap="square" rtlCol="0">
            <a:spAutoFit/>
          </a:bodyPr>
          <a:lstStyle/>
          <a:p>
            <a:r>
              <a:rPr lang="en-US" dirty="0" smtClean="0"/>
              <a:t>The correct answer is A</a:t>
            </a:r>
          </a:p>
          <a:p>
            <a:r>
              <a:rPr lang="en-US" dirty="0" smtClean="0"/>
              <a:t>Which of the following statements about a charter is false?</a:t>
            </a:r>
          </a:p>
          <a:p>
            <a:endParaRPr lang="en-US" dirty="0" smtClean="0"/>
          </a:p>
          <a:p>
            <a:r>
              <a:rPr lang="en-US" dirty="0" smtClean="0"/>
              <a:t>A. The charter is less applicable to agile teams than traditional project teams</a:t>
            </a:r>
          </a:p>
          <a:p>
            <a:r>
              <a:rPr lang="en-US" dirty="0" smtClean="0"/>
              <a:t>B. The charter authorizes the team to work on the project</a:t>
            </a:r>
          </a:p>
          <a:p>
            <a:r>
              <a:rPr lang="en-US" dirty="0" smtClean="0"/>
              <a:t>C. The charter should be a signed document</a:t>
            </a:r>
          </a:p>
          <a:p>
            <a:r>
              <a:rPr lang="en-US" dirty="0" smtClean="0"/>
              <a:t>D. The charter should describe the purpose or goals of the project</a:t>
            </a:r>
          </a:p>
          <a:p>
            <a:r>
              <a:rPr lang="en-US" dirty="0" smtClean="0"/>
              <a:t>  </a:t>
            </a:r>
          </a:p>
          <a:p>
            <a:r>
              <a:rPr lang="en-US" dirty="0" smtClean="0"/>
              <a:t>Answer-A is a false statement. The project charter is useful for Agile teams as it is for traditional project teams. The charter should be signed by management or the sponsor; it delivers authority for budget and resources to the team; the charter should describe why the project is being carried out. All these attributes of the charter are useful, regardless of the method used to manage the project.</a:t>
            </a:r>
            <a:endParaRPr lang="en-US" dirty="0"/>
          </a:p>
        </p:txBody>
      </p:sp>
    </p:spTree>
    <p:extLst>
      <p:ext uri="{BB962C8B-B14F-4D97-AF65-F5344CB8AC3E}">
        <p14:creationId xmlns:p14="http://schemas.microsoft.com/office/powerpoint/2010/main" val="294553682"/>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416320"/>
          </a:xfrm>
          <a:prstGeom prst="rect">
            <a:avLst/>
          </a:prstGeom>
          <a:noFill/>
        </p:spPr>
        <p:txBody>
          <a:bodyPr wrap="square" rtlCol="0">
            <a:spAutoFit/>
          </a:bodyPr>
          <a:lstStyle/>
          <a:p>
            <a:r>
              <a:rPr lang="en-US" dirty="0" smtClean="0"/>
              <a:t>The correct answer is B</a:t>
            </a:r>
          </a:p>
          <a:p>
            <a:r>
              <a:rPr lang="en-US" dirty="0" smtClean="0"/>
              <a:t>Reducing the number of items in the team's immediate focus is effected using which strategy and goal?</a:t>
            </a:r>
          </a:p>
          <a:p>
            <a:endParaRPr lang="en-US" dirty="0" smtClean="0"/>
          </a:p>
          <a:p>
            <a:r>
              <a:rPr lang="en-US" dirty="0" smtClean="0"/>
              <a:t>A. Lean and increased customer value with fewer resources</a:t>
            </a:r>
          </a:p>
          <a:p>
            <a:r>
              <a:rPr lang="en-US" dirty="0" smtClean="0"/>
              <a:t>B. WIP Limits and increased productivity and quality</a:t>
            </a:r>
          </a:p>
          <a:p>
            <a:r>
              <a:rPr lang="en-US" dirty="0" smtClean="0"/>
              <a:t>C. Release planning and matching iterations to team velocity</a:t>
            </a:r>
          </a:p>
          <a:p>
            <a:r>
              <a:rPr lang="en-US" dirty="0" smtClean="0"/>
              <a:t>D. </a:t>
            </a:r>
            <a:r>
              <a:rPr lang="en-US" dirty="0" err="1" smtClean="0"/>
              <a:t>Kanban</a:t>
            </a:r>
            <a:r>
              <a:rPr lang="en-US" dirty="0" smtClean="0"/>
              <a:t> task boards and creation of cumulative flow diagrams</a:t>
            </a:r>
          </a:p>
          <a:p>
            <a:r>
              <a:rPr lang="en-US" dirty="0" smtClean="0"/>
              <a:t>  </a:t>
            </a:r>
          </a:p>
          <a:p>
            <a:r>
              <a:rPr lang="en-US" dirty="0" smtClean="0"/>
              <a:t>The core focus of </a:t>
            </a:r>
            <a:r>
              <a:rPr lang="en-US" dirty="0" err="1" smtClean="0"/>
              <a:t>Kanban</a:t>
            </a:r>
            <a:r>
              <a:rPr lang="en-US" dirty="0" smtClean="0"/>
              <a:t> is to reduce the Work In Progress. WIP limits (limiting how many tasks can exist in each task board queue) are effective at increasing the productivity and quality of the team's work with the power of focus.</a:t>
            </a:r>
            <a:endParaRPr lang="en-US" dirty="0"/>
          </a:p>
        </p:txBody>
      </p:sp>
      <p:sp>
        <p:nvSpPr>
          <p:cNvPr id="3" name="TextBox 2"/>
          <p:cNvSpPr txBox="1"/>
          <p:nvPr/>
        </p:nvSpPr>
        <p:spPr>
          <a:xfrm>
            <a:off x="0" y="413266"/>
            <a:ext cx="8991600"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3758776727"/>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970318"/>
          </a:xfrm>
          <a:prstGeom prst="rect">
            <a:avLst/>
          </a:prstGeom>
          <a:noFill/>
        </p:spPr>
        <p:txBody>
          <a:bodyPr wrap="square" rtlCol="0">
            <a:spAutoFit/>
          </a:bodyPr>
          <a:lstStyle/>
          <a:p>
            <a:r>
              <a:rPr lang="en-US" dirty="0" smtClean="0"/>
              <a:t>The correct answer is B</a:t>
            </a:r>
          </a:p>
          <a:p>
            <a:r>
              <a:rPr lang="en-US" dirty="0" smtClean="0"/>
              <a:t>When or how are you most likely to see a wireframe being used?</a:t>
            </a:r>
          </a:p>
          <a:p>
            <a:endParaRPr lang="en-US" dirty="0" smtClean="0"/>
          </a:p>
          <a:p>
            <a:r>
              <a:rPr lang="en-US" dirty="0" smtClean="0"/>
              <a:t>A. To build a final-acceptance test and validate that a feature is done</a:t>
            </a:r>
          </a:p>
          <a:p>
            <a:r>
              <a:rPr lang="en-US" dirty="0" smtClean="0"/>
              <a:t>B. To design a prototype or as a depiction of a feature</a:t>
            </a:r>
          </a:p>
          <a:p>
            <a:r>
              <a:rPr lang="en-US" dirty="0" smtClean="0"/>
              <a:t>C. To document the product features for the customer - the user guide</a:t>
            </a:r>
          </a:p>
          <a:p>
            <a:r>
              <a:rPr lang="en-US" dirty="0" smtClean="0"/>
              <a:t>D. To verify customer acceptance criteria has been met</a:t>
            </a:r>
          </a:p>
          <a:p>
            <a:r>
              <a:rPr lang="en-US" dirty="0" smtClean="0"/>
              <a:t>  </a:t>
            </a:r>
          </a:p>
          <a:p>
            <a:r>
              <a:rPr lang="en-US" dirty="0" smtClean="0"/>
              <a:t>A wireframe is a mock-up of how a feature will work or be designed. The wireframe should be quick and easy to create and does not involve working code. Wireframes are generally produced on paper, whiteboard, or with simple visual software and provide a visual reference point for a conversation with the customer or user. Hey - this is what the screen will look like... that is the intent of the wireframe. It is not ideal for final acceptance testing, final documentation, or other forms of formal verification.</a:t>
            </a:r>
            <a:endParaRPr lang="en-US" dirty="0"/>
          </a:p>
        </p:txBody>
      </p:sp>
    </p:spTree>
    <p:extLst>
      <p:ext uri="{BB962C8B-B14F-4D97-AF65-F5344CB8AC3E}">
        <p14:creationId xmlns:p14="http://schemas.microsoft.com/office/powerpoint/2010/main" val="1305373579"/>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4524315"/>
          </a:xfrm>
          <a:prstGeom prst="rect">
            <a:avLst/>
          </a:prstGeom>
          <a:noFill/>
        </p:spPr>
        <p:txBody>
          <a:bodyPr wrap="square" rtlCol="0">
            <a:spAutoFit/>
          </a:bodyPr>
          <a:lstStyle/>
          <a:p>
            <a:r>
              <a:rPr lang="en-US" dirty="0" smtClean="0"/>
              <a:t>The correct answer is B</a:t>
            </a:r>
          </a:p>
          <a:p>
            <a:r>
              <a:rPr lang="en-US" dirty="0" smtClean="0"/>
              <a:t>When the concept of prioritization is discussed, which of the following is not true?</a:t>
            </a:r>
          </a:p>
          <a:p>
            <a:endParaRPr lang="en-US" dirty="0" smtClean="0"/>
          </a:p>
          <a:p>
            <a:r>
              <a:rPr lang="en-US" dirty="0" smtClean="0"/>
              <a:t>A. The team prioritizes the tasks for an iteration, and the Product Owner prioritizes the features</a:t>
            </a:r>
          </a:p>
          <a:p>
            <a:r>
              <a:rPr lang="en-US" dirty="0" smtClean="0"/>
              <a:t>B. The Product Owner builds the product backlog based on highest priority, and the Agile PM assigns resources to the highest-value features for each iteration</a:t>
            </a:r>
          </a:p>
          <a:p>
            <a:r>
              <a:rPr lang="en-US" dirty="0" smtClean="0"/>
              <a:t>C. The Agile PM works to promote a sustainable team pace, and the team works to improve velocity</a:t>
            </a:r>
          </a:p>
          <a:p>
            <a:r>
              <a:rPr lang="en-US" dirty="0" smtClean="0"/>
              <a:t>D. The Product Owner ranks the features in the order he wants them implemented, and the team determines what features can be built in an iteration</a:t>
            </a:r>
          </a:p>
          <a:p>
            <a:r>
              <a:rPr lang="en-US" dirty="0" smtClean="0"/>
              <a:t>  </a:t>
            </a:r>
          </a:p>
          <a:p>
            <a:r>
              <a:rPr lang="en-US" dirty="0" smtClean="0"/>
              <a:t>Here is another question that requires a very close reading of each answer! B is the best choice, as B misstates one element. The Agile PM does not assign resources to tasks or features. The team figures that out on their own. So, the last half of B is a false statement. Statements A, C, and D are true.</a:t>
            </a:r>
            <a:endParaRPr lang="en-US" dirty="0"/>
          </a:p>
        </p:txBody>
      </p:sp>
    </p:spTree>
    <p:extLst>
      <p:ext uri="{BB962C8B-B14F-4D97-AF65-F5344CB8AC3E}">
        <p14:creationId xmlns:p14="http://schemas.microsoft.com/office/powerpoint/2010/main" val="4087951590"/>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2862322"/>
          </a:xfrm>
          <a:prstGeom prst="rect">
            <a:avLst/>
          </a:prstGeom>
          <a:noFill/>
        </p:spPr>
        <p:txBody>
          <a:bodyPr wrap="square" rtlCol="0">
            <a:spAutoFit/>
          </a:bodyPr>
          <a:lstStyle/>
          <a:p>
            <a:r>
              <a:rPr lang="en-US" dirty="0" smtClean="0"/>
              <a:t>The correct answer is B</a:t>
            </a:r>
          </a:p>
          <a:p>
            <a:r>
              <a:rPr lang="en-US" dirty="0" smtClean="0"/>
              <a:t>Active listening addresses:</a:t>
            </a:r>
          </a:p>
          <a:p>
            <a:endParaRPr lang="en-US" dirty="0" smtClean="0"/>
          </a:p>
          <a:p>
            <a:r>
              <a:rPr lang="en-US" dirty="0" smtClean="0"/>
              <a:t>A. The need for a listener to also be heard</a:t>
            </a:r>
          </a:p>
          <a:p>
            <a:r>
              <a:rPr lang="en-US" dirty="0" smtClean="0"/>
              <a:t>B. Incomplete understanding of a speaker's meaning</a:t>
            </a:r>
          </a:p>
          <a:p>
            <a:r>
              <a:rPr lang="en-US" dirty="0" smtClean="0"/>
              <a:t>C. The confrontational nature of problem-solving</a:t>
            </a:r>
          </a:p>
          <a:p>
            <a:r>
              <a:rPr lang="en-US" dirty="0" smtClean="0"/>
              <a:t>D. The Agile Manifesto value of customer collaboration</a:t>
            </a:r>
          </a:p>
          <a:p>
            <a:r>
              <a:rPr lang="en-US" dirty="0" smtClean="0"/>
              <a:t>  </a:t>
            </a:r>
          </a:p>
          <a:p>
            <a:r>
              <a:rPr lang="en-US" dirty="0" smtClean="0"/>
              <a:t>The misunderstanding fostered by passive listening is replaced by the reduced confusion of active listening: Listening, Understanding, Retaining, and Responding or Reflecting.</a:t>
            </a:r>
            <a:endParaRPr lang="en-US" dirty="0"/>
          </a:p>
        </p:txBody>
      </p:sp>
    </p:spTree>
    <p:extLst>
      <p:ext uri="{BB962C8B-B14F-4D97-AF65-F5344CB8AC3E}">
        <p14:creationId xmlns:p14="http://schemas.microsoft.com/office/powerpoint/2010/main" val="3644259283"/>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416320"/>
          </a:xfrm>
          <a:prstGeom prst="rect">
            <a:avLst/>
          </a:prstGeom>
          <a:noFill/>
        </p:spPr>
        <p:txBody>
          <a:bodyPr wrap="square" rtlCol="0">
            <a:spAutoFit/>
          </a:bodyPr>
          <a:lstStyle/>
          <a:p>
            <a:r>
              <a:rPr lang="en-US" dirty="0" smtClean="0"/>
              <a:t>The correct answer is A</a:t>
            </a:r>
          </a:p>
          <a:p>
            <a:r>
              <a:rPr lang="en-US" dirty="0" smtClean="0"/>
              <a:t>Servant leadership is:</a:t>
            </a:r>
          </a:p>
          <a:p>
            <a:endParaRPr lang="en-US" dirty="0" smtClean="0"/>
          </a:p>
          <a:p>
            <a:r>
              <a:rPr lang="en-US" dirty="0" smtClean="0"/>
              <a:t>A. Participative leadership, facilitative, and involved hands-on with the daily activities of the team</a:t>
            </a:r>
          </a:p>
          <a:p>
            <a:r>
              <a:rPr lang="en-US" dirty="0" smtClean="0"/>
              <a:t>B. Exemplified when the most knowledgeable person on the team is tapped as the leader</a:t>
            </a:r>
          </a:p>
          <a:p>
            <a:r>
              <a:rPr lang="en-US" dirty="0" smtClean="0"/>
              <a:t>C. A directing style that aligns the team's service to the defined objectives</a:t>
            </a:r>
          </a:p>
          <a:p>
            <a:r>
              <a:rPr lang="en-US" dirty="0" smtClean="0"/>
              <a:t>D. A very flat hierarchical organizational structure in which the leader is actually a bi-vocational member of the team</a:t>
            </a:r>
          </a:p>
          <a:p>
            <a:r>
              <a:rPr lang="en-US" dirty="0" smtClean="0"/>
              <a:t>  </a:t>
            </a:r>
          </a:p>
          <a:p>
            <a:r>
              <a:rPr lang="en-US" dirty="0" smtClean="0"/>
              <a:t>The key to servant leadership is that the leader is a servant first and a leader second - Participative, hands-on, facilitative, and involved daily.</a:t>
            </a:r>
            <a:endParaRPr lang="en-US" dirty="0"/>
          </a:p>
        </p:txBody>
      </p:sp>
    </p:spTree>
    <p:extLst>
      <p:ext uri="{BB962C8B-B14F-4D97-AF65-F5344CB8AC3E}">
        <p14:creationId xmlns:p14="http://schemas.microsoft.com/office/powerpoint/2010/main" val="3352406172"/>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4524315"/>
          </a:xfrm>
          <a:prstGeom prst="rect">
            <a:avLst/>
          </a:prstGeom>
          <a:noFill/>
        </p:spPr>
        <p:txBody>
          <a:bodyPr wrap="square" rtlCol="0">
            <a:spAutoFit/>
          </a:bodyPr>
          <a:lstStyle/>
          <a:p>
            <a:r>
              <a:rPr lang="en-US" sz="1600" dirty="0" smtClean="0"/>
              <a:t>The correct answer is D</a:t>
            </a:r>
          </a:p>
          <a:p>
            <a:r>
              <a:rPr lang="en-US" sz="1600" dirty="0" smtClean="0"/>
              <a:t>An Agile team is deep into their iteration planning meeting. They have reviewed the Product Backlog with the Product Owner and are determining how many stories the team should commit to in this next iteration. The team is bogging down in the estimation details and losing momentum. The </a:t>
            </a:r>
            <a:r>
              <a:rPr lang="en-US" sz="1600" dirty="0" err="1" smtClean="0"/>
              <a:t>ScrumMaster</a:t>
            </a:r>
            <a:r>
              <a:rPr lang="en-US" sz="1600" dirty="0" smtClean="0"/>
              <a:t> suggests that each member focus on the task effort alone and exclude other activities from the estimate and assume no distractions or interruptions of the work. What is the name of this approach?</a:t>
            </a:r>
          </a:p>
          <a:p>
            <a:endParaRPr lang="en-US" sz="1600" dirty="0" smtClean="0"/>
          </a:p>
          <a:p>
            <a:r>
              <a:rPr lang="en-US" sz="1600" dirty="0" smtClean="0"/>
              <a:t>A. Minimal story effort</a:t>
            </a:r>
          </a:p>
          <a:p>
            <a:r>
              <a:rPr lang="en-US" sz="1600" dirty="0" smtClean="0"/>
              <a:t>B. Critical chain method</a:t>
            </a:r>
          </a:p>
          <a:p>
            <a:r>
              <a:rPr lang="en-US" sz="1600" dirty="0" smtClean="0"/>
              <a:t>C. Activity duration estimate</a:t>
            </a:r>
          </a:p>
          <a:p>
            <a:r>
              <a:rPr lang="en-US" sz="1600" dirty="0" smtClean="0"/>
              <a:t>D. Ideal time</a:t>
            </a:r>
          </a:p>
          <a:p>
            <a:r>
              <a:rPr lang="en-US" sz="1600" dirty="0" smtClean="0"/>
              <a:t>  </a:t>
            </a:r>
          </a:p>
          <a:p>
            <a:r>
              <a:rPr lang="en-US" sz="1600" dirty="0" smtClean="0"/>
              <a:t>D is correct - ideal time. With this approach, the team is asked to estimate how long a task will take if there are no distractions, no interruptions, and the proper resources are available. Intact teams may develop ideal time estimates and compare those with the actual time required. Over time, those teams will have more data and experience to translate ideal time to actual. For example, the team may find that an ideal time estimate of 1 hour translates to 2 or 2.5 hours of actual, elapsed time. Ideal time simplifies the picture by isolating variables and allowing resources to estimate tasks.</a:t>
            </a:r>
            <a:endParaRPr lang="en-US" sz="1600" dirty="0"/>
          </a:p>
        </p:txBody>
      </p:sp>
      <p:sp>
        <p:nvSpPr>
          <p:cNvPr id="3" name="TextBox 2"/>
          <p:cNvSpPr txBox="1"/>
          <p:nvPr/>
        </p:nvSpPr>
        <p:spPr>
          <a:xfrm>
            <a:off x="0" y="413266"/>
            <a:ext cx="8991600"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3377908775"/>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4801314"/>
          </a:xfrm>
          <a:prstGeom prst="rect">
            <a:avLst/>
          </a:prstGeom>
          <a:noFill/>
        </p:spPr>
        <p:txBody>
          <a:bodyPr wrap="square" rtlCol="0">
            <a:spAutoFit/>
          </a:bodyPr>
          <a:lstStyle/>
          <a:p>
            <a:r>
              <a:rPr lang="en-US" sz="1700" dirty="0" smtClean="0"/>
              <a:t>The correct answer is D</a:t>
            </a:r>
          </a:p>
          <a:p>
            <a:r>
              <a:rPr lang="en-US" sz="1700" dirty="0" smtClean="0"/>
              <a:t>The project selection team is meeting in the conference room to finalize plans for the next year. </a:t>
            </a:r>
            <a:r>
              <a:rPr lang="en-US" sz="1700" dirty="0" err="1" smtClean="0"/>
              <a:t>Hiroto</a:t>
            </a:r>
            <a:r>
              <a:rPr lang="en-US" sz="1700" dirty="0" smtClean="0"/>
              <a:t> has been advised to compute both PV and NPV for the 5 projects that are under consideration. Which of the following statements is not true?</a:t>
            </a:r>
          </a:p>
          <a:p>
            <a:endParaRPr lang="en-US" sz="1700" dirty="0" smtClean="0"/>
          </a:p>
          <a:p>
            <a:r>
              <a:rPr lang="en-US" sz="1700" dirty="0" smtClean="0"/>
              <a:t>A. Once </a:t>
            </a:r>
            <a:r>
              <a:rPr lang="en-US" sz="1700" dirty="0" err="1" smtClean="0"/>
              <a:t>Hiroto</a:t>
            </a:r>
            <a:r>
              <a:rPr lang="en-US" sz="1700" dirty="0" smtClean="0"/>
              <a:t> computes the PV for each of the 5 projects, all he needs in order to compute the NPV is the cost</a:t>
            </a:r>
          </a:p>
          <a:p>
            <a:r>
              <a:rPr lang="en-US" sz="1700" dirty="0" smtClean="0"/>
              <a:t>B. If </a:t>
            </a:r>
            <a:r>
              <a:rPr lang="en-US" sz="1700" dirty="0" err="1" smtClean="0"/>
              <a:t>Hiroto</a:t>
            </a:r>
            <a:r>
              <a:rPr lang="en-US" sz="1700" dirty="0" smtClean="0"/>
              <a:t> were told to use PV only, </a:t>
            </a:r>
            <a:r>
              <a:rPr lang="en-US" sz="1700" dirty="0" err="1" smtClean="0"/>
              <a:t>Hiroto</a:t>
            </a:r>
            <a:r>
              <a:rPr lang="en-US" sz="1700" dirty="0" smtClean="0"/>
              <a:t> would recommend selection of the project that has the greatest PV</a:t>
            </a:r>
          </a:p>
          <a:p>
            <a:r>
              <a:rPr lang="en-US" sz="1700" dirty="0" smtClean="0"/>
              <a:t>C. In this context, PV stands for present value and not planned value</a:t>
            </a:r>
          </a:p>
          <a:p>
            <a:r>
              <a:rPr lang="en-US" sz="1700" dirty="0" smtClean="0"/>
              <a:t>D. Once </a:t>
            </a:r>
            <a:r>
              <a:rPr lang="en-US" sz="1700" dirty="0" err="1" smtClean="0"/>
              <a:t>Hiroto</a:t>
            </a:r>
            <a:r>
              <a:rPr lang="en-US" sz="1700" dirty="0" smtClean="0"/>
              <a:t> computes PV and determines the best project choice, he does not need to compute NPV because it will lead to the same conclusion</a:t>
            </a:r>
          </a:p>
          <a:p>
            <a:r>
              <a:rPr lang="en-US" sz="1700" dirty="0" smtClean="0"/>
              <a:t>  </a:t>
            </a:r>
          </a:p>
          <a:p>
            <a:r>
              <a:rPr lang="en-US" sz="1700" dirty="0" smtClean="0"/>
              <a:t>In this context of project selection, PV stands for present value, and NPV is net present value. The difference in the two is that NPV takes cost into consideration, reducing PV by discounted costs to reach NPV. Therefore, D is the correct choice - the statement that is false. Just because a project has the highest PV, you may not assume that it will have the highest NPV. That depends on the discounted cost value for each of the choices.</a:t>
            </a:r>
            <a:endParaRPr lang="en-US" sz="1700" dirty="0"/>
          </a:p>
        </p:txBody>
      </p:sp>
      <p:sp>
        <p:nvSpPr>
          <p:cNvPr id="3" name="TextBox 2"/>
          <p:cNvSpPr txBox="1"/>
          <p:nvPr/>
        </p:nvSpPr>
        <p:spPr>
          <a:xfrm>
            <a:off x="0" y="413266"/>
            <a:ext cx="8991600"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1843600956"/>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139321"/>
          </a:xfrm>
          <a:prstGeom prst="rect">
            <a:avLst/>
          </a:prstGeom>
          <a:noFill/>
        </p:spPr>
        <p:txBody>
          <a:bodyPr wrap="square" rtlCol="0">
            <a:spAutoFit/>
          </a:bodyPr>
          <a:lstStyle/>
          <a:p>
            <a:r>
              <a:rPr lang="en-US" dirty="0" smtClean="0"/>
              <a:t>The correct answer is A</a:t>
            </a:r>
          </a:p>
          <a:p>
            <a:r>
              <a:rPr lang="en-US" dirty="0" smtClean="0"/>
              <a:t>An Agile principle, which supports self assessment, states that the _____ reflects on how to become more _______. Which pair listed properly completes this principle?</a:t>
            </a:r>
          </a:p>
          <a:p>
            <a:endParaRPr lang="en-US" dirty="0" smtClean="0"/>
          </a:p>
          <a:p>
            <a:r>
              <a:rPr lang="en-US" dirty="0" smtClean="0"/>
              <a:t>A. Team, effective</a:t>
            </a:r>
          </a:p>
          <a:p>
            <a:r>
              <a:rPr lang="en-US" dirty="0" smtClean="0"/>
              <a:t>B. Project manager, productive</a:t>
            </a:r>
          </a:p>
          <a:p>
            <a:r>
              <a:rPr lang="en-US" dirty="0" smtClean="0"/>
              <a:t>C. Sponsors and developers, sustainable</a:t>
            </a:r>
          </a:p>
          <a:p>
            <a:r>
              <a:rPr lang="en-US" dirty="0" smtClean="0"/>
              <a:t>D. Business people, competitive</a:t>
            </a:r>
          </a:p>
          <a:p>
            <a:r>
              <a:rPr lang="en-US" dirty="0" smtClean="0"/>
              <a:t>  </a:t>
            </a:r>
          </a:p>
          <a:p>
            <a:r>
              <a:rPr lang="en-US" dirty="0" smtClean="0"/>
              <a:t>At regular intervals, the team performs this assessment, then tunes and adjusts its behavior accordingly.</a:t>
            </a:r>
            <a:endParaRPr lang="en-US" dirty="0"/>
          </a:p>
        </p:txBody>
      </p:sp>
    </p:spTree>
    <p:extLst>
      <p:ext uri="{BB962C8B-B14F-4D97-AF65-F5344CB8AC3E}">
        <p14:creationId xmlns:p14="http://schemas.microsoft.com/office/powerpoint/2010/main" val="3211780489"/>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2862322"/>
          </a:xfrm>
          <a:prstGeom prst="rect">
            <a:avLst/>
          </a:prstGeom>
          <a:noFill/>
        </p:spPr>
        <p:txBody>
          <a:bodyPr wrap="square" rtlCol="0">
            <a:spAutoFit/>
          </a:bodyPr>
          <a:lstStyle/>
          <a:p>
            <a:r>
              <a:rPr lang="en-US" dirty="0" smtClean="0"/>
              <a:t>The correct answer is B</a:t>
            </a:r>
          </a:p>
          <a:p>
            <a:r>
              <a:rPr lang="en-US" dirty="0" smtClean="0"/>
              <a:t>The value accomplished in an iteration is known as the team's:</a:t>
            </a:r>
          </a:p>
          <a:p>
            <a:endParaRPr lang="en-US" dirty="0" smtClean="0"/>
          </a:p>
          <a:p>
            <a:r>
              <a:rPr lang="en-US" dirty="0" smtClean="0"/>
              <a:t>A. SPI - Story Points per Iteration</a:t>
            </a:r>
          </a:p>
          <a:p>
            <a:r>
              <a:rPr lang="en-US" dirty="0" smtClean="0"/>
              <a:t>B. Velocity</a:t>
            </a:r>
          </a:p>
          <a:p>
            <a:r>
              <a:rPr lang="en-US" dirty="0" smtClean="0"/>
              <a:t>C. Iteration point density</a:t>
            </a:r>
          </a:p>
          <a:p>
            <a:r>
              <a:rPr lang="en-US" dirty="0" smtClean="0"/>
              <a:t>D. Sprint value</a:t>
            </a:r>
          </a:p>
          <a:p>
            <a:r>
              <a:rPr lang="en-US" dirty="0" smtClean="0"/>
              <a:t>  </a:t>
            </a:r>
          </a:p>
          <a:p>
            <a:r>
              <a:rPr lang="en-US" dirty="0" smtClean="0"/>
              <a:t>The team's accomplished (Done) value in story points is the velocity of the iteration. The team should not commit to more points in iterations than its velocity allows to be accomplished.</a:t>
            </a:r>
            <a:endParaRPr lang="en-US" dirty="0"/>
          </a:p>
        </p:txBody>
      </p:sp>
    </p:spTree>
    <p:extLst>
      <p:ext uri="{BB962C8B-B14F-4D97-AF65-F5344CB8AC3E}">
        <p14:creationId xmlns:p14="http://schemas.microsoft.com/office/powerpoint/2010/main" val="3655925706"/>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4539704"/>
          </a:xfrm>
          <a:prstGeom prst="rect">
            <a:avLst/>
          </a:prstGeom>
          <a:noFill/>
        </p:spPr>
        <p:txBody>
          <a:bodyPr wrap="square" rtlCol="0">
            <a:spAutoFit/>
          </a:bodyPr>
          <a:lstStyle/>
          <a:p>
            <a:r>
              <a:rPr lang="en-US" sz="1700" dirty="0" smtClean="0"/>
              <a:t>The correct answer is A</a:t>
            </a:r>
          </a:p>
          <a:p>
            <a:r>
              <a:rPr lang="en-US" sz="1700" dirty="0" smtClean="0"/>
              <a:t>You walk into the work area of an Agile team and see an updated </a:t>
            </a:r>
            <a:r>
              <a:rPr lang="en-US" sz="1700" dirty="0" err="1" smtClean="0"/>
              <a:t>burndown</a:t>
            </a:r>
            <a:r>
              <a:rPr lang="en-US" sz="1700" dirty="0" smtClean="0"/>
              <a:t> chart depicting progress of the current iteration. The team is in day 10 of a 30-day iteration. The chart depicts the planned progress as a diagonal line in blue. Actuals are posted each day, forming a green line. On day 10, the green line is below the blue line. What does this communicate to stakeholders?</a:t>
            </a:r>
          </a:p>
          <a:p>
            <a:endParaRPr lang="en-US" sz="1700" dirty="0" smtClean="0"/>
          </a:p>
          <a:p>
            <a:r>
              <a:rPr lang="en-US" sz="1700" dirty="0" smtClean="0"/>
              <a:t>A. This iteration is going well - the team is ahead of the plan</a:t>
            </a:r>
          </a:p>
          <a:p>
            <a:r>
              <a:rPr lang="en-US" sz="1700" dirty="0" smtClean="0"/>
              <a:t>B. This iteration is not going well - actuals are below the plan</a:t>
            </a:r>
          </a:p>
          <a:p>
            <a:r>
              <a:rPr lang="en-US" sz="1700" dirty="0" smtClean="0"/>
              <a:t>C. The velocity of the team is greater than the prior iteration - the team is ahead of plan</a:t>
            </a:r>
          </a:p>
          <a:p>
            <a:r>
              <a:rPr lang="en-US" sz="1700" dirty="0" smtClean="0"/>
              <a:t>D. The velocity is less than it was in the prior iteration - the team is behind the plan</a:t>
            </a:r>
          </a:p>
          <a:p>
            <a:r>
              <a:rPr lang="en-US" sz="1700" dirty="0" smtClean="0"/>
              <a:t>  </a:t>
            </a:r>
          </a:p>
          <a:p>
            <a:r>
              <a:rPr lang="en-US" sz="1700" dirty="0" smtClean="0"/>
              <a:t>A is the best choice. The green line indicates the number of story points or related hours that have been completed. On day 10, the team is further along than anticipated, so the team has burned down further than expected - good news. B is incorrect. C and D are making assumptions about the velocity that are not correct. The velocity from one iteration to the next should be relatively similar but not exact. Over several iterations, the team velocity should become more predictable. However, we should not jump to the conclusions made in C and D.</a:t>
            </a:r>
            <a:endParaRPr lang="en-US" sz="1700" dirty="0"/>
          </a:p>
        </p:txBody>
      </p:sp>
    </p:spTree>
    <p:extLst>
      <p:ext uri="{BB962C8B-B14F-4D97-AF65-F5344CB8AC3E}">
        <p14:creationId xmlns:p14="http://schemas.microsoft.com/office/powerpoint/2010/main" val="3683535750"/>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416320"/>
          </a:xfrm>
          <a:prstGeom prst="rect">
            <a:avLst/>
          </a:prstGeom>
          <a:noFill/>
        </p:spPr>
        <p:txBody>
          <a:bodyPr wrap="square" rtlCol="0">
            <a:spAutoFit/>
          </a:bodyPr>
          <a:lstStyle/>
          <a:p>
            <a:r>
              <a:rPr lang="en-US" dirty="0" smtClean="0"/>
              <a:t>The correct answer is A</a:t>
            </a:r>
          </a:p>
          <a:p>
            <a:r>
              <a:rPr lang="en-US" dirty="0" smtClean="0"/>
              <a:t>A stakeholder has created a description of a high-level capability that will need to be disaggregated into user stories before being placed into the iteration backlog. This capability is also called:</a:t>
            </a:r>
          </a:p>
          <a:p>
            <a:endParaRPr lang="en-US" dirty="0" smtClean="0"/>
          </a:p>
          <a:p>
            <a:r>
              <a:rPr lang="en-US" dirty="0" smtClean="0"/>
              <a:t>A. An epic</a:t>
            </a:r>
          </a:p>
          <a:p>
            <a:r>
              <a:rPr lang="en-US" dirty="0" smtClean="0"/>
              <a:t>B. A macro-story</a:t>
            </a:r>
          </a:p>
          <a:p>
            <a:r>
              <a:rPr lang="en-US" dirty="0" smtClean="0"/>
              <a:t>C. A planning component</a:t>
            </a:r>
          </a:p>
          <a:p>
            <a:r>
              <a:rPr lang="en-US" dirty="0" smtClean="0"/>
              <a:t>D. A theme</a:t>
            </a:r>
          </a:p>
          <a:p>
            <a:r>
              <a:rPr lang="en-US" dirty="0" smtClean="0"/>
              <a:t>  </a:t>
            </a:r>
          </a:p>
          <a:p>
            <a:r>
              <a:rPr lang="en-US" dirty="0" smtClean="0"/>
              <a:t>An Agile epic is a capability that is too large to be a single story, often too large to be accomplished within a single iteration.</a:t>
            </a:r>
            <a:endParaRPr lang="en-US" dirty="0"/>
          </a:p>
        </p:txBody>
      </p:sp>
    </p:spTree>
    <p:extLst>
      <p:ext uri="{BB962C8B-B14F-4D97-AF65-F5344CB8AC3E}">
        <p14:creationId xmlns:p14="http://schemas.microsoft.com/office/powerpoint/2010/main" val="2596561599"/>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139321"/>
          </a:xfrm>
          <a:prstGeom prst="rect">
            <a:avLst/>
          </a:prstGeom>
          <a:noFill/>
        </p:spPr>
        <p:txBody>
          <a:bodyPr wrap="square" rtlCol="0">
            <a:spAutoFit/>
          </a:bodyPr>
          <a:lstStyle/>
          <a:p>
            <a:r>
              <a:rPr lang="en-US" dirty="0" smtClean="0"/>
              <a:t>The correct answer is D</a:t>
            </a:r>
          </a:p>
          <a:p>
            <a:r>
              <a:rPr lang="en-US" dirty="0" smtClean="0"/>
              <a:t>Contingency theory states the effectiveness of a leader's style is contingent on the situation in which leadership is applied. This theory supports the Agile concept and use of:</a:t>
            </a:r>
          </a:p>
          <a:p>
            <a:endParaRPr lang="en-US" dirty="0" smtClean="0"/>
          </a:p>
          <a:p>
            <a:r>
              <a:rPr lang="en-US" dirty="0" smtClean="0"/>
              <a:t>A. </a:t>
            </a:r>
            <a:r>
              <a:rPr lang="en-US" dirty="0" err="1" smtClean="0"/>
              <a:t>Tuckman's</a:t>
            </a:r>
            <a:r>
              <a:rPr lang="en-US" dirty="0" smtClean="0"/>
              <a:t> theory on the Stages of Team Development</a:t>
            </a:r>
          </a:p>
          <a:p>
            <a:r>
              <a:rPr lang="en-US" dirty="0" smtClean="0"/>
              <a:t>B. Servant leadership</a:t>
            </a:r>
          </a:p>
          <a:p>
            <a:r>
              <a:rPr lang="en-US" dirty="0" smtClean="0"/>
              <a:t>C. Welcoming change</a:t>
            </a:r>
          </a:p>
          <a:p>
            <a:r>
              <a:rPr lang="en-US" dirty="0" smtClean="0"/>
              <a:t>D. Adaptive leadership</a:t>
            </a:r>
          </a:p>
          <a:p>
            <a:r>
              <a:rPr lang="en-US" dirty="0" smtClean="0"/>
              <a:t>  </a:t>
            </a:r>
          </a:p>
          <a:p>
            <a:r>
              <a:rPr lang="en-US" dirty="0" smtClean="0"/>
              <a:t>Ron Heifetz's research conveys that a leader adapts to the environment to lead most effectively. Focus on activities that add value, be open and transparent, adapt to change.</a:t>
            </a:r>
            <a:endParaRPr lang="en-US" dirty="0"/>
          </a:p>
        </p:txBody>
      </p:sp>
    </p:spTree>
    <p:extLst>
      <p:ext uri="{BB962C8B-B14F-4D97-AF65-F5344CB8AC3E}">
        <p14:creationId xmlns:p14="http://schemas.microsoft.com/office/powerpoint/2010/main" val="4154959712"/>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2862322"/>
          </a:xfrm>
          <a:prstGeom prst="rect">
            <a:avLst/>
          </a:prstGeom>
          <a:noFill/>
        </p:spPr>
        <p:txBody>
          <a:bodyPr wrap="square" rtlCol="0">
            <a:spAutoFit/>
          </a:bodyPr>
          <a:lstStyle/>
          <a:p>
            <a:r>
              <a:rPr lang="en-US" dirty="0" smtClean="0"/>
              <a:t>The correct answer is B</a:t>
            </a:r>
          </a:p>
          <a:p>
            <a:r>
              <a:rPr lang="en-US" dirty="0" smtClean="0"/>
              <a:t>The smallest unit of functionality that is of value to the customer is:</a:t>
            </a:r>
          </a:p>
          <a:p>
            <a:endParaRPr lang="en-US" dirty="0" smtClean="0"/>
          </a:p>
          <a:p>
            <a:r>
              <a:rPr lang="en-US" dirty="0" smtClean="0"/>
              <a:t>A. A story point</a:t>
            </a:r>
          </a:p>
          <a:p>
            <a:r>
              <a:rPr lang="en-US" dirty="0" smtClean="0"/>
              <a:t>B. A minimally marketable feature</a:t>
            </a:r>
          </a:p>
          <a:p>
            <a:r>
              <a:rPr lang="en-US" dirty="0" smtClean="0"/>
              <a:t>C. The lowest story on the product backlog</a:t>
            </a:r>
          </a:p>
          <a:p>
            <a:r>
              <a:rPr lang="en-US" dirty="0" smtClean="0"/>
              <a:t>D. A sub-epic</a:t>
            </a:r>
          </a:p>
          <a:p>
            <a:r>
              <a:rPr lang="en-US" dirty="0" smtClean="0"/>
              <a:t>  </a:t>
            </a:r>
          </a:p>
          <a:p>
            <a:r>
              <a:rPr lang="en-US" dirty="0" smtClean="0"/>
              <a:t>A minimally marketable feature is a subset of functionality that, once delivered, is something of value to the customer.</a:t>
            </a:r>
            <a:endParaRPr lang="en-US" dirty="0"/>
          </a:p>
        </p:txBody>
      </p:sp>
    </p:spTree>
    <p:extLst>
      <p:ext uri="{BB962C8B-B14F-4D97-AF65-F5344CB8AC3E}">
        <p14:creationId xmlns:p14="http://schemas.microsoft.com/office/powerpoint/2010/main" val="1280060434"/>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693319"/>
          </a:xfrm>
          <a:prstGeom prst="rect">
            <a:avLst/>
          </a:prstGeom>
          <a:noFill/>
        </p:spPr>
        <p:txBody>
          <a:bodyPr wrap="square" rtlCol="0">
            <a:spAutoFit/>
          </a:bodyPr>
          <a:lstStyle/>
          <a:p>
            <a:r>
              <a:rPr lang="en-US" dirty="0" smtClean="0"/>
              <a:t>The correct answer is D</a:t>
            </a:r>
          </a:p>
          <a:p>
            <a:r>
              <a:rPr lang="en-US" dirty="0" smtClean="0"/>
              <a:t>The value of collaboration in an Agile project might be best recognized in what practice?</a:t>
            </a:r>
          </a:p>
          <a:p>
            <a:endParaRPr lang="en-US" dirty="0" smtClean="0"/>
          </a:p>
          <a:p>
            <a:r>
              <a:rPr lang="en-US" dirty="0" smtClean="0"/>
              <a:t>A. Working together daily with the customer to have a non-confrontational contract negotiation</a:t>
            </a:r>
          </a:p>
          <a:p>
            <a:r>
              <a:rPr lang="en-US" dirty="0" smtClean="0"/>
              <a:t>B. Fostering an open, transparent environment in which communication flows easily to the team leader to help shape his decisions</a:t>
            </a:r>
          </a:p>
          <a:p>
            <a:r>
              <a:rPr lang="en-US" dirty="0" smtClean="0"/>
              <a:t>C. </a:t>
            </a:r>
            <a:r>
              <a:rPr lang="en-US" dirty="0" err="1" smtClean="0"/>
              <a:t>Timeboxing</a:t>
            </a:r>
            <a:r>
              <a:rPr lang="en-US" dirty="0" smtClean="0"/>
              <a:t> the daily stand up meetings to ensure enough time is provided for discussion</a:t>
            </a:r>
          </a:p>
          <a:p>
            <a:r>
              <a:rPr lang="en-US" dirty="0" smtClean="0"/>
              <a:t>D. Creating a team space with highly visible information radiators and face-to-face workstations</a:t>
            </a:r>
          </a:p>
          <a:p>
            <a:r>
              <a:rPr lang="en-US" dirty="0" smtClean="0"/>
              <a:t>  </a:t>
            </a:r>
          </a:p>
          <a:p>
            <a:r>
              <a:rPr lang="en-US" dirty="0" smtClean="0"/>
              <a:t>The team space design is a very integral collaboration ingredient of an Agile project. Decisions are made by the team, not the team leader.</a:t>
            </a:r>
            <a:endParaRPr lang="en-US" dirty="0"/>
          </a:p>
        </p:txBody>
      </p:sp>
    </p:spTree>
    <p:extLst>
      <p:ext uri="{BB962C8B-B14F-4D97-AF65-F5344CB8AC3E}">
        <p14:creationId xmlns:p14="http://schemas.microsoft.com/office/powerpoint/2010/main" val="160836998"/>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416320"/>
          </a:xfrm>
          <a:prstGeom prst="rect">
            <a:avLst/>
          </a:prstGeom>
          <a:noFill/>
        </p:spPr>
        <p:txBody>
          <a:bodyPr wrap="square" rtlCol="0">
            <a:spAutoFit/>
          </a:bodyPr>
          <a:lstStyle/>
          <a:p>
            <a:r>
              <a:rPr lang="en-US" dirty="0" smtClean="0"/>
              <a:t>The correct answer is D</a:t>
            </a:r>
          </a:p>
          <a:p>
            <a:r>
              <a:rPr lang="en-US" dirty="0" smtClean="0"/>
              <a:t>The value based analysis of the product backlog, as well as keeping it up to date, is the responsibility of:</a:t>
            </a:r>
          </a:p>
          <a:p>
            <a:endParaRPr lang="en-US" dirty="0" smtClean="0"/>
          </a:p>
          <a:p>
            <a:r>
              <a:rPr lang="en-US" dirty="0" smtClean="0"/>
              <a:t>A. The development team</a:t>
            </a:r>
          </a:p>
          <a:p>
            <a:r>
              <a:rPr lang="en-US" dirty="0" smtClean="0"/>
              <a:t>B. The project sponsor</a:t>
            </a:r>
          </a:p>
          <a:p>
            <a:r>
              <a:rPr lang="en-US" dirty="0" smtClean="0"/>
              <a:t>C. The user advisor</a:t>
            </a:r>
          </a:p>
          <a:p>
            <a:r>
              <a:rPr lang="en-US" dirty="0" smtClean="0"/>
              <a:t>D. The Product Owner</a:t>
            </a:r>
          </a:p>
          <a:p>
            <a:r>
              <a:rPr lang="en-US" dirty="0" smtClean="0"/>
              <a:t>  </a:t>
            </a:r>
          </a:p>
          <a:p>
            <a:r>
              <a:rPr lang="en-US" dirty="0" smtClean="0"/>
              <a:t>The Product Owner is responsible for creating the product backlog, prioritizing the backlog based on highest value first, and keeping the backlog up to date during and between iterations and releases.</a:t>
            </a:r>
            <a:endParaRPr lang="en-US" dirty="0"/>
          </a:p>
        </p:txBody>
      </p:sp>
    </p:spTree>
    <p:extLst>
      <p:ext uri="{BB962C8B-B14F-4D97-AF65-F5344CB8AC3E}">
        <p14:creationId xmlns:p14="http://schemas.microsoft.com/office/powerpoint/2010/main" val="1637905464"/>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416320"/>
          </a:xfrm>
          <a:prstGeom prst="rect">
            <a:avLst/>
          </a:prstGeom>
          <a:noFill/>
        </p:spPr>
        <p:txBody>
          <a:bodyPr wrap="square" rtlCol="0">
            <a:spAutoFit/>
          </a:bodyPr>
          <a:lstStyle/>
          <a:p>
            <a:r>
              <a:rPr lang="en-US" dirty="0" smtClean="0"/>
              <a:t>The correct answer is A</a:t>
            </a:r>
          </a:p>
          <a:p>
            <a:r>
              <a:rPr lang="en-US" dirty="0" smtClean="0"/>
              <a:t>In spite of team pressure, a database specialist has intricately coded a key module without any documentation or explanation to other team members. What is the greatest Agile concern with this scenario?</a:t>
            </a:r>
          </a:p>
          <a:p>
            <a:endParaRPr lang="en-US" dirty="0" smtClean="0"/>
          </a:p>
          <a:p>
            <a:r>
              <a:rPr lang="en-US" dirty="0" smtClean="0"/>
              <a:t>A. The team collectively owns and maintains software code</a:t>
            </a:r>
          </a:p>
          <a:p>
            <a:r>
              <a:rPr lang="en-US" dirty="0" smtClean="0"/>
              <a:t>B. Business people and developers must work together daily throughout the project</a:t>
            </a:r>
          </a:p>
          <a:p>
            <a:r>
              <a:rPr lang="en-US" dirty="0" smtClean="0"/>
              <a:t>C. The principle of simplicity has been violated</a:t>
            </a:r>
          </a:p>
          <a:p>
            <a:r>
              <a:rPr lang="en-US" dirty="0" smtClean="0"/>
              <a:t>D. The team should be comprised of generalists, not specialists</a:t>
            </a:r>
          </a:p>
          <a:p>
            <a:r>
              <a:rPr lang="en-US" dirty="0" smtClean="0"/>
              <a:t>  </a:t>
            </a:r>
          </a:p>
          <a:p>
            <a:r>
              <a:rPr lang="en-US" dirty="0" smtClean="0"/>
              <a:t>There is some validity to each choice. However, the collective ownership and maintenance of the code is the key concern here.</a:t>
            </a:r>
            <a:endParaRPr lang="en-US" dirty="0"/>
          </a:p>
        </p:txBody>
      </p:sp>
    </p:spTree>
    <p:extLst>
      <p:ext uri="{BB962C8B-B14F-4D97-AF65-F5344CB8AC3E}">
        <p14:creationId xmlns:p14="http://schemas.microsoft.com/office/powerpoint/2010/main" val="3736428315"/>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4539704"/>
          </a:xfrm>
          <a:prstGeom prst="rect">
            <a:avLst/>
          </a:prstGeom>
          <a:noFill/>
        </p:spPr>
        <p:txBody>
          <a:bodyPr wrap="square" rtlCol="0">
            <a:spAutoFit/>
          </a:bodyPr>
          <a:lstStyle/>
          <a:p>
            <a:r>
              <a:rPr lang="en-US" sz="1700" dirty="0" smtClean="0"/>
              <a:t>The correct answer is A</a:t>
            </a:r>
          </a:p>
          <a:p>
            <a:r>
              <a:rPr lang="en-US" sz="1700" dirty="0" smtClean="0"/>
              <a:t>The team delivered the latest increment to the customer, and the PM is reviewing some of the performance reports. She notices that over the last 6 iterations, the number of bugs reported by the customer has gradually increased. The numbers are not alarming, but the trend is not favorable. What should she do first?</a:t>
            </a:r>
          </a:p>
          <a:p>
            <a:endParaRPr lang="en-US" sz="1700" dirty="0" smtClean="0"/>
          </a:p>
          <a:p>
            <a:r>
              <a:rPr lang="en-US" sz="1700" dirty="0" smtClean="0"/>
              <a:t>A. Bring the discovery to the attention of the team</a:t>
            </a:r>
          </a:p>
          <a:p>
            <a:r>
              <a:rPr lang="en-US" sz="1700" dirty="0" smtClean="0"/>
              <a:t>B. Show leadership by purchasing better testing software for the team</a:t>
            </a:r>
          </a:p>
          <a:p>
            <a:r>
              <a:rPr lang="en-US" sz="1700" dirty="0" smtClean="0"/>
              <a:t>C. Meet with the customer, explain the findings, and discuss actions for future iterations</a:t>
            </a:r>
          </a:p>
          <a:p>
            <a:r>
              <a:rPr lang="en-US" sz="1700" dirty="0" smtClean="0"/>
              <a:t>D. Use Pareto analysis to determine what team member is the primary cause of these bugs and meet with that person face-to-face</a:t>
            </a:r>
          </a:p>
          <a:p>
            <a:r>
              <a:rPr lang="en-US" sz="1700" dirty="0" smtClean="0"/>
              <a:t>  </a:t>
            </a:r>
          </a:p>
          <a:p>
            <a:r>
              <a:rPr lang="en-US" sz="1700" dirty="0" smtClean="0"/>
              <a:t>All 4 options are not bad, and the PM may find it useful to take all these steps. However, the questions asks what she should do first. Her first responsibility is to share this information with the team and let the team own it. Some of the principles of Agile include continuous attention to technical excellence and periodic reflection on how to become more effective. This first step aligns with those principles. Let the team own it. Then, consider steps B, C, and D. A is the best choice.</a:t>
            </a:r>
            <a:endParaRPr lang="en-US" sz="1700" dirty="0"/>
          </a:p>
        </p:txBody>
      </p:sp>
      <p:sp>
        <p:nvSpPr>
          <p:cNvPr id="3" name="TextBox 2"/>
          <p:cNvSpPr txBox="1"/>
          <p:nvPr/>
        </p:nvSpPr>
        <p:spPr>
          <a:xfrm>
            <a:off x="0" y="413266"/>
            <a:ext cx="8991600"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1740029251"/>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4539704"/>
          </a:xfrm>
          <a:prstGeom prst="rect">
            <a:avLst/>
          </a:prstGeom>
          <a:noFill/>
        </p:spPr>
        <p:txBody>
          <a:bodyPr wrap="square" rtlCol="0">
            <a:spAutoFit/>
          </a:bodyPr>
          <a:lstStyle/>
          <a:p>
            <a:r>
              <a:rPr lang="en-US" sz="1700" dirty="0" smtClean="0"/>
              <a:t>The correct answer is C</a:t>
            </a:r>
          </a:p>
          <a:p>
            <a:r>
              <a:rPr lang="en-US" sz="1700" dirty="0" smtClean="0"/>
              <a:t>The team completed the first, very rudimentary prototype and is eager to test it and put it in the hands of customers. They anticipate some helpful feedback, but they are not sure how the product will be used, or what features will prove most popular. Of the following, what technique should the team use?</a:t>
            </a:r>
          </a:p>
          <a:p>
            <a:endParaRPr lang="en-US" sz="1700" dirty="0" smtClean="0"/>
          </a:p>
          <a:p>
            <a:r>
              <a:rPr lang="en-US" sz="1700" dirty="0" smtClean="0"/>
              <a:t>A. Create wireframes</a:t>
            </a:r>
          </a:p>
          <a:p>
            <a:r>
              <a:rPr lang="en-US" sz="1700" dirty="0" smtClean="0"/>
              <a:t>B. Create storyboards</a:t>
            </a:r>
          </a:p>
          <a:p>
            <a:r>
              <a:rPr lang="en-US" sz="1700" dirty="0" smtClean="0"/>
              <a:t>C. Create personas</a:t>
            </a:r>
          </a:p>
          <a:p>
            <a:r>
              <a:rPr lang="en-US" sz="1700" dirty="0" smtClean="0"/>
              <a:t>D. Create value-based tracking</a:t>
            </a:r>
          </a:p>
          <a:p>
            <a:r>
              <a:rPr lang="en-US" sz="1700" dirty="0" smtClean="0"/>
              <a:t>  </a:t>
            </a:r>
          </a:p>
          <a:p>
            <a:r>
              <a:rPr lang="en-US" sz="1700" dirty="0" smtClean="0"/>
              <a:t>Creating personas is the best choice for this scenario. Wireframes are helpful to communicate scope - think of the wireframe as a quick sketch of what a screen will look like. Storyboards are helpful when the team is documenting an understanding of the customer or flow of the product. Value-based tracking is a made-up term. The persona is like a fictional character or made-up user that has a set of hopes, dreams, and needs tied to this solution your team is building. Extreme personas are helpful because they force the team to consider the atypical user, too, and not overlook features.</a:t>
            </a:r>
            <a:endParaRPr lang="en-US" sz="1700" dirty="0"/>
          </a:p>
        </p:txBody>
      </p:sp>
    </p:spTree>
    <p:extLst>
      <p:ext uri="{BB962C8B-B14F-4D97-AF65-F5344CB8AC3E}">
        <p14:creationId xmlns:p14="http://schemas.microsoft.com/office/powerpoint/2010/main" val="2454693510"/>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416320"/>
          </a:xfrm>
          <a:prstGeom prst="rect">
            <a:avLst/>
          </a:prstGeom>
          <a:noFill/>
        </p:spPr>
        <p:txBody>
          <a:bodyPr wrap="square" rtlCol="0">
            <a:spAutoFit/>
          </a:bodyPr>
          <a:lstStyle/>
          <a:p>
            <a:r>
              <a:rPr lang="en-US" dirty="0" smtClean="0"/>
              <a:t>The correct answer is C</a:t>
            </a:r>
          </a:p>
          <a:p>
            <a:r>
              <a:rPr lang="en-US" dirty="0" smtClean="0"/>
              <a:t>Which is the least valid idea about negotiation in Agile projects?</a:t>
            </a:r>
          </a:p>
          <a:p>
            <a:endParaRPr lang="en-US" dirty="0" smtClean="0"/>
          </a:p>
          <a:p>
            <a:r>
              <a:rPr lang="en-US" dirty="0" smtClean="0"/>
              <a:t>A. The content of a user story is highly negotiable</a:t>
            </a:r>
          </a:p>
          <a:p>
            <a:r>
              <a:rPr lang="en-US" dirty="0" smtClean="0"/>
              <a:t>B. Customer collaboration is more valued than contract negotiations</a:t>
            </a:r>
          </a:p>
          <a:p>
            <a:r>
              <a:rPr lang="en-US" dirty="0" smtClean="0"/>
              <a:t>C. The Product Owner drives the project priorities while the team coach drives trade-offs to protect the team's rights</a:t>
            </a:r>
          </a:p>
          <a:p>
            <a:r>
              <a:rPr lang="en-US" dirty="0" smtClean="0"/>
              <a:t>D. Because negotiations can easily become adversarial, the customer should collaboratively help make the best decisions with the project team</a:t>
            </a:r>
          </a:p>
          <a:p>
            <a:r>
              <a:rPr lang="en-US" dirty="0" smtClean="0"/>
              <a:t>  </a:t>
            </a:r>
          </a:p>
          <a:p>
            <a:r>
              <a:rPr lang="en-US" dirty="0" smtClean="0"/>
              <a:t>Choices A,B, and D are valid. Answer-C is the least valid in that the team coach or </a:t>
            </a:r>
            <a:r>
              <a:rPr lang="en-US" dirty="0" err="1" smtClean="0"/>
              <a:t>ScrumMaster</a:t>
            </a:r>
            <a:r>
              <a:rPr lang="en-US" dirty="0" smtClean="0"/>
              <a:t> protects the Agile values and process and is not the negotiator for the team's rights.</a:t>
            </a:r>
            <a:endParaRPr lang="en-US" dirty="0"/>
          </a:p>
        </p:txBody>
      </p:sp>
    </p:spTree>
    <p:extLst>
      <p:ext uri="{BB962C8B-B14F-4D97-AF65-F5344CB8AC3E}">
        <p14:creationId xmlns:p14="http://schemas.microsoft.com/office/powerpoint/2010/main" val="280739988"/>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416320"/>
          </a:xfrm>
          <a:prstGeom prst="rect">
            <a:avLst/>
          </a:prstGeom>
          <a:noFill/>
        </p:spPr>
        <p:txBody>
          <a:bodyPr wrap="square" rtlCol="0">
            <a:spAutoFit/>
          </a:bodyPr>
          <a:lstStyle/>
          <a:p>
            <a:r>
              <a:rPr lang="en-US" dirty="0" smtClean="0"/>
              <a:t>The correct answer is C</a:t>
            </a:r>
          </a:p>
          <a:p>
            <a:r>
              <a:rPr lang="en-US" dirty="0" smtClean="0"/>
              <a:t>In Agile projects, the term 'Kaizen' is best described as meaning:</a:t>
            </a:r>
          </a:p>
          <a:p>
            <a:endParaRPr lang="en-US" dirty="0" smtClean="0"/>
          </a:p>
          <a:p>
            <a:r>
              <a:rPr lang="en-US" dirty="0" smtClean="0"/>
              <a:t>A. How to follow the principle of welcoming changing requirements</a:t>
            </a:r>
          </a:p>
          <a:p>
            <a:r>
              <a:rPr lang="en-US" dirty="0" smtClean="0"/>
              <a:t>B. Using a task board to track flow</a:t>
            </a:r>
          </a:p>
          <a:p>
            <a:r>
              <a:rPr lang="en-US" dirty="0" smtClean="0"/>
              <a:t>C. Small changes</a:t>
            </a:r>
          </a:p>
          <a:p>
            <a:r>
              <a:rPr lang="en-US" dirty="0" smtClean="0"/>
              <a:t>D. The team's working together daily in Total Quality Management</a:t>
            </a:r>
          </a:p>
          <a:p>
            <a:r>
              <a:rPr lang="en-US" dirty="0" smtClean="0"/>
              <a:t>  </a:t>
            </a:r>
          </a:p>
          <a:p>
            <a:r>
              <a:rPr lang="en-US" dirty="0" smtClean="0"/>
              <a:t>Continuous improvement ('Kaizen') may be characterized in iteration retrospectives. Small adaptive changes may be the result after the gains achieved by larger changes earlier in the life of the team. Continuous improvement means there are always changes, though maybe small, to approach perfection, though perfection is never attained.</a:t>
            </a:r>
            <a:endParaRPr lang="en-US" dirty="0"/>
          </a:p>
        </p:txBody>
      </p:sp>
    </p:spTree>
    <p:extLst>
      <p:ext uri="{BB962C8B-B14F-4D97-AF65-F5344CB8AC3E}">
        <p14:creationId xmlns:p14="http://schemas.microsoft.com/office/powerpoint/2010/main" val="599344257"/>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693319"/>
          </a:xfrm>
          <a:prstGeom prst="rect">
            <a:avLst/>
          </a:prstGeom>
          <a:noFill/>
        </p:spPr>
        <p:txBody>
          <a:bodyPr wrap="square" rtlCol="0">
            <a:spAutoFit/>
          </a:bodyPr>
          <a:lstStyle/>
          <a:p>
            <a:r>
              <a:rPr lang="en-US" dirty="0" smtClean="0"/>
              <a:t>The correct answer is D</a:t>
            </a:r>
          </a:p>
          <a:p>
            <a:r>
              <a:rPr lang="en-US" dirty="0" smtClean="0"/>
              <a:t>Which response best explains the benefit of the Agile value pair of responding to change over following a plan?</a:t>
            </a:r>
          </a:p>
          <a:p>
            <a:endParaRPr lang="en-US" dirty="0" smtClean="0"/>
          </a:p>
          <a:p>
            <a:r>
              <a:rPr lang="en-US" dirty="0" smtClean="0"/>
              <a:t>A. Change requests provide opportunities to increase revenues</a:t>
            </a:r>
          </a:p>
          <a:p>
            <a:r>
              <a:rPr lang="en-US" dirty="0" smtClean="0"/>
              <a:t>B. Following a plan increases the constraints on a development team</a:t>
            </a:r>
          </a:p>
          <a:p>
            <a:r>
              <a:rPr lang="en-US" dirty="0" smtClean="0"/>
              <a:t>C. Flexibility provided by openness to change promotes team morale and sustainable productivity</a:t>
            </a:r>
          </a:p>
          <a:p>
            <a:r>
              <a:rPr lang="en-US" dirty="0" smtClean="0"/>
              <a:t>D. More current requirements provide a competitive advantage for the customer</a:t>
            </a:r>
          </a:p>
          <a:p>
            <a:r>
              <a:rPr lang="en-US" dirty="0" smtClean="0"/>
              <a:t>  </a:t>
            </a:r>
          </a:p>
          <a:p>
            <a:r>
              <a:rPr lang="en-US" dirty="0" smtClean="0"/>
              <a:t>The value of being responsive to change, even late in development, rather than controlling change of a detailed plan is most recognized as providing the Product Owner and customer with current competitive features to bring to a changing market.</a:t>
            </a:r>
            <a:endParaRPr lang="en-US" dirty="0"/>
          </a:p>
        </p:txBody>
      </p:sp>
    </p:spTree>
    <p:extLst>
      <p:ext uri="{BB962C8B-B14F-4D97-AF65-F5344CB8AC3E}">
        <p14:creationId xmlns:p14="http://schemas.microsoft.com/office/powerpoint/2010/main" val="1861367551"/>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4708981"/>
          </a:xfrm>
          <a:prstGeom prst="rect">
            <a:avLst/>
          </a:prstGeom>
          <a:noFill/>
        </p:spPr>
        <p:txBody>
          <a:bodyPr wrap="square" rtlCol="0">
            <a:spAutoFit/>
          </a:bodyPr>
          <a:lstStyle/>
          <a:p>
            <a:r>
              <a:rPr lang="en-US" sz="1500" dirty="0" smtClean="0"/>
              <a:t>The correct answer is D</a:t>
            </a:r>
          </a:p>
          <a:p>
            <a:r>
              <a:rPr lang="en-US" sz="1500" dirty="0" smtClean="0"/>
              <a:t>You are leading an Agile project team, and your sponsor is very concerned that the team will encounter risks that will jeopardize the on-time delivery of the product. You meet with the sponsor and show her a risk </a:t>
            </a:r>
            <a:r>
              <a:rPr lang="en-US" sz="1500" dirty="0" err="1" smtClean="0"/>
              <a:t>burndown</a:t>
            </a:r>
            <a:r>
              <a:rPr lang="en-US" sz="1500" dirty="0" smtClean="0"/>
              <a:t> chart developed by the team. How will you explain this chart to your sponsor?</a:t>
            </a:r>
          </a:p>
          <a:p>
            <a:endParaRPr lang="en-US" sz="1500" dirty="0" smtClean="0"/>
          </a:p>
          <a:p>
            <a:r>
              <a:rPr lang="en-US" sz="1500" dirty="0" smtClean="0"/>
              <a:t>A. The team identified risks that may harm the schedule, estimated the schedule impact for every risk, estimated the probability that each risk would occur, came up with a weighted score, plotted the total risk score at the initiation of the project, and is tracking the accumulation of that total risk score as each risk event occurs</a:t>
            </a:r>
          </a:p>
          <a:p>
            <a:r>
              <a:rPr lang="en-US" sz="1500" dirty="0" smtClean="0"/>
              <a:t>B. The team identified risks, performed analysis, assigned reserve values to cover the cost of each risk, and is tracking the total remaining risk reserve proactively for the sponsor</a:t>
            </a:r>
          </a:p>
          <a:p>
            <a:r>
              <a:rPr lang="en-US" sz="1500" dirty="0" smtClean="0"/>
              <a:t>C. The team identified risks, determined the cost associated with each risk, assigned reserve appropriate for each risk, and is tracking the burn down of this total risk reserve in the highly visible chart on the team wall</a:t>
            </a:r>
          </a:p>
          <a:p>
            <a:r>
              <a:rPr lang="en-US" sz="1500" dirty="0" smtClean="0"/>
              <a:t>D. The team listed risks that may impact the schedule, estimated the schedule delay for each risk, estimated the likelihood that each risk would occur, came up with a weighted score, plotted the total risk score at the beginning of the project, and is tracking the reduction of that total risk as each risk event passes</a:t>
            </a:r>
          </a:p>
          <a:p>
            <a:r>
              <a:rPr lang="en-US" sz="1500" dirty="0" smtClean="0"/>
              <a:t>  </a:t>
            </a:r>
          </a:p>
          <a:p>
            <a:r>
              <a:rPr lang="en-US" sz="1500" dirty="0" smtClean="0"/>
              <a:t>In some cases, you will find that the answers are longer and more confusing than the actual question. This is one of those cases! Ok, the risk </a:t>
            </a:r>
            <a:r>
              <a:rPr lang="en-US" sz="1500" dirty="0" err="1" smtClean="0"/>
              <a:t>burndown</a:t>
            </a:r>
            <a:r>
              <a:rPr lang="en-US" sz="1500" dirty="0" smtClean="0"/>
              <a:t> chart is best described in answer D. As each risk passes (either does or does not occur), the team updates progress and reports the burn down of risk. Lower totals on the risk </a:t>
            </a:r>
            <a:r>
              <a:rPr lang="en-US" sz="1500" dirty="0" err="1" smtClean="0"/>
              <a:t>burndown</a:t>
            </a:r>
            <a:r>
              <a:rPr lang="en-US" sz="1500" dirty="0" smtClean="0"/>
              <a:t> chart indicate lower overall risk and should make the sponsor breath easier.</a:t>
            </a:r>
            <a:endParaRPr lang="en-US" sz="1500" dirty="0"/>
          </a:p>
        </p:txBody>
      </p:sp>
    </p:spTree>
    <p:extLst>
      <p:ext uri="{BB962C8B-B14F-4D97-AF65-F5344CB8AC3E}">
        <p14:creationId xmlns:p14="http://schemas.microsoft.com/office/powerpoint/2010/main" val="3140390939"/>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416320"/>
          </a:xfrm>
          <a:prstGeom prst="rect">
            <a:avLst/>
          </a:prstGeom>
          <a:noFill/>
        </p:spPr>
        <p:txBody>
          <a:bodyPr wrap="square" rtlCol="0">
            <a:spAutoFit/>
          </a:bodyPr>
          <a:lstStyle/>
          <a:p>
            <a:r>
              <a:rPr lang="en-US" dirty="0" smtClean="0"/>
              <a:t>The correct answer is A</a:t>
            </a:r>
          </a:p>
          <a:p>
            <a:r>
              <a:rPr lang="en-US" dirty="0" smtClean="0"/>
              <a:t>The Agile Manifesto states that business people and developers must work together how often throughout the project?</a:t>
            </a:r>
          </a:p>
          <a:p>
            <a:endParaRPr lang="en-US" dirty="0" smtClean="0"/>
          </a:p>
          <a:p>
            <a:r>
              <a:rPr lang="en-US" dirty="0" smtClean="0"/>
              <a:t>A. Daily</a:t>
            </a:r>
          </a:p>
          <a:p>
            <a:r>
              <a:rPr lang="en-US" dirty="0" smtClean="0"/>
              <a:t>B. Weekly</a:t>
            </a:r>
          </a:p>
          <a:p>
            <a:r>
              <a:rPr lang="en-US" dirty="0" smtClean="0"/>
              <a:t>C. Monthly</a:t>
            </a:r>
          </a:p>
          <a:p>
            <a:r>
              <a:rPr lang="en-US" dirty="0" smtClean="0"/>
              <a:t>D. Frequently</a:t>
            </a:r>
          </a:p>
          <a:p>
            <a:r>
              <a:rPr lang="en-US" dirty="0" smtClean="0"/>
              <a:t>  </a:t>
            </a:r>
          </a:p>
          <a:p>
            <a:r>
              <a:rPr lang="en-US" dirty="0" smtClean="0"/>
              <a:t>The Manifesto states that business people and developers must work together DAILY throughout the project. For many team members, this principle takes a major adjustment of attitude and a new mindset… and a lot of patience!</a:t>
            </a:r>
            <a:endParaRPr lang="en-US" dirty="0"/>
          </a:p>
        </p:txBody>
      </p:sp>
    </p:spTree>
    <p:extLst>
      <p:ext uri="{BB962C8B-B14F-4D97-AF65-F5344CB8AC3E}">
        <p14:creationId xmlns:p14="http://schemas.microsoft.com/office/powerpoint/2010/main" val="3272213317"/>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4770537"/>
          </a:xfrm>
          <a:prstGeom prst="rect">
            <a:avLst/>
          </a:prstGeom>
          <a:noFill/>
        </p:spPr>
        <p:txBody>
          <a:bodyPr wrap="square" rtlCol="0">
            <a:spAutoFit/>
          </a:bodyPr>
          <a:lstStyle/>
          <a:p>
            <a:r>
              <a:rPr lang="en-US" sz="1600" dirty="0" smtClean="0"/>
              <a:t>The correct answer is B</a:t>
            </a:r>
          </a:p>
          <a:p>
            <a:r>
              <a:rPr lang="en-US" sz="1600" dirty="0" smtClean="0"/>
              <a:t>Which is the best description of the thought or philosophy that drives test-driven or test-first development?</a:t>
            </a:r>
          </a:p>
          <a:p>
            <a:endParaRPr lang="en-US" sz="1600" dirty="0" smtClean="0"/>
          </a:p>
          <a:p>
            <a:r>
              <a:rPr lang="en-US" sz="1600" dirty="0" smtClean="0"/>
              <a:t>A. Program the software to pass a predefined acceptance test and the team will produce error-free systems faster</a:t>
            </a:r>
          </a:p>
          <a:p>
            <a:r>
              <a:rPr lang="en-US" sz="1600" dirty="0" smtClean="0"/>
              <a:t>B. Write the code with the focus on passing the acceptance test and the resulting software is more likely to be free of errors while the code is more likely to remain simple and clean</a:t>
            </a:r>
          </a:p>
          <a:p>
            <a:r>
              <a:rPr lang="en-US" sz="1600" dirty="0" smtClean="0"/>
              <a:t>C. Create software aimed at passing acceptance tests and the team will produce fewer errors, maximize velocity, and decrease project costs</a:t>
            </a:r>
          </a:p>
          <a:p>
            <a:r>
              <a:rPr lang="en-US" sz="1600" dirty="0" smtClean="0"/>
              <a:t>D. For a Scrum team, this approach places importance on the Scrum Testers to understand scope and requirements quickly so that accurate tests are written up front</a:t>
            </a:r>
          </a:p>
          <a:p>
            <a:r>
              <a:rPr lang="en-US" sz="1600" dirty="0" smtClean="0"/>
              <a:t>  </a:t>
            </a:r>
          </a:p>
          <a:p>
            <a:r>
              <a:rPr lang="en-US" sz="1600" dirty="0" smtClean="0"/>
              <a:t>B is the best choice, but these are all very close. Let's look at each. The language in Answer-A is too restrictive - the mention of error-free software eliminates A! C steps too far by indicating that test-driven development will max the velocity and cut costs. That may be true for some projects and teams, but not for all cases. D is problematic because it refers to a role of Scrum Tester... not accurate. With Scrum, the team are all programmers who wear various hats...no specialization in true Scrum. B is the best choice, accurately describing the likely benefits of test-driven or test-first development.</a:t>
            </a:r>
            <a:endParaRPr lang="en-US" sz="1600" dirty="0"/>
          </a:p>
        </p:txBody>
      </p:sp>
      <p:sp>
        <p:nvSpPr>
          <p:cNvPr id="3" name="TextBox 2"/>
          <p:cNvSpPr txBox="1"/>
          <p:nvPr/>
        </p:nvSpPr>
        <p:spPr>
          <a:xfrm>
            <a:off x="0" y="413266"/>
            <a:ext cx="8991600"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2334472585"/>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203200"/>
            <a:ext cx="8991600" cy="4770537"/>
          </a:xfrm>
          <a:prstGeom prst="rect">
            <a:avLst/>
          </a:prstGeom>
          <a:noFill/>
        </p:spPr>
        <p:txBody>
          <a:bodyPr wrap="square" rtlCol="0">
            <a:spAutoFit/>
          </a:bodyPr>
          <a:lstStyle/>
          <a:p>
            <a:r>
              <a:rPr lang="en-US" sz="1600" dirty="0" smtClean="0"/>
              <a:t>The correct answer is A</a:t>
            </a:r>
          </a:p>
          <a:p>
            <a:r>
              <a:rPr lang="en-US" sz="1600" dirty="0" smtClean="0"/>
              <a:t>You are managing two Agile teams that are working on iterations with identical start and stop dates. You have current iteration burn down charts on your desk from the two teams. By comparing these two reports, you see that team Orange has a velocity of 10, and team Blue has a velocity of 25. What conclusion can you reach?</a:t>
            </a:r>
          </a:p>
          <a:p>
            <a:endParaRPr lang="en-US" sz="1600" dirty="0" smtClean="0"/>
          </a:p>
          <a:p>
            <a:r>
              <a:rPr lang="en-US" sz="1600" dirty="0" smtClean="0"/>
              <a:t>A. You can compare the actual velocity to the planned velocity for each team to assess performance to date</a:t>
            </a:r>
          </a:p>
          <a:p>
            <a:r>
              <a:rPr lang="en-US" sz="1600" dirty="0" smtClean="0"/>
              <a:t>B. Team Orange is more efficient than Team Blue</a:t>
            </a:r>
          </a:p>
          <a:p>
            <a:r>
              <a:rPr lang="en-US" sz="1600" dirty="0" smtClean="0"/>
              <a:t>C. Team Blue is 2.5 times more productive than Team Orange</a:t>
            </a:r>
          </a:p>
          <a:p>
            <a:r>
              <a:rPr lang="en-US" sz="1600" dirty="0" smtClean="0"/>
              <a:t>D. You should encourage Team Orange to meet with Team Blue as soon as possible to understand how to improve their team velocity</a:t>
            </a:r>
          </a:p>
          <a:p>
            <a:r>
              <a:rPr lang="en-US" sz="1600" dirty="0" smtClean="0"/>
              <a:t>  </a:t>
            </a:r>
          </a:p>
          <a:p>
            <a:r>
              <a:rPr lang="en-US" sz="1600" dirty="0" smtClean="0"/>
              <a:t>Answer-A is the best choice of the 4. Remember that the self-organized Agile team assigns points to stories in estimation. And, the velocity of the team is tied to these story points. So, it is not wise to compare the performance of different Agile teams using velocity or story points - those measures are relevant to the team and not to other teams. For example, Team Orange may have estimated 4 story points to a feature. Team Blue may have estimated 8 story points to the same feature. These are relative measures and must be treated accordingly and kept within the team.</a:t>
            </a:r>
            <a:endParaRPr lang="en-US" sz="1600" dirty="0"/>
          </a:p>
        </p:txBody>
      </p:sp>
      <p:sp>
        <p:nvSpPr>
          <p:cNvPr id="3" name="TextBox 2"/>
          <p:cNvSpPr txBox="1"/>
          <p:nvPr/>
        </p:nvSpPr>
        <p:spPr>
          <a:xfrm>
            <a:off x="0" y="413266"/>
            <a:ext cx="8991600"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584292024"/>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4539704"/>
          </a:xfrm>
          <a:prstGeom prst="rect">
            <a:avLst/>
          </a:prstGeom>
          <a:noFill/>
        </p:spPr>
        <p:txBody>
          <a:bodyPr wrap="square" rtlCol="0">
            <a:spAutoFit/>
          </a:bodyPr>
          <a:lstStyle/>
          <a:p>
            <a:r>
              <a:rPr lang="en-US" sz="1700" dirty="0" smtClean="0"/>
              <a:t>The correct answer is A</a:t>
            </a:r>
          </a:p>
          <a:p>
            <a:r>
              <a:rPr lang="en-US" sz="1700" dirty="0" smtClean="0"/>
              <a:t>Agile makes use of a communication tool that is a high-level depiction of the features planned for each release and may include information about the Customer who is targeted and the business value associated with each feature. This representation of the plan will likely change or evolve through time. What is this communication tool called?</a:t>
            </a:r>
          </a:p>
          <a:p>
            <a:endParaRPr lang="en-US" sz="1700" dirty="0" smtClean="0"/>
          </a:p>
          <a:p>
            <a:r>
              <a:rPr lang="en-US" sz="1700" dirty="0" smtClean="0"/>
              <a:t>A. Product roadmap</a:t>
            </a:r>
          </a:p>
          <a:p>
            <a:r>
              <a:rPr lang="en-US" sz="1700" dirty="0" smtClean="0"/>
              <a:t>B. Release backlog</a:t>
            </a:r>
          </a:p>
          <a:p>
            <a:r>
              <a:rPr lang="en-US" sz="1700" dirty="0" smtClean="0"/>
              <a:t>C. Product backlog</a:t>
            </a:r>
          </a:p>
          <a:p>
            <a:r>
              <a:rPr lang="en-US" sz="1700" dirty="0" smtClean="0"/>
              <a:t>D. Vision statement</a:t>
            </a:r>
          </a:p>
          <a:p>
            <a:r>
              <a:rPr lang="en-US" sz="1700" dirty="0" smtClean="0"/>
              <a:t>  </a:t>
            </a:r>
          </a:p>
          <a:p>
            <a:r>
              <a:rPr lang="en-US" sz="1700" dirty="0" smtClean="0"/>
              <a:t>The product roadmap shows the plans for how the product will evolve, what features are scheduled for releases, when, customers targeted, value expected, architecture needed, and other items. The product roadmap is developed early in the project during initiating steps such as the Agile vision meeting. Think of the product backlog as being more focused than the product roadmap. The product backlog lists the items to be implemented - the features. Whereas, the product roadmap holds more high-level information about the features, release dates, value added, and the like.</a:t>
            </a:r>
            <a:endParaRPr lang="en-US" sz="1700" dirty="0"/>
          </a:p>
        </p:txBody>
      </p:sp>
      <p:sp>
        <p:nvSpPr>
          <p:cNvPr id="3" name="TextBox 2"/>
          <p:cNvSpPr txBox="1"/>
          <p:nvPr/>
        </p:nvSpPr>
        <p:spPr>
          <a:xfrm>
            <a:off x="0" y="413266"/>
            <a:ext cx="8991600"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1840098570"/>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2862322"/>
          </a:xfrm>
          <a:prstGeom prst="rect">
            <a:avLst/>
          </a:prstGeom>
          <a:noFill/>
        </p:spPr>
        <p:txBody>
          <a:bodyPr wrap="square" rtlCol="0">
            <a:spAutoFit/>
          </a:bodyPr>
          <a:lstStyle/>
          <a:p>
            <a:r>
              <a:rPr lang="en-US" dirty="0" smtClean="0"/>
              <a:t>The correct answer is C</a:t>
            </a:r>
          </a:p>
          <a:p>
            <a:r>
              <a:rPr lang="en-US" dirty="0" smtClean="0"/>
              <a:t>The project charter:</a:t>
            </a:r>
          </a:p>
          <a:p>
            <a:endParaRPr lang="en-US" dirty="0" smtClean="0"/>
          </a:p>
          <a:p>
            <a:r>
              <a:rPr lang="en-US" dirty="0" smtClean="0"/>
              <a:t>A. Is not applicable to an Agile project</a:t>
            </a:r>
          </a:p>
          <a:p>
            <a:r>
              <a:rPr lang="en-US" dirty="0" smtClean="0"/>
              <a:t>B. Authorizes a </a:t>
            </a:r>
            <a:r>
              <a:rPr lang="en-US" dirty="0" err="1" smtClean="0"/>
              <a:t>ScrumMaster</a:t>
            </a:r>
            <a:r>
              <a:rPr lang="en-US" dirty="0" smtClean="0"/>
              <a:t> to manage the team to accomplish the Product Owner's backlog</a:t>
            </a:r>
          </a:p>
          <a:p>
            <a:r>
              <a:rPr lang="en-US" dirty="0" smtClean="0"/>
              <a:t>C. Establishes the team's authority to apply organizational resources toward the project vision</a:t>
            </a:r>
          </a:p>
          <a:p>
            <a:r>
              <a:rPr lang="en-US" dirty="0" smtClean="0"/>
              <a:t>D. Is only created after the Product Owner explains the prioritized backlog to the team</a:t>
            </a:r>
          </a:p>
          <a:p>
            <a:r>
              <a:rPr lang="en-US" dirty="0" smtClean="0"/>
              <a:t>  </a:t>
            </a:r>
          </a:p>
          <a:p>
            <a:r>
              <a:rPr lang="en-US" dirty="0" smtClean="0"/>
              <a:t>The charter is senior management's authorization for the team to work on an Agile project; the Agile charter is just as important as in traditional project management initiation.</a:t>
            </a:r>
            <a:endParaRPr lang="en-US" dirty="0"/>
          </a:p>
        </p:txBody>
      </p:sp>
      <p:sp>
        <p:nvSpPr>
          <p:cNvPr id="3" name="TextBox 2"/>
          <p:cNvSpPr txBox="1"/>
          <p:nvPr/>
        </p:nvSpPr>
        <p:spPr>
          <a:xfrm>
            <a:off x="0" y="413266"/>
            <a:ext cx="8991600"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3919303563"/>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970318"/>
          </a:xfrm>
          <a:prstGeom prst="rect">
            <a:avLst/>
          </a:prstGeom>
          <a:noFill/>
        </p:spPr>
        <p:txBody>
          <a:bodyPr wrap="square" rtlCol="0">
            <a:spAutoFit/>
          </a:bodyPr>
          <a:lstStyle/>
          <a:p>
            <a:r>
              <a:rPr lang="en-US" dirty="0" smtClean="0"/>
              <a:t>The correct answer is C</a:t>
            </a:r>
          </a:p>
          <a:p>
            <a:r>
              <a:rPr lang="en-US" dirty="0" smtClean="0"/>
              <a:t>A </a:t>
            </a:r>
            <a:r>
              <a:rPr lang="en-US" dirty="0" err="1" smtClean="0"/>
              <a:t>ScrumMaster</a:t>
            </a:r>
            <a:r>
              <a:rPr lang="en-US" dirty="0" smtClean="0"/>
              <a:t> (SM) and Product Owner (PO) are discussing the team's desire to limit sprint commitments to the velocity. As the SM hears the PO's perspective of product demand and the need for higher velocity, he can relate to and understand the PO's concerns and needs. The SM is exhibiting:</a:t>
            </a:r>
          </a:p>
          <a:p>
            <a:endParaRPr lang="en-US" dirty="0" smtClean="0"/>
          </a:p>
          <a:p>
            <a:r>
              <a:rPr lang="en-US" dirty="0" smtClean="0"/>
              <a:t>A. Negotiation skills</a:t>
            </a:r>
          </a:p>
          <a:p>
            <a:r>
              <a:rPr lang="en-US" dirty="0" smtClean="0"/>
              <a:t>B. Communication listening skills</a:t>
            </a:r>
          </a:p>
          <a:p>
            <a:r>
              <a:rPr lang="en-US" dirty="0" smtClean="0"/>
              <a:t>C. Emotional intelligence</a:t>
            </a:r>
          </a:p>
          <a:p>
            <a:r>
              <a:rPr lang="en-US" dirty="0" smtClean="0"/>
              <a:t>D. Servant leadership</a:t>
            </a:r>
          </a:p>
          <a:p>
            <a:r>
              <a:rPr lang="en-US" dirty="0" smtClean="0"/>
              <a:t>  </a:t>
            </a:r>
          </a:p>
          <a:p>
            <a:r>
              <a:rPr lang="en-US" dirty="0" smtClean="0"/>
              <a:t>The emotional quotient of the </a:t>
            </a:r>
            <a:r>
              <a:rPr lang="en-US" dirty="0" err="1" smtClean="0"/>
              <a:t>ScrumMaster</a:t>
            </a:r>
            <a:r>
              <a:rPr lang="en-US" dirty="0" smtClean="0"/>
              <a:t> allows him to more readily relate and associate his feelings with those of the Product Owner to increase understanding and, in this case, negotiations.</a:t>
            </a:r>
            <a:endParaRPr lang="en-US" dirty="0"/>
          </a:p>
        </p:txBody>
      </p:sp>
    </p:spTree>
    <p:extLst>
      <p:ext uri="{BB962C8B-B14F-4D97-AF65-F5344CB8AC3E}">
        <p14:creationId xmlns:p14="http://schemas.microsoft.com/office/powerpoint/2010/main" val="1645406788"/>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970318"/>
          </a:xfrm>
          <a:prstGeom prst="rect">
            <a:avLst/>
          </a:prstGeom>
          <a:noFill/>
        </p:spPr>
        <p:txBody>
          <a:bodyPr wrap="square" rtlCol="0">
            <a:spAutoFit/>
          </a:bodyPr>
          <a:lstStyle/>
          <a:p>
            <a:r>
              <a:rPr lang="en-US" dirty="0" smtClean="0"/>
              <a:t>The correct answer is A</a:t>
            </a:r>
          </a:p>
          <a:p>
            <a:r>
              <a:rPr lang="en-US" dirty="0" smtClean="0"/>
              <a:t>Compliance with organizational policies or practices may require the Agile team to:</a:t>
            </a:r>
          </a:p>
          <a:p>
            <a:endParaRPr lang="en-US" dirty="0" smtClean="0"/>
          </a:p>
          <a:p>
            <a:r>
              <a:rPr lang="en-US" dirty="0" smtClean="0"/>
              <a:t>A. Implement earned value management on the project</a:t>
            </a:r>
          </a:p>
          <a:p>
            <a:r>
              <a:rPr lang="en-US" dirty="0" smtClean="0"/>
              <a:t>B. Discontinue the self-organized aspect of the team</a:t>
            </a:r>
          </a:p>
          <a:p>
            <a:r>
              <a:rPr lang="en-US" dirty="0" smtClean="0"/>
              <a:t>C. Interpret Agile accounting methods such as story points and backlogs into traditional project terms more compatible with the organization's project management methodology</a:t>
            </a:r>
          </a:p>
          <a:p>
            <a:r>
              <a:rPr lang="en-US" dirty="0" smtClean="0"/>
              <a:t>D. To put a pseudo-project manager on the team as a liaison to the PMO</a:t>
            </a:r>
          </a:p>
          <a:p>
            <a:r>
              <a:rPr lang="en-US" dirty="0" smtClean="0"/>
              <a:t>  </a:t>
            </a:r>
          </a:p>
          <a:p>
            <a:r>
              <a:rPr lang="en-US" dirty="0" smtClean="0"/>
              <a:t>Agile EVM is not as detailed and specific as traditional EVM due to the lack of an initial well-defined scope. However, percentage complete is approximated using team velocity and completed user stories. Other answer choices listed go against Agile principles and possibly even PMI's Code of Ethics related to Honesty. The principles are not to be adopted in partial - but as a whole for true agility.</a:t>
            </a:r>
            <a:endParaRPr lang="en-US" dirty="0"/>
          </a:p>
        </p:txBody>
      </p:sp>
    </p:spTree>
    <p:extLst>
      <p:ext uri="{BB962C8B-B14F-4D97-AF65-F5344CB8AC3E}">
        <p14:creationId xmlns:p14="http://schemas.microsoft.com/office/powerpoint/2010/main" val="1955854425"/>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416320"/>
          </a:xfrm>
          <a:prstGeom prst="rect">
            <a:avLst/>
          </a:prstGeom>
          <a:noFill/>
        </p:spPr>
        <p:txBody>
          <a:bodyPr wrap="square" rtlCol="0">
            <a:spAutoFit/>
          </a:bodyPr>
          <a:lstStyle/>
          <a:p>
            <a:r>
              <a:rPr lang="en-US" dirty="0" smtClean="0"/>
              <a:t>The correct answer is D</a:t>
            </a:r>
          </a:p>
          <a:p>
            <a:r>
              <a:rPr lang="en-US" dirty="0" smtClean="0"/>
              <a:t>Creating a wireframe of a user interface to an application is a method to gain design feedback by using:</a:t>
            </a:r>
          </a:p>
          <a:p>
            <a:endParaRPr lang="en-US" dirty="0" smtClean="0"/>
          </a:p>
          <a:p>
            <a:r>
              <a:rPr lang="en-US" dirty="0" smtClean="0"/>
              <a:t>A. Navigational analysis</a:t>
            </a:r>
          </a:p>
          <a:p>
            <a:r>
              <a:rPr lang="en-US" dirty="0" smtClean="0"/>
              <a:t>B. </a:t>
            </a:r>
            <a:r>
              <a:rPr lang="en-US" dirty="0" err="1" smtClean="0"/>
              <a:t>eXtreme</a:t>
            </a:r>
            <a:r>
              <a:rPr lang="en-US" dirty="0" smtClean="0"/>
              <a:t> Programming (XP)</a:t>
            </a:r>
          </a:p>
          <a:p>
            <a:r>
              <a:rPr lang="en-US" dirty="0" smtClean="0"/>
              <a:t>C. Sprint reviews</a:t>
            </a:r>
          </a:p>
          <a:p>
            <a:r>
              <a:rPr lang="en-US" dirty="0" smtClean="0"/>
              <a:t>D. Prototypes</a:t>
            </a:r>
          </a:p>
          <a:p>
            <a:r>
              <a:rPr lang="en-US" dirty="0" smtClean="0"/>
              <a:t>  </a:t>
            </a:r>
          </a:p>
          <a:p>
            <a:r>
              <a:rPr lang="en-US" dirty="0" smtClean="0"/>
              <a:t>Prototyping is a technique of gaining feedback about functionality without a fully detailed user screen or interface. A wireframe is one technique for such a prototype, as is a paper prototype.</a:t>
            </a:r>
            <a:endParaRPr lang="en-US" dirty="0"/>
          </a:p>
        </p:txBody>
      </p:sp>
    </p:spTree>
    <p:extLst>
      <p:ext uri="{BB962C8B-B14F-4D97-AF65-F5344CB8AC3E}">
        <p14:creationId xmlns:p14="http://schemas.microsoft.com/office/powerpoint/2010/main" val="1818703217"/>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4247317"/>
          </a:xfrm>
          <a:prstGeom prst="rect">
            <a:avLst/>
          </a:prstGeom>
          <a:noFill/>
        </p:spPr>
        <p:txBody>
          <a:bodyPr wrap="square" rtlCol="0">
            <a:spAutoFit/>
          </a:bodyPr>
          <a:lstStyle/>
          <a:p>
            <a:r>
              <a:rPr lang="en-US" dirty="0" smtClean="0"/>
              <a:t>The correct answer is C</a:t>
            </a:r>
          </a:p>
          <a:p>
            <a:r>
              <a:rPr lang="en-US" dirty="0" smtClean="0"/>
              <a:t>The Customer complains to the project manager that the latest release from the team had too many bugs. The project manager makes a note to start tracking these bugs. What are they called?</a:t>
            </a:r>
          </a:p>
          <a:p>
            <a:endParaRPr lang="en-US" dirty="0" smtClean="0"/>
          </a:p>
          <a:p>
            <a:r>
              <a:rPr lang="en-US" dirty="0" smtClean="0"/>
              <a:t>A. Agile Bugs</a:t>
            </a:r>
          </a:p>
          <a:p>
            <a:r>
              <a:rPr lang="en-US" dirty="0" smtClean="0"/>
              <a:t>B. KPI Errors</a:t>
            </a:r>
          </a:p>
          <a:p>
            <a:r>
              <a:rPr lang="en-US" dirty="0" smtClean="0"/>
              <a:t>C. Escaped Defects</a:t>
            </a:r>
          </a:p>
          <a:p>
            <a:r>
              <a:rPr lang="en-US" dirty="0" smtClean="0"/>
              <a:t>D. Quality Specification Errors</a:t>
            </a:r>
          </a:p>
          <a:p>
            <a:r>
              <a:rPr lang="en-US" dirty="0" smtClean="0"/>
              <a:t>  </a:t>
            </a:r>
          </a:p>
          <a:p>
            <a:r>
              <a:rPr lang="en-US" dirty="0" smtClean="0"/>
              <a:t>Escaped Defects are those bugs or errors that somehow made it through the quality control process put in place by the team. The bugs were delivered to the Customer, and the Customer discovered them. This is a natural occurrence, unfortunately, but these Escaped Defects should be tracked and monitored. The team needs to know if these are spiking or trending in a bad way.</a:t>
            </a:r>
            <a:endParaRPr lang="en-US" dirty="0"/>
          </a:p>
        </p:txBody>
      </p:sp>
    </p:spTree>
    <p:extLst>
      <p:ext uri="{BB962C8B-B14F-4D97-AF65-F5344CB8AC3E}">
        <p14:creationId xmlns:p14="http://schemas.microsoft.com/office/powerpoint/2010/main" val="3752235857"/>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139321"/>
          </a:xfrm>
          <a:prstGeom prst="rect">
            <a:avLst/>
          </a:prstGeom>
          <a:noFill/>
        </p:spPr>
        <p:txBody>
          <a:bodyPr wrap="square" rtlCol="0">
            <a:spAutoFit/>
          </a:bodyPr>
          <a:lstStyle/>
          <a:p>
            <a:r>
              <a:rPr lang="en-US" dirty="0" smtClean="0"/>
              <a:t>The correct answer is B</a:t>
            </a:r>
          </a:p>
          <a:p>
            <a:r>
              <a:rPr lang="en-US" dirty="0" smtClean="0"/>
              <a:t>In an Agile project using Scrum methodology, the role of the </a:t>
            </a:r>
            <a:r>
              <a:rPr lang="en-US" dirty="0" err="1" smtClean="0"/>
              <a:t>ScrumMaster</a:t>
            </a:r>
            <a:r>
              <a:rPr lang="en-US" dirty="0" smtClean="0"/>
              <a:t> is:</a:t>
            </a:r>
          </a:p>
          <a:p>
            <a:endParaRPr lang="en-US" dirty="0" smtClean="0"/>
          </a:p>
          <a:p>
            <a:r>
              <a:rPr lang="en-US" dirty="0" smtClean="0"/>
              <a:t>A. To maintain control, access, and expectations of the Product Owner</a:t>
            </a:r>
          </a:p>
          <a:p>
            <a:r>
              <a:rPr lang="en-US" dirty="0" smtClean="0"/>
              <a:t>B. To maintain the team's adherence to Scrum methods</a:t>
            </a:r>
          </a:p>
          <a:p>
            <a:r>
              <a:rPr lang="en-US" dirty="0" smtClean="0"/>
              <a:t>C. To report progress against the plan to the Scrum council</a:t>
            </a:r>
          </a:p>
          <a:p>
            <a:r>
              <a:rPr lang="en-US" dirty="0" smtClean="0"/>
              <a:t>D. Very similar to that of a traditional project manager</a:t>
            </a:r>
          </a:p>
          <a:p>
            <a:r>
              <a:rPr lang="en-US" dirty="0" smtClean="0"/>
              <a:t>  </a:t>
            </a:r>
          </a:p>
          <a:p>
            <a:r>
              <a:rPr lang="en-US" dirty="0" smtClean="0"/>
              <a:t>The </a:t>
            </a:r>
            <a:r>
              <a:rPr lang="en-US" dirty="0" err="1" smtClean="0"/>
              <a:t>ScrumMaster's</a:t>
            </a:r>
            <a:r>
              <a:rPr lang="en-US" dirty="0" smtClean="0"/>
              <a:t> role is to be the primary guardian of the Scrum method and facilitate and coach its use by the team. The </a:t>
            </a:r>
            <a:r>
              <a:rPr lang="en-US" dirty="0" err="1" smtClean="0"/>
              <a:t>ScrumMaster</a:t>
            </a:r>
            <a:r>
              <a:rPr lang="en-US" dirty="0" smtClean="0"/>
              <a:t> is not the project manager, the team leader, or a gatekeeper of communications within the organization.</a:t>
            </a:r>
            <a:endParaRPr lang="en-US" dirty="0"/>
          </a:p>
        </p:txBody>
      </p:sp>
    </p:spTree>
    <p:extLst>
      <p:ext uri="{BB962C8B-B14F-4D97-AF65-F5344CB8AC3E}">
        <p14:creationId xmlns:p14="http://schemas.microsoft.com/office/powerpoint/2010/main" val="4153513241"/>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4247317"/>
          </a:xfrm>
          <a:prstGeom prst="rect">
            <a:avLst/>
          </a:prstGeom>
          <a:noFill/>
        </p:spPr>
        <p:txBody>
          <a:bodyPr wrap="square" rtlCol="0">
            <a:spAutoFit/>
          </a:bodyPr>
          <a:lstStyle/>
          <a:p>
            <a:r>
              <a:rPr lang="en-US" dirty="0" smtClean="0"/>
              <a:t>The correct answer is A</a:t>
            </a:r>
          </a:p>
          <a:p>
            <a:r>
              <a:rPr lang="en-US" dirty="0" smtClean="0"/>
              <a:t>In an Agile project, why would a team carry out a vision meeting?</a:t>
            </a:r>
          </a:p>
          <a:p>
            <a:endParaRPr lang="en-US" dirty="0" smtClean="0"/>
          </a:p>
          <a:p>
            <a:r>
              <a:rPr lang="en-US" dirty="0" smtClean="0"/>
              <a:t>A. To explain the purpose of the project by sharing the vision and how the project addresses needs of the business</a:t>
            </a:r>
          </a:p>
          <a:p>
            <a:r>
              <a:rPr lang="en-US" dirty="0" smtClean="0"/>
              <a:t>B. To explain to the Product Owner how the Agile team will function and what expectations the team has for the Product Owner</a:t>
            </a:r>
          </a:p>
          <a:p>
            <a:r>
              <a:rPr lang="en-US" dirty="0" smtClean="0"/>
              <a:t>C. To allow the </a:t>
            </a:r>
            <a:r>
              <a:rPr lang="en-US" dirty="0" err="1" smtClean="0"/>
              <a:t>ScrumMaster</a:t>
            </a:r>
            <a:r>
              <a:rPr lang="en-US" dirty="0" smtClean="0"/>
              <a:t> or project manager the opportunity to interact with the team, assess their morale, and cast a vision</a:t>
            </a:r>
          </a:p>
          <a:p>
            <a:r>
              <a:rPr lang="en-US" dirty="0" smtClean="0"/>
              <a:t>D. To allow the customer to describe the types of reports and information radiators that would be most helpful to them</a:t>
            </a:r>
          </a:p>
          <a:p>
            <a:r>
              <a:rPr lang="en-US" dirty="0" smtClean="0"/>
              <a:t>  </a:t>
            </a:r>
          </a:p>
          <a:p>
            <a:r>
              <a:rPr lang="en-US" dirty="0" smtClean="0"/>
              <a:t>A is the correct answer. The goal of the vision meeting is to get the team on the same page - have them understand why the project is being undertaken - see how this project fits in the strategic goals of the organization.</a:t>
            </a:r>
            <a:endParaRPr lang="en-US" dirty="0"/>
          </a:p>
        </p:txBody>
      </p:sp>
    </p:spTree>
    <p:extLst>
      <p:ext uri="{BB962C8B-B14F-4D97-AF65-F5344CB8AC3E}">
        <p14:creationId xmlns:p14="http://schemas.microsoft.com/office/powerpoint/2010/main" val="2427802514"/>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139321"/>
          </a:xfrm>
          <a:prstGeom prst="rect">
            <a:avLst/>
          </a:prstGeom>
          <a:noFill/>
        </p:spPr>
        <p:txBody>
          <a:bodyPr wrap="square" rtlCol="0">
            <a:spAutoFit/>
          </a:bodyPr>
          <a:lstStyle/>
          <a:p>
            <a:r>
              <a:rPr lang="en-US" dirty="0" smtClean="0"/>
              <a:t>The correct answer is D</a:t>
            </a:r>
          </a:p>
          <a:p>
            <a:r>
              <a:rPr lang="en-US" dirty="0" smtClean="0"/>
              <a:t>Which of these principles is not mentioned in the Agile Manifesto?</a:t>
            </a:r>
          </a:p>
          <a:p>
            <a:endParaRPr lang="en-US" dirty="0" smtClean="0"/>
          </a:p>
          <a:p>
            <a:r>
              <a:rPr lang="en-US" dirty="0" smtClean="0"/>
              <a:t>A. Working software</a:t>
            </a:r>
          </a:p>
          <a:p>
            <a:r>
              <a:rPr lang="en-US" dirty="0" smtClean="0"/>
              <a:t>B. Sustainable development</a:t>
            </a:r>
          </a:p>
          <a:p>
            <a:r>
              <a:rPr lang="en-US" dirty="0" smtClean="0"/>
              <a:t>C. Simplicity</a:t>
            </a:r>
          </a:p>
          <a:p>
            <a:r>
              <a:rPr lang="en-US" dirty="0" smtClean="0"/>
              <a:t>D. Contract arbitration</a:t>
            </a:r>
          </a:p>
          <a:p>
            <a:r>
              <a:rPr lang="en-US" dirty="0" smtClean="0"/>
              <a:t>  </a:t>
            </a:r>
          </a:p>
          <a:p>
            <a:r>
              <a:rPr lang="en-US" dirty="0" smtClean="0"/>
              <a:t>The Agile Manifesto does not mention contract arbitration; however, it does talk about valuing customer collaboration over contract negotiation. The first 3 choices are all valid principles found in the Agile Manifesto.</a:t>
            </a:r>
            <a:endParaRPr lang="en-US" dirty="0"/>
          </a:p>
        </p:txBody>
      </p:sp>
    </p:spTree>
    <p:extLst>
      <p:ext uri="{BB962C8B-B14F-4D97-AF65-F5344CB8AC3E}">
        <p14:creationId xmlns:p14="http://schemas.microsoft.com/office/powerpoint/2010/main" val="291870105"/>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4801314"/>
          </a:xfrm>
          <a:prstGeom prst="rect">
            <a:avLst/>
          </a:prstGeom>
          <a:noFill/>
        </p:spPr>
        <p:txBody>
          <a:bodyPr wrap="square" rtlCol="0">
            <a:spAutoFit/>
          </a:bodyPr>
          <a:lstStyle/>
          <a:p>
            <a:r>
              <a:rPr lang="en-US" sz="1700" dirty="0" smtClean="0"/>
              <a:t>The correct answer is A</a:t>
            </a:r>
          </a:p>
          <a:p>
            <a:r>
              <a:rPr lang="en-US" sz="1700" dirty="0" smtClean="0"/>
              <a:t>Think about what makes a leader effective in a traditional project environment as compared to an Agile environment. What statement is the most accurate of the following four?</a:t>
            </a:r>
          </a:p>
          <a:p>
            <a:endParaRPr lang="en-US" sz="1700" dirty="0" smtClean="0"/>
          </a:p>
          <a:p>
            <a:r>
              <a:rPr lang="en-US" sz="1700" dirty="0" smtClean="0"/>
              <a:t>A. An Agile PM is less involved in resource allocation than a traditional PM</a:t>
            </a:r>
          </a:p>
          <a:p>
            <a:r>
              <a:rPr lang="en-US" sz="1700" dirty="0" smtClean="0"/>
              <a:t>B. An Agile PM is more involved in risk management than a traditional PM</a:t>
            </a:r>
          </a:p>
          <a:p>
            <a:r>
              <a:rPr lang="en-US" sz="1700" dirty="0" smtClean="0"/>
              <a:t>C. An Agile PM is less focused on communications with stakeholders than a traditional PM</a:t>
            </a:r>
          </a:p>
          <a:p>
            <a:r>
              <a:rPr lang="en-US" sz="1700" dirty="0" smtClean="0"/>
              <a:t>D. An Agile PM is more involved in resource assignments than a traditional PM</a:t>
            </a:r>
          </a:p>
          <a:p>
            <a:r>
              <a:rPr lang="en-US" sz="1700" dirty="0" smtClean="0"/>
              <a:t>  </a:t>
            </a:r>
          </a:p>
          <a:p>
            <a:r>
              <a:rPr lang="en-US" sz="1700" dirty="0" smtClean="0"/>
              <a:t>Agile requires a different style of leadership than a traditional project. Agile thrives on value-driven, self-organized teams who share knowledge and are multi-functional. As a result, the Agile PM is most effective when he or she assumes the role of coach, mentor, and advocate for the team. In many cases, the PM is a contributing team member - a subject-matter expert on the Agile project. Therefore, Answer-A is the best selection. The Agile PM will not be assigning resources to tasks; the team figures that out collectively. D is the inverse of A; therefore, D is incorrect. B and C are not good choices when compared with A. In the case of B, the Agile PM may or may not be involved in risk management more or less than a traditional PM. As for C, communication is always important, no matter what method of managing the project is being carried out.</a:t>
            </a:r>
            <a:endParaRPr lang="en-US" sz="1700" dirty="0"/>
          </a:p>
        </p:txBody>
      </p:sp>
    </p:spTree>
    <p:extLst>
      <p:ext uri="{BB962C8B-B14F-4D97-AF65-F5344CB8AC3E}">
        <p14:creationId xmlns:p14="http://schemas.microsoft.com/office/powerpoint/2010/main" val="2091315119"/>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4247317"/>
          </a:xfrm>
          <a:prstGeom prst="rect">
            <a:avLst/>
          </a:prstGeom>
          <a:noFill/>
        </p:spPr>
        <p:txBody>
          <a:bodyPr wrap="square" rtlCol="0">
            <a:spAutoFit/>
          </a:bodyPr>
          <a:lstStyle/>
          <a:p>
            <a:r>
              <a:rPr lang="en-US" dirty="0" smtClean="0"/>
              <a:t>The correct answer is C</a:t>
            </a:r>
          </a:p>
          <a:p>
            <a:r>
              <a:rPr lang="en-US" dirty="0" smtClean="0"/>
              <a:t>Members of the team reference and post updates to a graph that shows the progression of features to being 'Done.' Examples of the stages of progress include Backlog, Development, Testing, Done. What is the name of this graph?</a:t>
            </a:r>
          </a:p>
          <a:p>
            <a:endParaRPr lang="en-US" dirty="0" smtClean="0"/>
          </a:p>
          <a:p>
            <a:r>
              <a:rPr lang="en-US" dirty="0" smtClean="0"/>
              <a:t>A. Rolling wave plan</a:t>
            </a:r>
          </a:p>
          <a:p>
            <a:r>
              <a:rPr lang="en-US" dirty="0" smtClean="0"/>
              <a:t>B. Product roadmap</a:t>
            </a:r>
          </a:p>
          <a:p>
            <a:r>
              <a:rPr lang="en-US" dirty="0" smtClean="0"/>
              <a:t>C. Cumulative flow diagram</a:t>
            </a:r>
          </a:p>
          <a:p>
            <a:r>
              <a:rPr lang="en-US" dirty="0" smtClean="0"/>
              <a:t>D. Iteration </a:t>
            </a:r>
            <a:r>
              <a:rPr lang="en-US" dirty="0" err="1" smtClean="0"/>
              <a:t>burndown</a:t>
            </a:r>
            <a:r>
              <a:rPr lang="en-US" dirty="0" smtClean="0"/>
              <a:t> chart</a:t>
            </a:r>
          </a:p>
          <a:p>
            <a:r>
              <a:rPr lang="en-US" dirty="0" smtClean="0"/>
              <a:t>  </a:t>
            </a:r>
          </a:p>
          <a:p>
            <a:r>
              <a:rPr lang="en-US" dirty="0" smtClean="0"/>
              <a:t>C is correct. A cumulative flow diagram depicts the progression of a set of features from start to finish. Typically, the diagram lists features in the first column on the left. Moving left to right, the features flow through the diagram with labeled columns, such as Backlog, Started, Analysis, Coding, Testing, and Done. A stakeholder can find a feature on the chart and spot the current status easily - high visibility.</a:t>
            </a:r>
            <a:endParaRPr lang="en-US" dirty="0"/>
          </a:p>
        </p:txBody>
      </p:sp>
    </p:spTree>
    <p:extLst>
      <p:ext uri="{BB962C8B-B14F-4D97-AF65-F5344CB8AC3E}">
        <p14:creationId xmlns:p14="http://schemas.microsoft.com/office/powerpoint/2010/main" val="3858385765"/>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693319"/>
          </a:xfrm>
          <a:prstGeom prst="rect">
            <a:avLst/>
          </a:prstGeom>
          <a:noFill/>
        </p:spPr>
        <p:txBody>
          <a:bodyPr wrap="square" rtlCol="0">
            <a:spAutoFit/>
          </a:bodyPr>
          <a:lstStyle/>
          <a:p>
            <a:r>
              <a:rPr lang="en-US" dirty="0" smtClean="0"/>
              <a:t>The correct answer is C</a:t>
            </a:r>
          </a:p>
          <a:p>
            <a:r>
              <a:rPr lang="en-US" dirty="0" smtClean="0"/>
              <a:t>What is one preferred technique for managing communication on Agile projects?</a:t>
            </a:r>
          </a:p>
          <a:p>
            <a:endParaRPr lang="en-US" dirty="0" smtClean="0"/>
          </a:p>
          <a:p>
            <a:r>
              <a:rPr lang="en-US" dirty="0" smtClean="0"/>
              <a:t>A. Relative-sizing metaphors</a:t>
            </a:r>
          </a:p>
          <a:p>
            <a:r>
              <a:rPr lang="en-US" dirty="0" smtClean="0"/>
              <a:t>B. </a:t>
            </a:r>
            <a:r>
              <a:rPr lang="en-US" dirty="0" err="1" smtClean="0"/>
              <a:t>Kanban</a:t>
            </a:r>
            <a:r>
              <a:rPr lang="en-US" dirty="0" smtClean="0"/>
              <a:t> burn up charts</a:t>
            </a:r>
          </a:p>
          <a:p>
            <a:r>
              <a:rPr lang="en-US" dirty="0" smtClean="0"/>
              <a:t>C. Information radiators</a:t>
            </a:r>
          </a:p>
          <a:p>
            <a:r>
              <a:rPr lang="en-US" dirty="0" smtClean="0"/>
              <a:t>D. Highly distributed indicators</a:t>
            </a:r>
          </a:p>
          <a:p>
            <a:r>
              <a:rPr lang="en-US" dirty="0" smtClean="0"/>
              <a:t>  </a:t>
            </a:r>
          </a:p>
          <a:p>
            <a:r>
              <a:rPr lang="en-US" dirty="0" smtClean="0"/>
              <a:t>Highly visible information radiators are an excellent means of managing real-time communication with the team and other stakeholders. These reports track vital project data, such as WIP, the progress of stories and features, risk </a:t>
            </a:r>
            <a:r>
              <a:rPr lang="en-US" dirty="0" err="1" smtClean="0"/>
              <a:t>burndown</a:t>
            </a:r>
            <a:r>
              <a:rPr lang="en-US" dirty="0" smtClean="0"/>
              <a:t>…many examples. And, the data is presented in a spirit of transparency so that any stakeholder can drop by and view the posted results. The other answers are combinations of real and made-up terms.</a:t>
            </a:r>
            <a:endParaRPr lang="en-US" dirty="0"/>
          </a:p>
        </p:txBody>
      </p:sp>
    </p:spTree>
    <p:extLst>
      <p:ext uri="{BB962C8B-B14F-4D97-AF65-F5344CB8AC3E}">
        <p14:creationId xmlns:p14="http://schemas.microsoft.com/office/powerpoint/2010/main" val="3183071602"/>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4478149"/>
          </a:xfrm>
          <a:prstGeom prst="rect">
            <a:avLst/>
          </a:prstGeom>
          <a:noFill/>
        </p:spPr>
        <p:txBody>
          <a:bodyPr wrap="square" rtlCol="0">
            <a:spAutoFit/>
          </a:bodyPr>
          <a:lstStyle/>
          <a:p>
            <a:r>
              <a:rPr lang="en-US" sz="1500" dirty="0" smtClean="0"/>
              <a:t>The correct answer is D</a:t>
            </a:r>
          </a:p>
          <a:p>
            <a:r>
              <a:rPr lang="en-US" sz="1500" dirty="0" smtClean="0"/>
              <a:t>The team is frustrated and looks to you, the PM, for help. The team has just completed the iteration review meeting and was appalled to find several features were broken even though they were working last week. The review meeting was a disappointment - the customer seemed to lose faith. Several outside stakeholders have offered to help the team trace problems and offer solutions. What should you do?</a:t>
            </a:r>
          </a:p>
          <a:p>
            <a:endParaRPr lang="en-US" sz="1500" dirty="0" smtClean="0"/>
          </a:p>
          <a:p>
            <a:r>
              <a:rPr lang="en-US" sz="1500" dirty="0" smtClean="0"/>
              <a:t>A. Thank the stakeholders for their willingness to help out, but politely decline the offer and allow the Agile team to figure it out</a:t>
            </a:r>
          </a:p>
          <a:p>
            <a:r>
              <a:rPr lang="en-US" sz="1500" dirty="0" smtClean="0"/>
              <a:t>B. Ask the sponsor about involving stakeholders from outside the team and get written approval before proceeding</a:t>
            </a:r>
          </a:p>
          <a:p>
            <a:r>
              <a:rPr lang="en-US" sz="1500" dirty="0" smtClean="0"/>
              <a:t>C. Provide a motivation to the team to inspire them to create a higher-quality product, measure the improvement, and report it back to those outside stakeholders</a:t>
            </a:r>
          </a:p>
          <a:p>
            <a:r>
              <a:rPr lang="en-US" sz="1500" dirty="0" smtClean="0"/>
              <a:t>D. Accept the offer for assistance and look further into what the stakeholders may suggest</a:t>
            </a:r>
          </a:p>
          <a:p>
            <a:r>
              <a:rPr lang="en-US" sz="1500" dirty="0" smtClean="0"/>
              <a:t>  </a:t>
            </a:r>
          </a:p>
          <a:p>
            <a:r>
              <a:rPr lang="en-US" sz="1500" dirty="0" smtClean="0"/>
              <a:t>D is the best choice. Agile principles emphasize that working software is the primary measure of progress, and the highest priority is customer satisfaction through the delivery of products that work! So, as the Agile PM, you will gladly accept valid offers for assistance or advice or lessons-learned from your stakeholders. Leverage those outside the team to help the team - absolutely. Obviously, the PM would manage those meetings (time-box) and make sure that the advice or meetings deliver value. But, the PM should encourage help, by all means.</a:t>
            </a:r>
            <a:endParaRPr lang="en-US" sz="1500" dirty="0"/>
          </a:p>
        </p:txBody>
      </p:sp>
      <p:sp>
        <p:nvSpPr>
          <p:cNvPr id="3" name="TextBox 2"/>
          <p:cNvSpPr txBox="1"/>
          <p:nvPr/>
        </p:nvSpPr>
        <p:spPr>
          <a:xfrm>
            <a:off x="0" y="413266"/>
            <a:ext cx="8991600"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3361543191"/>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139321"/>
          </a:xfrm>
          <a:prstGeom prst="rect">
            <a:avLst/>
          </a:prstGeom>
          <a:noFill/>
        </p:spPr>
        <p:txBody>
          <a:bodyPr wrap="square" rtlCol="0">
            <a:spAutoFit/>
          </a:bodyPr>
          <a:lstStyle/>
          <a:p>
            <a:r>
              <a:rPr lang="en-US" dirty="0" smtClean="0"/>
              <a:t>The correct answer is B</a:t>
            </a:r>
          </a:p>
          <a:p>
            <a:r>
              <a:rPr lang="en-US" dirty="0" smtClean="0"/>
              <a:t>Who should manage the list of items that is to be completed during an iteration or Sprint?</a:t>
            </a:r>
          </a:p>
          <a:p>
            <a:endParaRPr lang="en-US" dirty="0" smtClean="0"/>
          </a:p>
          <a:p>
            <a:r>
              <a:rPr lang="en-US" dirty="0" smtClean="0"/>
              <a:t>A. The Product Owner</a:t>
            </a:r>
          </a:p>
          <a:p>
            <a:r>
              <a:rPr lang="en-US" dirty="0" smtClean="0"/>
              <a:t>B. The team</a:t>
            </a:r>
          </a:p>
          <a:p>
            <a:r>
              <a:rPr lang="en-US" dirty="0" smtClean="0"/>
              <a:t>C. The project manager</a:t>
            </a:r>
          </a:p>
          <a:p>
            <a:r>
              <a:rPr lang="en-US" dirty="0" smtClean="0"/>
              <a:t>D. The team captain</a:t>
            </a:r>
          </a:p>
          <a:p>
            <a:r>
              <a:rPr lang="en-US" dirty="0" smtClean="0"/>
              <a:t>  </a:t>
            </a:r>
          </a:p>
          <a:p>
            <a:r>
              <a:rPr lang="en-US" dirty="0" smtClean="0"/>
              <a:t>Managing the iteration backlog is the responsibility of the team. The team commits to what can be done in an iteration, and the team manages that list of commitments during the Sprint or iteration.</a:t>
            </a:r>
            <a:endParaRPr lang="en-US" dirty="0"/>
          </a:p>
        </p:txBody>
      </p:sp>
    </p:spTree>
    <p:extLst>
      <p:ext uri="{BB962C8B-B14F-4D97-AF65-F5344CB8AC3E}">
        <p14:creationId xmlns:p14="http://schemas.microsoft.com/office/powerpoint/2010/main" val="12255281"/>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139321"/>
          </a:xfrm>
          <a:prstGeom prst="rect">
            <a:avLst/>
          </a:prstGeom>
          <a:noFill/>
        </p:spPr>
        <p:txBody>
          <a:bodyPr wrap="square" rtlCol="0">
            <a:spAutoFit/>
          </a:bodyPr>
          <a:lstStyle/>
          <a:p>
            <a:r>
              <a:rPr lang="en-US" dirty="0" smtClean="0"/>
              <a:t>The correct answer is D</a:t>
            </a:r>
          </a:p>
          <a:p>
            <a:r>
              <a:rPr lang="en-US" dirty="0" smtClean="0"/>
              <a:t>Which of the following statements is least valid about test-first development?</a:t>
            </a:r>
          </a:p>
          <a:p>
            <a:endParaRPr lang="en-US" dirty="0" smtClean="0"/>
          </a:p>
          <a:p>
            <a:r>
              <a:rPr lang="en-US" dirty="0" smtClean="0"/>
              <a:t>A. The product should conform to the test rather than the test conform to the product</a:t>
            </a:r>
          </a:p>
          <a:p>
            <a:r>
              <a:rPr lang="en-US" dirty="0" smtClean="0"/>
              <a:t>B. Tests should be shown to fail before the product is developed to pass the test</a:t>
            </a:r>
          </a:p>
          <a:p>
            <a:r>
              <a:rPr lang="en-US" dirty="0" smtClean="0"/>
              <a:t>C. It is supported by the philosophy that a developer should know how a product will be used before creating the product</a:t>
            </a:r>
          </a:p>
          <a:p>
            <a:r>
              <a:rPr lang="en-US" dirty="0" smtClean="0"/>
              <a:t>D. Developers should write the test cases</a:t>
            </a:r>
          </a:p>
          <a:p>
            <a:r>
              <a:rPr lang="en-US" dirty="0" smtClean="0"/>
              <a:t>  </a:t>
            </a:r>
          </a:p>
          <a:p>
            <a:r>
              <a:rPr lang="en-US" dirty="0" smtClean="0"/>
              <a:t>Developers may often write test cases, but they may also be written by others, for example, a quality control group.</a:t>
            </a:r>
            <a:endParaRPr lang="en-US" dirty="0"/>
          </a:p>
        </p:txBody>
      </p:sp>
    </p:spTree>
    <p:extLst>
      <p:ext uri="{BB962C8B-B14F-4D97-AF65-F5344CB8AC3E}">
        <p14:creationId xmlns:p14="http://schemas.microsoft.com/office/powerpoint/2010/main" val="864517388"/>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139321"/>
          </a:xfrm>
          <a:prstGeom prst="rect">
            <a:avLst/>
          </a:prstGeom>
          <a:noFill/>
        </p:spPr>
        <p:txBody>
          <a:bodyPr wrap="square" rtlCol="0">
            <a:spAutoFit/>
          </a:bodyPr>
          <a:lstStyle/>
          <a:p>
            <a:r>
              <a:rPr lang="en-US" dirty="0" smtClean="0"/>
              <a:t>The correct answer is B</a:t>
            </a:r>
          </a:p>
          <a:p>
            <a:r>
              <a:rPr lang="en-US" dirty="0" smtClean="0"/>
              <a:t>An epic story might be reduced in size using what technique and accompanying result?</a:t>
            </a:r>
          </a:p>
          <a:p>
            <a:endParaRPr lang="en-US" dirty="0" smtClean="0"/>
          </a:p>
          <a:p>
            <a:r>
              <a:rPr lang="en-US" dirty="0" smtClean="0"/>
              <a:t>A. Decomposition and component stories</a:t>
            </a:r>
          </a:p>
          <a:p>
            <a:r>
              <a:rPr lang="en-US" dirty="0" smtClean="0"/>
              <a:t>B. Disaggregation and a story map</a:t>
            </a:r>
          </a:p>
          <a:p>
            <a:r>
              <a:rPr lang="en-US" dirty="0" smtClean="0"/>
              <a:t>C. Disaggregation and a pyramid of stories equating to 100% of the epic</a:t>
            </a:r>
          </a:p>
          <a:p>
            <a:r>
              <a:rPr lang="en-US" dirty="0" smtClean="0"/>
              <a:t>D. Decomposition and a work breakdown structure</a:t>
            </a:r>
          </a:p>
          <a:p>
            <a:r>
              <a:rPr lang="en-US" dirty="0" smtClean="0"/>
              <a:t>  </a:t>
            </a:r>
          </a:p>
          <a:p>
            <a:r>
              <a:rPr lang="en-US" dirty="0" smtClean="0"/>
              <a:t>A story map is not quite like a WBS in a waterfall project. The story map is comprised of component stories that do not need to add up to be 100% of the epic. They are typically shown in 2 dimensions, with story cards breaking down the component stories.</a:t>
            </a:r>
            <a:endParaRPr lang="en-US" dirty="0"/>
          </a:p>
        </p:txBody>
      </p:sp>
    </p:spTree>
    <p:extLst>
      <p:ext uri="{BB962C8B-B14F-4D97-AF65-F5344CB8AC3E}">
        <p14:creationId xmlns:p14="http://schemas.microsoft.com/office/powerpoint/2010/main" val="4149735718"/>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4247317"/>
          </a:xfrm>
          <a:prstGeom prst="rect">
            <a:avLst/>
          </a:prstGeom>
          <a:noFill/>
        </p:spPr>
        <p:txBody>
          <a:bodyPr wrap="square" rtlCol="0">
            <a:spAutoFit/>
          </a:bodyPr>
          <a:lstStyle/>
          <a:p>
            <a:r>
              <a:rPr lang="en-US" dirty="0" smtClean="0"/>
              <a:t>The correct answer is A</a:t>
            </a:r>
          </a:p>
          <a:p>
            <a:r>
              <a:rPr lang="en-US" dirty="0" smtClean="0"/>
              <a:t>Carl manages Agile teams and has just completed his performance review with his senior manager. Carl was encouraged to develop one area of his leadership: building high-performance teams. What is the best advice for Carl?</a:t>
            </a:r>
          </a:p>
          <a:p>
            <a:endParaRPr lang="en-US" dirty="0" smtClean="0"/>
          </a:p>
          <a:p>
            <a:r>
              <a:rPr lang="en-US" dirty="0" smtClean="0"/>
              <a:t>A. Be as transparent as possible when communicating with the team</a:t>
            </a:r>
          </a:p>
          <a:p>
            <a:r>
              <a:rPr lang="en-US" dirty="0" smtClean="0"/>
              <a:t>B. Reward those team members who are top performers, and punish those who lag</a:t>
            </a:r>
          </a:p>
          <a:p>
            <a:r>
              <a:rPr lang="en-US" dirty="0" smtClean="0"/>
              <a:t>C. Add individual performance reports to the highly visible information radiators displayed in the team workspace</a:t>
            </a:r>
          </a:p>
          <a:p>
            <a:r>
              <a:rPr lang="en-US" dirty="0" smtClean="0"/>
              <a:t>D. Carl should explain to his senior manager that Agile teams are self-organizing and do not want or need his artificial attempts to modify team behavior</a:t>
            </a:r>
          </a:p>
          <a:p>
            <a:r>
              <a:rPr lang="en-US" dirty="0" smtClean="0"/>
              <a:t>  </a:t>
            </a:r>
          </a:p>
          <a:p>
            <a:r>
              <a:rPr lang="en-US" dirty="0" smtClean="0"/>
              <a:t>High-performance teams trust each other. Trust and transparency are foundations for those teams that excel. Answer-A is the best choice. Do not be fooled by answers on the exam that have familiar terms that have been misapplied.</a:t>
            </a:r>
            <a:endParaRPr lang="en-US" dirty="0"/>
          </a:p>
        </p:txBody>
      </p:sp>
    </p:spTree>
    <p:extLst>
      <p:ext uri="{BB962C8B-B14F-4D97-AF65-F5344CB8AC3E}">
        <p14:creationId xmlns:p14="http://schemas.microsoft.com/office/powerpoint/2010/main" val="3415291179"/>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416320"/>
          </a:xfrm>
          <a:prstGeom prst="rect">
            <a:avLst/>
          </a:prstGeom>
          <a:noFill/>
        </p:spPr>
        <p:txBody>
          <a:bodyPr wrap="square" rtlCol="0">
            <a:spAutoFit/>
          </a:bodyPr>
          <a:lstStyle/>
          <a:p>
            <a:r>
              <a:rPr lang="en-US" dirty="0" smtClean="0"/>
              <a:t>The correct answer is B</a:t>
            </a:r>
          </a:p>
          <a:p>
            <a:r>
              <a:rPr lang="en-US" dirty="0" smtClean="0"/>
              <a:t>The INVEST model guides writing a good user story. For the project business case, which Letter and Characteristic reflect the customer's benefit?</a:t>
            </a:r>
          </a:p>
          <a:p>
            <a:endParaRPr lang="en-US" dirty="0" smtClean="0"/>
          </a:p>
          <a:p>
            <a:r>
              <a:rPr lang="en-US" dirty="0" smtClean="0"/>
              <a:t>A. S, Sellable</a:t>
            </a:r>
          </a:p>
          <a:p>
            <a:r>
              <a:rPr lang="en-US" dirty="0" smtClean="0"/>
              <a:t>B. V, Valuable</a:t>
            </a:r>
          </a:p>
          <a:p>
            <a:r>
              <a:rPr lang="en-US" dirty="0" smtClean="0"/>
              <a:t>C. E, Effective</a:t>
            </a:r>
          </a:p>
          <a:p>
            <a:r>
              <a:rPr lang="en-US" dirty="0" smtClean="0"/>
              <a:t>D. S, Significant</a:t>
            </a:r>
          </a:p>
          <a:p>
            <a:r>
              <a:rPr lang="en-US" dirty="0" smtClean="0"/>
              <a:t>  </a:t>
            </a:r>
          </a:p>
          <a:p>
            <a:r>
              <a:rPr lang="en-US" dirty="0" smtClean="0"/>
              <a:t>I-N-V-E-S-T stands for Independent, Negotiable, Valuable, Estimable, Small, Testable. Valuable is the characteristic of the customer's perspective of the business value of the story in the business case for the project.</a:t>
            </a:r>
            <a:endParaRPr lang="en-US" dirty="0"/>
          </a:p>
        </p:txBody>
      </p:sp>
      <p:sp>
        <p:nvSpPr>
          <p:cNvPr id="3" name="TextBox 2"/>
          <p:cNvSpPr txBox="1"/>
          <p:nvPr/>
        </p:nvSpPr>
        <p:spPr>
          <a:xfrm>
            <a:off x="0" y="413266"/>
            <a:ext cx="8991600"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3657938429"/>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2585323"/>
          </a:xfrm>
          <a:prstGeom prst="rect">
            <a:avLst/>
          </a:prstGeom>
          <a:noFill/>
        </p:spPr>
        <p:txBody>
          <a:bodyPr wrap="square" rtlCol="0">
            <a:spAutoFit/>
          </a:bodyPr>
          <a:lstStyle/>
          <a:p>
            <a:r>
              <a:rPr lang="en-US" dirty="0" smtClean="0"/>
              <a:t>The correct answer is D</a:t>
            </a:r>
          </a:p>
          <a:p>
            <a:r>
              <a:rPr lang="en-US" dirty="0" smtClean="0"/>
              <a:t>For communications reasons, the ideal size of a team using Scrum is:</a:t>
            </a:r>
          </a:p>
          <a:p>
            <a:endParaRPr lang="en-US" dirty="0" smtClean="0"/>
          </a:p>
          <a:p>
            <a:r>
              <a:rPr lang="en-US" dirty="0" smtClean="0"/>
              <a:t>A. 7 +/- 3</a:t>
            </a:r>
          </a:p>
          <a:p>
            <a:r>
              <a:rPr lang="en-US" dirty="0" smtClean="0"/>
              <a:t>B. 10 for co-located teams and 12 for distributed teams</a:t>
            </a:r>
          </a:p>
          <a:p>
            <a:r>
              <a:rPr lang="en-US" dirty="0" smtClean="0"/>
              <a:t>C. Based on the Agile value of individuals and iterations over processes and tools</a:t>
            </a:r>
          </a:p>
          <a:p>
            <a:r>
              <a:rPr lang="en-US" dirty="0" smtClean="0"/>
              <a:t>D. From 5 to 9</a:t>
            </a:r>
          </a:p>
          <a:p>
            <a:r>
              <a:rPr lang="en-US" dirty="0" smtClean="0"/>
              <a:t>  </a:t>
            </a:r>
          </a:p>
          <a:p>
            <a:r>
              <a:rPr lang="en-US" dirty="0" smtClean="0"/>
              <a:t>The ideal Scrum team size is sometimes quoted as 7 +/- 2, which is 5-9.</a:t>
            </a:r>
            <a:endParaRPr lang="en-US" dirty="0"/>
          </a:p>
        </p:txBody>
      </p:sp>
    </p:spTree>
    <p:extLst>
      <p:ext uri="{BB962C8B-B14F-4D97-AF65-F5344CB8AC3E}">
        <p14:creationId xmlns:p14="http://schemas.microsoft.com/office/powerpoint/2010/main" val="3575160529"/>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139321"/>
          </a:xfrm>
          <a:prstGeom prst="rect">
            <a:avLst/>
          </a:prstGeom>
          <a:noFill/>
        </p:spPr>
        <p:txBody>
          <a:bodyPr wrap="square" rtlCol="0">
            <a:spAutoFit/>
          </a:bodyPr>
          <a:lstStyle/>
          <a:p>
            <a:r>
              <a:rPr lang="en-US" dirty="0" smtClean="0"/>
              <a:t>The correct answer is B</a:t>
            </a:r>
          </a:p>
          <a:p>
            <a:r>
              <a:rPr lang="en-US" dirty="0" smtClean="0"/>
              <a:t>Of the following, which statement about sprints or iterations is least valid?</a:t>
            </a:r>
          </a:p>
          <a:p>
            <a:endParaRPr lang="en-US" dirty="0" smtClean="0"/>
          </a:p>
          <a:p>
            <a:r>
              <a:rPr lang="en-US" dirty="0" smtClean="0"/>
              <a:t>A. Each sprint should deliver incremental value</a:t>
            </a:r>
          </a:p>
          <a:p>
            <a:r>
              <a:rPr lang="en-US" dirty="0" smtClean="0"/>
              <a:t>B. A longer iteration provides more competitive advantage for the customer</a:t>
            </a:r>
          </a:p>
          <a:p>
            <a:r>
              <a:rPr lang="en-US" dirty="0" smtClean="0"/>
              <a:t>C. One or several iterations may comprise a release</a:t>
            </a:r>
          </a:p>
          <a:p>
            <a:r>
              <a:rPr lang="en-US" dirty="0" smtClean="0"/>
              <a:t>D. An iteration should include planning as well as reflection</a:t>
            </a:r>
          </a:p>
          <a:p>
            <a:r>
              <a:rPr lang="en-US" dirty="0" smtClean="0"/>
              <a:t>  </a:t>
            </a:r>
          </a:p>
          <a:p>
            <a:r>
              <a:rPr lang="en-US" dirty="0" smtClean="0"/>
              <a:t>Agile processes harness change for the customer's competitive advantage. Longer iterations provide fewer opportunities for responsiveness to change between iterations. Agile principles prefer shorter timescales for delivery of working software.</a:t>
            </a:r>
            <a:endParaRPr lang="en-US" dirty="0"/>
          </a:p>
        </p:txBody>
      </p:sp>
    </p:spTree>
    <p:extLst>
      <p:ext uri="{BB962C8B-B14F-4D97-AF65-F5344CB8AC3E}">
        <p14:creationId xmlns:p14="http://schemas.microsoft.com/office/powerpoint/2010/main" val="2902798208"/>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4278094"/>
          </a:xfrm>
          <a:prstGeom prst="rect">
            <a:avLst/>
          </a:prstGeom>
          <a:noFill/>
        </p:spPr>
        <p:txBody>
          <a:bodyPr wrap="square" rtlCol="0">
            <a:spAutoFit/>
          </a:bodyPr>
          <a:lstStyle/>
          <a:p>
            <a:r>
              <a:rPr lang="en-US" sz="1600" dirty="0" smtClean="0"/>
              <a:t>The correct answer is C</a:t>
            </a:r>
          </a:p>
          <a:p>
            <a:r>
              <a:rPr lang="en-US" sz="1600" dirty="0" smtClean="0"/>
              <a:t>Theresa has managed and coached Agile teams for 7 years, and she has seen quite a lot of conflict. Assuming that Theresa is an effective, top-performing project manager, what do you think her attitude would be regarding conflict management?</a:t>
            </a:r>
          </a:p>
          <a:p>
            <a:endParaRPr lang="en-US" sz="1600" dirty="0" smtClean="0"/>
          </a:p>
          <a:p>
            <a:r>
              <a:rPr lang="en-US" sz="1600" dirty="0" smtClean="0"/>
              <a:t>A. Conflict should be avoided because one of the Agile principles talks about the importance of creating a supportive, trusting project environment</a:t>
            </a:r>
          </a:p>
          <a:p>
            <a:r>
              <a:rPr lang="en-US" sz="1600" dirty="0" smtClean="0"/>
              <a:t>B. The manager can ignore conflict as long as the team is producing working software and delivering value to the Customer</a:t>
            </a:r>
          </a:p>
          <a:p>
            <a:r>
              <a:rPr lang="en-US" sz="1600" dirty="0" smtClean="0"/>
              <a:t>C. Conflict between some team members can prove helpful</a:t>
            </a:r>
          </a:p>
          <a:p>
            <a:r>
              <a:rPr lang="en-US" sz="1600" dirty="0" smtClean="0"/>
              <a:t>D. The manager must resolve conflict swiftly before it derails creativity and affects the team spirit</a:t>
            </a:r>
          </a:p>
          <a:p>
            <a:r>
              <a:rPr lang="en-US" sz="1600" dirty="0" smtClean="0"/>
              <a:t>  </a:t>
            </a:r>
          </a:p>
          <a:p>
            <a:r>
              <a:rPr lang="en-US" sz="1600" dirty="0" smtClean="0"/>
              <a:t>C is the shortest answer and in this case, the best choice. If managed properly, conflict between team members should be helpful as it helps the team explore different options and alternatives for getting the work done. Answer-A correctly references an Agile principle from the manifesto, but misapplies the explanation. B again touches on a tenet of Agile, but wrongly states that the manager can ignore conflict - bad choice. D is wrong as it goes against the correct answer directly.</a:t>
            </a:r>
            <a:endParaRPr lang="en-US" sz="1600" dirty="0"/>
          </a:p>
        </p:txBody>
      </p:sp>
    </p:spTree>
    <p:extLst>
      <p:ext uri="{BB962C8B-B14F-4D97-AF65-F5344CB8AC3E}">
        <p14:creationId xmlns:p14="http://schemas.microsoft.com/office/powerpoint/2010/main" val="1947210815"/>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139321"/>
          </a:xfrm>
          <a:prstGeom prst="rect">
            <a:avLst/>
          </a:prstGeom>
          <a:noFill/>
        </p:spPr>
        <p:txBody>
          <a:bodyPr wrap="square" rtlCol="0">
            <a:spAutoFit/>
          </a:bodyPr>
          <a:lstStyle/>
          <a:p>
            <a:r>
              <a:rPr lang="en-US" dirty="0" smtClean="0"/>
              <a:t>The correct answer is A</a:t>
            </a:r>
          </a:p>
          <a:p>
            <a:r>
              <a:rPr lang="en-US" dirty="0" smtClean="0"/>
              <a:t>Regarding the concept of collaboration, which of the following is the correct value pair of those listed in the Agile Manifesto?</a:t>
            </a:r>
          </a:p>
          <a:p>
            <a:endParaRPr lang="en-US" dirty="0" smtClean="0"/>
          </a:p>
          <a:p>
            <a:r>
              <a:rPr lang="en-US" dirty="0" smtClean="0"/>
              <a:t>A. Customer collaboration over contract negotiation</a:t>
            </a:r>
          </a:p>
          <a:p>
            <a:r>
              <a:rPr lang="en-US" dirty="0" smtClean="0"/>
              <a:t>B. Team collaboration over individual expertise</a:t>
            </a:r>
          </a:p>
          <a:p>
            <a:r>
              <a:rPr lang="en-US" dirty="0" smtClean="0"/>
              <a:t>C. Collaboration is more valuable than management-driven decision making</a:t>
            </a:r>
          </a:p>
          <a:p>
            <a:r>
              <a:rPr lang="en-US" dirty="0" smtClean="0"/>
              <a:t>D. Team collaboration is valued over processes and tools</a:t>
            </a:r>
          </a:p>
          <a:p>
            <a:r>
              <a:rPr lang="en-US" dirty="0" smtClean="0"/>
              <a:t>  </a:t>
            </a:r>
          </a:p>
          <a:p>
            <a:r>
              <a:rPr lang="en-US" dirty="0" smtClean="0"/>
              <a:t>A is correct. The Agile Manifesto lists 4 value pairs. One of those pairs reads exactly as Answer-A states.</a:t>
            </a:r>
            <a:endParaRPr lang="en-US" dirty="0"/>
          </a:p>
        </p:txBody>
      </p:sp>
    </p:spTree>
    <p:extLst>
      <p:ext uri="{BB962C8B-B14F-4D97-AF65-F5344CB8AC3E}">
        <p14:creationId xmlns:p14="http://schemas.microsoft.com/office/powerpoint/2010/main" val="2256325076"/>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970318"/>
          </a:xfrm>
          <a:prstGeom prst="rect">
            <a:avLst/>
          </a:prstGeom>
          <a:noFill/>
        </p:spPr>
        <p:txBody>
          <a:bodyPr wrap="square" rtlCol="0">
            <a:spAutoFit/>
          </a:bodyPr>
          <a:lstStyle/>
          <a:p>
            <a:r>
              <a:rPr lang="en-US" dirty="0" smtClean="0"/>
              <a:t>The correct answer is D</a:t>
            </a:r>
          </a:p>
          <a:p>
            <a:r>
              <a:rPr lang="en-US" dirty="0" smtClean="0"/>
              <a:t>Agile methods place a premium on open, frequent communication. Throughout the project, real-time communication occurs through the use of what?</a:t>
            </a:r>
          </a:p>
          <a:p>
            <a:endParaRPr lang="en-US" dirty="0" smtClean="0"/>
          </a:p>
          <a:p>
            <a:r>
              <a:rPr lang="en-US" dirty="0" smtClean="0"/>
              <a:t>A. Information </a:t>
            </a:r>
            <a:r>
              <a:rPr lang="en-US" dirty="0" err="1" smtClean="0"/>
              <a:t>kanbans</a:t>
            </a:r>
            <a:endParaRPr lang="en-US" dirty="0" smtClean="0"/>
          </a:p>
          <a:p>
            <a:r>
              <a:rPr lang="en-US" dirty="0" smtClean="0"/>
              <a:t>B. Highly valuable </a:t>
            </a:r>
            <a:r>
              <a:rPr lang="en-US" dirty="0" err="1" smtClean="0"/>
              <a:t>kanban</a:t>
            </a:r>
            <a:r>
              <a:rPr lang="en-US" dirty="0" smtClean="0"/>
              <a:t> signals</a:t>
            </a:r>
          </a:p>
          <a:p>
            <a:r>
              <a:rPr lang="en-US" dirty="0" smtClean="0"/>
              <a:t>C. Frequently distributed information reports</a:t>
            </a:r>
          </a:p>
          <a:p>
            <a:r>
              <a:rPr lang="en-US" dirty="0" smtClean="0"/>
              <a:t>D. Information radiators</a:t>
            </a:r>
          </a:p>
          <a:p>
            <a:r>
              <a:rPr lang="en-US" dirty="0" smtClean="0"/>
              <a:t>  </a:t>
            </a:r>
          </a:p>
          <a:p>
            <a:r>
              <a:rPr lang="en-US" dirty="0" smtClean="0"/>
              <a:t>Highly visible information radiators provide real-time communication to the team and other stakeholders. Reports radiate important information. Lean Manufacturing makes use of a signaling system called </a:t>
            </a:r>
            <a:r>
              <a:rPr lang="en-US" dirty="0" err="1" smtClean="0"/>
              <a:t>kanban</a:t>
            </a:r>
            <a:r>
              <a:rPr lang="en-US" dirty="0" smtClean="0"/>
              <a:t>. </a:t>
            </a:r>
            <a:r>
              <a:rPr lang="en-US" dirty="0" err="1" smtClean="0"/>
              <a:t>Kanban</a:t>
            </a:r>
            <a:r>
              <a:rPr lang="en-US" dirty="0" smtClean="0"/>
              <a:t> actually means signal or sign. Examples of information radiators include </a:t>
            </a:r>
            <a:r>
              <a:rPr lang="en-US" dirty="0" err="1" smtClean="0"/>
              <a:t>burndown</a:t>
            </a:r>
            <a:r>
              <a:rPr lang="en-US" dirty="0" smtClean="0"/>
              <a:t> charts, task boards, graphs of progress, and others. Answer D is the correct answer.</a:t>
            </a:r>
            <a:endParaRPr lang="en-US" dirty="0"/>
          </a:p>
        </p:txBody>
      </p:sp>
      <p:sp>
        <p:nvSpPr>
          <p:cNvPr id="3" name="TextBox 2"/>
          <p:cNvSpPr txBox="1"/>
          <p:nvPr/>
        </p:nvSpPr>
        <p:spPr>
          <a:xfrm>
            <a:off x="0" y="413266"/>
            <a:ext cx="8991600"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2464798427"/>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139321"/>
          </a:xfrm>
          <a:prstGeom prst="rect">
            <a:avLst/>
          </a:prstGeom>
          <a:noFill/>
        </p:spPr>
        <p:txBody>
          <a:bodyPr wrap="square" rtlCol="0">
            <a:spAutoFit/>
          </a:bodyPr>
          <a:lstStyle/>
          <a:p>
            <a:r>
              <a:rPr lang="en-US" dirty="0" smtClean="0"/>
              <a:t>The correct answer is B</a:t>
            </a:r>
          </a:p>
          <a:p>
            <a:r>
              <a:rPr lang="en-US" dirty="0" smtClean="0"/>
              <a:t>How might a spike be helpful to an Agile team?</a:t>
            </a:r>
          </a:p>
          <a:p>
            <a:endParaRPr lang="en-US" dirty="0" smtClean="0"/>
          </a:p>
          <a:p>
            <a:r>
              <a:rPr lang="en-US" dirty="0" smtClean="0"/>
              <a:t>A. Helps the team perform quantitative risk analysis on the spike event</a:t>
            </a:r>
          </a:p>
          <a:p>
            <a:r>
              <a:rPr lang="en-US" dirty="0" smtClean="0"/>
              <a:t>B. Helps the team estimate time and cost</a:t>
            </a:r>
          </a:p>
          <a:p>
            <a:r>
              <a:rPr lang="en-US" dirty="0" smtClean="0"/>
              <a:t>C. Helps the team qualify and quantify a risk event in terms of likelihood and impact</a:t>
            </a:r>
          </a:p>
          <a:p>
            <a:r>
              <a:rPr lang="en-US" dirty="0" smtClean="0"/>
              <a:t>D. Helps the team communicate to other stakeholders why they are busy, how long the team will be unavailable, and who to contact in case of emergency</a:t>
            </a:r>
          </a:p>
          <a:p>
            <a:r>
              <a:rPr lang="en-US" dirty="0" smtClean="0"/>
              <a:t>  </a:t>
            </a:r>
          </a:p>
          <a:p>
            <a:r>
              <a:rPr lang="en-US" dirty="0" smtClean="0"/>
              <a:t>A spike is an experiment performed to see if a solution will work and may help the team estimate the time and money required to implement the solution.</a:t>
            </a:r>
            <a:endParaRPr lang="en-US" dirty="0"/>
          </a:p>
        </p:txBody>
      </p:sp>
    </p:spTree>
    <p:extLst>
      <p:ext uri="{BB962C8B-B14F-4D97-AF65-F5344CB8AC3E}">
        <p14:creationId xmlns:p14="http://schemas.microsoft.com/office/powerpoint/2010/main" val="1880526536"/>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139321"/>
          </a:xfrm>
          <a:prstGeom prst="rect">
            <a:avLst/>
          </a:prstGeom>
          <a:noFill/>
        </p:spPr>
        <p:txBody>
          <a:bodyPr wrap="square" rtlCol="0">
            <a:spAutoFit/>
          </a:bodyPr>
          <a:lstStyle/>
          <a:p>
            <a:r>
              <a:rPr lang="en-US" dirty="0" smtClean="0"/>
              <a:t>The correct answer is C</a:t>
            </a:r>
          </a:p>
          <a:p>
            <a:r>
              <a:rPr lang="en-US" dirty="0" smtClean="0"/>
              <a:t>Agile accounting terms may include the following except:</a:t>
            </a:r>
          </a:p>
          <a:p>
            <a:endParaRPr lang="en-US" dirty="0" smtClean="0"/>
          </a:p>
          <a:p>
            <a:r>
              <a:rPr lang="en-US" dirty="0" smtClean="0"/>
              <a:t>A. Burn rate</a:t>
            </a:r>
          </a:p>
          <a:p>
            <a:r>
              <a:rPr lang="en-US" dirty="0" smtClean="0"/>
              <a:t>B. Iteration</a:t>
            </a:r>
          </a:p>
          <a:p>
            <a:r>
              <a:rPr lang="en-US" dirty="0" smtClean="0"/>
              <a:t>C. Control account</a:t>
            </a:r>
          </a:p>
          <a:p>
            <a:r>
              <a:rPr lang="en-US" dirty="0" smtClean="0"/>
              <a:t>D. Story points</a:t>
            </a:r>
          </a:p>
          <a:p>
            <a:r>
              <a:rPr lang="en-US" dirty="0" smtClean="0"/>
              <a:t>  </a:t>
            </a:r>
          </a:p>
          <a:p>
            <a:r>
              <a:rPr lang="en-US" dirty="0" smtClean="0"/>
              <a:t>A control account is a specified node in a waterfall work breakdown structure to which cost or schedule control is assigned, tracked, and reported. It is not commensurate with Agile accounting as are the other choices in this question.</a:t>
            </a:r>
            <a:endParaRPr lang="en-US" dirty="0"/>
          </a:p>
        </p:txBody>
      </p:sp>
    </p:spTree>
    <p:extLst>
      <p:ext uri="{BB962C8B-B14F-4D97-AF65-F5344CB8AC3E}">
        <p14:creationId xmlns:p14="http://schemas.microsoft.com/office/powerpoint/2010/main" val="4187998306"/>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228600"/>
            <a:ext cx="8991600" cy="369332"/>
          </a:xfrm>
          <a:prstGeom prst="rect">
            <a:avLst/>
          </a:prstGeom>
          <a:noFill/>
        </p:spPr>
        <p:txBody>
          <a:bodyPr wrap="square" rtlCol="0">
            <a:spAutoFit/>
          </a:bodyPr>
          <a:lstStyle/>
          <a:p>
            <a:endParaRPr lang="en-US" dirty="0"/>
          </a:p>
        </p:txBody>
      </p:sp>
      <p:sp>
        <p:nvSpPr>
          <p:cNvPr id="3" name="TextBox 2"/>
          <p:cNvSpPr txBox="1"/>
          <p:nvPr/>
        </p:nvSpPr>
        <p:spPr>
          <a:xfrm>
            <a:off x="0" y="413266"/>
            <a:ext cx="8991600" cy="3970318"/>
          </a:xfrm>
          <a:prstGeom prst="rect">
            <a:avLst/>
          </a:prstGeom>
          <a:noFill/>
        </p:spPr>
        <p:txBody>
          <a:bodyPr wrap="square" rtlCol="0">
            <a:spAutoFit/>
          </a:bodyPr>
          <a:lstStyle/>
          <a:p>
            <a:r>
              <a:rPr lang="en-US" dirty="0" smtClean="0"/>
              <a:t>The correct answer is D</a:t>
            </a:r>
          </a:p>
          <a:p>
            <a:r>
              <a:rPr lang="en-US" dirty="0" smtClean="0"/>
              <a:t>The sponsor has brought in an outside consultant to meet with the project team. The team will spend a few hours describing and outlining the flow of work, team roles, processes, documentation, and results from past projects. The consultant was selected for this review because of her experience and knowledge of Lean practices. What will be her top priority during this review?</a:t>
            </a:r>
          </a:p>
          <a:p>
            <a:endParaRPr lang="en-US" dirty="0" smtClean="0"/>
          </a:p>
          <a:p>
            <a:r>
              <a:rPr lang="en-US" dirty="0" smtClean="0"/>
              <a:t>A. Identify and resolve conflict</a:t>
            </a:r>
          </a:p>
          <a:p>
            <a:r>
              <a:rPr lang="en-US" dirty="0" smtClean="0"/>
              <a:t>B. Identify and plan for risk</a:t>
            </a:r>
          </a:p>
          <a:p>
            <a:r>
              <a:rPr lang="en-US" dirty="0" smtClean="0"/>
              <a:t>C. Identify opportunities to add value by re-prioritizing the product backlog</a:t>
            </a:r>
          </a:p>
          <a:p>
            <a:r>
              <a:rPr lang="en-US" dirty="0" smtClean="0"/>
              <a:t>D. Identify and eliminate waste</a:t>
            </a:r>
          </a:p>
          <a:p>
            <a:r>
              <a:rPr lang="en-US" dirty="0" smtClean="0"/>
              <a:t>  </a:t>
            </a:r>
          </a:p>
          <a:p>
            <a:r>
              <a:rPr lang="en-US" dirty="0" smtClean="0"/>
              <a:t>At the core of Lean, is the principle of eliminating waste. If a process does not add value that exceeds the cost of performing the process, do not do it. </a:t>
            </a:r>
            <a:r>
              <a:rPr lang="en-US" smtClean="0"/>
              <a:t>D is the best choice.</a:t>
            </a:r>
            <a:endParaRPr lang="en-US" dirty="0"/>
          </a:p>
        </p:txBody>
      </p:sp>
    </p:spTree>
    <p:extLst>
      <p:ext uri="{BB962C8B-B14F-4D97-AF65-F5344CB8AC3E}">
        <p14:creationId xmlns:p14="http://schemas.microsoft.com/office/powerpoint/2010/main" val="122040097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TotalTime>
  <Words>16694</Words>
  <Application>Microsoft Office PowerPoint</Application>
  <PresentationFormat>On-screen Show (16:9)</PresentationFormat>
  <Paragraphs>1080</Paragraphs>
  <Slides>120</Slides>
  <Notes>0</Notes>
  <HiddenSlides>0</HiddenSlides>
  <MMClips>0</MMClips>
  <ScaleCrop>false</ScaleCrop>
  <HeadingPairs>
    <vt:vector size="4" baseType="variant">
      <vt:variant>
        <vt:lpstr>Theme</vt:lpstr>
      </vt:variant>
      <vt:variant>
        <vt:i4>1</vt:i4>
      </vt:variant>
      <vt:variant>
        <vt:lpstr>Slide Titles</vt:lpstr>
      </vt:variant>
      <vt:variant>
        <vt:i4>120</vt:i4>
      </vt:variant>
    </vt:vector>
  </HeadingPairs>
  <TitlesOfParts>
    <vt:vector size="12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AMR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Mahmood Siddiqui</dc:creator>
  <cp:lastModifiedBy>Mahmood Siddiqui</cp:lastModifiedBy>
  <cp:revision>6</cp:revision>
  <dcterms:created xsi:type="dcterms:W3CDTF">2013-06-09T00:11:22Z</dcterms:created>
  <dcterms:modified xsi:type="dcterms:W3CDTF">2013-06-09T01:08:19Z</dcterms:modified>
</cp:coreProperties>
</file>